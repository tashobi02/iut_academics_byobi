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rts/chart2.xml" ContentType="application/vnd.openxmlformats-officedocument.drawingml.chart+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Content mix</c:v>
                </c:pt>
              </c:strCache>
            </c:strRef>
          </c:tx>
          <c:spPr>
            <a:solidFill>
              <a:schemeClr val="accent1"/>
            </a:solidFill>
            <a:ln w="9525" cap="flat">
              <a:solidFill>
                <a:srgbClr val="F9F9F9"/>
              </a:solidFill>
              <a:prstDash val="solid"/>
              <a:round/>
            </a:ln>
            <a:effectLst/>
          </c:spPr>
          <c:dPt>
            <c:idx val="0"/>
            <c:bubble3D val="0"/>
            <c:spPr>
              <a:solidFill>
                <a:srgbClr val="0C2622"/>
              </a:solidFill>
              <a:ln w="25400" cap="flat">
                <a:solidFill>
                  <a:srgbClr val="FFFFFF"/>
                </a:solidFill>
                <a:prstDash val="solid"/>
                <a:round/>
              </a:ln>
              <a:effectLst/>
            </c:spPr>
            <c:extLst>
              <c:ext xmlns:c16="http://schemas.microsoft.com/office/drawing/2014/chart" uri="{C3380CC4-5D6E-409C-BE32-E72D297353CC}">
                <c16:uniqueId val="{00000001-E570-4186-9C33-0AAFEF350183}"/>
              </c:ext>
            </c:extLst>
          </c:dPt>
          <c:dPt>
            <c:idx val="1"/>
            <c:bubble3D val="0"/>
            <c:spPr>
              <a:solidFill>
                <a:srgbClr val="12735B"/>
              </a:solidFill>
              <a:ln w="25400" cap="flat">
                <a:solidFill>
                  <a:srgbClr val="FFFFFF"/>
                </a:solidFill>
                <a:prstDash val="solid"/>
                <a:round/>
              </a:ln>
              <a:effectLst/>
            </c:spPr>
            <c:extLst>
              <c:ext xmlns:c16="http://schemas.microsoft.com/office/drawing/2014/chart" uri="{C3380CC4-5D6E-409C-BE32-E72D297353CC}">
                <c16:uniqueId val="{00000003-E570-4186-9C33-0AAFEF350183}"/>
              </c:ext>
            </c:extLst>
          </c:dPt>
          <c:dPt>
            <c:idx val="2"/>
            <c:bubble3D val="0"/>
            <c:spPr>
              <a:solidFill>
                <a:srgbClr val="1E9A7A"/>
              </a:solidFill>
              <a:ln w="25400" cap="flat">
                <a:solidFill>
                  <a:srgbClr val="FFFFFF"/>
                </a:solidFill>
                <a:prstDash val="solid"/>
                <a:round/>
              </a:ln>
              <a:effectLst/>
            </c:spPr>
            <c:extLst>
              <c:ext xmlns:c16="http://schemas.microsoft.com/office/drawing/2014/chart" uri="{C3380CC4-5D6E-409C-BE32-E72D297353CC}">
                <c16:uniqueId val="{00000005-E570-4186-9C33-0AAFEF350183}"/>
              </c:ext>
            </c:extLst>
          </c:dPt>
          <c:dPt>
            <c:idx val="3"/>
            <c:bubble3D val="0"/>
            <c:spPr>
              <a:solidFill>
                <a:srgbClr val="4A6FA5"/>
              </a:solidFill>
              <a:ln w="25400" cap="flat">
                <a:solidFill>
                  <a:srgbClr val="FFFFFF"/>
                </a:solidFill>
                <a:prstDash val="solid"/>
                <a:round/>
              </a:ln>
              <a:effectLst/>
            </c:spPr>
            <c:extLst>
              <c:ext xmlns:c16="http://schemas.microsoft.com/office/drawing/2014/chart" uri="{C3380CC4-5D6E-409C-BE32-E72D297353CC}">
                <c16:uniqueId val="{00000007-E570-4186-9C33-0AAFEF350183}"/>
              </c:ext>
            </c:extLst>
          </c:dPt>
          <c:dPt>
            <c:idx val="4"/>
            <c:bubble3D val="0"/>
            <c:spPr>
              <a:solidFill>
                <a:srgbClr val="C77D0A"/>
              </a:solidFill>
              <a:ln w="25400" cap="flat">
                <a:solidFill>
                  <a:srgbClr val="FFFFFF"/>
                </a:solidFill>
                <a:prstDash val="solid"/>
                <a:round/>
              </a:ln>
              <a:effectLst/>
            </c:spPr>
            <c:extLst>
              <c:ext xmlns:c16="http://schemas.microsoft.com/office/drawing/2014/chart" uri="{C3380CC4-5D6E-409C-BE32-E72D297353CC}">
                <c16:uniqueId val="{00000009-E570-4186-9C33-0AAFEF350183}"/>
              </c:ext>
            </c:extLst>
          </c:dPt>
          <c:cat>
            <c:strRef>
              <c:f>Sheet1!$A$2:$A$6</c:f>
              <c:strCache>
                <c:ptCount val="5"/>
                <c:pt idx="0">
                  <c:v>Problem education</c:v>
                </c:pt>
                <c:pt idx="1">
                  <c:v>Practical advice</c:v>
                </c:pt>
                <c:pt idx="2">
                  <c:v>Customer stories / proof</c:v>
                </c:pt>
                <c:pt idx="3">
                  <c:v>Founder perspective</c:v>
                </c:pt>
                <c:pt idx="4">
                  <c:v>Direct promotion</c:v>
                </c:pt>
              </c:strCache>
            </c:strRef>
          </c:cat>
          <c:val>
            <c:numRef>
              <c:f>Sheet1!$B$2:$B$6</c:f>
              <c:numCache>
                <c:formatCode>General</c:formatCode>
                <c:ptCount val="5"/>
                <c:pt idx="0">
                  <c:v>50</c:v>
                </c:pt>
                <c:pt idx="1">
                  <c:v>20</c:v>
                </c:pt>
                <c:pt idx="2">
                  <c:v>15</c:v>
                </c:pt>
                <c:pt idx="3">
                  <c:v>10</c:v>
                </c:pt>
                <c:pt idx="4">
                  <c:v>5</c:v>
                </c:pt>
              </c:numCache>
            </c:numRef>
          </c:val>
          <c:extLst>
            <c:ext xmlns:c16="http://schemas.microsoft.com/office/drawing/2014/chart" uri="{C3380CC4-5D6E-409C-BE32-E72D297353CC}">
              <c16:uniqueId val="{0000000A-E570-4186-9C33-0AAFEF350183}"/>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Weight (%)</c:v>
                </c:pt>
              </c:strCache>
            </c:strRef>
          </c:tx>
          <c:spPr>
            <a:solidFill>
              <a:srgbClr val="12735B"/>
            </a:solidFill>
            <a:effectLst/>
          </c:spPr>
          <c:invertIfNegative val="0"/>
          <c:dLbls>
            <c:numFmt formatCode="0&quot;%&quot;" sourceLinked="0"/>
            <c:spPr>
              <a:noFill/>
              <a:ln>
                <a:noFill/>
              </a:ln>
              <a:effectLst/>
            </c:spPr>
            <c:txPr>
              <a:bodyPr/>
              <a:lstStyle/>
              <a:p>
                <a:pPr>
                  <a:defRPr sz="1100" b="1" i="0" u="none" strike="noStrike">
                    <a:solidFill>
                      <a:srgbClr val="0C26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Customer / problem understanding</c:v>
                </c:pt>
                <c:pt idx="1">
                  <c:v>Real-world evidence &amp; validation</c:v>
                </c:pt>
                <c:pt idx="2">
                  <c:v>MVP quality</c:v>
                </c:pt>
                <c:pt idx="3">
                  <c:v>Business model &amp; economics</c:v>
                </c:pt>
                <c:pt idx="4">
                  <c:v>Positioning &amp; messaging</c:v>
                </c:pt>
                <c:pt idx="5">
                  <c:v>GTM strategy</c:v>
                </c:pt>
                <c:pt idx="6">
                  <c:v>Intelligent use of AI / MCP / automation</c:v>
                </c:pt>
                <c:pt idx="7">
                  <c:v>Learning from failed assumptions</c:v>
                </c:pt>
              </c:strCache>
            </c:strRef>
          </c:cat>
          <c:val>
            <c:numRef>
              <c:f>Sheet1!$B$2:$B$9</c:f>
              <c:numCache>
                <c:formatCode>General</c:formatCode>
                <c:ptCount val="8"/>
                <c:pt idx="0">
                  <c:v>15</c:v>
                </c:pt>
                <c:pt idx="1">
                  <c:v>20</c:v>
                </c:pt>
                <c:pt idx="2">
                  <c:v>15</c:v>
                </c:pt>
                <c:pt idx="3">
                  <c:v>10</c:v>
                </c:pt>
                <c:pt idx="4">
                  <c:v>10</c:v>
                </c:pt>
                <c:pt idx="5">
                  <c:v>15</c:v>
                </c:pt>
                <c:pt idx="6">
                  <c:v>10</c:v>
                </c:pt>
                <c:pt idx="7">
                  <c:v>5</c:v>
                </c:pt>
              </c:numCache>
            </c:numRef>
          </c:val>
          <c:extLst>
            <c:ext xmlns:c16="http://schemas.microsoft.com/office/drawing/2014/chart" uri="{C3380CC4-5D6E-409C-BE32-E72D297353CC}">
              <c16:uniqueId val="{00000000-DACD-44F0-B23B-522D44C27D1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5302B"/>
                </a:solidFill>
                <a:latin typeface="Calibri"/>
              </a:defRPr>
            </a:pPr>
            <a:endParaRPr lang="en-US"/>
          </a:p>
        </c:txPr>
        <c:crossAx val="2094734552"/>
        <c:crosses val="autoZero"/>
        <c:auto val="1"/>
        <c:lblAlgn val="ctr"/>
        <c:lblOffset val="100"/>
        <c:noMultiLvlLbl val="1"/>
      </c:catAx>
      <c:valAx>
        <c:axId val="2094734552"/>
        <c:scaling>
          <c:orientation val="minMax"/>
          <c:max val="2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664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capstone-style course for the Industrial Training on AI programme: after learning how AI connects to tools (MCP), we ask what we can actually build with it. The goal is not a hypothetical startup presentation; it is the beginnings of a real business.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stage taught how AI systems connect to tools, data, workflows and external systems through concepts such as the Model Context Protocol (MCP). This course asks the next question. Students will use ChatGPT, Claude, Gemini, Perplexity and other tools to move through the complete entrepreneurial cycle: Find, Research, Validate, Build, Position, Sell, Operate,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learning outcomes grouped into four stages: discover and validate, build and position, sell and measure, operate and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questions the entrepreneur keeps asking. The process is a loop rather than a straight line: customer feedback continuously sends the entrepreneur back to earlier stages.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 mindset, problem, evidence, MVP, positioning, go-to-market, operations, Bangladesh context, then the capstone where students launch rather than pitch.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does not replace the functions of a startup team, but it dramatically increases how much one capable person can accomplish.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Previously even a small startup could require market researchers, designers, developers, copywriters, analysts, customer-support staff, marketing teams, salespeople and operations staff. AI does not completely replace these functions, but it dramatically increases how much one capable person can accomplish.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the founder hires people and people perform tasks. AI-native: the founder designs systems, AI performs parts of workflows, and humans supervise critical decisions. The entrepreneur becomes an AI Orchestrator. MCP is especially relevant here because it lets AI applications connect to external tools and information through a common standard rather than keeping the model isolated.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4 should become one of the fundamental rules of the course: AI generates a hypothesis; the entrepreneur still needs evidence.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TypingMind: Tony Dinh built it around the newly released ChatGPT API; ~$22,000 in the first seven days; reported $1M over the 12 months to Nov 2024; later grew beyond one person. Photo AI: Pieter Levels reported ~$105,000 monthly revenue and ~$80,000 monthly profit in March 2026 (founder-reported, not audited). Base44: natural-language software creation; Wix acquired it in June 2025 for ~$80M initial consideration plus performance-linked payments. Designjoy: Brett Williams reported crossing $1M annual revenue in 2022 as a one-person productized design agency.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are the people you already understand or can talk to this week? Students must identify three reachable groups and, for each, answer four questions. Deliverable: My Reachable Market Map.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prompt to map problems among people the student can actually reach. The last line matters: do not assume the problem exists simply because it sounds plausible.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approach: “I want to build an AI chatbot.” Better: “Private tutoring centres lose potential students because Facebook and WhatsApp enquiries are answered slowly.” AI becomes a possible solution rather than the starting point.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approach begins with technology. The better approach names a specific customer group, a repeated pain and a cost. Now AI becomes a possible solution rather than the starting point.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every candidate problem across six dimensions: pain, frequency, urgency, existing spending, accessibility and AI leverage.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DISCOVERY: “I want to build a business serving [customer group]. Generate 15 recurring problems… Do not invent evidence.” SOLUTION EXPLORATION: generate solutions in four categories and estimate difficulty, MVP cost, time to launch, pricing model, AI leverage and risks; then say which assumptions must be tested before building. RISKIEST ASSUMPTIONS: for each assumption propose the cheapest real-world experiment that could prove me wrong.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imagine they can spend only ৳1,000 validating their idea and cannot build the product. Teaching principle: validation is not asking friends whether an idea sounds good. Validation requires behavior. The strongest evidence is usually money &gt; commitment &gt; action &gt; opinion.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a research protocol: separate verified facts, estimates, assumptions and unknowns; never accept a market-size number without seeing the calculation.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AI hypothesis: e.g. “Restaurants might struggle with inventory forecasting.” Useful for exploration, not evidence. Level 2 public evidence: industry reports, competitor websites, reviews, pricing, government data. Level 3 customer evidence: interviews, surveys, observations. Level 4 behavioral evidence: people join a waitlist, request demos, provide information. Level 5 commercial evidence: someone pays.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“Tell me the market size,” ask AI to act as a rigorous market researcher and separate the output into verified facts, estimates, assumptions and unknowns requiring primary research. Cite sources for factual claims, and never create a market-size number without showing how it was calculated.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total addressable market — everyone who theoretically could buy. SAM: serviceable available market — customers your product could realistically serve. SOM: serviceable obtainable market — customers you could realistically acquire in the early stage. Prefer bottom-up sizing: potential customers × realistic annual spending, then challenge every assumption.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generate 15 customer-discovery questions that uncover current workflow, frustrations, frequency, existing alternatives, current spending, switching barriers, decision-making process and desired outcome. Avoid leading questions. Prioritize questions about actual past behavior.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 am selling [solution] to [type of company]. Map the likely buying committee” — economic buyer, champion, technical evaluator, end user and potential blocker. For each, explain what they care about, what they fear, what evidence they require, likely objections and appropriate messaging.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MVP, students answer these eight questions. The goal is not necessarily eight yes answers. The goal is to know what is evidence and what remains assumption.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 not need sophisticated finance. They should understand one principle: a product that people want can still be a bad business if acquiring or serving customers costs too much.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does not mean a bad product. It means the minimum version capable of proving the core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means the minimum version capable of proving the core value proposition. Example: an AI recruitment assistant. The full product might include an ATS, candidate profiles, AI scoring, interview scheduling, video interviews, analytics dashboard and HR integrations. The MVP: upload 50 CVs and get a candidate summary, skills matrix, shortlist and interview questions. That may be enough to test value.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format that proves the core value with the least build.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define the smallest MVP you could launch within 7–14 days, separating features into MUST HAVE, NICE TO HAVE, LATER and DO NOT BUILD YET. The MVP should prove whether customers receive the core promised outcome.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to memorize the tools. Tools change. Students should understand the function each tool performs.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“Act as my product manager and AI workflow architect. MVP: [describe]. Design the complete workflow from customer arrives to feedback collected. For every stage identify tool, AI responsibility, human responsibility, data required, automation opportunity, failure risk and quality-control step.”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AI operating alone, an AI model connects through MCP and integrations to Google Drive, CRM, database, calendar, email, files, analytics, internal knowledge and business software. Now the AI has context. That is the difference between AI as chatbot and AI as business infrastructure.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clear value proposition and honest positioning; never claim superiority without evidence.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formula: We help [customer] achieve [outcome] without [painful alternative] through [unique mechanism]. Prompt AI for five clear versions, avoiding buzzwords and keeping each understandable to someone with no technical knowledge.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Why should someone solve the problem? Why you? Why this solution rather than alternatives? Why now? Why should the customer act today?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positioning prompt: analyze differences across price, speed, ease of use, customization, customer segment, geography, language, support, trust and AI capabilities, then identify defensible positioning opportunities; do not claim superiority unless there is evidence. Skeptical customer test: respond as a skeptical customer, a competitor salesperson and a finance manager deciding whether to pay; list every objection, then rewrite the message to address the strongest objections without exaggerating capabilities.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Landing-page prompt: provide product, customer (ICP), problem, outcome, proof and CTA, and ask for hero headline, subheadline, problem, solution, how it works, benefits, proof, FAQ and CTA. Use specific language rather than AI buzzwords.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answers: what are we building? GTM answers: how does it reach the market?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Awareness: customer discovers the business. Interest: investigates. Conversation: engages. Trial: experiences value. Purchase: pays. Retention: continues. Referral: tells others.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weeks 1–4: find early users before the product is finished. Phase 2, weeks 5–8: create attention, get users, capture feedback, generate early revenue. Phase 3, weeks 9–12: ask what actually worked, not what we thought would work.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strategy prompt: recommend the three most realistic customer-acquisition channels for the first 90 days, evaluated on where customers already spend time, cost, time required, speed of feedback, ability to measure results and scalability; design one low-cost experiment for each channel. Content prompt: 12-week strategy with a 50/20/15/10/5 balance: problem education, practical advice, customer stories/proof, founder perspective, direct promotion. Connect each piece of content to a business objective.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Two-week launch prompt: design a 14-day campaign for the business, ICP, offer and channels. Days −7 to −1: anticipation. Day 0: launch. Days 1–7: proof and education. Days 8–14: conversion push. For each day specify activity, channel, message, CTA and metric.</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Outbound prompt: write outreach as a cold email, LinkedIn/Facebook DM, WhatsApp message and warm introduction. Keep the first message short. Lead with the customer’s problem rather than the product. Do not fabricate familiarity or pretend to know something about the prospect that you do not.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asks: what actually worked? Measure leads, response rate, meetings, trials, activation, conversion, acquisition cost, revenue, retention, repeat purchases and referrals. Killable-assumptions prompt: identify the five most important assumptions; for each define assumption, metric, test, deadline, failure threshold and response if wrong. Design the tests so you learn quickly rather than defend your original idea.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 prompt: paste in traffic, leads, trials, sales, acquisition spending and customer feedback. Ask AI to diagnose the likely bottleneck, separating product, offer, messaging, pricing, channel and trust problems — and to recommend three experiments rather than immediately recommending a complete strategy change.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5: automate only after understanding the process. Automating a broken process simply produces mistakes faster.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manual: human performs everything. Level 2 AI-assisted: human uses AI for individual tasks. Level 3 workflow automation: systems automatically pass information between tools. Level 4 AI workflow: AI interprets information inside the automated process. Level 5 agentic workflow: AI can decide among predefined actions. Level 6 human-by-exception: routine tasks operate automatically and humans intervene when needed.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Level 6, routine tasks operate automatically. Humans intervene when confidence is low, financial approval is needed, legal issues arise, sensitive data is involved, customers escalate, or strategic judgment is required.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company could eventually build a research agent (tracks market information), sales agent (researches prospects and prepares outreach), marketing agent (helps create and repurpose content), customer operations agent (classifies enquiries and drafts responses) and analytics agent (summarizes performance). The founder sets direction, approves critical actions, reviews quality and makes decisions.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support-system prompt: list all recurring weekly tasks across sales, marketing, customer support, product, administration, finance and research; categorize each as A human only, B AI assisted, C automatable or D potentially agentic and explain why. For automated or agentic tasks specify what human approval or monitoring should remain. SOP prompt: turn a business process into an SOP with purpose, trigger, input, steps, AI role, human role, quality check, failure conditions, escalation, output and KPI.</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draw an AI host connected to email, calendar, CRM, drive, database, analytics, customer support and financial data. Then they define READ permissions (what can AI see?), WRITE permissions (what can AI change?), APPROVAL permissions (what requires a human?) and PROHIBITED actions (what must AI never do automatically?). This turns MCP from a technical concept into a business-system-design concept.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Bangladesh changes several assumptions made by international startup courses.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SME digital transformation: thousands of businesses operate through Facebook, Messenger, WhatsApp, phone calls, Excel, paper and manual bookkeeping. Education: AI tutoring, exam prep, teacher assistants, career preparation, university support, admission guidance, corporate training, English/Bangla content. Commerce: seller analytics, product descriptions, customer service, recommendations, returns, social-commerce automation, demand forecasting. Local professional services: accountants, lawyers, architects, doctors and clinics, agencies, consultants, real-estate firms — sensitive and regulated areas require significantly greater human oversight.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Businesses in Bangladesh frequently operate across Bangla, English and Banglish. A locally adapted product can compete through language, local workflows, local payment systems, local support, local pricing and cultural understanding. Local context can itself become part of the product’s differentiation.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September 2026, Bangladesh does not appear on Stripe’s standard supported-country list for locally based Stripe businesses. bKash offers merchant accounts, merchant QR, online-business solutions, payment gateways and APIs. Nagad offers merchant onboarding. SSLCOMMERZ lists cards alongside bKash, Nagad, Rocket and other channels. aamarPay lists major card networks and multiple Bangladeshi wallets. Lesson: design the business around the infrastructure customers actually use. Verify current details before students build on any of these.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SME AI sales assistant: a Messenger/WhatsApp enquiry is identified, product information retrieved, a response drafted, the lead captured and a human alerted when needed; monthly subscription or managed-service fee; one employee potentially handles far more conversations. Example 2, AI career-preparation platform for students and fresh graduates: upload a CV and job description to get gap analysis, improved CV suggestions, mock interview and an improvement plan. Example 3, AI business intelligence for small retailers: daily sales, inventory and expenses in; daily summary, unusual-activity alerts, inventory warnings, product insights and a weekly owner report out — the first MVP can run on spreadsheets.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student or team must produce fifteen deliverables, present for about 7 minutes with about 5 minutes of questions, and will be assessed on evidence, MVP, economics, positioning, GTM, use of AI/MCP and what they learned from failed assumptions.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student or team must produce all fifteen items. The instructor should be able to actually experience the MVP.</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Approximately 7 minutes of presentation and 5 minutes of questioning. Suggested seven-slide structure shown here.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customer/problem understanding 15, real-world evidence and validation 20, MVP quality 15, business model and economics 10, positioning and messaging 10, GTM strategy 15, intelligent use of AI/MCP/automation 10, learning from failed assumptions 5. Students do not lose marks because an idea fails; they lose marks if they fail to learn why.</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master prompt library gives students fourteen reusable prompts. Each is a starting point: students must supply their own context and keep applying Rule 1 — AI output is not evidence.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master prompt library gives students fourteen reusable prompts. Each is a starting point: students must supply their own context and keep applying Rule 1 — AI output is not evidence.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1: AI output is not evidence. Rule 2: talk to customers before building too much. Rule 3: build the smallest thing that can prove value. Rule 4: distribution is part of the product — a great product nobody discovers is not a business. Rule 5: automate only after understanding the process — automating a broken process simply produces mistakes faster.</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knowledge (prompting, models, research, agents, MCP) feeds the whole journey: problem, validation, MVP, value, GTM, revenue, operations, automation and scale.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closing message. The most important lesson should not be “AI can build businesses.” It should be that AI allows entrepreneurs to test ideas, learn, build and execute much faster — but the entrepreneur is still responsible for deciding what problem is worth solving, understanding the customer, validating the evidence and making the final decisions. That is the difference between simply using AI and becoming an AI-native entrepreneur.</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0.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7.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8.png"/><Relationship Id="rId7" Type="http://schemas.openxmlformats.org/officeDocument/2006/relationships/image" Target="../media/image54.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60.png"/><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3.png"/><Relationship Id="rId7"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5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76.png"/><Relationship Id="rId7" Type="http://schemas.openxmlformats.org/officeDocument/2006/relationships/image" Target="../media/image59.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78.png"/><Relationship Id="rId4" Type="http://schemas.openxmlformats.org/officeDocument/2006/relationships/image" Target="../media/image77.png"/></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73.png"/></Relationships>
</file>

<file path=ppt/slides/_rels/slide5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83.png"/><Relationship Id="rId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48640" y="73152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INDUSTRIAL TRAINING ON AI  ·  FOURTH YEAR</a:t>
            </a:r>
            <a:endParaRPr lang="en-US" sz="1100" dirty="0"/>
          </a:p>
        </p:txBody>
      </p:sp>
      <p:sp>
        <p:nvSpPr>
          <p:cNvPr id="4" name="Text 1"/>
          <p:cNvSpPr txBox="1"/>
          <p:nvPr/>
        </p:nvSpPr>
        <p:spPr>
          <a:xfrm>
            <a:off x="548640" y="1188720"/>
            <a:ext cx="5669280" cy="868680"/>
          </a:xfrm>
          <a:prstGeom prst="rect">
            <a:avLst/>
          </a:prstGeom>
          <a:noFill/>
          <a:ln/>
        </p:spPr>
        <p:txBody>
          <a:bodyPr wrap="square" lIns="0" tIns="0" rIns="0" bIns="0" rtlCol="0" anchor="t"/>
          <a:lstStyle/>
          <a:p>
            <a:pPr marL="0" indent="0" algn="l">
              <a:buNone/>
            </a:pPr>
            <a:r>
              <a:rPr lang="en-US" sz="4600" b="1" dirty="0">
                <a:solidFill>
                  <a:srgbClr val="FFFFFF"/>
                </a:solidFill>
                <a:latin typeface="Cambria" pitchFamily="34" charset="0"/>
                <a:ea typeface="Cambria" pitchFamily="34" charset="-122"/>
                <a:cs typeface="Cambria" pitchFamily="34" charset="-120"/>
              </a:rPr>
              <a:t>AI Venture Studio</a:t>
            </a:r>
            <a:endParaRPr lang="en-US" sz="4600" dirty="0"/>
          </a:p>
        </p:txBody>
      </p:sp>
      <p:sp>
        <p:nvSpPr>
          <p:cNvPr id="5" name="Text 2"/>
          <p:cNvSpPr txBox="1"/>
          <p:nvPr/>
        </p:nvSpPr>
        <p:spPr>
          <a:xfrm>
            <a:off x="548640" y="2194560"/>
            <a:ext cx="5120640" cy="914400"/>
          </a:xfrm>
          <a:prstGeom prst="rect">
            <a:avLst/>
          </a:prstGeom>
          <a:noFill/>
          <a:ln/>
        </p:spPr>
        <p:txBody>
          <a:bodyPr wrap="square" lIns="0" tIns="0" rIns="0" bIns="0" rtlCol="0" anchor="t"/>
          <a:lstStyle/>
          <a:p>
            <a:pPr marL="0" indent="0" algn="l">
              <a:buNone/>
            </a:pPr>
            <a:r>
              <a:rPr lang="en-US" sz="2000" dirty="0">
                <a:solidFill>
                  <a:srgbClr val="DFF1EA"/>
                </a:solidFill>
                <a:latin typeface="Calibri" pitchFamily="34" charset="0"/>
                <a:ea typeface="Calibri" pitchFamily="34" charset="-122"/>
                <a:cs typeface="Calibri" pitchFamily="34" charset="-120"/>
              </a:rPr>
              <a:t>From MCP to Market: Building and Launching a Business with AI</a:t>
            </a:r>
            <a:endParaRPr lang="en-US" sz="2000" dirty="0"/>
          </a:p>
        </p:txBody>
      </p:sp>
      <p:sp>
        <p:nvSpPr>
          <p:cNvPr id="6" name="Text 3"/>
          <p:cNvSpPr txBox="1"/>
          <p:nvPr/>
        </p:nvSpPr>
        <p:spPr>
          <a:xfrm>
            <a:off x="548640" y="4160520"/>
            <a:ext cx="5029200" cy="27432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Islamic University of Technology</a:t>
            </a:r>
            <a:endParaRPr lang="en-US" sz="1400" dirty="0"/>
          </a:p>
        </p:txBody>
      </p:sp>
      <p:sp>
        <p:nvSpPr>
          <p:cNvPr id="7" name="Shape 4"/>
          <p:cNvSpPr/>
          <p:nvPr/>
        </p:nvSpPr>
        <p:spPr>
          <a:xfrm>
            <a:off x="6309360" y="658368"/>
            <a:ext cx="2377440" cy="365760"/>
          </a:xfrm>
          <a:prstGeom prst="roundRect">
            <a:avLst>
              <a:gd name="adj" fmla="val 50000"/>
            </a:avLst>
          </a:prstGeom>
          <a:solidFill>
            <a:srgbClr val="163B34"/>
          </a:solidFill>
          <a:ln/>
        </p:spPr>
      </p:sp>
      <p:sp>
        <p:nvSpPr>
          <p:cNvPr id="8" name="Shape 5"/>
          <p:cNvSpPr/>
          <p:nvPr/>
        </p:nvSpPr>
        <p:spPr>
          <a:xfrm>
            <a:off x="6364224" y="713232"/>
            <a:ext cx="256032" cy="256032"/>
          </a:xfrm>
          <a:prstGeom prst="ellipse">
            <a:avLst/>
          </a:prstGeom>
          <a:solidFill>
            <a:srgbClr val="F4A52A"/>
          </a:solidFill>
          <a:ln/>
        </p:spPr>
      </p:sp>
      <p:sp>
        <p:nvSpPr>
          <p:cNvPr id="9" name="Text 6"/>
          <p:cNvSpPr txBox="1"/>
          <p:nvPr/>
        </p:nvSpPr>
        <p:spPr>
          <a:xfrm>
            <a:off x="6364224" y="7132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1</a:t>
            </a:r>
            <a:endParaRPr lang="en-US" sz="1000" dirty="0"/>
          </a:p>
        </p:txBody>
      </p:sp>
      <p:sp>
        <p:nvSpPr>
          <p:cNvPr id="10" name="Text 7"/>
          <p:cNvSpPr txBox="1"/>
          <p:nvPr/>
        </p:nvSpPr>
        <p:spPr>
          <a:xfrm>
            <a:off x="6766560" y="6583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Find</a:t>
            </a:r>
            <a:endParaRPr lang="en-US" sz="1300" dirty="0"/>
          </a:p>
        </p:txBody>
      </p:sp>
      <p:sp>
        <p:nvSpPr>
          <p:cNvPr id="11" name="Shape 8"/>
          <p:cNvSpPr/>
          <p:nvPr/>
        </p:nvSpPr>
        <p:spPr>
          <a:xfrm>
            <a:off x="6309360" y="1115568"/>
            <a:ext cx="2377440" cy="365760"/>
          </a:xfrm>
          <a:prstGeom prst="roundRect">
            <a:avLst>
              <a:gd name="adj" fmla="val 50000"/>
            </a:avLst>
          </a:prstGeom>
          <a:solidFill>
            <a:srgbClr val="163B34"/>
          </a:solidFill>
          <a:ln/>
        </p:spPr>
      </p:sp>
      <p:sp>
        <p:nvSpPr>
          <p:cNvPr id="12" name="Shape 9"/>
          <p:cNvSpPr/>
          <p:nvPr/>
        </p:nvSpPr>
        <p:spPr>
          <a:xfrm>
            <a:off x="6364224" y="1170432"/>
            <a:ext cx="256032" cy="256032"/>
          </a:xfrm>
          <a:prstGeom prst="ellipse">
            <a:avLst/>
          </a:prstGeom>
          <a:solidFill>
            <a:srgbClr val="F4A52A"/>
          </a:solidFill>
          <a:ln/>
        </p:spPr>
      </p:sp>
      <p:sp>
        <p:nvSpPr>
          <p:cNvPr id="13" name="Text 10"/>
          <p:cNvSpPr txBox="1"/>
          <p:nvPr/>
        </p:nvSpPr>
        <p:spPr>
          <a:xfrm>
            <a:off x="6364224" y="11704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2</a:t>
            </a:r>
            <a:endParaRPr lang="en-US" sz="1000" dirty="0"/>
          </a:p>
        </p:txBody>
      </p:sp>
      <p:sp>
        <p:nvSpPr>
          <p:cNvPr id="14" name="Text 11"/>
          <p:cNvSpPr txBox="1"/>
          <p:nvPr/>
        </p:nvSpPr>
        <p:spPr>
          <a:xfrm>
            <a:off x="6766560" y="11155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Research</a:t>
            </a:r>
            <a:endParaRPr lang="en-US" sz="1300" dirty="0"/>
          </a:p>
        </p:txBody>
      </p:sp>
      <p:sp>
        <p:nvSpPr>
          <p:cNvPr id="15" name="Shape 12"/>
          <p:cNvSpPr/>
          <p:nvPr/>
        </p:nvSpPr>
        <p:spPr>
          <a:xfrm>
            <a:off x="6309360" y="1572768"/>
            <a:ext cx="2377440" cy="365760"/>
          </a:xfrm>
          <a:prstGeom prst="roundRect">
            <a:avLst>
              <a:gd name="adj" fmla="val 50000"/>
            </a:avLst>
          </a:prstGeom>
          <a:solidFill>
            <a:srgbClr val="163B34"/>
          </a:solidFill>
          <a:ln/>
        </p:spPr>
      </p:sp>
      <p:sp>
        <p:nvSpPr>
          <p:cNvPr id="16" name="Shape 13"/>
          <p:cNvSpPr/>
          <p:nvPr/>
        </p:nvSpPr>
        <p:spPr>
          <a:xfrm>
            <a:off x="6364224" y="1627632"/>
            <a:ext cx="256032" cy="256032"/>
          </a:xfrm>
          <a:prstGeom prst="ellipse">
            <a:avLst/>
          </a:prstGeom>
          <a:solidFill>
            <a:srgbClr val="F4A52A"/>
          </a:solidFill>
          <a:ln/>
        </p:spPr>
      </p:sp>
      <p:sp>
        <p:nvSpPr>
          <p:cNvPr id="17" name="Text 14"/>
          <p:cNvSpPr txBox="1"/>
          <p:nvPr/>
        </p:nvSpPr>
        <p:spPr>
          <a:xfrm>
            <a:off x="6364224" y="16276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3</a:t>
            </a:r>
            <a:endParaRPr lang="en-US" sz="1000" dirty="0"/>
          </a:p>
        </p:txBody>
      </p:sp>
      <p:sp>
        <p:nvSpPr>
          <p:cNvPr id="18" name="Text 15"/>
          <p:cNvSpPr txBox="1"/>
          <p:nvPr/>
        </p:nvSpPr>
        <p:spPr>
          <a:xfrm>
            <a:off x="6766560" y="15727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Validate</a:t>
            </a:r>
            <a:endParaRPr lang="en-US" sz="1300" dirty="0"/>
          </a:p>
        </p:txBody>
      </p:sp>
      <p:sp>
        <p:nvSpPr>
          <p:cNvPr id="19" name="Shape 16"/>
          <p:cNvSpPr/>
          <p:nvPr/>
        </p:nvSpPr>
        <p:spPr>
          <a:xfrm>
            <a:off x="6309360" y="2029968"/>
            <a:ext cx="2377440" cy="365760"/>
          </a:xfrm>
          <a:prstGeom prst="roundRect">
            <a:avLst>
              <a:gd name="adj" fmla="val 50000"/>
            </a:avLst>
          </a:prstGeom>
          <a:solidFill>
            <a:srgbClr val="163B34"/>
          </a:solidFill>
          <a:ln/>
        </p:spPr>
      </p:sp>
      <p:sp>
        <p:nvSpPr>
          <p:cNvPr id="20" name="Shape 17"/>
          <p:cNvSpPr/>
          <p:nvPr/>
        </p:nvSpPr>
        <p:spPr>
          <a:xfrm>
            <a:off x="6364224" y="2084832"/>
            <a:ext cx="256032" cy="256032"/>
          </a:xfrm>
          <a:prstGeom prst="ellipse">
            <a:avLst/>
          </a:prstGeom>
          <a:solidFill>
            <a:srgbClr val="F4A52A"/>
          </a:solidFill>
          <a:ln/>
        </p:spPr>
      </p:sp>
      <p:sp>
        <p:nvSpPr>
          <p:cNvPr id="21" name="Text 18"/>
          <p:cNvSpPr txBox="1"/>
          <p:nvPr/>
        </p:nvSpPr>
        <p:spPr>
          <a:xfrm>
            <a:off x="6364224" y="20848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4</a:t>
            </a:r>
            <a:endParaRPr lang="en-US" sz="1000" dirty="0"/>
          </a:p>
        </p:txBody>
      </p:sp>
      <p:sp>
        <p:nvSpPr>
          <p:cNvPr id="22" name="Text 19"/>
          <p:cNvSpPr txBox="1"/>
          <p:nvPr/>
        </p:nvSpPr>
        <p:spPr>
          <a:xfrm>
            <a:off x="6766560" y="20299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23" name="Shape 20"/>
          <p:cNvSpPr/>
          <p:nvPr/>
        </p:nvSpPr>
        <p:spPr>
          <a:xfrm>
            <a:off x="6309360" y="2487168"/>
            <a:ext cx="2377440" cy="365760"/>
          </a:xfrm>
          <a:prstGeom prst="roundRect">
            <a:avLst>
              <a:gd name="adj" fmla="val 50000"/>
            </a:avLst>
          </a:prstGeom>
          <a:solidFill>
            <a:srgbClr val="163B34"/>
          </a:solidFill>
          <a:ln/>
        </p:spPr>
      </p:sp>
      <p:sp>
        <p:nvSpPr>
          <p:cNvPr id="24" name="Shape 21"/>
          <p:cNvSpPr/>
          <p:nvPr/>
        </p:nvSpPr>
        <p:spPr>
          <a:xfrm>
            <a:off x="6364224" y="2542032"/>
            <a:ext cx="256032" cy="256032"/>
          </a:xfrm>
          <a:prstGeom prst="ellipse">
            <a:avLst/>
          </a:prstGeom>
          <a:solidFill>
            <a:srgbClr val="F4A52A"/>
          </a:solidFill>
          <a:ln/>
        </p:spPr>
      </p:sp>
      <p:sp>
        <p:nvSpPr>
          <p:cNvPr id="25" name="Text 22"/>
          <p:cNvSpPr txBox="1"/>
          <p:nvPr/>
        </p:nvSpPr>
        <p:spPr>
          <a:xfrm>
            <a:off x="6364224" y="25420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5</a:t>
            </a:r>
            <a:endParaRPr lang="en-US" sz="1000" dirty="0"/>
          </a:p>
        </p:txBody>
      </p:sp>
      <p:sp>
        <p:nvSpPr>
          <p:cNvPr id="26" name="Text 23"/>
          <p:cNvSpPr txBox="1"/>
          <p:nvPr/>
        </p:nvSpPr>
        <p:spPr>
          <a:xfrm>
            <a:off x="6766560" y="24871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Position</a:t>
            </a:r>
            <a:endParaRPr lang="en-US" sz="1300" dirty="0"/>
          </a:p>
        </p:txBody>
      </p:sp>
      <p:sp>
        <p:nvSpPr>
          <p:cNvPr id="27" name="Shape 24"/>
          <p:cNvSpPr/>
          <p:nvPr/>
        </p:nvSpPr>
        <p:spPr>
          <a:xfrm>
            <a:off x="6309360" y="2944368"/>
            <a:ext cx="2377440" cy="365760"/>
          </a:xfrm>
          <a:prstGeom prst="roundRect">
            <a:avLst>
              <a:gd name="adj" fmla="val 50000"/>
            </a:avLst>
          </a:prstGeom>
          <a:solidFill>
            <a:srgbClr val="163B34"/>
          </a:solidFill>
          <a:ln/>
        </p:spPr>
      </p:sp>
      <p:sp>
        <p:nvSpPr>
          <p:cNvPr id="28" name="Shape 25"/>
          <p:cNvSpPr/>
          <p:nvPr/>
        </p:nvSpPr>
        <p:spPr>
          <a:xfrm>
            <a:off x="6364224" y="2999232"/>
            <a:ext cx="256032" cy="256032"/>
          </a:xfrm>
          <a:prstGeom prst="ellipse">
            <a:avLst/>
          </a:prstGeom>
          <a:solidFill>
            <a:srgbClr val="F4A52A"/>
          </a:solidFill>
          <a:ln/>
        </p:spPr>
      </p:sp>
      <p:sp>
        <p:nvSpPr>
          <p:cNvPr id="29" name="Text 26"/>
          <p:cNvSpPr txBox="1"/>
          <p:nvPr/>
        </p:nvSpPr>
        <p:spPr>
          <a:xfrm>
            <a:off x="6364224" y="29992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6</a:t>
            </a:r>
            <a:endParaRPr lang="en-US" sz="1000" dirty="0"/>
          </a:p>
        </p:txBody>
      </p:sp>
      <p:sp>
        <p:nvSpPr>
          <p:cNvPr id="30" name="Text 27"/>
          <p:cNvSpPr txBox="1"/>
          <p:nvPr/>
        </p:nvSpPr>
        <p:spPr>
          <a:xfrm>
            <a:off x="6766560" y="29443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Sell</a:t>
            </a:r>
            <a:endParaRPr lang="en-US" sz="1300" dirty="0"/>
          </a:p>
        </p:txBody>
      </p:sp>
      <p:sp>
        <p:nvSpPr>
          <p:cNvPr id="31" name="Shape 28"/>
          <p:cNvSpPr/>
          <p:nvPr/>
        </p:nvSpPr>
        <p:spPr>
          <a:xfrm>
            <a:off x="6309360" y="3401568"/>
            <a:ext cx="2377440" cy="365760"/>
          </a:xfrm>
          <a:prstGeom prst="roundRect">
            <a:avLst>
              <a:gd name="adj" fmla="val 50000"/>
            </a:avLst>
          </a:prstGeom>
          <a:solidFill>
            <a:srgbClr val="163B34"/>
          </a:solidFill>
          <a:ln/>
        </p:spPr>
      </p:sp>
      <p:sp>
        <p:nvSpPr>
          <p:cNvPr id="32" name="Shape 29"/>
          <p:cNvSpPr/>
          <p:nvPr/>
        </p:nvSpPr>
        <p:spPr>
          <a:xfrm>
            <a:off x="6364224" y="3456432"/>
            <a:ext cx="256032" cy="256032"/>
          </a:xfrm>
          <a:prstGeom prst="ellipse">
            <a:avLst/>
          </a:prstGeom>
          <a:solidFill>
            <a:srgbClr val="F4A52A"/>
          </a:solidFill>
          <a:ln/>
        </p:spPr>
      </p:sp>
      <p:sp>
        <p:nvSpPr>
          <p:cNvPr id="33" name="Text 30"/>
          <p:cNvSpPr txBox="1"/>
          <p:nvPr/>
        </p:nvSpPr>
        <p:spPr>
          <a:xfrm>
            <a:off x="6364224" y="3456432"/>
            <a:ext cx="256032"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7</a:t>
            </a:r>
            <a:endParaRPr lang="en-US" sz="1000" dirty="0"/>
          </a:p>
        </p:txBody>
      </p:sp>
      <p:sp>
        <p:nvSpPr>
          <p:cNvPr id="34" name="Text 31"/>
          <p:cNvSpPr txBox="1"/>
          <p:nvPr/>
        </p:nvSpPr>
        <p:spPr>
          <a:xfrm>
            <a:off x="6766560" y="3401568"/>
            <a:ext cx="18288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Operate</a:t>
            </a:r>
            <a:endParaRPr lang="en-US" sz="1300" dirty="0"/>
          </a:p>
        </p:txBody>
      </p:sp>
      <p:sp>
        <p:nvSpPr>
          <p:cNvPr id="35" name="Shape 32"/>
          <p:cNvSpPr/>
          <p:nvPr/>
        </p:nvSpPr>
        <p:spPr>
          <a:xfrm>
            <a:off x="6309360" y="3858768"/>
            <a:ext cx="2377440" cy="365760"/>
          </a:xfrm>
          <a:prstGeom prst="roundRect">
            <a:avLst>
              <a:gd name="adj" fmla="val 50000"/>
            </a:avLst>
          </a:prstGeom>
          <a:solidFill>
            <a:srgbClr val="F4A52A"/>
          </a:solidFill>
          <a:ln/>
        </p:spPr>
      </p:sp>
      <p:sp>
        <p:nvSpPr>
          <p:cNvPr id="36" name="Shape 33"/>
          <p:cNvSpPr/>
          <p:nvPr/>
        </p:nvSpPr>
        <p:spPr>
          <a:xfrm>
            <a:off x="6364224" y="3913632"/>
            <a:ext cx="256032" cy="256032"/>
          </a:xfrm>
          <a:prstGeom prst="ellipse">
            <a:avLst/>
          </a:prstGeom>
          <a:solidFill>
            <a:srgbClr val="0C2622"/>
          </a:solidFill>
          <a:ln/>
        </p:spPr>
      </p:sp>
      <p:sp>
        <p:nvSpPr>
          <p:cNvPr id="37" name="Text 34"/>
          <p:cNvSpPr txBox="1"/>
          <p:nvPr/>
        </p:nvSpPr>
        <p:spPr>
          <a:xfrm>
            <a:off x="6364224" y="391363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8" name="Text 35"/>
          <p:cNvSpPr txBox="1"/>
          <p:nvPr/>
        </p:nvSpPr>
        <p:spPr>
          <a:xfrm>
            <a:off x="6766560" y="3858768"/>
            <a:ext cx="1828800" cy="365760"/>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Scale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COURSE PREMISE</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From connecting AI to building with it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457200" y="1325880"/>
            <a:ext cx="4023360" cy="2468880"/>
          </a:xfrm>
          <a:prstGeom prst="roundRect">
            <a:avLst>
              <a:gd name="adj" fmla="val 3704"/>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731520" y="1554480"/>
            <a:ext cx="347472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THE NEXT QUESTION</a:t>
            </a:r>
            <a:endParaRPr lang="en-US" sz="950" dirty="0"/>
          </a:p>
        </p:txBody>
      </p:sp>
      <p:sp>
        <p:nvSpPr>
          <p:cNvPr id="9" name="Text 6"/>
          <p:cNvSpPr txBox="1"/>
          <p:nvPr/>
        </p:nvSpPr>
        <p:spPr>
          <a:xfrm>
            <a:off x="731520" y="1874520"/>
            <a:ext cx="3474720" cy="1737360"/>
          </a:xfrm>
          <a:prstGeom prst="rect">
            <a:avLst/>
          </a:prstGeom>
          <a:noFill/>
          <a:ln/>
        </p:spPr>
        <p:txBody>
          <a:bodyPr wrap="square" lIns="0" tIns="0" rIns="0" bIns="0" rtlCol="0" anchor="t"/>
          <a:lstStyle/>
          <a:p>
            <a:pPr marL="0" indent="0" algn="l">
              <a:buNone/>
            </a:pPr>
            <a:r>
              <a:rPr lang="en-US" sz="2100" i="1" dirty="0">
                <a:solidFill>
                  <a:srgbClr val="FFFFFF"/>
                </a:solidFill>
                <a:latin typeface="Cambria" pitchFamily="34" charset="0"/>
                <a:ea typeface="Cambria" pitchFamily="34" charset="-122"/>
                <a:cs typeface="Cambria" pitchFamily="34" charset="-120"/>
              </a:rPr>
              <a:t>Now that AI can connect to the tools around us, what can we actually build with it?</a:t>
            </a:r>
            <a:endParaRPr lang="en-US" sz="2100" dirty="0"/>
          </a:p>
        </p:txBody>
      </p:sp>
      <p:sp>
        <p:nvSpPr>
          <p:cNvPr id="10" name="Shape 7"/>
          <p:cNvSpPr/>
          <p:nvPr/>
        </p:nvSpPr>
        <p:spPr>
          <a:xfrm>
            <a:off x="4663440" y="1325880"/>
            <a:ext cx="4023360" cy="731520"/>
          </a:xfrm>
          <a:prstGeom prst="roundRect">
            <a:avLst>
              <a:gd name="adj" fmla="val 12500"/>
            </a:avLst>
          </a:prstGeom>
          <a:solidFill>
            <a:srgbClr val="FFFFFF"/>
          </a:solidFill>
          <a:ln/>
          <a:effectLst>
            <a:outerShdw blurRad="101600" dist="25400" dir="5400000" algn="bl" rotWithShape="0">
              <a:srgbClr val="000000">
                <a:alpha val="10000"/>
              </a:srgbClr>
            </a:outerShdw>
          </a:effectLst>
        </p:spPr>
      </p:sp>
      <p:sp>
        <p:nvSpPr>
          <p:cNvPr id="11" name="Shape 8"/>
          <p:cNvSpPr/>
          <p:nvPr/>
        </p:nvSpPr>
        <p:spPr>
          <a:xfrm>
            <a:off x="4800600" y="1481328"/>
            <a:ext cx="420624" cy="420624"/>
          </a:xfrm>
          <a:prstGeom prst="ellipse">
            <a:avLst/>
          </a:prstGeom>
          <a:solidFill>
            <a:srgbClr val="12735B"/>
          </a:solidFill>
          <a:ln/>
        </p:spPr>
      </p:sp>
      <p:pic>
        <p:nvPicPr>
          <p:cNvPr id="12" name="Image 0" descr="preencoded.png"/>
          <p:cNvPicPr>
            <a:picLocks noChangeAspect="1"/>
          </p:cNvPicPr>
          <p:nvPr/>
        </p:nvPicPr>
        <p:blipFill>
          <a:blip r:embed="rId3"/>
          <a:stretch>
            <a:fillRect/>
          </a:stretch>
        </p:blipFill>
        <p:spPr>
          <a:xfrm>
            <a:off x="4905756" y="1586484"/>
            <a:ext cx="210312" cy="210312"/>
          </a:xfrm>
          <a:prstGeom prst="rect">
            <a:avLst/>
          </a:prstGeom>
        </p:spPr>
      </p:pic>
      <p:sp>
        <p:nvSpPr>
          <p:cNvPr id="13" name="Text 9"/>
          <p:cNvSpPr txBox="1"/>
          <p:nvPr/>
        </p:nvSpPr>
        <p:spPr>
          <a:xfrm>
            <a:off x="5394960" y="1399032"/>
            <a:ext cx="3108960" cy="201168"/>
          </a:xfrm>
          <a:prstGeom prst="rect">
            <a:avLst/>
          </a:prstGeom>
          <a:noFill/>
          <a:ln/>
        </p:spPr>
        <p:txBody>
          <a:bodyPr wrap="square" lIns="0" tIns="0" rIns="0" bIns="0" rtlCol="0" anchor="t"/>
          <a:lstStyle/>
          <a:p>
            <a:pPr marL="0" indent="0" algn="l">
              <a:buNone/>
            </a:pPr>
            <a:r>
              <a:rPr lang="en-US" sz="1250" b="1" dirty="0">
                <a:solidFill>
                  <a:srgbClr val="0C2622"/>
                </a:solidFill>
                <a:latin typeface="Calibri" pitchFamily="34" charset="0"/>
                <a:ea typeface="Calibri" pitchFamily="34" charset="-122"/>
                <a:cs typeface="Calibri" pitchFamily="34" charset="-120"/>
              </a:rPr>
              <a:t>Previous stage</a:t>
            </a:r>
            <a:endParaRPr lang="en-US" sz="1250" dirty="0"/>
          </a:p>
        </p:txBody>
      </p:sp>
      <p:sp>
        <p:nvSpPr>
          <p:cNvPr id="14" name="Text 10"/>
          <p:cNvSpPr txBox="1"/>
          <p:nvPr/>
        </p:nvSpPr>
        <p:spPr>
          <a:xfrm>
            <a:off x="5394960" y="1609344"/>
            <a:ext cx="3154680" cy="41148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How AI connects to tools, data, workflows and external systems (MCP).</a:t>
            </a:r>
            <a:endParaRPr lang="en-US" sz="1050" dirty="0"/>
          </a:p>
        </p:txBody>
      </p:sp>
      <p:sp>
        <p:nvSpPr>
          <p:cNvPr id="15" name="Shape 11"/>
          <p:cNvSpPr/>
          <p:nvPr/>
        </p:nvSpPr>
        <p:spPr>
          <a:xfrm>
            <a:off x="4663440" y="2194560"/>
            <a:ext cx="4023360" cy="731520"/>
          </a:xfrm>
          <a:prstGeom prst="roundRect">
            <a:avLst>
              <a:gd name="adj" fmla="val 12500"/>
            </a:avLst>
          </a:prstGeom>
          <a:solidFill>
            <a:srgbClr val="FFFFFF"/>
          </a:solidFill>
          <a:ln/>
          <a:effectLst>
            <a:outerShdw blurRad="101600" dist="25400" dir="5400000" algn="bl" rotWithShape="0">
              <a:srgbClr val="000000">
                <a:alpha val="10000"/>
              </a:srgbClr>
            </a:outerShdw>
          </a:effectLst>
        </p:spPr>
      </p:sp>
      <p:sp>
        <p:nvSpPr>
          <p:cNvPr id="16" name="Shape 12"/>
          <p:cNvSpPr/>
          <p:nvPr/>
        </p:nvSpPr>
        <p:spPr>
          <a:xfrm>
            <a:off x="4800600" y="2350008"/>
            <a:ext cx="420624" cy="420624"/>
          </a:xfrm>
          <a:prstGeom prst="ellipse">
            <a:avLst/>
          </a:prstGeom>
          <a:solidFill>
            <a:srgbClr val="12735B"/>
          </a:solidFill>
          <a:ln/>
        </p:spPr>
      </p:sp>
      <p:pic>
        <p:nvPicPr>
          <p:cNvPr id="17" name="Image 1" descr="preencoded.png"/>
          <p:cNvPicPr>
            <a:picLocks noChangeAspect="1"/>
          </p:cNvPicPr>
          <p:nvPr/>
        </p:nvPicPr>
        <p:blipFill>
          <a:blip r:embed="rId4"/>
          <a:stretch>
            <a:fillRect/>
          </a:stretch>
        </p:blipFill>
        <p:spPr>
          <a:xfrm>
            <a:off x="4905756" y="2455164"/>
            <a:ext cx="210312" cy="210312"/>
          </a:xfrm>
          <a:prstGeom prst="rect">
            <a:avLst/>
          </a:prstGeom>
        </p:spPr>
      </p:pic>
      <p:sp>
        <p:nvSpPr>
          <p:cNvPr id="18" name="Text 13"/>
          <p:cNvSpPr txBox="1"/>
          <p:nvPr/>
        </p:nvSpPr>
        <p:spPr>
          <a:xfrm>
            <a:off x="5394960" y="2267712"/>
            <a:ext cx="3108960" cy="201168"/>
          </a:xfrm>
          <a:prstGeom prst="rect">
            <a:avLst/>
          </a:prstGeom>
          <a:noFill/>
          <a:ln/>
        </p:spPr>
        <p:txBody>
          <a:bodyPr wrap="square" lIns="0" tIns="0" rIns="0" bIns="0" rtlCol="0" anchor="t"/>
          <a:lstStyle/>
          <a:p>
            <a:pPr marL="0" indent="0" algn="l">
              <a:buNone/>
            </a:pPr>
            <a:r>
              <a:rPr lang="en-US" sz="1250" b="1" dirty="0">
                <a:solidFill>
                  <a:srgbClr val="0C2622"/>
                </a:solidFill>
                <a:latin typeface="Calibri" pitchFamily="34" charset="0"/>
                <a:ea typeface="Calibri" pitchFamily="34" charset="-122"/>
                <a:cs typeface="Calibri" pitchFamily="34" charset="-120"/>
              </a:rPr>
              <a:t>This course</a:t>
            </a:r>
            <a:endParaRPr lang="en-US" sz="1250" dirty="0"/>
          </a:p>
        </p:txBody>
      </p:sp>
      <p:sp>
        <p:nvSpPr>
          <p:cNvPr id="19" name="Text 14"/>
          <p:cNvSpPr txBox="1"/>
          <p:nvPr/>
        </p:nvSpPr>
        <p:spPr>
          <a:xfrm>
            <a:off x="5394960" y="2478024"/>
            <a:ext cx="3154680" cy="41148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ChatGPT, Claude, Gemini, Perplexity and more — across the whole entrepreneurial cycle.</a:t>
            </a:r>
            <a:endParaRPr lang="en-US" sz="1050" dirty="0"/>
          </a:p>
        </p:txBody>
      </p:sp>
      <p:sp>
        <p:nvSpPr>
          <p:cNvPr id="20" name="Shape 15"/>
          <p:cNvSpPr/>
          <p:nvPr/>
        </p:nvSpPr>
        <p:spPr>
          <a:xfrm>
            <a:off x="4663440" y="3063240"/>
            <a:ext cx="4023360" cy="731520"/>
          </a:xfrm>
          <a:prstGeom prst="roundRect">
            <a:avLst>
              <a:gd name="adj" fmla="val 12500"/>
            </a:avLst>
          </a:prstGeom>
          <a:solidFill>
            <a:srgbClr val="FFFFFF"/>
          </a:solidFill>
          <a:ln/>
          <a:effectLst>
            <a:outerShdw blurRad="101600" dist="25400" dir="5400000" algn="bl" rotWithShape="0">
              <a:srgbClr val="000000">
                <a:alpha val="10000"/>
              </a:srgbClr>
            </a:outerShdw>
          </a:effectLst>
        </p:spPr>
      </p:sp>
      <p:sp>
        <p:nvSpPr>
          <p:cNvPr id="21" name="Shape 16"/>
          <p:cNvSpPr/>
          <p:nvPr/>
        </p:nvSpPr>
        <p:spPr>
          <a:xfrm>
            <a:off x="4800600" y="3218688"/>
            <a:ext cx="420624" cy="420624"/>
          </a:xfrm>
          <a:prstGeom prst="ellipse">
            <a:avLst/>
          </a:prstGeom>
          <a:solidFill>
            <a:srgbClr val="12735B"/>
          </a:solidFill>
          <a:ln/>
        </p:spPr>
      </p:sp>
      <p:pic>
        <p:nvPicPr>
          <p:cNvPr id="22" name="Image 2" descr="preencoded.png"/>
          <p:cNvPicPr>
            <a:picLocks noChangeAspect="1"/>
          </p:cNvPicPr>
          <p:nvPr/>
        </p:nvPicPr>
        <p:blipFill>
          <a:blip r:embed="rId5"/>
          <a:stretch>
            <a:fillRect/>
          </a:stretch>
        </p:blipFill>
        <p:spPr>
          <a:xfrm>
            <a:off x="4905756" y="3323844"/>
            <a:ext cx="210312" cy="210312"/>
          </a:xfrm>
          <a:prstGeom prst="rect">
            <a:avLst/>
          </a:prstGeom>
        </p:spPr>
      </p:pic>
      <p:sp>
        <p:nvSpPr>
          <p:cNvPr id="23" name="Text 17"/>
          <p:cNvSpPr txBox="1"/>
          <p:nvPr/>
        </p:nvSpPr>
        <p:spPr>
          <a:xfrm>
            <a:off x="5394960" y="3136392"/>
            <a:ext cx="3108960" cy="201168"/>
          </a:xfrm>
          <a:prstGeom prst="rect">
            <a:avLst/>
          </a:prstGeom>
          <a:noFill/>
          <a:ln/>
        </p:spPr>
        <p:txBody>
          <a:bodyPr wrap="square" lIns="0" tIns="0" rIns="0" bIns="0" rtlCol="0" anchor="t"/>
          <a:lstStyle/>
          <a:p>
            <a:pPr marL="0" indent="0" algn="l">
              <a:buNone/>
            </a:pPr>
            <a:r>
              <a:rPr lang="en-US" sz="1250" b="1" dirty="0">
                <a:solidFill>
                  <a:srgbClr val="0C2622"/>
                </a:solidFill>
                <a:latin typeface="Calibri" pitchFamily="34" charset="0"/>
                <a:ea typeface="Calibri" pitchFamily="34" charset="-122"/>
                <a:cs typeface="Calibri" pitchFamily="34" charset="-120"/>
              </a:rPr>
              <a:t>The objective</a:t>
            </a:r>
            <a:endParaRPr lang="en-US" sz="1250" dirty="0"/>
          </a:p>
        </p:txBody>
      </p:sp>
      <p:sp>
        <p:nvSpPr>
          <p:cNvPr id="24" name="Text 18"/>
          <p:cNvSpPr txBox="1"/>
          <p:nvPr/>
        </p:nvSpPr>
        <p:spPr>
          <a:xfrm>
            <a:off x="5394960" y="3346704"/>
            <a:ext cx="3154680" cy="41148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Not a hypothetical startup deck. The beginnings of a real business.</a:t>
            </a:r>
            <a:endParaRPr lang="en-US" sz="1050" dirty="0"/>
          </a:p>
        </p:txBody>
      </p:sp>
      <p:sp>
        <p:nvSpPr>
          <p:cNvPr id="25" name="Shape 19"/>
          <p:cNvSpPr/>
          <p:nvPr/>
        </p:nvSpPr>
        <p:spPr>
          <a:xfrm>
            <a:off x="457200" y="4023360"/>
            <a:ext cx="1143000" cy="566928"/>
          </a:xfrm>
          <a:prstGeom prst="chevron">
            <a:avLst/>
          </a:prstGeom>
          <a:solidFill>
            <a:srgbClr val="1E9A7A"/>
          </a:solidFill>
          <a:ln/>
        </p:spPr>
      </p:sp>
      <p:sp>
        <p:nvSpPr>
          <p:cNvPr id="26" name="Text 20"/>
          <p:cNvSpPr txBox="1"/>
          <p:nvPr/>
        </p:nvSpPr>
        <p:spPr>
          <a:xfrm>
            <a:off x="658368"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Find</a:t>
            </a:r>
            <a:endParaRPr lang="en-US" sz="1100" dirty="0"/>
          </a:p>
        </p:txBody>
      </p:sp>
      <p:sp>
        <p:nvSpPr>
          <p:cNvPr id="27" name="Shape 21"/>
          <p:cNvSpPr/>
          <p:nvPr/>
        </p:nvSpPr>
        <p:spPr>
          <a:xfrm>
            <a:off x="1490472" y="4023360"/>
            <a:ext cx="1143000" cy="566928"/>
          </a:xfrm>
          <a:prstGeom prst="chevron">
            <a:avLst/>
          </a:prstGeom>
          <a:solidFill>
            <a:srgbClr val="1A8F71"/>
          </a:solidFill>
          <a:ln/>
        </p:spPr>
      </p:sp>
      <p:sp>
        <p:nvSpPr>
          <p:cNvPr id="28" name="Text 22"/>
          <p:cNvSpPr txBox="1"/>
          <p:nvPr/>
        </p:nvSpPr>
        <p:spPr>
          <a:xfrm>
            <a:off x="1691640"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Research</a:t>
            </a:r>
            <a:endParaRPr lang="en-US" sz="1100" dirty="0"/>
          </a:p>
        </p:txBody>
      </p:sp>
      <p:sp>
        <p:nvSpPr>
          <p:cNvPr id="29" name="Shape 23"/>
          <p:cNvSpPr/>
          <p:nvPr/>
        </p:nvSpPr>
        <p:spPr>
          <a:xfrm>
            <a:off x="2523744" y="4023360"/>
            <a:ext cx="1143000" cy="566928"/>
          </a:xfrm>
          <a:prstGeom prst="chevron">
            <a:avLst/>
          </a:prstGeom>
          <a:solidFill>
            <a:srgbClr val="178368"/>
          </a:solidFill>
          <a:ln/>
        </p:spPr>
      </p:sp>
      <p:sp>
        <p:nvSpPr>
          <p:cNvPr id="30" name="Text 24"/>
          <p:cNvSpPr txBox="1"/>
          <p:nvPr/>
        </p:nvSpPr>
        <p:spPr>
          <a:xfrm>
            <a:off x="2724912"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p:txBody>
      </p:sp>
      <p:sp>
        <p:nvSpPr>
          <p:cNvPr id="31" name="Shape 25"/>
          <p:cNvSpPr/>
          <p:nvPr/>
        </p:nvSpPr>
        <p:spPr>
          <a:xfrm>
            <a:off x="3557016" y="4023360"/>
            <a:ext cx="1143000" cy="566928"/>
          </a:xfrm>
          <a:prstGeom prst="chevron">
            <a:avLst/>
          </a:prstGeom>
          <a:solidFill>
            <a:srgbClr val="12735B"/>
          </a:solidFill>
          <a:ln/>
        </p:spPr>
      </p:sp>
      <p:sp>
        <p:nvSpPr>
          <p:cNvPr id="32" name="Text 26"/>
          <p:cNvSpPr txBox="1"/>
          <p:nvPr/>
        </p:nvSpPr>
        <p:spPr>
          <a:xfrm>
            <a:off x="3758184"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Build</a:t>
            </a:r>
            <a:endParaRPr lang="en-US" sz="1100" dirty="0"/>
          </a:p>
        </p:txBody>
      </p:sp>
      <p:sp>
        <p:nvSpPr>
          <p:cNvPr id="33" name="Shape 27"/>
          <p:cNvSpPr/>
          <p:nvPr/>
        </p:nvSpPr>
        <p:spPr>
          <a:xfrm>
            <a:off x="4590288" y="4023360"/>
            <a:ext cx="1143000" cy="566928"/>
          </a:xfrm>
          <a:prstGeom prst="chevron">
            <a:avLst/>
          </a:prstGeom>
          <a:solidFill>
            <a:srgbClr val="0F6350"/>
          </a:solidFill>
          <a:ln/>
        </p:spPr>
      </p:sp>
      <p:sp>
        <p:nvSpPr>
          <p:cNvPr id="34" name="Text 28"/>
          <p:cNvSpPr txBox="1"/>
          <p:nvPr/>
        </p:nvSpPr>
        <p:spPr>
          <a:xfrm>
            <a:off x="4791456"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Position</a:t>
            </a:r>
            <a:endParaRPr lang="en-US" sz="1100" dirty="0"/>
          </a:p>
        </p:txBody>
      </p:sp>
      <p:sp>
        <p:nvSpPr>
          <p:cNvPr id="35" name="Shape 29"/>
          <p:cNvSpPr/>
          <p:nvPr/>
        </p:nvSpPr>
        <p:spPr>
          <a:xfrm>
            <a:off x="5623560" y="4023360"/>
            <a:ext cx="1143000" cy="566928"/>
          </a:xfrm>
          <a:prstGeom prst="chevron">
            <a:avLst/>
          </a:prstGeom>
          <a:solidFill>
            <a:srgbClr val="0C5443"/>
          </a:solidFill>
          <a:ln/>
        </p:spPr>
      </p:sp>
      <p:sp>
        <p:nvSpPr>
          <p:cNvPr id="36" name="Text 30"/>
          <p:cNvSpPr txBox="1"/>
          <p:nvPr/>
        </p:nvSpPr>
        <p:spPr>
          <a:xfrm>
            <a:off x="5824728"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Sell</a:t>
            </a:r>
            <a:endParaRPr lang="en-US" sz="1100" dirty="0"/>
          </a:p>
        </p:txBody>
      </p:sp>
      <p:sp>
        <p:nvSpPr>
          <p:cNvPr id="37" name="Shape 31"/>
          <p:cNvSpPr/>
          <p:nvPr/>
        </p:nvSpPr>
        <p:spPr>
          <a:xfrm>
            <a:off x="6656832" y="4023360"/>
            <a:ext cx="1143000" cy="566928"/>
          </a:xfrm>
          <a:prstGeom prst="chevron">
            <a:avLst/>
          </a:prstGeom>
          <a:solidFill>
            <a:srgbClr val="0A463A"/>
          </a:solidFill>
          <a:ln/>
        </p:spPr>
      </p:sp>
      <p:sp>
        <p:nvSpPr>
          <p:cNvPr id="38" name="Text 32"/>
          <p:cNvSpPr txBox="1"/>
          <p:nvPr/>
        </p:nvSpPr>
        <p:spPr>
          <a:xfrm>
            <a:off x="6858000" y="4023360"/>
            <a:ext cx="7772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Operate</a:t>
            </a:r>
            <a:endParaRPr lang="en-US" sz="1100" dirty="0"/>
          </a:p>
        </p:txBody>
      </p:sp>
      <p:sp>
        <p:nvSpPr>
          <p:cNvPr id="39" name="Shape 33"/>
          <p:cNvSpPr/>
          <p:nvPr/>
        </p:nvSpPr>
        <p:spPr>
          <a:xfrm>
            <a:off x="7690104" y="4023360"/>
            <a:ext cx="1143000" cy="566928"/>
          </a:xfrm>
          <a:prstGeom prst="chevron">
            <a:avLst/>
          </a:prstGeom>
          <a:solidFill>
            <a:srgbClr val="F4A52A"/>
          </a:solidFill>
          <a:ln/>
        </p:spPr>
      </p:sp>
      <p:sp>
        <p:nvSpPr>
          <p:cNvPr id="40" name="Text 34"/>
          <p:cNvSpPr txBox="1"/>
          <p:nvPr/>
        </p:nvSpPr>
        <p:spPr>
          <a:xfrm>
            <a:off x="7891272" y="4023360"/>
            <a:ext cx="777240" cy="56692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Scale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COURSE OUTCOMES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By the end, students can…</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457200" y="1280160"/>
            <a:ext cx="4023360" cy="1783080"/>
          </a:xfrm>
          <a:prstGeom prst="roundRect">
            <a:avLst>
              <a:gd name="adj" fmla="val 512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1234440" y="1444752"/>
            <a:ext cx="310896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Discover &amp; validate</a:t>
            </a:r>
            <a:endParaRPr lang="en-US" sz="1500" dirty="0"/>
          </a:p>
        </p:txBody>
      </p:sp>
      <p:sp>
        <p:nvSpPr>
          <p:cNvPr id="11" name="Text 7"/>
          <p:cNvSpPr txBox="1"/>
          <p:nvPr/>
        </p:nvSpPr>
        <p:spPr>
          <a:xfrm>
            <a:off x="1234440" y="1847088"/>
            <a:ext cx="3108960" cy="1143000"/>
          </a:xfrm>
          <a:prstGeom prst="rect">
            <a:avLst/>
          </a:prstGeom>
          <a:noFill/>
          <a:ln/>
        </p:spPr>
        <p:txBody>
          <a:bodyPr wrap="square" lIns="0" tIns="0" rIns="0" bIns="0" rtlCol="0" anchor="t"/>
          <a:lstStyle/>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Identify commercially meaningful problems</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Generate and challenge ideas with AI</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Run evidence-based market research</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Interview potential customers</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Define an Ideal Customer Profile</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Size TAM/SAM/SOM without blind trust in AI</a:t>
            </a:r>
            <a:endParaRPr lang="en-US" sz="1200" dirty="0"/>
          </a:p>
        </p:txBody>
      </p:sp>
      <p:sp>
        <p:nvSpPr>
          <p:cNvPr id="12" name="Shape 8"/>
          <p:cNvSpPr/>
          <p:nvPr/>
        </p:nvSpPr>
        <p:spPr>
          <a:xfrm>
            <a:off x="4663440" y="1280160"/>
            <a:ext cx="4023360" cy="1783080"/>
          </a:xfrm>
          <a:prstGeom prst="roundRect">
            <a:avLst>
              <a:gd name="adj" fmla="val 5128"/>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4846320" y="1444752"/>
            <a:ext cx="457200" cy="45720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4960620" y="1559052"/>
            <a:ext cx="228600" cy="228600"/>
          </a:xfrm>
          <a:prstGeom prst="rect">
            <a:avLst/>
          </a:prstGeom>
        </p:spPr>
      </p:pic>
      <p:sp>
        <p:nvSpPr>
          <p:cNvPr id="15" name="Text 10"/>
          <p:cNvSpPr txBox="1"/>
          <p:nvPr/>
        </p:nvSpPr>
        <p:spPr>
          <a:xfrm>
            <a:off x="5440680" y="1444752"/>
            <a:ext cx="310896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Build &amp; position</a:t>
            </a:r>
            <a:endParaRPr lang="en-US" sz="1500" dirty="0"/>
          </a:p>
        </p:txBody>
      </p:sp>
      <p:sp>
        <p:nvSpPr>
          <p:cNvPr id="16" name="Text 11"/>
          <p:cNvSpPr txBox="1"/>
          <p:nvPr/>
        </p:nvSpPr>
        <p:spPr>
          <a:xfrm>
            <a:off x="5440680" y="1847088"/>
            <a:ext cx="3108960" cy="1143000"/>
          </a:xfrm>
          <a:prstGeom prst="rect">
            <a:avLst/>
          </a:prstGeom>
          <a:noFill/>
          <a:ln/>
        </p:spPr>
        <p:txBody>
          <a:bodyPr wrap="square" lIns="0" tIns="0" rIns="0" bIns="0" rtlCol="0" anchor="t"/>
          <a:lstStyle/>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Design a business model and pricing</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Build a small working MVP</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Craft a clear value proposition</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Build a landing page and sales materials</a:t>
            </a:r>
            <a:endParaRPr lang="en-US" sz="1200" dirty="0"/>
          </a:p>
        </p:txBody>
      </p:sp>
      <p:sp>
        <p:nvSpPr>
          <p:cNvPr id="17" name="Shape 12"/>
          <p:cNvSpPr/>
          <p:nvPr/>
        </p:nvSpPr>
        <p:spPr>
          <a:xfrm>
            <a:off x="457200" y="3200400"/>
            <a:ext cx="4023360" cy="1417320"/>
          </a:xfrm>
          <a:prstGeom prst="roundRect">
            <a:avLst>
              <a:gd name="adj" fmla="val 6452"/>
            </a:avLst>
          </a:prstGeom>
          <a:solidFill>
            <a:srgbClr val="FFFFFF"/>
          </a:solidFill>
          <a:ln/>
          <a:effectLst>
            <a:outerShdw blurRad="101600" dist="25400" dir="5400000" algn="bl" rotWithShape="0">
              <a:srgbClr val="000000">
                <a:alpha val="10000"/>
              </a:srgbClr>
            </a:outerShdw>
          </a:effectLst>
        </p:spPr>
      </p:sp>
      <p:sp>
        <p:nvSpPr>
          <p:cNvPr id="18" name="Shape 13"/>
          <p:cNvSpPr/>
          <p:nvPr/>
        </p:nvSpPr>
        <p:spPr>
          <a:xfrm>
            <a:off x="640080" y="3364992"/>
            <a:ext cx="457200" cy="457200"/>
          </a:xfrm>
          <a:prstGeom prst="ellipse">
            <a:avLst/>
          </a:prstGeom>
          <a:solidFill>
            <a:srgbClr val="12735B"/>
          </a:solidFill>
          <a:ln/>
        </p:spPr>
      </p:sp>
      <p:pic>
        <p:nvPicPr>
          <p:cNvPr id="19" name="Image 2" descr="preencoded.png"/>
          <p:cNvPicPr>
            <a:picLocks noChangeAspect="1"/>
          </p:cNvPicPr>
          <p:nvPr/>
        </p:nvPicPr>
        <p:blipFill>
          <a:blip r:embed="rId5"/>
          <a:stretch>
            <a:fillRect/>
          </a:stretch>
        </p:blipFill>
        <p:spPr>
          <a:xfrm>
            <a:off x="754380" y="3479292"/>
            <a:ext cx="228600" cy="228600"/>
          </a:xfrm>
          <a:prstGeom prst="rect">
            <a:avLst/>
          </a:prstGeom>
        </p:spPr>
      </p:pic>
      <p:sp>
        <p:nvSpPr>
          <p:cNvPr id="20" name="Text 14"/>
          <p:cNvSpPr txBox="1"/>
          <p:nvPr/>
        </p:nvSpPr>
        <p:spPr>
          <a:xfrm>
            <a:off x="1234440" y="3364992"/>
            <a:ext cx="310896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Sell &amp; measure</a:t>
            </a:r>
            <a:endParaRPr lang="en-US" sz="1500" dirty="0"/>
          </a:p>
        </p:txBody>
      </p:sp>
      <p:sp>
        <p:nvSpPr>
          <p:cNvPr id="21" name="Text 15"/>
          <p:cNvSpPr txBox="1"/>
          <p:nvPr/>
        </p:nvSpPr>
        <p:spPr>
          <a:xfrm>
            <a:off x="1234440" y="3767328"/>
            <a:ext cx="3108960" cy="777240"/>
          </a:xfrm>
          <a:prstGeom prst="rect">
            <a:avLst/>
          </a:prstGeom>
          <a:noFill/>
          <a:ln/>
        </p:spPr>
        <p:txBody>
          <a:bodyPr wrap="square" lIns="0" tIns="0" rIns="0" bIns="0" rtlCol="0" anchor="t"/>
          <a:lstStyle/>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Develop a 90-day go-to-market strategy</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Acquire and talk to potential customers</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Measure early traction</a:t>
            </a:r>
            <a:endParaRPr lang="en-US" sz="1200" dirty="0"/>
          </a:p>
        </p:txBody>
      </p:sp>
      <p:sp>
        <p:nvSpPr>
          <p:cNvPr id="22" name="Shape 16"/>
          <p:cNvSpPr/>
          <p:nvPr/>
        </p:nvSpPr>
        <p:spPr>
          <a:xfrm>
            <a:off x="4663440" y="3200400"/>
            <a:ext cx="4023360" cy="1417320"/>
          </a:xfrm>
          <a:prstGeom prst="roundRect">
            <a:avLst>
              <a:gd name="adj" fmla="val 6452"/>
            </a:avLst>
          </a:prstGeom>
          <a:solidFill>
            <a:srgbClr val="FFFFFF"/>
          </a:solidFill>
          <a:ln/>
          <a:effectLst>
            <a:outerShdw blurRad="101600" dist="25400" dir="5400000" algn="bl" rotWithShape="0">
              <a:srgbClr val="000000">
                <a:alpha val="10000"/>
              </a:srgbClr>
            </a:outerShdw>
          </a:effectLst>
        </p:spPr>
      </p:sp>
      <p:sp>
        <p:nvSpPr>
          <p:cNvPr id="23" name="Shape 17"/>
          <p:cNvSpPr/>
          <p:nvPr/>
        </p:nvSpPr>
        <p:spPr>
          <a:xfrm>
            <a:off x="4846320" y="3364992"/>
            <a:ext cx="457200" cy="457200"/>
          </a:xfrm>
          <a:prstGeom prst="ellipse">
            <a:avLst/>
          </a:prstGeom>
          <a:solidFill>
            <a:srgbClr val="12735B"/>
          </a:solidFill>
          <a:ln/>
        </p:spPr>
      </p:sp>
      <p:pic>
        <p:nvPicPr>
          <p:cNvPr id="24" name="Image 3" descr="preencoded.png"/>
          <p:cNvPicPr>
            <a:picLocks noChangeAspect="1"/>
          </p:cNvPicPr>
          <p:nvPr/>
        </p:nvPicPr>
        <p:blipFill>
          <a:blip r:embed="rId6"/>
          <a:stretch>
            <a:fillRect/>
          </a:stretch>
        </p:blipFill>
        <p:spPr>
          <a:xfrm>
            <a:off x="4960620" y="3479292"/>
            <a:ext cx="228600" cy="228600"/>
          </a:xfrm>
          <a:prstGeom prst="rect">
            <a:avLst/>
          </a:prstGeom>
        </p:spPr>
      </p:pic>
      <p:sp>
        <p:nvSpPr>
          <p:cNvPr id="25" name="Text 18"/>
          <p:cNvSpPr txBox="1"/>
          <p:nvPr/>
        </p:nvSpPr>
        <p:spPr>
          <a:xfrm>
            <a:off x="5440680" y="3364992"/>
            <a:ext cx="310896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Operate &amp; scale</a:t>
            </a:r>
            <a:endParaRPr lang="en-US" sz="1500" dirty="0"/>
          </a:p>
        </p:txBody>
      </p:sp>
      <p:sp>
        <p:nvSpPr>
          <p:cNvPr id="26" name="Text 19"/>
          <p:cNvSpPr txBox="1"/>
          <p:nvPr/>
        </p:nvSpPr>
        <p:spPr>
          <a:xfrm>
            <a:off x="5440680" y="3767328"/>
            <a:ext cx="3108960" cy="777240"/>
          </a:xfrm>
          <a:prstGeom prst="rect">
            <a:avLst/>
          </a:prstGeom>
          <a:noFill/>
          <a:ln/>
        </p:spPr>
        <p:txBody>
          <a:bodyPr wrap="square" lIns="0" tIns="0" rIns="0" bIns="0" rtlCol="0" anchor="t"/>
          <a:lstStyle/>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Design AI-assisted operating workflows</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Connect systems with MCP, APIs and agents</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Decide what AI automates vs. humans control</a:t>
            </a:r>
            <a:endParaRPr lang="en-US" sz="1200" dirty="0"/>
          </a:p>
          <a:p>
            <a:pPr marL="152400" indent="-152400" algn="l">
              <a:spcAft>
                <a:spcPts val="100"/>
              </a:spcAft>
              <a:buSzPct val="100000"/>
              <a:buChar char="•"/>
            </a:pPr>
            <a:r>
              <a:rPr lang="en-US" sz="1100" dirty="0">
                <a:solidFill>
                  <a:srgbClr val="15302B"/>
                </a:solidFill>
                <a:latin typeface="Calibri" pitchFamily="34" charset="0"/>
                <a:ea typeface="Calibri" pitchFamily="34" charset="-122"/>
                <a:cs typeface="Calibri" pitchFamily="34" charset="-120"/>
              </a:rPr>
              <a:t>Plan the road from first customer to scale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THE CENTRAL FRAMEWORK</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AI Venture Loop</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457200" y="12801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585216" y="1408176"/>
            <a:ext cx="365760" cy="365760"/>
          </a:xfrm>
          <a:prstGeom prst="ellipse">
            <a:avLst/>
          </a:prstGeom>
          <a:solidFill>
            <a:srgbClr val="0C2622"/>
          </a:solidFill>
          <a:ln/>
        </p:spPr>
      </p:sp>
      <p:sp>
        <p:nvSpPr>
          <p:cNvPr id="9" name="Text 6"/>
          <p:cNvSpPr txBox="1"/>
          <p:nvPr/>
        </p:nvSpPr>
        <p:spPr>
          <a:xfrm>
            <a:off x="585216" y="1408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024128" y="14081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REACH</a:t>
            </a:r>
            <a:endParaRPr lang="en-US" sz="1100" dirty="0"/>
          </a:p>
        </p:txBody>
      </p:sp>
      <p:sp>
        <p:nvSpPr>
          <p:cNvPr id="11" name="Text 8"/>
          <p:cNvSpPr txBox="1"/>
          <p:nvPr/>
        </p:nvSpPr>
        <p:spPr>
          <a:xfrm>
            <a:off x="585216" y="18653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Who can I realistically reach?</a:t>
            </a:r>
            <a:endParaRPr lang="en-US" sz="1100" dirty="0"/>
          </a:p>
        </p:txBody>
      </p:sp>
      <p:sp>
        <p:nvSpPr>
          <p:cNvPr id="12" name="Shape 9"/>
          <p:cNvSpPr/>
          <p:nvPr/>
        </p:nvSpPr>
        <p:spPr>
          <a:xfrm>
            <a:off x="2125980" y="12801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13" name="Shape 10"/>
          <p:cNvSpPr/>
          <p:nvPr/>
        </p:nvSpPr>
        <p:spPr>
          <a:xfrm>
            <a:off x="2253996" y="1408176"/>
            <a:ext cx="365760" cy="365760"/>
          </a:xfrm>
          <a:prstGeom prst="ellipse">
            <a:avLst/>
          </a:prstGeom>
          <a:solidFill>
            <a:srgbClr val="0C2622"/>
          </a:solidFill>
          <a:ln/>
        </p:spPr>
      </p:sp>
      <p:sp>
        <p:nvSpPr>
          <p:cNvPr id="14" name="Text 11"/>
          <p:cNvSpPr txBox="1"/>
          <p:nvPr/>
        </p:nvSpPr>
        <p:spPr>
          <a:xfrm>
            <a:off x="2253996" y="1408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2692908" y="14081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PROBLEM</a:t>
            </a:r>
            <a:endParaRPr lang="en-US" sz="1100" dirty="0"/>
          </a:p>
        </p:txBody>
      </p:sp>
      <p:sp>
        <p:nvSpPr>
          <p:cNvPr id="16" name="Text 13"/>
          <p:cNvSpPr txBox="1"/>
          <p:nvPr/>
        </p:nvSpPr>
        <p:spPr>
          <a:xfrm>
            <a:off x="2253996" y="18653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What painful problem do they repeatedly experience?</a:t>
            </a:r>
            <a:endParaRPr lang="en-US" sz="1100" dirty="0"/>
          </a:p>
        </p:txBody>
      </p:sp>
      <p:sp>
        <p:nvSpPr>
          <p:cNvPr id="17" name="Shape 14"/>
          <p:cNvSpPr/>
          <p:nvPr/>
        </p:nvSpPr>
        <p:spPr>
          <a:xfrm>
            <a:off x="3794760" y="12801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18" name="Shape 15"/>
          <p:cNvSpPr/>
          <p:nvPr/>
        </p:nvSpPr>
        <p:spPr>
          <a:xfrm>
            <a:off x="3922776" y="1408176"/>
            <a:ext cx="365760" cy="365760"/>
          </a:xfrm>
          <a:prstGeom prst="ellipse">
            <a:avLst/>
          </a:prstGeom>
          <a:solidFill>
            <a:srgbClr val="0C2622"/>
          </a:solidFill>
          <a:ln/>
        </p:spPr>
      </p:sp>
      <p:sp>
        <p:nvSpPr>
          <p:cNvPr id="19" name="Text 16"/>
          <p:cNvSpPr txBox="1"/>
          <p:nvPr/>
        </p:nvSpPr>
        <p:spPr>
          <a:xfrm>
            <a:off x="3922776" y="1408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4361688" y="14081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EVIDENCE</a:t>
            </a:r>
            <a:endParaRPr lang="en-US" sz="1100" dirty="0"/>
          </a:p>
        </p:txBody>
      </p:sp>
      <p:sp>
        <p:nvSpPr>
          <p:cNvPr id="21" name="Text 18"/>
          <p:cNvSpPr txBox="1"/>
          <p:nvPr/>
        </p:nvSpPr>
        <p:spPr>
          <a:xfrm>
            <a:off x="3922776" y="18653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Can I prove the problem exists?</a:t>
            </a:r>
            <a:endParaRPr lang="en-US" sz="1100" dirty="0"/>
          </a:p>
        </p:txBody>
      </p:sp>
      <p:sp>
        <p:nvSpPr>
          <p:cNvPr id="22" name="Shape 19"/>
          <p:cNvSpPr/>
          <p:nvPr/>
        </p:nvSpPr>
        <p:spPr>
          <a:xfrm>
            <a:off x="5463540" y="12801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23" name="Shape 20"/>
          <p:cNvSpPr/>
          <p:nvPr/>
        </p:nvSpPr>
        <p:spPr>
          <a:xfrm>
            <a:off x="5591556" y="1408176"/>
            <a:ext cx="365760" cy="365760"/>
          </a:xfrm>
          <a:prstGeom prst="ellipse">
            <a:avLst/>
          </a:prstGeom>
          <a:solidFill>
            <a:srgbClr val="0C2622"/>
          </a:solidFill>
          <a:ln/>
        </p:spPr>
      </p:sp>
      <p:sp>
        <p:nvSpPr>
          <p:cNvPr id="24" name="Text 21"/>
          <p:cNvSpPr txBox="1"/>
          <p:nvPr/>
        </p:nvSpPr>
        <p:spPr>
          <a:xfrm>
            <a:off x="5591556" y="1408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txBox="1"/>
          <p:nvPr/>
        </p:nvSpPr>
        <p:spPr>
          <a:xfrm>
            <a:off x="6030468" y="14081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SOLUTION</a:t>
            </a:r>
            <a:endParaRPr lang="en-US" sz="1100" dirty="0"/>
          </a:p>
        </p:txBody>
      </p:sp>
      <p:sp>
        <p:nvSpPr>
          <p:cNvPr id="26" name="Text 23"/>
          <p:cNvSpPr txBox="1"/>
          <p:nvPr/>
        </p:nvSpPr>
        <p:spPr>
          <a:xfrm>
            <a:off x="5591556" y="18653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What is the smallest useful solution?</a:t>
            </a:r>
            <a:endParaRPr lang="en-US" sz="1100" dirty="0"/>
          </a:p>
        </p:txBody>
      </p:sp>
      <p:sp>
        <p:nvSpPr>
          <p:cNvPr id="27" name="Shape 24"/>
          <p:cNvSpPr/>
          <p:nvPr/>
        </p:nvSpPr>
        <p:spPr>
          <a:xfrm>
            <a:off x="7132320" y="12801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28" name="Shape 25"/>
          <p:cNvSpPr/>
          <p:nvPr/>
        </p:nvSpPr>
        <p:spPr>
          <a:xfrm>
            <a:off x="7260336" y="1408176"/>
            <a:ext cx="365760" cy="365760"/>
          </a:xfrm>
          <a:prstGeom prst="ellipse">
            <a:avLst/>
          </a:prstGeom>
          <a:solidFill>
            <a:srgbClr val="0C2622"/>
          </a:solidFill>
          <a:ln/>
        </p:spPr>
      </p:sp>
      <p:sp>
        <p:nvSpPr>
          <p:cNvPr id="29" name="Text 26"/>
          <p:cNvSpPr txBox="1"/>
          <p:nvPr/>
        </p:nvSpPr>
        <p:spPr>
          <a:xfrm>
            <a:off x="7260336" y="1408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7"/>
          <p:cNvSpPr txBox="1"/>
          <p:nvPr/>
        </p:nvSpPr>
        <p:spPr>
          <a:xfrm>
            <a:off x="7699248" y="14081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MVP</a:t>
            </a:r>
            <a:endParaRPr lang="en-US" sz="1100" dirty="0"/>
          </a:p>
        </p:txBody>
      </p:sp>
      <p:sp>
        <p:nvSpPr>
          <p:cNvPr id="31" name="Text 28"/>
          <p:cNvSpPr txBox="1"/>
          <p:nvPr/>
        </p:nvSpPr>
        <p:spPr>
          <a:xfrm>
            <a:off x="7260336" y="18653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Can I make something usable quickly?</a:t>
            </a:r>
            <a:endParaRPr lang="en-US" sz="1100" dirty="0"/>
          </a:p>
        </p:txBody>
      </p:sp>
      <p:sp>
        <p:nvSpPr>
          <p:cNvPr id="32" name="Shape 29"/>
          <p:cNvSpPr/>
          <p:nvPr/>
        </p:nvSpPr>
        <p:spPr>
          <a:xfrm>
            <a:off x="457200" y="26517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33" name="Shape 30"/>
          <p:cNvSpPr/>
          <p:nvPr/>
        </p:nvSpPr>
        <p:spPr>
          <a:xfrm>
            <a:off x="585216" y="2779776"/>
            <a:ext cx="365760" cy="365760"/>
          </a:xfrm>
          <a:prstGeom prst="ellipse">
            <a:avLst/>
          </a:prstGeom>
          <a:solidFill>
            <a:srgbClr val="0C2622"/>
          </a:solidFill>
          <a:ln/>
        </p:spPr>
      </p:sp>
      <p:sp>
        <p:nvSpPr>
          <p:cNvPr id="34" name="Text 31"/>
          <p:cNvSpPr txBox="1"/>
          <p:nvPr/>
        </p:nvSpPr>
        <p:spPr>
          <a:xfrm>
            <a:off x="585216" y="27797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2"/>
          <p:cNvSpPr txBox="1"/>
          <p:nvPr/>
        </p:nvSpPr>
        <p:spPr>
          <a:xfrm>
            <a:off x="1024128" y="27797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OFFER</a:t>
            </a:r>
            <a:endParaRPr lang="en-US" sz="1100" dirty="0"/>
          </a:p>
        </p:txBody>
      </p:sp>
      <p:sp>
        <p:nvSpPr>
          <p:cNvPr id="36" name="Text 33"/>
          <p:cNvSpPr txBox="1"/>
          <p:nvPr/>
        </p:nvSpPr>
        <p:spPr>
          <a:xfrm>
            <a:off x="585216" y="32369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Why should somebody pay?</a:t>
            </a:r>
            <a:endParaRPr lang="en-US" sz="1100" dirty="0"/>
          </a:p>
        </p:txBody>
      </p:sp>
      <p:sp>
        <p:nvSpPr>
          <p:cNvPr id="37" name="Shape 34"/>
          <p:cNvSpPr/>
          <p:nvPr/>
        </p:nvSpPr>
        <p:spPr>
          <a:xfrm>
            <a:off x="2125980" y="26517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38" name="Shape 35"/>
          <p:cNvSpPr/>
          <p:nvPr/>
        </p:nvSpPr>
        <p:spPr>
          <a:xfrm>
            <a:off x="2253996" y="2779776"/>
            <a:ext cx="365760" cy="365760"/>
          </a:xfrm>
          <a:prstGeom prst="ellipse">
            <a:avLst/>
          </a:prstGeom>
          <a:solidFill>
            <a:srgbClr val="0C2622"/>
          </a:solidFill>
          <a:ln/>
        </p:spPr>
      </p:sp>
      <p:sp>
        <p:nvSpPr>
          <p:cNvPr id="39" name="Text 36"/>
          <p:cNvSpPr txBox="1"/>
          <p:nvPr/>
        </p:nvSpPr>
        <p:spPr>
          <a:xfrm>
            <a:off x="2253996" y="27797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0" name="Text 37"/>
          <p:cNvSpPr txBox="1"/>
          <p:nvPr/>
        </p:nvSpPr>
        <p:spPr>
          <a:xfrm>
            <a:off x="2692908" y="27797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DISTRIBUTION</a:t>
            </a:r>
            <a:endParaRPr lang="en-US" sz="1100" dirty="0"/>
          </a:p>
        </p:txBody>
      </p:sp>
      <p:sp>
        <p:nvSpPr>
          <p:cNvPr id="41" name="Text 38"/>
          <p:cNvSpPr txBox="1"/>
          <p:nvPr/>
        </p:nvSpPr>
        <p:spPr>
          <a:xfrm>
            <a:off x="2253996" y="32369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How will they discover it?</a:t>
            </a:r>
            <a:endParaRPr lang="en-US" sz="1100" dirty="0"/>
          </a:p>
        </p:txBody>
      </p:sp>
      <p:sp>
        <p:nvSpPr>
          <p:cNvPr id="42" name="Shape 39"/>
          <p:cNvSpPr/>
          <p:nvPr/>
        </p:nvSpPr>
        <p:spPr>
          <a:xfrm>
            <a:off x="3794760" y="26517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43" name="Shape 40"/>
          <p:cNvSpPr/>
          <p:nvPr/>
        </p:nvSpPr>
        <p:spPr>
          <a:xfrm>
            <a:off x="3922776" y="2779776"/>
            <a:ext cx="365760" cy="365760"/>
          </a:xfrm>
          <a:prstGeom prst="ellipse">
            <a:avLst/>
          </a:prstGeom>
          <a:solidFill>
            <a:srgbClr val="0C2622"/>
          </a:solidFill>
          <a:ln/>
        </p:spPr>
      </p:sp>
      <p:sp>
        <p:nvSpPr>
          <p:cNvPr id="44" name="Text 41"/>
          <p:cNvSpPr txBox="1"/>
          <p:nvPr/>
        </p:nvSpPr>
        <p:spPr>
          <a:xfrm>
            <a:off x="3922776" y="27797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5" name="Text 42"/>
          <p:cNvSpPr txBox="1"/>
          <p:nvPr/>
        </p:nvSpPr>
        <p:spPr>
          <a:xfrm>
            <a:off x="4361688" y="27797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REVENUE</a:t>
            </a:r>
            <a:endParaRPr lang="en-US" sz="1100" dirty="0"/>
          </a:p>
        </p:txBody>
      </p:sp>
      <p:sp>
        <p:nvSpPr>
          <p:cNvPr id="46" name="Text 43"/>
          <p:cNvSpPr txBox="1"/>
          <p:nvPr/>
        </p:nvSpPr>
        <p:spPr>
          <a:xfrm>
            <a:off x="3922776" y="32369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Can I convert attention into customers?</a:t>
            </a:r>
            <a:endParaRPr lang="en-US" sz="1100" dirty="0"/>
          </a:p>
        </p:txBody>
      </p:sp>
      <p:sp>
        <p:nvSpPr>
          <p:cNvPr id="47" name="Shape 44"/>
          <p:cNvSpPr/>
          <p:nvPr/>
        </p:nvSpPr>
        <p:spPr>
          <a:xfrm>
            <a:off x="5463540" y="26517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48" name="Shape 45"/>
          <p:cNvSpPr/>
          <p:nvPr/>
        </p:nvSpPr>
        <p:spPr>
          <a:xfrm>
            <a:off x="5591556" y="2779776"/>
            <a:ext cx="365760" cy="365760"/>
          </a:xfrm>
          <a:prstGeom prst="ellipse">
            <a:avLst/>
          </a:prstGeom>
          <a:solidFill>
            <a:srgbClr val="0C2622"/>
          </a:solidFill>
          <a:ln/>
        </p:spPr>
      </p:sp>
      <p:sp>
        <p:nvSpPr>
          <p:cNvPr id="49" name="Text 46"/>
          <p:cNvSpPr txBox="1"/>
          <p:nvPr/>
        </p:nvSpPr>
        <p:spPr>
          <a:xfrm>
            <a:off x="5591556" y="27797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0" name="Text 47"/>
          <p:cNvSpPr txBox="1"/>
          <p:nvPr/>
        </p:nvSpPr>
        <p:spPr>
          <a:xfrm>
            <a:off x="6030468" y="27797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SYSTEM</a:t>
            </a:r>
            <a:endParaRPr lang="en-US" sz="1100" dirty="0"/>
          </a:p>
        </p:txBody>
      </p:sp>
      <p:sp>
        <p:nvSpPr>
          <p:cNvPr id="51" name="Text 48"/>
          <p:cNvSpPr txBox="1"/>
          <p:nvPr/>
        </p:nvSpPr>
        <p:spPr>
          <a:xfrm>
            <a:off x="5591556" y="32369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Can AI and automation reduce repetitive work?</a:t>
            </a:r>
            <a:endParaRPr lang="en-US" sz="1100" dirty="0"/>
          </a:p>
        </p:txBody>
      </p:sp>
      <p:sp>
        <p:nvSpPr>
          <p:cNvPr id="52" name="Shape 49"/>
          <p:cNvSpPr/>
          <p:nvPr/>
        </p:nvSpPr>
        <p:spPr>
          <a:xfrm>
            <a:off x="7132320" y="2651760"/>
            <a:ext cx="155448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53" name="Shape 50"/>
          <p:cNvSpPr/>
          <p:nvPr/>
        </p:nvSpPr>
        <p:spPr>
          <a:xfrm>
            <a:off x="7260336" y="2779776"/>
            <a:ext cx="365760" cy="365760"/>
          </a:xfrm>
          <a:prstGeom prst="ellipse">
            <a:avLst/>
          </a:prstGeom>
          <a:solidFill>
            <a:srgbClr val="F4A52A"/>
          </a:solidFill>
          <a:ln/>
        </p:spPr>
      </p:sp>
      <p:sp>
        <p:nvSpPr>
          <p:cNvPr id="54" name="Text 51"/>
          <p:cNvSpPr txBox="1"/>
          <p:nvPr/>
        </p:nvSpPr>
        <p:spPr>
          <a:xfrm>
            <a:off x="7260336" y="2779776"/>
            <a:ext cx="365760" cy="365760"/>
          </a:xfrm>
          <a:prstGeom prst="rect">
            <a:avLst/>
          </a:prstGeom>
          <a:noFill/>
          <a:ln/>
        </p:spPr>
        <p:txBody>
          <a:bodyPr wrap="square" lIns="0" tIns="0" rIns="0" bIns="0" rtlCol="0" anchor="ctr"/>
          <a:lstStyle/>
          <a:p>
            <a:pPr marL="0" indent="0" algn="ctr">
              <a:buNone/>
            </a:pPr>
            <a:r>
              <a:rPr lang="en-US" sz="1200" b="1" dirty="0">
                <a:solidFill>
                  <a:srgbClr val="0C2622"/>
                </a:solidFill>
                <a:latin typeface="Calibri" pitchFamily="34" charset="0"/>
                <a:ea typeface="Calibri" pitchFamily="34" charset="-122"/>
                <a:cs typeface="Calibri" pitchFamily="34" charset="-120"/>
              </a:rPr>
              <a:t>10</a:t>
            </a:r>
            <a:endParaRPr lang="en-US" sz="1200" dirty="0"/>
          </a:p>
        </p:txBody>
      </p:sp>
      <p:sp>
        <p:nvSpPr>
          <p:cNvPr id="55" name="Text 52"/>
          <p:cNvSpPr txBox="1"/>
          <p:nvPr/>
        </p:nvSpPr>
        <p:spPr>
          <a:xfrm>
            <a:off x="7699248" y="2779776"/>
            <a:ext cx="960120" cy="365760"/>
          </a:xfrm>
          <a:prstGeom prst="rect">
            <a:avLst/>
          </a:prstGeom>
          <a:noFill/>
          <a:ln/>
        </p:spPr>
        <p:txBody>
          <a:bodyPr wrap="square" lIns="0" tIns="0" rIns="0" bIns="0" rtlCol="0" anchor="ctr"/>
          <a:lstStyle/>
          <a:p>
            <a:pPr marL="0" indent="0" algn="l">
              <a:buNone/>
            </a:pPr>
            <a:r>
              <a:rPr lang="en-US" sz="1100" b="1" kern="0" spc="50" dirty="0">
                <a:solidFill>
                  <a:srgbClr val="12735B"/>
                </a:solidFill>
                <a:latin typeface="Calibri" pitchFamily="34" charset="0"/>
                <a:ea typeface="Calibri" pitchFamily="34" charset="-122"/>
                <a:cs typeface="Calibri" pitchFamily="34" charset="-120"/>
              </a:rPr>
              <a:t>SCALE</a:t>
            </a:r>
            <a:endParaRPr lang="en-US" sz="1100" dirty="0"/>
          </a:p>
        </p:txBody>
      </p:sp>
      <p:sp>
        <p:nvSpPr>
          <p:cNvPr id="56" name="Text 53"/>
          <p:cNvSpPr txBox="1"/>
          <p:nvPr/>
        </p:nvSpPr>
        <p:spPr>
          <a:xfrm>
            <a:off x="7260336" y="3236976"/>
            <a:ext cx="1316736" cy="64008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What should happen next?</a:t>
            </a:r>
            <a:endParaRPr lang="en-US" sz="1100" dirty="0"/>
          </a:p>
        </p:txBody>
      </p:sp>
      <p:sp>
        <p:nvSpPr>
          <p:cNvPr id="57" name="Shape 54"/>
          <p:cNvSpPr/>
          <p:nvPr/>
        </p:nvSpPr>
        <p:spPr>
          <a:xfrm>
            <a:off x="457200" y="4114800"/>
            <a:ext cx="8229600" cy="548640"/>
          </a:xfrm>
          <a:prstGeom prst="roundRect">
            <a:avLst>
              <a:gd name="adj" fmla="val 16667"/>
            </a:avLst>
          </a:prstGeom>
          <a:solidFill>
            <a:srgbClr val="DFF1EA"/>
          </a:solidFill>
          <a:ln/>
        </p:spPr>
      </p:sp>
      <p:pic>
        <p:nvPicPr>
          <p:cNvPr id="58" name="Image 0" descr="preencoded.png"/>
          <p:cNvPicPr>
            <a:picLocks noChangeAspect="1"/>
          </p:cNvPicPr>
          <p:nvPr/>
        </p:nvPicPr>
        <p:blipFill>
          <a:blip r:embed="rId3"/>
          <a:stretch>
            <a:fillRect/>
          </a:stretch>
        </p:blipFill>
        <p:spPr>
          <a:xfrm>
            <a:off x="685800" y="4261104"/>
            <a:ext cx="256032" cy="256032"/>
          </a:xfrm>
          <a:prstGeom prst="rect">
            <a:avLst/>
          </a:prstGeom>
        </p:spPr>
      </p:pic>
      <p:sp>
        <p:nvSpPr>
          <p:cNvPr id="59" name="Text 55"/>
          <p:cNvSpPr txBox="1"/>
          <p:nvPr/>
        </p:nvSpPr>
        <p:spPr>
          <a:xfrm>
            <a:off x="1097280" y="4114800"/>
            <a:ext cx="7406640" cy="548640"/>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A loop, not a straight line. </a:t>
            </a:r>
            <a:r>
              <a:rPr lang="en-US" sz="1300" dirty="0">
                <a:solidFill>
                  <a:srgbClr val="0C2622"/>
                </a:solidFill>
                <a:latin typeface="Calibri" pitchFamily="34" charset="0"/>
                <a:ea typeface="Calibri" pitchFamily="34" charset="-122"/>
                <a:cs typeface="Calibri" pitchFamily="34" charset="-120"/>
              </a:rPr>
              <a:t>Customer feedback keeps sending you back to earlier stages.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COURSE ROADMAP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Eight modules and a capstone launch</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457200" y="1280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8" name="Text 5"/>
          <p:cNvSpPr txBox="1"/>
          <p:nvPr/>
        </p:nvSpPr>
        <p:spPr>
          <a:xfrm>
            <a:off x="566928" y="1325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1</a:t>
            </a:r>
            <a:endParaRPr lang="en-US" sz="3200" dirty="0"/>
          </a:p>
        </p:txBody>
      </p:sp>
      <p:sp>
        <p:nvSpPr>
          <p:cNvPr id="9" name="Text 6"/>
          <p:cNvSpPr txBox="1"/>
          <p:nvPr/>
        </p:nvSpPr>
        <p:spPr>
          <a:xfrm>
            <a:off x="1234440" y="1335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Mindset &amp; Opportunity</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Why AI changes entrepreneurship</a:t>
            </a:r>
            <a:endParaRPr lang="en-US" sz="1200" dirty="0"/>
          </a:p>
        </p:txBody>
      </p:sp>
      <p:sp>
        <p:nvSpPr>
          <p:cNvPr id="10" name="Shape 7"/>
          <p:cNvSpPr/>
          <p:nvPr/>
        </p:nvSpPr>
        <p:spPr>
          <a:xfrm>
            <a:off x="3246120" y="1280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11" name="Text 8"/>
          <p:cNvSpPr txBox="1"/>
          <p:nvPr/>
        </p:nvSpPr>
        <p:spPr>
          <a:xfrm>
            <a:off x="3355848" y="1325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2</a:t>
            </a:r>
            <a:endParaRPr lang="en-US" sz="3200" dirty="0"/>
          </a:p>
        </p:txBody>
      </p:sp>
      <p:sp>
        <p:nvSpPr>
          <p:cNvPr id="12" name="Text 9"/>
          <p:cNvSpPr txBox="1"/>
          <p:nvPr/>
        </p:nvSpPr>
        <p:spPr>
          <a:xfrm>
            <a:off x="4023360" y="1335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Finding a Problem Worth Solving</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Start with problems, not products</a:t>
            </a:r>
            <a:endParaRPr lang="en-US" sz="1200" dirty="0"/>
          </a:p>
        </p:txBody>
      </p:sp>
      <p:sp>
        <p:nvSpPr>
          <p:cNvPr id="13" name="Shape 10"/>
          <p:cNvSpPr/>
          <p:nvPr/>
        </p:nvSpPr>
        <p:spPr>
          <a:xfrm>
            <a:off x="6035040" y="1280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14" name="Text 11"/>
          <p:cNvSpPr txBox="1"/>
          <p:nvPr/>
        </p:nvSpPr>
        <p:spPr>
          <a:xfrm>
            <a:off x="6144768" y="1325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3</a:t>
            </a:r>
            <a:endParaRPr lang="en-US" sz="3200" dirty="0"/>
          </a:p>
        </p:txBody>
      </p:sp>
      <p:sp>
        <p:nvSpPr>
          <p:cNvPr id="15" name="Text 12"/>
          <p:cNvSpPr txBox="1"/>
          <p:nvPr/>
        </p:nvSpPr>
        <p:spPr>
          <a:xfrm>
            <a:off x="6812280" y="1335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Market Research &amp; Validation</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Evidence over AI-generated confidence</a:t>
            </a:r>
            <a:endParaRPr lang="en-US" sz="1200" dirty="0"/>
          </a:p>
        </p:txBody>
      </p:sp>
      <p:sp>
        <p:nvSpPr>
          <p:cNvPr id="16" name="Shape 13"/>
          <p:cNvSpPr/>
          <p:nvPr/>
        </p:nvSpPr>
        <p:spPr>
          <a:xfrm>
            <a:off x="457200" y="2423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17" name="Text 14"/>
          <p:cNvSpPr txBox="1"/>
          <p:nvPr/>
        </p:nvSpPr>
        <p:spPr>
          <a:xfrm>
            <a:off x="566928" y="2468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4</a:t>
            </a:r>
            <a:endParaRPr lang="en-US" sz="3200" dirty="0"/>
          </a:p>
        </p:txBody>
      </p:sp>
      <p:sp>
        <p:nvSpPr>
          <p:cNvPr id="18" name="Text 15"/>
          <p:cNvSpPr txBox="1"/>
          <p:nvPr/>
        </p:nvSpPr>
        <p:spPr>
          <a:xfrm>
            <a:off x="1234440" y="2478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Building the Smallest Useful MVP</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Prove core value, quickly</a:t>
            </a:r>
            <a:endParaRPr lang="en-US" sz="1200" dirty="0"/>
          </a:p>
        </p:txBody>
      </p:sp>
      <p:sp>
        <p:nvSpPr>
          <p:cNvPr id="19" name="Shape 16"/>
          <p:cNvSpPr/>
          <p:nvPr/>
        </p:nvSpPr>
        <p:spPr>
          <a:xfrm>
            <a:off x="3246120" y="2423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20" name="Text 17"/>
          <p:cNvSpPr txBox="1"/>
          <p:nvPr/>
        </p:nvSpPr>
        <p:spPr>
          <a:xfrm>
            <a:off x="3355848" y="2468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5</a:t>
            </a:r>
            <a:endParaRPr lang="en-US" sz="3200" dirty="0"/>
          </a:p>
        </p:txBody>
      </p:sp>
      <p:sp>
        <p:nvSpPr>
          <p:cNvPr id="21" name="Text 18"/>
          <p:cNvSpPr txBox="1"/>
          <p:nvPr/>
        </p:nvSpPr>
        <p:spPr>
          <a:xfrm>
            <a:off x="4023360" y="2478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Value Proposition &amp; Positioning</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Outcomes, not features</a:t>
            </a:r>
            <a:endParaRPr lang="en-US" sz="1200" dirty="0"/>
          </a:p>
        </p:txBody>
      </p:sp>
      <p:sp>
        <p:nvSpPr>
          <p:cNvPr id="22" name="Shape 19"/>
          <p:cNvSpPr/>
          <p:nvPr/>
        </p:nvSpPr>
        <p:spPr>
          <a:xfrm>
            <a:off x="6035040" y="2423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23" name="Text 20"/>
          <p:cNvSpPr txBox="1"/>
          <p:nvPr/>
        </p:nvSpPr>
        <p:spPr>
          <a:xfrm>
            <a:off x="6144768" y="2468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6</a:t>
            </a:r>
            <a:endParaRPr lang="en-US" sz="3200" dirty="0"/>
          </a:p>
        </p:txBody>
      </p:sp>
      <p:sp>
        <p:nvSpPr>
          <p:cNvPr id="24" name="Text 21"/>
          <p:cNvSpPr txBox="1"/>
          <p:nvPr/>
        </p:nvSpPr>
        <p:spPr>
          <a:xfrm>
            <a:off x="6812280" y="2478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Go-to-Market</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From zero to first customers</a:t>
            </a:r>
            <a:endParaRPr lang="en-US" sz="1200" dirty="0"/>
          </a:p>
        </p:txBody>
      </p:sp>
      <p:sp>
        <p:nvSpPr>
          <p:cNvPr id="25" name="Shape 22"/>
          <p:cNvSpPr/>
          <p:nvPr/>
        </p:nvSpPr>
        <p:spPr>
          <a:xfrm>
            <a:off x="457200" y="3566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26" name="Text 23"/>
          <p:cNvSpPr txBox="1"/>
          <p:nvPr/>
        </p:nvSpPr>
        <p:spPr>
          <a:xfrm>
            <a:off x="566928" y="3611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7</a:t>
            </a:r>
            <a:endParaRPr lang="en-US" sz="3200" dirty="0"/>
          </a:p>
        </p:txBody>
      </p:sp>
      <p:sp>
        <p:nvSpPr>
          <p:cNvPr id="27" name="Text 24"/>
          <p:cNvSpPr txBox="1"/>
          <p:nvPr/>
        </p:nvSpPr>
        <p:spPr>
          <a:xfrm>
            <a:off x="1234440" y="3621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Operations, Automation &amp; Scale</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Systemize what works</a:t>
            </a:r>
            <a:endParaRPr lang="en-US" sz="1200" dirty="0"/>
          </a:p>
        </p:txBody>
      </p:sp>
      <p:sp>
        <p:nvSpPr>
          <p:cNvPr id="28" name="Shape 25"/>
          <p:cNvSpPr/>
          <p:nvPr/>
        </p:nvSpPr>
        <p:spPr>
          <a:xfrm>
            <a:off x="3246120" y="3566160"/>
            <a:ext cx="2651760" cy="1024128"/>
          </a:xfrm>
          <a:prstGeom prst="roundRect">
            <a:avLst>
              <a:gd name="adj" fmla="val 8929"/>
            </a:avLst>
          </a:prstGeom>
          <a:solidFill>
            <a:srgbClr val="FFFFFF"/>
          </a:solidFill>
          <a:ln/>
          <a:effectLst>
            <a:outerShdw blurRad="101600" dist="25400" dir="5400000" algn="bl" rotWithShape="0">
              <a:srgbClr val="000000">
                <a:alpha val="10000"/>
              </a:srgbClr>
            </a:outerShdw>
          </a:effectLst>
        </p:spPr>
      </p:sp>
      <p:sp>
        <p:nvSpPr>
          <p:cNvPr id="29" name="Text 26"/>
          <p:cNvSpPr txBox="1"/>
          <p:nvPr/>
        </p:nvSpPr>
        <p:spPr>
          <a:xfrm>
            <a:off x="3355848" y="3611880"/>
            <a:ext cx="640080" cy="914400"/>
          </a:xfrm>
          <a:prstGeom prst="rect">
            <a:avLst/>
          </a:prstGeom>
          <a:noFill/>
          <a:ln/>
        </p:spPr>
        <p:txBody>
          <a:bodyPr wrap="square" lIns="0" tIns="0" rIns="0" bIns="0" rtlCol="0" anchor="ctr"/>
          <a:lstStyle/>
          <a:p>
            <a:pPr marL="0" indent="0" algn="ctr">
              <a:buNone/>
            </a:pPr>
            <a:r>
              <a:rPr lang="en-US" sz="3200" b="1" dirty="0">
                <a:solidFill>
                  <a:srgbClr val="1E9A7A"/>
                </a:solidFill>
                <a:latin typeface="Cambria" pitchFamily="34" charset="0"/>
                <a:ea typeface="Cambria" pitchFamily="34" charset="-122"/>
                <a:cs typeface="Cambria" pitchFamily="34" charset="-120"/>
              </a:rPr>
              <a:t>8</a:t>
            </a:r>
            <a:endParaRPr lang="en-US" sz="3200" dirty="0"/>
          </a:p>
        </p:txBody>
      </p:sp>
      <p:sp>
        <p:nvSpPr>
          <p:cNvPr id="30" name="Text 27"/>
          <p:cNvSpPr txBox="1"/>
          <p:nvPr/>
        </p:nvSpPr>
        <p:spPr>
          <a:xfrm>
            <a:off x="4023360" y="3621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0C2622"/>
                </a:solidFill>
                <a:latin typeface="Calibri" pitchFamily="34" charset="0"/>
                <a:ea typeface="Calibri" pitchFamily="34" charset="-122"/>
                <a:cs typeface="Calibri" pitchFamily="34" charset="-120"/>
              </a:rPr>
              <a:t>Building in Bangladesh</a:t>
            </a:r>
            <a:endParaRPr lang="en-US" sz="1200" dirty="0"/>
          </a:p>
          <a:p>
            <a:pPr marL="0" indent="0" algn="l">
              <a:buNone/>
            </a:pPr>
            <a:r>
              <a:rPr lang="en-US" sz="1050" dirty="0">
                <a:solidFill>
                  <a:srgbClr val="587068"/>
                </a:solidFill>
                <a:latin typeface="Calibri" pitchFamily="34" charset="0"/>
                <a:ea typeface="Calibri" pitchFamily="34" charset="-122"/>
                <a:cs typeface="Calibri" pitchFamily="34" charset="-120"/>
              </a:rPr>
              <a:t>Local infrastructure, local advantage</a:t>
            </a:r>
            <a:endParaRPr lang="en-US" sz="1200" dirty="0"/>
          </a:p>
        </p:txBody>
      </p:sp>
      <p:sp>
        <p:nvSpPr>
          <p:cNvPr id="31" name="Shape 28"/>
          <p:cNvSpPr/>
          <p:nvPr/>
        </p:nvSpPr>
        <p:spPr>
          <a:xfrm>
            <a:off x="6035040" y="3566160"/>
            <a:ext cx="2651760" cy="1024128"/>
          </a:xfrm>
          <a:prstGeom prst="roundRect">
            <a:avLst>
              <a:gd name="adj" fmla="val 8929"/>
            </a:avLst>
          </a:prstGeom>
          <a:solidFill>
            <a:srgbClr val="0C2622"/>
          </a:solidFill>
          <a:ln/>
          <a:effectLst>
            <a:outerShdw blurRad="101600" dist="25400" dir="5400000" algn="bl" rotWithShape="0">
              <a:srgbClr val="000000">
                <a:alpha val="10000"/>
              </a:srgbClr>
            </a:outerShdw>
          </a:effectLst>
        </p:spPr>
      </p:sp>
      <p:sp>
        <p:nvSpPr>
          <p:cNvPr id="32" name="Text 29"/>
          <p:cNvSpPr txBox="1"/>
          <p:nvPr/>
        </p:nvSpPr>
        <p:spPr>
          <a:xfrm>
            <a:off x="6144768" y="3611880"/>
            <a:ext cx="640080" cy="914400"/>
          </a:xfrm>
          <a:prstGeom prst="rect">
            <a:avLst/>
          </a:prstGeom>
          <a:noFill/>
          <a:ln/>
        </p:spPr>
        <p:txBody>
          <a:bodyPr wrap="square" lIns="0" tIns="0" rIns="0" bIns="0" rtlCol="0" anchor="ctr"/>
          <a:lstStyle/>
          <a:p>
            <a:pPr marL="0" indent="0" algn="ctr">
              <a:buNone/>
            </a:pPr>
            <a:r>
              <a:rPr lang="en-US" sz="2800" b="1" dirty="0">
                <a:solidFill>
                  <a:srgbClr val="F4A52A"/>
                </a:solidFill>
                <a:latin typeface="Cambria" pitchFamily="34" charset="0"/>
                <a:ea typeface="Cambria" pitchFamily="34" charset="-122"/>
                <a:cs typeface="Cambria" pitchFamily="34" charset="-120"/>
              </a:rPr>
              <a:t>★</a:t>
            </a:r>
            <a:endParaRPr lang="en-US" sz="2800" dirty="0"/>
          </a:p>
        </p:txBody>
      </p:sp>
      <p:sp>
        <p:nvSpPr>
          <p:cNvPr id="33" name="Text 30"/>
          <p:cNvSpPr txBox="1"/>
          <p:nvPr/>
        </p:nvSpPr>
        <p:spPr>
          <a:xfrm>
            <a:off x="6812280" y="3621024"/>
            <a:ext cx="1783080" cy="914400"/>
          </a:xfrm>
          <a:prstGeom prst="rect">
            <a:avLst/>
          </a:prstGeom>
          <a:noFill/>
          <a:ln/>
        </p:spPr>
        <p:txBody>
          <a:bodyPr wrap="square" lIns="0" tIns="0" rIns="0" bIns="0" rtlCol="0" anchor="ctr"/>
          <a:lstStyle/>
          <a:p>
            <a:pPr marL="0" indent="0" algn="l">
              <a:spcAft>
                <a:spcPts val="300"/>
              </a:spcAft>
              <a:buNone/>
            </a:pPr>
            <a:r>
              <a:rPr lang="en-US" sz="1250" b="1" dirty="0">
                <a:solidFill>
                  <a:srgbClr val="FFFFFF"/>
                </a:solidFill>
                <a:latin typeface="Calibri" pitchFamily="34" charset="0"/>
                <a:ea typeface="Calibri" pitchFamily="34" charset="-122"/>
                <a:cs typeface="Calibri" pitchFamily="34" charset="-120"/>
              </a:rPr>
              <a:t>The AI Venture Challenge</a:t>
            </a:r>
            <a:endParaRPr lang="en-US" sz="1200" dirty="0"/>
          </a:p>
          <a:p>
            <a:pPr marL="0" indent="0" algn="l">
              <a:buNone/>
            </a:pPr>
            <a:r>
              <a:rPr lang="en-US" sz="1050" dirty="0">
                <a:solidFill>
                  <a:srgbClr val="DFF1EA"/>
                </a:solidFill>
                <a:latin typeface="Calibri" pitchFamily="34" charset="0"/>
                <a:ea typeface="Calibri" pitchFamily="34" charset="-122"/>
                <a:cs typeface="Calibri" pitchFamily="34" charset="-120"/>
              </a:rPr>
              <a:t>Launch — not merely pitch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01</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1</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Mindset &amp; Opportunity</a:t>
            </a:r>
            <a:endParaRPr lang="en-US" sz="3600" dirty="0"/>
          </a:p>
        </p:txBody>
      </p:sp>
      <p:sp>
        <p:nvSpPr>
          <p:cNvPr id="6" name="Text 3"/>
          <p:cNvSpPr txBox="1"/>
          <p:nvPr/>
        </p:nvSpPr>
        <p:spPr>
          <a:xfrm>
            <a:off x="640080" y="3355848"/>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Why AI changes entrepreneurship.</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1 · MINDSET &amp; OPPORTUNITY</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What one capable person can now do</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7</a:t>
            </a:r>
            <a:endParaRPr lang="en-US" sz="900" dirty="0"/>
          </a:p>
        </p:txBody>
      </p:sp>
      <p:sp>
        <p:nvSpPr>
          <p:cNvPr id="7" name="Text 4"/>
          <p:cNvSpPr txBox="1"/>
          <p:nvPr/>
        </p:nvSpPr>
        <p:spPr>
          <a:xfrm>
            <a:off x="457200" y="1234440"/>
            <a:ext cx="8229600" cy="640080"/>
          </a:xfrm>
          <a:prstGeom prst="rect">
            <a:avLst/>
          </a:prstGeom>
          <a:noFill/>
          <a:ln/>
        </p:spPr>
        <p:txBody>
          <a:bodyPr wrap="square" lIns="0" tIns="0" rIns="0" bIns="0" rtlCol="0" anchor="t"/>
          <a:lstStyle/>
          <a:p>
            <a:pPr marL="0" indent="0" algn="l">
              <a:buNone/>
            </a:pPr>
            <a:r>
              <a:rPr lang="en-US" sz="1250" dirty="0">
                <a:solidFill>
                  <a:srgbClr val="15302B"/>
                </a:solidFill>
                <a:latin typeface="Calibri" pitchFamily="34" charset="0"/>
                <a:ea typeface="Calibri" pitchFamily="34" charset="-122"/>
                <a:cs typeface="Calibri" pitchFamily="34" charset="-120"/>
              </a:rPr>
              <a:t>A small startup once needed researchers, designers, developers, copywriters, analysts, support staff, marketers, salespeople and operations staff. </a:t>
            </a:r>
            <a:r>
              <a:rPr lang="en-US" sz="1250" b="1" dirty="0">
                <a:solidFill>
                  <a:srgbClr val="15302B"/>
                </a:solidFill>
                <a:latin typeface="Calibri" pitchFamily="34" charset="0"/>
                <a:ea typeface="Calibri" pitchFamily="34" charset="-122"/>
                <a:cs typeface="Calibri" pitchFamily="34" charset="-120"/>
              </a:rPr>
              <a:t>AI does not replace these functions — it dramatically increases how much one capable person can accomplish.</a:t>
            </a:r>
            <a:endParaRPr lang="en-US" sz="1250" dirty="0"/>
          </a:p>
        </p:txBody>
      </p:sp>
      <p:sp>
        <p:nvSpPr>
          <p:cNvPr id="8" name="Shape 5"/>
          <p:cNvSpPr/>
          <p:nvPr/>
        </p:nvSpPr>
        <p:spPr>
          <a:xfrm>
            <a:off x="457200" y="2011680"/>
            <a:ext cx="1554480" cy="265176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9" name="Shape 6"/>
          <p:cNvSpPr/>
          <p:nvPr/>
        </p:nvSpPr>
        <p:spPr>
          <a:xfrm>
            <a:off x="594360" y="2148840"/>
            <a:ext cx="457200" cy="457200"/>
          </a:xfrm>
          <a:prstGeom prst="ellipse">
            <a:avLst/>
          </a:prstGeom>
          <a:solidFill>
            <a:srgbClr val="12735B"/>
          </a:solidFill>
          <a:ln/>
        </p:spPr>
      </p:sp>
      <p:pic>
        <p:nvPicPr>
          <p:cNvPr id="10" name="Image 0" descr="preencoded.png"/>
          <p:cNvPicPr>
            <a:picLocks noChangeAspect="1"/>
          </p:cNvPicPr>
          <p:nvPr/>
        </p:nvPicPr>
        <p:blipFill>
          <a:blip r:embed="rId3"/>
          <a:stretch>
            <a:fillRect/>
          </a:stretch>
        </p:blipFill>
        <p:spPr>
          <a:xfrm>
            <a:off x="708660" y="2263140"/>
            <a:ext cx="228600" cy="228600"/>
          </a:xfrm>
          <a:prstGeom prst="rect">
            <a:avLst/>
          </a:prstGeom>
        </p:spPr>
      </p:pic>
      <p:sp>
        <p:nvSpPr>
          <p:cNvPr id="11" name="Text 7"/>
          <p:cNvSpPr txBox="1"/>
          <p:nvPr/>
        </p:nvSpPr>
        <p:spPr>
          <a:xfrm>
            <a:off x="594360" y="2743200"/>
            <a:ext cx="1325880" cy="27432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Research</a:t>
            </a:r>
            <a:endParaRPr lang="en-US" sz="1400" dirty="0"/>
          </a:p>
        </p:txBody>
      </p:sp>
      <p:sp>
        <p:nvSpPr>
          <p:cNvPr id="12" name="Text 8"/>
          <p:cNvSpPr txBox="1"/>
          <p:nvPr/>
        </p:nvSpPr>
        <p:spPr>
          <a:xfrm>
            <a:off x="594360" y="3108960"/>
            <a:ext cx="1325880" cy="1508760"/>
          </a:xfrm>
          <a:prstGeom prst="rect">
            <a:avLst/>
          </a:prstGeom>
          <a:noFill/>
          <a:ln/>
        </p:spPr>
        <p:txBody>
          <a:bodyPr wrap="square" lIns="0" tIns="0" rIns="0" bIns="0" rtlCol="0" anchor="t"/>
          <a:lstStyle/>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Competitor analysis</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Market mapping</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Customer research</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Trend identification</a:t>
            </a:r>
            <a:endParaRPr lang="en-US" sz="1200" dirty="0"/>
          </a:p>
        </p:txBody>
      </p:sp>
      <p:sp>
        <p:nvSpPr>
          <p:cNvPr id="13" name="Shape 9"/>
          <p:cNvSpPr/>
          <p:nvPr/>
        </p:nvSpPr>
        <p:spPr>
          <a:xfrm>
            <a:off x="2121408" y="2011680"/>
            <a:ext cx="1554480" cy="265176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14" name="Shape 10"/>
          <p:cNvSpPr/>
          <p:nvPr/>
        </p:nvSpPr>
        <p:spPr>
          <a:xfrm>
            <a:off x="2258568" y="2148840"/>
            <a:ext cx="457200" cy="457200"/>
          </a:xfrm>
          <a:prstGeom prst="ellipse">
            <a:avLst/>
          </a:prstGeom>
          <a:solidFill>
            <a:srgbClr val="1E9A7A"/>
          </a:solidFill>
          <a:ln/>
        </p:spPr>
      </p:sp>
      <p:pic>
        <p:nvPicPr>
          <p:cNvPr id="15" name="Image 1" descr="preencoded.png"/>
          <p:cNvPicPr>
            <a:picLocks noChangeAspect="1"/>
          </p:cNvPicPr>
          <p:nvPr/>
        </p:nvPicPr>
        <p:blipFill>
          <a:blip r:embed="rId4"/>
          <a:stretch>
            <a:fillRect/>
          </a:stretch>
        </p:blipFill>
        <p:spPr>
          <a:xfrm>
            <a:off x="2372868" y="2263140"/>
            <a:ext cx="228600" cy="228600"/>
          </a:xfrm>
          <a:prstGeom prst="rect">
            <a:avLst/>
          </a:prstGeom>
        </p:spPr>
      </p:pic>
      <p:sp>
        <p:nvSpPr>
          <p:cNvPr id="16" name="Text 11"/>
          <p:cNvSpPr txBox="1"/>
          <p:nvPr/>
        </p:nvSpPr>
        <p:spPr>
          <a:xfrm>
            <a:off x="2258568" y="2743200"/>
            <a:ext cx="1325880" cy="27432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Product</a:t>
            </a:r>
            <a:endParaRPr lang="en-US" sz="1400" dirty="0"/>
          </a:p>
        </p:txBody>
      </p:sp>
      <p:sp>
        <p:nvSpPr>
          <p:cNvPr id="17" name="Text 12"/>
          <p:cNvSpPr txBox="1"/>
          <p:nvPr/>
        </p:nvSpPr>
        <p:spPr>
          <a:xfrm>
            <a:off x="2258568" y="3108960"/>
            <a:ext cx="1325880" cy="1508760"/>
          </a:xfrm>
          <a:prstGeom prst="rect">
            <a:avLst/>
          </a:prstGeom>
          <a:noFill/>
          <a:ln/>
        </p:spPr>
        <p:txBody>
          <a:bodyPr wrap="square" lIns="0" tIns="0" rIns="0" bIns="0" rtlCol="0" anchor="t"/>
          <a:lstStyle/>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Prototyping</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Coding</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UI generation</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Testing</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Documentation</a:t>
            </a:r>
            <a:endParaRPr lang="en-US" sz="1200" dirty="0"/>
          </a:p>
        </p:txBody>
      </p:sp>
      <p:sp>
        <p:nvSpPr>
          <p:cNvPr id="18" name="Shape 13"/>
          <p:cNvSpPr/>
          <p:nvPr/>
        </p:nvSpPr>
        <p:spPr>
          <a:xfrm>
            <a:off x="3785616" y="2011680"/>
            <a:ext cx="1554480" cy="265176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19" name="Shape 14"/>
          <p:cNvSpPr/>
          <p:nvPr/>
        </p:nvSpPr>
        <p:spPr>
          <a:xfrm>
            <a:off x="3922776" y="2148840"/>
            <a:ext cx="457200" cy="457200"/>
          </a:xfrm>
          <a:prstGeom prst="ellipse">
            <a:avLst/>
          </a:prstGeom>
          <a:solidFill>
            <a:srgbClr val="12735B"/>
          </a:solidFill>
          <a:ln/>
        </p:spPr>
      </p:sp>
      <p:pic>
        <p:nvPicPr>
          <p:cNvPr id="20" name="Image 2" descr="preencoded.png"/>
          <p:cNvPicPr>
            <a:picLocks noChangeAspect="1"/>
          </p:cNvPicPr>
          <p:nvPr/>
        </p:nvPicPr>
        <p:blipFill>
          <a:blip r:embed="rId5"/>
          <a:stretch>
            <a:fillRect/>
          </a:stretch>
        </p:blipFill>
        <p:spPr>
          <a:xfrm>
            <a:off x="4037076" y="2263140"/>
            <a:ext cx="228600" cy="228600"/>
          </a:xfrm>
          <a:prstGeom prst="rect">
            <a:avLst/>
          </a:prstGeom>
        </p:spPr>
      </p:pic>
      <p:sp>
        <p:nvSpPr>
          <p:cNvPr id="21" name="Text 15"/>
          <p:cNvSpPr txBox="1"/>
          <p:nvPr/>
        </p:nvSpPr>
        <p:spPr>
          <a:xfrm>
            <a:off x="3922776" y="2743200"/>
            <a:ext cx="1325880" cy="27432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Marketing</a:t>
            </a:r>
            <a:endParaRPr lang="en-US" sz="1400" dirty="0"/>
          </a:p>
        </p:txBody>
      </p:sp>
      <p:sp>
        <p:nvSpPr>
          <p:cNvPr id="22" name="Text 16"/>
          <p:cNvSpPr txBox="1"/>
          <p:nvPr/>
        </p:nvSpPr>
        <p:spPr>
          <a:xfrm>
            <a:off x="3922776" y="3108960"/>
            <a:ext cx="1325880" cy="1508760"/>
          </a:xfrm>
          <a:prstGeom prst="rect">
            <a:avLst/>
          </a:prstGeom>
          <a:noFill/>
          <a:ln/>
        </p:spPr>
        <p:txBody>
          <a:bodyPr wrap="square" lIns="0" tIns="0" rIns="0" bIns="0" rtlCol="0" anchor="t"/>
          <a:lstStyle/>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Copywriting</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Content</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Campaign ideas</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SEO research</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Personalization</a:t>
            </a:r>
            <a:endParaRPr lang="en-US" sz="1200" dirty="0"/>
          </a:p>
        </p:txBody>
      </p:sp>
      <p:sp>
        <p:nvSpPr>
          <p:cNvPr id="23" name="Shape 17"/>
          <p:cNvSpPr/>
          <p:nvPr/>
        </p:nvSpPr>
        <p:spPr>
          <a:xfrm>
            <a:off x="5449824" y="2011680"/>
            <a:ext cx="1554480" cy="265176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24" name="Shape 18"/>
          <p:cNvSpPr/>
          <p:nvPr/>
        </p:nvSpPr>
        <p:spPr>
          <a:xfrm>
            <a:off x="5586984" y="2148840"/>
            <a:ext cx="457200" cy="457200"/>
          </a:xfrm>
          <a:prstGeom prst="ellipse">
            <a:avLst/>
          </a:prstGeom>
          <a:solidFill>
            <a:srgbClr val="1E9A7A"/>
          </a:solidFill>
          <a:ln/>
        </p:spPr>
      </p:sp>
      <p:pic>
        <p:nvPicPr>
          <p:cNvPr id="25" name="Image 3" descr="preencoded.png"/>
          <p:cNvPicPr>
            <a:picLocks noChangeAspect="1"/>
          </p:cNvPicPr>
          <p:nvPr/>
        </p:nvPicPr>
        <p:blipFill>
          <a:blip r:embed="rId6"/>
          <a:stretch>
            <a:fillRect/>
          </a:stretch>
        </p:blipFill>
        <p:spPr>
          <a:xfrm>
            <a:off x="5701284" y="2263140"/>
            <a:ext cx="228600" cy="228600"/>
          </a:xfrm>
          <a:prstGeom prst="rect">
            <a:avLst/>
          </a:prstGeom>
        </p:spPr>
      </p:pic>
      <p:sp>
        <p:nvSpPr>
          <p:cNvPr id="26" name="Text 19"/>
          <p:cNvSpPr txBox="1"/>
          <p:nvPr/>
        </p:nvSpPr>
        <p:spPr>
          <a:xfrm>
            <a:off x="5586984" y="2743200"/>
            <a:ext cx="1325880" cy="27432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Sales</a:t>
            </a:r>
            <a:endParaRPr lang="en-US" sz="1400" dirty="0"/>
          </a:p>
        </p:txBody>
      </p:sp>
      <p:sp>
        <p:nvSpPr>
          <p:cNvPr id="27" name="Text 20"/>
          <p:cNvSpPr txBox="1"/>
          <p:nvPr/>
        </p:nvSpPr>
        <p:spPr>
          <a:xfrm>
            <a:off x="5586984" y="3108960"/>
            <a:ext cx="1325880" cy="1508760"/>
          </a:xfrm>
          <a:prstGeom prst="rect">
            <a:avLst/>
          </a:prstGeom>
          <a:noFill/>
          <a:ln/>
        </p:spPr>
        <p:txBody>
          <a:bodyPr wrap="square" lIns="0" tIns="0" rIns="0" bIns="0" rtlCol="0" anchor="t"/>
          <a:lstStyle/>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Prospect research</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Outreach preparation</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Lead qualification</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CRM updates</a:t>
            </a:r>
            <a:endParaRPr lang="en-US" sz="1200" dirty="0"/>
          </a:p>
        </p:txBody>
      </p:sp>
      <p:sp>
        <p:nvSpPr>
          <p:cNvPr id="28" name="Shape 21"/>
          <p:cNvSpPr/>
          <p:nvPr/>
        </p:nvSpPr>
        <p:spPr>
          <a:xfrm>
            <a:off x="7114032" y="2011680"/>
            <a:ext cx="1554480" cy="265176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29" name="Shape 22"/>
          <p:cNvSpPr/>
          <p:nvPr/>
        </p:nvSpPr>
        <p:spPr>
          <a:xfrm>
            <a:off x="7251192" y="2148840"/>
            <a:ext cx="457200" cy="457200"/>
          </a:xfrm>
          <a:prstGeom prst="ellipse">
            <a:avLst/>
          </a:prstGeom>
          <a:solidFill>
            <a:srgbClr val="12735B"/>
          </a:solidFill>
          <a:ln/>
        </p:spPr>
      </p:sp>
      <p:pic>
        <p:nvPicPr>
          <p:cNvPr id="30" name="Image 4" descr="preencoded.png"/>
          <p:cNvPicPr>
            <a:picLocks noChangeAspect="1"/>
          </p:cNvPicPr>
          <p:nvPr/>
        </p:nvPicPr>
        <p:blipFill>
          <a:blip r:embed="rId7"/>
          <a:stretch>
            <a:fillRect/>
          </a:stretch>
        </p:blipFill>
        <p:spPr>
          <a:xfrm>
            <a:off x="7365492" y="2263140"/>
            <a:ext cx="228600" cy="228600"/>
          </a:xfrm>
          <a:prstGeom prst="rect">
            <a:avLst/>
          </a:prstGeom>
        </p:spPr>
      </p:pic>
      <p:sp>
        <p:nvSpPr>
          <p:cNvPr id="31" name="Text 23"/>
          <p:cNvSpPr txBox="1"/>
          <p:nvPr/>
        </p:nvSpPr>
        <p:spPr>
          <a:xfrm>
            <a:off x="7251192" y="2743200"/>
            <a:ext cx="1325880" cy="27432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Operations</a:t>
            </a:r>
            <a:endParaRPr lang="en-US" sz="1400" dirty="0"/>
          </a:p>
        </p:txBody>
      </p:sp>
      <p:sp>
        <p:nvSpPr>
          <p:cNvPr id="32" name="Text 24"/>
          <p:cNvSpPr txBox="1"/>
          <p:nvPr/>
        </p:nvSpPr>
        <p:spPr>
          <a:xfrm>
            <a:off x="7251192" y="3108960"/>
            <a:ext cx="1325880" cy="1508760"/>
          </a:xfrm>
          <a:prstGeom prst="rect">
            <a:avLst/>
          </a:prstGeom>
          <a:noFill/>
          <a:ln/>
        </p:spPr>
        <p:txBody>
          <a:bodyPr wrap="square" lIns="0" tIns="0" rIns="0" bIns="0" rtlCol="0" anchor="t"/>
          <a:lstStyle/>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Reporting</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Documentation</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SOP creation</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Data analysis</a:t>
            </a:r>
            <a:endParaRPr lang="en-US" sz="1200" dirty="0"/>
          </a:p>
          <a:p>
            <a:pPr marL="152400" indent="-152400" algn="l">
              <a:spcAft>
                <a:spcPts val="400"/>
              </a:spcAft>
              <a:buSzPct val="100000"/>
              <a:buChar char="•"/>
            </a:pPr>
            <a:r>
              <a:rPr lang="en-US" sz="1200" dirty="0">
                <a:solidFill>
                  <a:srgbClr val="15302B"/>
                </a:solidFill>
                <a:latin typeface="Calibri" pitchFamily="34" charset="0"/>
                <a:ea typeface="Calibri" pitchFamily="34" charset="-122"/>
                <a:cs typeface="Calibri" pitchFamily="34" charset="-120"/>
              </a:rPr>
              <a:t>Workflow automation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1 · MINDSET &amp; OPPORTUNITY</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AI-native company</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8</a:t>
            </a:r>
            <a:endParaRPr lang="en-US" sz="900" dirty="0"/>
          </a:p>
        </p:txBody>
      </p:sp>
      <p:sp>
        <p:nvSpPr>
          <p:cNvPr id="7" name="Text 4"/>
          <p:cNvSpPr txBox="1"/>
          <p:nvPr/>
        </p:nvSpPr>
        <p:spPr>
          <a:xfrm>
            <a:off x="457200" y="1280160"/>
            <a:ext cx="2743200" cy="182880"/>
          </a:xfrm>
          <a:prstGeom prst="rect">
            <a:avLst/>
          </a:prstGeom>
          <a:noFill/>
          <a:ln/>
        </p:spPr>
        <p:txBody>
          <a:bodyPr wrap="square" lIns="0" tIns="0" rIns="0" bIns="0" rtlCol="0" anchor="t"/>
          <a:lstStyle/>
          <a:p>
            <a:pPr marL="0" indent="0" algn="l">
              <a:buNone/>
            </a:pPr>
            <a:r>
              <a:rPr lang="en-US" sz="950" b="1" kern="0" spc="150" dirty="0">
                <a:solidFill>
                  <a:srgbClr val="587068"/>
                </a:solidFill>
                <a:latin typeface="Calibri" pitchFamily="34" charset="0"/>
                <a:ea typeface="Calibri" pitchFamily="34" charset="-122"/>
                <a:cs typeface="Calibri" pitchFamily="34" charset="-120"/>
              </a:rPr>
              <a:t>TRADITIONAL</a:t>
            </a:r>
            <a:endParaRPr lang="en-US" sz="950" dirty="0"/>
          </a:p>
        </p:txBody>
      </p:sp>
      <p:sp>
        <p:nvSpPr>
          <p:cNvPr id="8" name="Shape 5"/>
          <p:cNvSpPr/>
          <p:nvPr/>
        </p:nvSpPr>
        <p:spPr>
          <a:xfrm>
            <a:off x="457200" y="1508760"/>
            <a:ext cx="2377440" cy="502920"/>
          </a:xfrm>
          <a:prstGeom prst="roundRect">
            <a:avLst>
              <a:gd name="adj" fmla="val 18182"/>
            </a:avLst>
          </a:prstGeom>
          <a:solidFill>
            <a:srgbClr val="E3EAE7"/>
          </a:solidFill>
          <a:ln/>
        </p:spPr>
      </p:sp>
      <p:sp>
        <p:nvSpPr>
          <p:cNvPr id="9" name="Text 6"/>
          <p:cNvSpPr txBox="1"/>
          <p:nvPr/>
        </p:nvSpPr>
        <p:spPr>
          <a:xfrm>
            <a:off x="457200" y="1508760"/>
            <a:ext cx="2377440" cy="502920"/>
          </a:xfrm>
          <a:prstGeom prst="rect">
            <a:avLst/>
          </a:prstGeom>
          <a:noFill/>
          <a:ln/>
        </p:spPr>
        <p:txBody>
          <a:bodyPr wrap="square" lIns="0" tIns="0" rIns="0" bIns="0" rtlCol="0" anchor="ctr"/>
          <a:lstStyle/>
          <a:p>
            <a:pPr marL="0" indent="0" algn="ctr">
              <a:buNone/>
            </a:pPr>
            <a:r>
              <a:rPr lang="en-US" sz="1300" b="1" dirty="0">
                <a:solidFill>
                  <a:srgbClr val="587068"/>
                </a:solidFill>
                <a:latin typeface="Calibri" pitchFamily="34" charset="0"/>
                <a:ea typeface="Calibri" pitchFamily="34" charset="-122"/>
                <a:cs typeface="Calibri" pitchFamily="34" charset="-120"/>
              </a:rPr>
              <a:t>Founder</a:t>
            </a:r>
            <a:endParaRPr lang="en-US" sz="1300" dirty="0"/>
          </a:p>
        </p:txBody>
      </p:sp>
      <p:sp>
        <p:nvSpPr>
          <p:cNvPr id="10" name="Shape 7"/>
          <p:cNvSpPr/>
          <p:nvPr/>
        </p:nvSpPr>
        <p:spPr>
          <a:xfrm>
            <a:off x="2880360" y="1760220"/>
            <a:ext cx="457200" cy="0"/>
          </a:xfrm>
          <a:prstGeom prst="line">
            <a:avLst/>
          </a:prstGeom>
          <a:noFill/>
          <a:ln w="25400">
            <a:solidFill>
              <a:srgbClr val="587068"/>
            </a:solidFill>
            <a:prstDash val="solid"/>
            <a:tailEnd type="triangle"/>
          </a:ln>
        </p:spPr>
      </p:sp>
      <p:sp>
        <p:nvSpPr>
          <p:cNvPr id="11" name="Shape 8"/>
          <p:cNvSpPr/>
          <p:nvPr/>
        </p:nvSpPr>
        <p:spPr>
          <a:xfrm>
            <a:off x="3383280" y="1508760"/>
            <a:ext cx="2377440" cy="502920"/>
          </a:xfrm>
          <a:prstGeom prst="roundRect">
            <a:avLst>
              <a:gd name="adj" fmla="val 18182"/>
            </a:avLst>
          </a:prstGeom>
          <a:solidFill>
            <a:srgbClr val="E3EAE7"/>
          </a:solidFill>
          <a:ln/>
        </p:spPr>
      </p:sp>
      <p:sp>
        <p:nvSpPr>
          <p:cNvPr id="12" name="Text 9"/>
          <p:cNvSpPr txBox="1"/>
          <p:nvPr/>
        </p:nvSpPr>
        <p:spPr>
          <a:xfrm>
            <a:off x="3383280" y="1508760"/>
            <a:ext cx="2377440" cy="502920"/>
          </a:xfrm>
          <a:prstGeom prst="rect">
            <a:avLst/>
          </a:prstGeom>
          <a:noFill/>
          <a:ln/>
        </p:spPr>
        <p:txBody>
          <a:bodyPr wrap="square" lIns="0" tIns="0" rIns="0" bIns="0" rtlCol="0" anchor="ctr"/>
          <a:lstStyle/>
          <a:p>
            <a:pPr marL="0" indent="0" algn="ctr">
              <a:buNone/>
            </a:pPr>
            <a:r>
              <a:rPr lang="en-US" sz="1300" b="1" dirty="0">
                <a:solidFill>
                  <a:srgbClr val="587068"/>
                </a:solidFill>
                <a:latin typeface="Calibri" pitchFamily="34" charset="0"/>
                <a:ea typeface="Calibri" pitchFamily="34" charset="-122"/>
                <a:cs typeface="Calibri" pitchFamily="34" charset="-120"/>
              </a:rPr>
              <a:t>Hires people</a:t>
            </a:r>
            <a:endParaRPr lang="en-US" sz="1300" dirty="0"/>
          </a:p>
        </p:txBody>
      </p:sp>
      <p:sp>
        <p:nvSpPr>
          <p:cNvPr id="13" name="Shape 10"/>
          <p:cNvSpPr/>
          <p:nvPr/>
        </p:nvSpPr>
        <p:spPr>
          <a:xfrm>
            <a:off x="5806440" y="1760220"/>
            <a:ext cx="457200" cy="0"/>
          </a:xfrm>
          <a:prstGeom prst="line">
            <a:avLst/>
          </a:prstGeom>
          <a:noFill/>
          <a:ln w="25400">
            <a:solidFill>
              <a:srgbClr val="587068"/>
            </a:solidFill>
            <a:prstDash val="solid"/>
            <a:tailEnd type="triangle"/>
          </a:ln>
        </p:spPr>
      </p:sp>
      <p:sp>
        <p:nvSpPr>
          <p:cNvPr id="14" name="Shape 11"/>
          <p:cNvSpPr/>
          <p:nvPr/>
        </p:nvSpPr>
        <p:spPr>
          <a:xfrm>
            <a:off x="6309360" y="1508760"/>
            <a:ext cx="2377440" cy="502920"/>
          </a:xfrm>
          <a:prstGeom prst="roundRect">
            <a:avLst>
              <a:gd name="adj" fmla="val 18182"/>
            </a:avLst>
          </a:prstGeom>
          <a:solidFill>
            <a:srgbClr val="E3EAE7"/>
          </a:solidFill>
          <a:ln/>
        </p:spPr>
      </p:sp>
      <p:sp>
        <p:nvSpPr>
          <p:cNvPr id="15" name="Text 12"/>
          <p:cNvSpPr txBox="1"/>
          <p:nvPr/>
        </p:nvSpPr>
        <p:spPr>
          <a:xfrm>
            <a:off x="6309360" y="1508760"/>
            <a:ext cx="2377440" cy="502920"/>
          </a:xfrm>
          <a:prstGeom prst="rect">
            <a:avLst/>
          </a:prstGeom>
          <a:noFill/>
          <a:ln/>
        </p:spPr>
        <p:txBody>
          <a:bodyPr wrap="square" lIns="0" tIns="0" rIns="0" bIns="0" rtlCol="0" anchor="ctr"/>
          <a:lstStyle/>
          <a:p>
            <a:pPr marL="0" indent="0" algn="ctr">
              <a:buNone/>
            </a:pPr>
            <a:r>
              <a:rPr lang="en-US" sz="1300" b="1" dirty="0">
                <a:solidFill>
                  <a:srgbClr val="587068"/>
                </a:solidFill>
                <a:latin typeface="Calibri" pitchFamily="34" charset="0"/>
                <a:ea typeface="Calibri" pitchFamily="34" charset="-122"/>
                <a:cs typeface="Calibri" pitchFamily="34" charset="-120"/>
              </a:rPr>
              <a:t>People perform tasks</a:t>
            </a:r>
            <a:endParaRPr lang="en-US" sz="1300" dirty="0"/>
          </a:p>
        </p:txBody>
      </p:sp>
      <p:sp>
        <p:nvSpPr>
          <p:cNvPr id="16" name="Text 13"/>
          <p:cNvSpPr txBox="1"/>
          <p:nvPr/>
        </p:nvSpPr>
        <p:spPr>
          <a:xfrm>
            <a:off x="457200" y="2212848"/>
            <a:ext cx="27432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AI-NATIVE</a:t>
            </a:r>
            <a:endParaRPr lang="en-US" sz="950" dirty="0"/>
          </a:p>
        </p:txBody>
      </p:sp>
      <p:sp>
        <p:nvSpPr>
          <p:cNvPr id="17" name="Shape 14"/>
          <p:cNvSpPr/>
          <p:nvPr/>
        </p:nvSpPr>
        <p:spPr>
          <a:xfrm>
            <a:off x="457200" y="2441448"/>
            <a:ext cx="1783080" cy="731520"/>
          </a:xfrm>
          <a:prstGeom prst="roundRect">
            <a:avLst>
              <a:gd name="adj" fmla="val 12500"/>
            </a:avLst>
          </a:prstGeom>
          <a:solidFill>
            <a:srgbClr val="0C2622"/>
          </a:solidFill>
          <a:ln/>
        </p:spPr>
      </p:sp>
      <p:sp>
        <p:nvSpPr>
          <p:cNvPr id="18" name="Text 15"/>
          <p:cNvSpPr txBox="1"/>
          <p:nvPr/>
        </p:nvSpPr>
        <p:spPr>
          <a:xfrm>
            <a:off x="548640" y="2441448"/>
            <a:ext cx="160020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Founder</a:t>
            </a:r>
            <a:endParaRPr lang="en-US" sz="1200" dirty="0"/>
          </a:p>
        </p:txBody>
      </p:sp>
      <p:sp>
        <p:nvSpPr>
          <p:cNvPr id="19" name="Shape 16"/>
          <p:cNvSpPr/>
          <p:nvPr/>
        </p:nvSpPr>
        <p:spPr>
          <a:xfrm>
            <a:off x="2276856" y="2807208"/>
            <a:ext cx="292608" cy="0"/>
          </a:xfrm>
          <a:prstGeom prst="line">
            <a:avLst/>
          </a:prstGeom>
          <a:noFill/>
          <a:ln w="25400">
            <a:solidFill>
              <a:srgbClr val="12735B"/>
            </a:solidFill>
            <a:prstDash val="solid"/>
            <a:tailEnd type="triangle"/>
          </a:ln>
        </p:spPr>
      </p:sp>
      <p:sp>
        <p:nvSpPr>
          <p:cNvPr id="20" name="Shape 17"/>
          <p:cNvSpPr/>
          <p:nvPr/>
        </p:nvSpPr>
        <p:spPr>
          <a:xfrm>
            <a:off x="2606040" y="2441448"/>
            <a:ext cx="1783080" cy="731520"/>
          </a:xfrm>
          <a:prstGeom prst="roundRect">
            <a:avLst>
              <a:gd name="adj" fmla="val 12500"/>
            </a:avLst>
          </a:prstGeom>
          <a:solidFill>
            <a:srgbClr val="12735B"/>
          </a:solidFill>
          <a:ln/>
        </p:spPr>
      </p:sp>
      <p:sp>
        <p:nvSpPr>
          <p:cNvPr id="21" name="Text 18"/>
          <p:cNvSpPr txBox="1"/>
          <p:nvPr/>
        </p:nvSpPr>
        <p:spPr>
          <a:xfrm>
            <a:off x="2697480" y="2441448"/>
            <a:ext cx="160020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Designs systems</a:t>
            </a:r>
            <a:endParaRPr lang="en-US" sz="1200" dirty="0"/>
          </a:p>
        </p:txBody>
      </p:sp>
      <p:sp>
        <p:nvSpPr>
          <p:cNvPr id="22" name="Shape 19"/>
          <p:cNvSpPr/>
          <p:nvPr/>
        </p:nvSpPr>
        <p:spPr>
          <a:xfrm>
            <a:off x="4425696" y="2807208"/>
            <a:ext cx="292608" cy="0"/>
          </a:xfrm>
          <a:prstGeom prst="line">
            <a:avLst/>
          </a:prstGeom>
          <a:noFill/>
          <a:ln w="25400">
            <a:solidFill>
              <a:srgbClr val="12735B"/>
            </a:solidFill>
            <a:prstDash val="solid"/>
            <a:tailEnd type="triangle"/>
          </a:ln>
        </p:spPr>
      </p:sp>
      <p:sp>
        <p:nvSpPr>
          <p:cNvPr id="23" name="Shape 20"/>
          <p:cNvSpPr/>
          <p:nvPr/>
        </p:nvSpPr>
        <p:spPr>
          <a:xfrm>
            <a:off x="4754880" y="2441448"/>
            <a:ext cx="1783080" cy="731520"/>
          </a:xfrm>
          <a:prstGeom prst="roundRect">
            <a:avLst>
              <a:gd name="adj" fmla="val 12500"/>
            </a:avLst>
          </a:prstGeom>
          <a:solidFill>
            <a:srgbClr val="12735B"/>
          </a:solidFill>
          <a:ln/>
        </p:spPr>
      </p:sp>
      <p:sp>
        <p:nvSpPr>
          <p:cNvPr id="24" name="Text 21"/>
          <p:cNvSpPr txBox="1"/>
          <p:nvPr/>
        </p:nvSpPr>
        <p:spPr>
          <a:xfrm>
            <a:off x="4846320" y="2441448"/>
            <a:ext cx="160020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performs parts of workflows</a:t>
            </a:r>
            <a:endParaRPr lang="en-US" sz="1200" dirty="0"/>
          </a:p>
        </p:txBody>
      </p:sp>
      <p:sp>
        <p:nvSpPr>
          <p:cNvPr id="25" name="Shape 22"/>
          <p:cNvSpPr/>
          <p:nvPr/>
        </p:nvSpPr>
        <p:spPr>
          <a:xfrm>
            <a:off x="6574536" y="2807208"/>
            <a:ext cx="292608" cy="0"/>
          </a:xfrm>
          <a:prstGeom prst="line">
            <a:avLst/>
          </a:prstGeom>
          <a:noFill/>
          <a:ln w="25400">
            <a:solidFill>
              <a:srgbClr val="12735B"/>
            </a:solidFill>
            <a:prstDash val="solid"/>
            <a:tailEnd type="triangle"/>
          </a:ln>
        </p:spPr>
      </p:sp>
      <p:sp>
        <p:nvSpPr>
          <p:cNvPr id="26" name="Shape 23"/>
          <p:cNvSpPr/>
          <p:nvPr/>
        </p:nvSpPr>
        <p:spPr>
          <a:xfrm>
            <a:off x="6903720" y="2441448"/>
            <a:ext cx="1783080" cy="731520"/>
          </a:xfrm>
          <a:prstGeom prst="roundRect">
            <a:avLst>
              <a:gd name="adj" fmla="val 12500"/>
            </a:avLst>
          </a:prstGeom>
          <a:solidFill>
            <a:srgbClr val="12735B"/>
          </a:solidFill>
          <a:ln/>
        </p:spPr>
      </p:sp>
      <p:sp>
        <p:nvSpPr>
          <p:cNvPr id="27" name="Text 24"/>
          <p:cNvSpPr txBox="1"/>
          <p:nvPr/>
        </p:nvSpPr>
        <p:spPr>
          <a:xfrm>
            <a:off x="6995160" y="2441448"/>
            <a:ext cx="160020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Humans supervise critical decisions</a:t>
            </a:r>
            <a:endParaRPr lang="en-US" sz="1200" dirty="0"/>
          </a:p>
        </p:txBody>
      </p:sp>
      <p:sp>
        <p:nvSpPr>
          <p:cNvPr id="28" name="Text 25"/>
          <p:cNvSpPr txBox="1"/>
          <p:nvPr/>
        </p:nvSpPr>
        <p:spPr>
          <a:xfrm>
            <a:off x="457200" y="3337560"/>
            <a:ext cx="8229600" cy="22860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The founder becomes an AI Orchestrator.  </a:t>
            </a:r>
            <a:r>
              <a:rPr lang="en-US" sz="1300" dirty="0">
                <a:solidFill>
                  <a:srgbClr val="587068"/>
                </a:solidFill>
                <a:latin typeface="Calibri" pitchFamily="34" charset="0"/>
                <a:ea typeface="Calibri" pitchFamily="34" charset="-122"/>
                <a:cs typeface="Calibri" pitchFamily="34" charset="-120"/>
              </a:rPr>
              <a:t>Their job is to:</a:t>
            </a:r>
            <a:endParaRPr lang="en-US" sz="1300" dirty="0"/>
          </a:p>
        </p:txBody>
      </p:sp>
      <p:sp>
        <p:nvSpPr>
          <p:cNvPr id="29" name="Shape 26"/>
          <p:cNvSpPr/>
          <p:nvPr/>
        </p:nvSpPr>
        <p:spPr>
          <a:xfrm>
            <a:off x="457200" y="3657600"/>
            <a:ext cx="1219444" cy="329184"/>
          </a:xfrm>
          <a:prstGeom prst="roundRect">
            <a:avLst>
              <a:gd name="adj" fmla="val 50000"/>
            </a:avLst>
          </a:prstGeom>
          <a:solidFill>
            <a:srgbClr val="DFF1EA"/>
          </a:solidFill>
          <a:ln/>
        </p:spPr>
      </p:sp>
      <p:sp>
        <p:nvSpPr>
          <p:cNvPr id="30" name="Text 27"/>
          <p:cNvSpPr txBox="1"/>
          <p:nvPr/>
        </p:nvSpPr>
        <p:spPr>
          <a:xfrm>
            <a:off x="457200" y="3657600"/>
            <a:ext cx="1219444"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Give context</a:t>
            </a:r>
            <a:endParaRPr lang="en-US" sz="1150" dirty="0"/>
          </a:p>
        </p:txBody>
      </p:sp>
      <p:sp>
        <p:nvSpPr>
          <p:cNvPr id="31" name="Shape 28"/>
          <p:cNvSpPr/>
          <p:nvPr/>
        </p:nvSpPr>
        <p:spPr>
          <a:xfrm>
            <a:off x="1749796" y="3657600"/>
            <a:ext cx="1598005" cy="329184"/>
          </a:xfrm>
          <a:prstGeom prst="roundRect">
            <a:avLst>
              <a:gd name="adj" fmla="val 50000"/>
            </a:avLst>
          </a:prstGeom>
          <a:solidFill>
            <a:srgbClr val="DFF1EA"/>
          </a:solidFill>
          <a:ln/>
        </p:spPr>
      </p:sp>
      <p:sp>
        <p:nvSpPr>
          <p:cNvPr id="32" name="Text 29"/>
          <p:cNvSpPr txBox="1"/>
          <p:nvPr/>
        </p:nvSpPr>
        <p:spPr>
          <a:xfrm>
            <a:off x="1749796" y="3657600"/>
            <a:ext cx="1598005"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Define objectives</a:t>
            </a:r>
            <a:endParaRPr lang="en-US" sz="1150" dirty="0"/>
          </a:p>
        </p:txBody>
      </p:sp>
      <p:sp>
        <p:nvSpPr>
          <p:cNvPr id="33" name="Shape 30"/>
          <p:cNvSpPr/>
          <p:nvPr/>
        </p:nvSpPr>
        <p:spPr>
          <a:xfrm>
            <a:off x="3420953" y="3657600"/>
            <a:ext cx="1295156" cy="329184"/>
          </a:xfrm>
          <a:prstGeom prst="roundRect">
            <a:avLst>
              <a:gd name="adj" fmla="val 50000"/>
            </a:avLst>
          </a:prstGeom>
          <a:solidFill>
            <a:srgbClr val="DFF1EA"/>
          </a:solidFill>
          <a:ln/>
        </p:spPr>
      </p:sp>
      <p:sp>
        <p:nvSpPr>
          <p:cNvPr id="34" name="Text 31"/>
          <p:cNvSpPr txBox="1"/>
          <p:nvPr/>
        </p:nvSpPr>
        <p:spPr>
          <a:xfrm>
            <a:off x="3420953" y="3657600"/>
            <a:ext cx="1295156"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Connect tools</a:t>
            </a:r>
            <a:endParaRPr lang="en-US" sz="1150" dirty="0"/>
          </a:p>
        </p:txBody>
      </p:sp>
      <p:sp>
        <p:nvSpPr>
          <p:cNvPr id="35" name="Shape 32"/>
          <p:cNvSpPr/>
          <p:nvPr/>
        </p:nvSpPr>
        <p:spPr>
          <a:xfrm>
            <a:off x="4789261" y="3657600"/>
            <a:ext cx="1522293" cy="329184"/>
          </a:xfrm>
          <a:prstGeom prst="roundRect">
            <a:avLst>
              <a:gd name="adj" fmla="val 50000"/>
            </a:avLst>
          </a:prstGeom>
          <a:solidFill>
            <a:srgbClr val="DFF1EA"/>
          </a:solidFill>
          <a:ln/>
        </p:spPr>
      </p:sp>
      <p:sp>
        <p:nvSpPr>
          <p:cNvPr id="36" name="Text 33"/>
          <p:cNvSpPr txBox="1"/>
          <p:nvPr/>
        </p:nvSpPr>
        <p:spPr>
          <a:xfrm>
            <a:off x="4789261" y="3657600"/>
            <a:ext cx="1522293"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Design workflows</a:t>
            </a:r>
            <a:endParaRPr lang="en-US" sz="1150" dirty="0"/>
          </a:p>
        </p:txBody>
      </p:sp>
      <p:sp>
        <p:nvSpPr>
          <p:cNvPr id="37" name="Shape 34"/>
          <p:cNvSpPr/>
          <p:nvPr/>
        </p:nvSpPr>
        <p:spPr>
          <a:xfrm>
            <a:off x="6384707" y="3657600"/>
            <a:ext cx="1446581" cy="329184"/>
          </a:xfrm>
          <a:prstGeom prst="roundRect">
            <a:avLst>
              <a:gd name="adj" fmla="val 50000"/>
            </a:avLst>
          </a:prstGeom>
          <a:solidFill>
            <a:srgbClr val="DFF1EA"/>
          </a:solidFill>
          <a:ln/>
        </p:spPr>
      </p:sp>
      <p:sp>
        <p:nvSpPr>
          <p:cNvPr id="38" name="Text 35"/>
          <p:cNvSpPr txBox="1"/>
          <p:nvPr/>
        </p:nvSpPr>
        <p:spPr>
          <a:xfrm>
            <a:off x="6384707" y="3657600"/>
            <a:ext cx="1446581"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Evaluate output</a:t>
            </a:r>
            <a:endParaRPr lang="en-US" sz="1150" dirty="0"/>
          </a:p>
        </p:txBody>
      </p:sp>
      <p:sp>
        <p:nvSpPr>
          <p:cNvPr id="39" name="Shape 36"/>
          <p:cNvSpPr/>
          <p:nvPr/>
        </p:nvSpPr>
        <p:spPr>
          <a:xfrm>
            <a:off x="457200" y="4059936"/>
            <a:ext cx="1370868" cy="329184"/>
          </a:xfrm>
          <a:prstGeom prst="roundRect">
            <a:avLst>
              <a:gd name="adj" fmla="val 50000"/>
            </a:avLst>
          </a:prstGeom>
          <a:solidFill>
            <a:srgbClr val="DFF1EA"/>
          </a:solidFill>
          <a:ln/>
        </p:spPr>
      </p:sp>
      <p:sp>
        <p:nvSpPr>
          <p:cNvPr id="40" name="Text 37"/>
          <p:cNvSpPr txBox="1"/>
          <p:nvPr/>
        </p:nvSpPr>
        <p:spPr>
          <a:xfrm>
            <a:off x="457200" y="4059936"/>
            <a:ext cx="1370868"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Make decisions</a:t>
            </a:r>
            <a:endParaRPr lang="en-US" sz="1150" dirty="0"/>
          </a:p>
        </p:txBody>
      </p:sp>
      <p:sp>
        <p:nvSpPr>
          <p:cNvPr id="41" name="Shape 38"/>
          <p:cNvSpPr/>
          <p:nvPr/>
        </p:nvSpPr>
        <p:spPr>
          <a:xfrm>
            <a:off x="1901220" y="4059936"/>
            <a:ext cx="2960827" cy="329184"/>
          </a:xfrm>
          <a:prstGeom prst="roundRect">
            <a:avLst>
              <a:gd name="adj" fmla="val 50000"/>
            </a:avLst>
          </a:prstGeom>
          <a:solidFill>
            <a:srgbClr val="DFF1EA"/>
          </a:solidFill>
          <a:ln/>
        </p:spPr>
      </p:sp>
      <p:sp>
        <p:nvSpPr>
          <p:cNvPr id="42" name="Text 39"/>
          <p:cNvSpPr txBox="1"/>
          <p:nvPr/>
        </p:nvSpPr>
        <p:spPr>
          <a:xfrm>
            <a:off x="1901220" y="4059936"/>
            <a:ext cx="2960827"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Intervene when judgment is required</a:t>
            </a:r>
            <a:endParaRPr lang="en-US" sz="1150" dirty="0"/>
          </a:p>
        </p:txBody>
      </p:sp>
      <p:sp>
        <p:nvSpPr>
          <p:cNvPr id="43" name="Text 40"/>
          <p:cNvSpPr txBox="1"/>
          <p:nvPr/>
        </p:nvSpPr>
        <p:spPr>
          <a:xfrm>
            <a:off x="457200" y="4462272"/>
            <a:ext cx="8229600" cy="201168"/>
          </a:xfrm>
          <a:prstGeom prst="rect">
            <a:avLst/>
          </a:prstGeom>
          <a:noFill/>
          <a:ln/>
        </p:spPr>
        <p:txBody>
          <a:bodyPr wrap="square" lIns="0" tIns="0" rIns="0" bIns="0" rtlCol="0" anchor="t"/>
          <a:lstStyle/>
          <a:p>
            <a:pPr marL="0" indent="0" algn="l">
              <a:buNone/>
            </a:pPr>
            <a:r>
              <a:rPr lang="en-US" sz="1050" i="1" dirty="0">
                <a:solidFill>
                  <a:srgbClr val="587068"/>
                </a:solidFill>
                <a:latin typeface="Calibri" pitchFamily="34" charset="0"/>
                <a:ea typeface="Calibri" pitchFamily="34" charset="-122"/>
                <a:cs typeface="Calibri" pitchFamily="34" charset="-120"/>
              </a:rPr>
              <a:t>MCP matters here: it lets AI connect to external tools and information through a common standard.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1 · MINDSET &amp; OPPORTUNITY</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Four mindset shifts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280160"/>
            <a:ext cx="8229600" cy="749808"/>
          </a:xfrm>
          <a:prstGeom prst="roundRect">
            <a:avLst>
              <a:gd name="adj" fmla="val 12195"/>
            </a:avLst>
          </a:prstGeom>
          <a:solidFill>
            <a:srgbClr val="FFFFFF"/>
          </a:solidFill>
          <a:ln/>
          <a:effectLst>
            <a:outerShdw blurRad="101600" dist="25400" dir="5400000" algn="bl" rotWithShape="0">
              <a:srgbClr val="000000">
                <a:alpha val="10000"/>
              </a:srgbClr>
            </a:outerShdw>
          </a:effectLst>
        </p:spPr>
      </p:sp>
      <p:sp>
        <p:nvSpPr>
          <p:cNvPr id="8" name="Text 5"/>
          <p:cNvSpPr txBox="1"/>
          <p:nvPr/>
        </p:nvSpPr>
        <p:spPr>
          <a:xfrm>
            <a:off x="685800" y="1371600"/>
            <a:ext cx="914400" cy="164592"/>
          </a:xfrm>
          <a:prstGeom prst="rect">
            <a:avLst/>
          </a:prstGeom>
          <a:noFill/>
          <a:ln/>
        </p:spPr>
        <p:txBody>
          <a:bodyPr wrap="square" lIns="0" tIns="0" rIns="0" bIns="0" rtlCol="0" anchor="t"/>
          <a:lstStyle/>
          <a:p>
            <a:pPr marL="0" indent="0" algn="l">
              <a:buNone/>
            </a:pPr>
            <a:r>
              <a:rPr lang="en-US" sz="850" b="1" kern="0" spc="150" dirty="0">
                <a:solidFill>
                  <a:srgbClr val="587068"/>
                </a:solidFill>
                <a:latin typeface="Calibri" pitchFamily="34" charset="0"/>
                <a:ea typeface="Calibri" pitchFamily="34" charset="-122"/>
                <a:cs typeface="Calibri" pitchFamily="34" charset="-120"/>
              </a:rPr>
              <a:t>OLD</a:t>
            </a:r>
            <a:endParaRPr lang="en-US" sz="850" dirty="0"/>
          </a:p>
        </p:txBody>
      </p:sp>
      <p:sp>
        <p:nvSpPr>
          <p:cNvPr id="9" name="Text 6"/>
          <p:cNvSpPr txBox="1"/>
          <p:nvPr/>
        </p:nvSpPr>
        <p:spPr>
          <a:xfrm>
            <a:off x="685800" y="1554480"/>
            <a:ext cx="3200400" cy="411480"/>
          </a:xfrm>
          <a:prstGeom prst="rect">
            <a:avLst/>
          </a:prstGeom>
          <a:noFill/>
          <a:ln/>
        </p:spPr>
        <p:txBody>
          <a:bodyPr wrap="square" lIns="0" tIns="0" rIns="0" bIns="0" rtlCol="0" anchor="t"/>
          <a:lstStyle/>
          <a:p>
            <a:pPr marL="0" indent="0" algn="l">
              <a:buNone/>
            </a:pPr>
            <a:r>
              <a:rPr lang="en-US" sz="1250" i="1" dirty="0">
                <a:solidFill>
                  <a:srgbClr val="587068"/>
                </a:solidFill>
                <a:latin typeface="Calibri" pitchFamily="34" charset="0"/>
                <a:ea typeface="Calibri" pitchFamily="34" charset="-122"/>
                <a:cs typeface="Calibri" pitchFamily="34" charset="-120"/>
              </a:rPr>
              <a:t>“I cannot start until I find developers.”</a:t>
            </a:r>
            <a:endParaRPr lang="en-US" sz="1250" dirty="0"/>
          </a:p>
        </p:txBody>
      </p:sp>
      <p:sp>
        <p:nvSpPr>
          <p:cNvPr id="10" name="Shape 7"/>
          <p:cNvSpPr/>
          <p:nvPr/>
        </p:nvSpPr>
        <p:spPr>
          <a:xfrm>
            <a:off x="4023360" y="1655064"/>
            <a:ext cx="502920" cy="0"/>
          </a:xfrm>
          <a:prstGeom prst="line">
            <a:avLst/>
          </a:prstGeom>
          <a:noFill/>
          <a:ln w="31750">
            <a:solidFill>
              <a:srgbClr val="1E9A7A"/>
            </a:solidFill>
            <a:prstDash val="solid"/>
            <a:tailEnd type="triangle"/>
          </a:ln>
        </p:spPr>
      </p:sp>
      <p:sp>
        <p:nvSpPr>
          <p:cNvPr id="11" name="Text 8"/>
          <p:cNvSpPr txBox="1"/>
          <p:nvPr/>
        </p:nvSpPr>
        <p:spPr>
          <a:xfrm>
            <a:off x="4754880" y="1371600"/>
            <a:ext cx="914400" cy="164592"/>
          </a:xfrm>
          <a:prstGeom prst="rect">
            <a:avLst/>
          </a:prstGeom>
          <a:noFill/>
          <a:ln/>
        </p:spPr>
        <p:txBody>
          <a:bodyPr wrap="square" lIns="0" tIns="0" rIns="0" bIns="0" rtlCol="0" anchor="t"/>
          <a:lstStyle/>
          <a:p>
            <a:pPr marL="0" indent="0" algn="l">
              <a:buNone/>
            </a:pPr>
            <a:r>
              <a:rPr lang="en-US" sz="850" b="1" kern="0" spc="150" dirty="0">
                <a:solidFill>
                  <a:srgbClr val="12735B"/>
                </a:solidFill>
                <a:latin typeface="Calibri" pitchFamily="34" charset="0"/>
                <a:ea typeface="Calibri" pitchFamily="34" charset="-122"/>
                <a:cs typeface="Calibri" pitchFamily="34" charset="-120"/>
              </a:rPr>
              <a:t>NEW</a:t>
            </a:r>
            <a:endParaRPr lang="en-US" sz="850" dirty="0"/>
          </a:p>
        </p:txBody>
      </p:sp>
      <p:sp>
        <p:nvSpPr>
          <p:cNvPr id="12" name="Text 9"/>
          <p:cNvSpPr txBox="1"/>
          <p:nvPr/>
        </p:nvSpPr>
        <p:spPr>
          <a:xfrm>
            <a:off x="4754880" y="1554480"/>
            <a:ext cx="374904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What can I prototype before I need developers?</a:t>
            </a:r>
            <a:endParaRPr lang="en-US" sz="1300" dirty="0"/>
          </a:p>
        </p:txBody>
      </p:sp>
      <p:sp>
        <p:nvSpPr>
          <p:cNvPr id="13" name="Shape 10"/>
          <p:cNvSpPr/>
          <p:nvPr/>
        </p:nvSpPr>
        <p:spPr>
          <a:xfrm>
            <a:off x="457200" y="2130552"/>
            <a:ext cx="8229600" cy="749808"/>
          </a:xfrm>
          <a:prstGeom prst="roundRect">
            <a:avLst>
              <a:gd name="adj" fmla="val 12195"/>
            </a:avLst>
          </a:prstGeom>
          <a:solidFill>
            <a:srgbClr val="FFFFFF"/>
          </a:solidFill>
          <a:ln/>
          <a:effectLst>
            <a:outerShdw blurRad="101600" dist="25400" dir="5400000" algn="bl" rotWithShape="0">
              <a:srgbClr val="000000">
                <a:alpha val="10000"/>
              </a:srgbClr>
            </a:outerShdw>
          </a:effectLst>
        </p:spPr>
      </p:sp>
      <p:sp>
        <p:nvSpPr>
          <p:cNvPr id="14" name="Text 11"/>
          <p:cNvSpPr txBox="1"/>
          <p:nvPr/>
        </p:nvSpPr>
        <p:spPr>
          <a:xfrm>
            <a:off x="685800" y="2221992"/>
            <a:ext cx="914400" cy="164592"/>
          </a:xfrm>
          <a:prstGeom prst="rect">
            <a:avLst/>
          </a:prstGeom>
          <a:noFill/>
          <a:ln/>
        </p:spPr>
        <p:txBody>
          <a:bodyPr wrap="square" lIns="0" tIns="0" rIns="0" bIns="0" rtlCol="0" anchor="t"/>
          <a:lstStyle/>
          <a:p>
            <a:pPr marL="0" indent="0" algn="l">
              <a:buNone/>
            </a:pPr>
            <a:r>
              <a:rPr lang="en-US" sz="850" b="1" kern="0" spc="150" dirty="0">
                <a:solidFill>
                  <a:srgbClr val="587068"/>
                </a:solidFill>
                <a:latin typeface="Calibri" pitchFamily="34" charset="0"/>
                <a:ea typeface="Calibri" pitchFamily="34" charset="-122"/>
                <a:cs typeface="Calibri" pitchFamily="34" charset="-120"/>
              </a:rPr>
              <a:t>OLD</a:t>
            </a:r>
            <a:endParaRPr lang="en-US" sz="850" dirty="0"/>
          </a:p>
        </p:txBody>
      </p:sp>
      <p:sp>
        <p:nvSpPr>
          <p:cNvPr id="15" name="Text 12"/>
          <p:cNvSpPr txBox="1"/>
          <p:nvPr/>
        </p:nvSpPr>
        <p:spPr>
          <a:xfrm>
            <a:off x="685800" y="2404872"/>
            <a:ext cx="3200400" cy="411480"/>
          </a:xfrm>
          <a:prstGeom prst="rect">
            <a:avLst/>
          </a:prstGeom>
          <a:noFill/>
          <a:ln/>
        </p:spPr>
        <p:txBody>
          <a:bodyPr wrap="square" lIns="0" tIns="0" rIns="0" bIns="0" rtlCol="0" anchor="t"/>
          <a:lstStyle/>
          <a:p>
            <a:pPr marL="0" indent="0" algn="l">
              <a:buNone/>
            </a:pPr>
            <a:r>
              <a:rPr lang="en-US" sz="1250" i="1" dirty="0">
                <a:solidFill>
                  <a:srgbClr val="587068"/>
                </a:solidFill>
                <a:latin typeface="Calibri" pitchFamily="34" charset="0"/>
                <a:ea typeface="Calibri" pitchFamily="34" charset="-122"/>
                <a:cs typeface="Calibri" pitchFamily="34" charset="-120"/>
              </a:rPr>
              <a:t>“I need an entire marketing department.”</a:t>
            </a:r>
            <a:endParaRPr lang="en-US" sz="1250" dirty="0"/>
          </a:p>
        </p:txBody>
      </p:sp>
      <p:sp>
        <p:nvSpPr>
          <p:cNvPr id="16" name="Shape 13"/>
          <p:cNvSpPr/>
          <p:nvPr/>
        </p:nvSpPr>
        <p:spPr>
          <a:xfrm>
            <a:off x="4023360" y="2505456"/>
            <a:ext cx="502920" cy="0"/>
          </a:xfrm>
          <a:prstGeom prst="line">
            <a:avLst/>
          </a:prstGeom>
          <a:noFill/>
          <a:ln w="31750">
            <a:solidFill>
              <a:srgbClr val="1E9A7A"/>
            </a:solidFill>
            <a:prstDash val="solid"/>
            <a:tailEnd type="triangle"/>
          </a:ln>
        </p:spPr>
      </p:sp>
      <p:sp>
        <p:nvSpPr>
          <p:cNvPr id="17" name="Text 14"/>
          <p:cNvSpPr txBox="1"/>
          <p:nvPr/>
        </p:nvSpPr>
        <p:spPr>
          <a:xfrm>
            <a:off x="4754880" y="2221992"/>
            <a:ext cx="914400" cy="164592"/>
          </a:xfrm>
          <a:prstGeom prst="rect">
            <a:avLst/>
          </a:prstGeom>
          <a:noFill/>
          <a:ln/>
        </p:spPr>
        <p:txBody>
          <a:bodyPr wrap="square" lIns="0" tIns="0" rIns="0" bIns="0" rtlCol="0" anchor="t"/>
          <a:lstStyle/>
          <a:p>
            <a:pPr marL="0" indent="0" algn="l">
              <a:buNone/>
            </a:pPr>
            <a:r>
              <a:rPr lang="en-US" sz="850" b="1" kern="0" spc="150" dirty="0">
                <a:solidFill>
                  <a:srgbClr val="12735B"/>
                </a:solidFill>
                <a:latin typeface="Calibri" pitchFamily="34" charset="0"/>
                <a:ea typeface="Calibri" pitchFamily="34" charset="-122"/>
                <a:cs typeface="Calibri" pitchFamily="34" charset="-120"/>
              </a:rPr>
              <a:t>NEW</a:t>
            </a:r>
            <a:endParaRPr lang="en-US" sz="850" dirty="0"/>
          </a:p>
        </p:txBody>
      </p:sp>
      <p:sp>
        <p:nvSpPr>
          <p:cNvPr id="18" name="Text 15"/>
          <p:cNvSpPr txBox="1"/>
          <p:nvPr/>
        </p:nvSpPr>
        <p:spPr>
          <a:xfrm>
            <a:off x="4754880" y="2404872"/>
            <a:ext cx="374904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Which marketing tasks can AI handle, and where do I need human creativity and judgment?</a:t>
            </a:r>
            <a:endParaRPr lang="en-US" sz="1300" dirty="0"/>
          </a:p>
        </p:txBody>
      </p:sp>
      <p:sp>
        <p:nvSpPr>
          <p:cNvPr id="19" name="Shape 16"/>
          <p:cNvSpPr/>
          <p:nvPr/>
        </p:nvSpPr>
        <p:spPr>
          <a:xfrm>
            <a:off x="457200" y="2980944"/>
            <a:ext cx="8229600" cy="749808"/>
          </a:xfrm>
          <a:prstGeom prst="roundRect">
            <a:avLst>
              <a:gd name="adj" fmla="val 12195"/>
            </a:avLst>
          </a:prstGeom>
          <a:solidFill>
            <a:srgbClr val="FFFFFF"/>
          </a:solidFill>
          <a:ln/>
          <a:effectLst>
            <a:outerShdw blurRad="101600" dist="25400" dir="5400000" algn="bl" rotWithShape="0">
              <a:srgbClr val="000000">
                <a:alpha val="10000"/>
              </a:srgbClr>
            </a:outerShdw>
          </a:effectLst>
        </p:spPr>
      </p:sp>
      <p:sp>
        <p:nvSpPr>
          <p:cNvPr id="20" name="Text 17"/>
          <p:cNvSpPr txBox="1"/>
          <p:nvPr/>
        </p:nvSpPr>
        <p:spPr>
          <a:xfrm>
            <a:off x="685800" y="3072384"/>
            <a:ext cx="914400" cy="164592"/>
          </a:xfrm>
          <a:prstGeom prst="rect">
            <a:avLst/>
          </a:prstGeom>
          <a:noFill/>
          <a:ln/>
        </p:spPr>
        <p:txBody>
          <a:bodyPr wrap="square" lIns="0" tIns="0" rIns="0" bIns="0" rtlCol="0" anchor="t"/>
          <a:lstStyle/>
          <a:p>
            <a:pPr marL="0" indent="0" algn="l">
              <a:buNone/>
            </a:pPr>
            <a:r>
              <a:rPr lang="en-US" sz="850" b="1" kern="0" spc="150" dirty="0">
                <a:solidFill>
                  <a:srgbClr val="587068"/>
                </a:solidFill>
                <a:latin typeface="Calibri" pitchFamily="34" charset="0"/>
                <a:ea typeface="Calibri" pitchFamily="34" charset="-122"/>
                <a:cs typeface="Calibri" pitchFamily="34" charset="-120"/>
              </a:rPr>
              <a:t>OLD</a:t>
            </a:r>
            <a:endParaRPr lang="en-US" sz="850" dirty="0"/>
          </a:p>
        </p:txBody>
      </p:sp>
      <p:sp>
        <p:nvSpPr>
          <p:cNvPr id="21" name="Text 18"/>
          <p:cNvSpPr txBox="1"/>
          <p:nvPr/>
        </p:nvSpPr>
        <p:spPr>
          <a:xfrm>
            <a:off x="685800" y="3255264"/>
            <a:ext cx="3200400" cy="411480"/>
          </a:xfrm>
          <a:prstGeom prst="rect">
            <a:avLst/>
          </a:prstGeom>
          <a:noFill/>
          <a:ln/>
        </p:spPr>
        <p:txBody>
          <a:bodyPr wrap="square" lIns="0" tIns="0" rIns="0" bIns="0" rtlCol="0" anchor="t"/>
          <a:lstStyle/>
          <a:p>
            <a:pPr marL="0" indent="0" algn="l">
              <a:buNone/>
            </a:pPr>
            <a:r>
              <a:rPr lang="en-US" sz="1250" i="1" dirty="0">
                <a:solidFill>
                  <a:srgbClr val="587068"/>
                </a:solidFill>
                <a:latin typeface="Calibri" pitchFamily="34" charset="0"/>
                <a:ea typeface="Calibri" pitchFamily="34" charset="-122"/>
                <a:cs typeface="Calibri" pitchFamily="34" charset="-120"/>
              </a:rPr>
              <a:t>“Build the full product first.”</a:t>
            </a:r>
            <a:endParaRPr lang="en-US" sz="1250" dirty="0"/>
          </a:p>
        </p:txBody>
      </p:sp>
      <p:sp>
        <p:nvSpPr>
          <p:cNvPr id="22" name="Shape 19"/>
          <p:cNvSpPr/>
          <p:nvPr/>
        </p:nvSpPr>
        <p:spPr>
          <a:xfrm>
            <a:off x="4023360" y="3355848"/>
            <a:ext cx="502920" cy="0"/>
          </a:xfrm>
          <a:prstGeom prst="line">
            <a:avLst/>
          </a:prstGeom>
          <a:noFill/>
          <a:ln w="31750">
            <a:solidFill>
              <a:srgbClr val="1E9A7A"/>
            </a:solidFill>
            <a:prstDash val="solid"/>
            <a:tailEnd type="triangle"/>
          </a:ln>
        </p:spPr>
      </p:sp>
      <p:sp>
        <p:nvSpPr>
          <p:cNvPr id="23" name="Text 20"/>
          <p:cNvSpPr txBox="1"/>
          <p:nvPr/>
        </p:nvSpPr>
        <p:spPr>
          <a:xfrm>
            <a:off x="4754880" y="3072384"/>
            <a:ext cx="914400" cy="164592"/>
          </a:xfrm>
          <a:prstGeom prst="rect">
            <a:avLst/>
          </a:prstGeom>
          <a:noFill/>
          <a:ln/>
        </p:spPr>
        <p:txBody>
          <a:bodyPr wrap="square" lIns="0" tIns="0" rIns="0" bIns="0" rtlCol="0" anchor="t"/>
          <a:lstStyle/>
          <a:p>
            <a:pPr marL="0" indent="0" algn="l">
              <a:buNone/>
            </a:pPr>
            <a:r>
              <a:rPr lang="en-US" sz="850" b="1" kern="0" spc="150" dirty="0">
                <a:solidFill>
                  <a:srgbClr val="12735B"/>
                </a:solidFill>
                <a:latin typeface="Calibri" pitchFamily="34" charset="0"/>
                <a:ea typeface="Calibri" pitchFamily="34" charset="-122"/>
                <a:cs typeface="Calibri" pitchFamily="34" charset="-120"/>
              </a:rPr>
              <a:t>NEW</a:t>
            </a:r>
            <a:endParaRPr lang="en-US" sz="850" dirty="0"/>
          </a:p>
        </p:txBody>
      </p:sp>
      <p:sp>
        <p:nvSpPr>
          <p:cNvPr id="24" name="Text 21"/>
          <p:cNvSpPr txBox="1"/>
          <p:nvPr/>
        </p:nvSpPr>
        <p:spPr>
          <a:xfrm>
            <a:off x="4754880" y="3255264"/>
            <a:ext cx="374904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Validate → prototype → test → learn → improve.</a:t>
            </a:r>
            <a:endParaRPr lang="en-US" sz="1300" dirty="0"/>
          </a:p>
        </p:txBody>
      </p:sp>
      <p:sp>
        <p:nvSpPr>
          <p:cNvPr id="25" name="Shape 22"/>
          <p:cNvSpPr/>
          <p:nvPr/>
        </p:nvSpPr>
        <p:spPr>
          <a:xfrm>
            <a:off x="457200" y="3831336"/>
            <a:ext cx="8229600" cy="749808"/>
          </a:xfrm>
          <a:prstGeom prst="roundRect">
            <a:avLst>
              <a:gd name="adj" fmla="val 12195"/>
            </a:avLst>
          </a:prstGeom>
          <a:solidFill>
            <a:srgbClr val="0C2622"/>
          </a:solidFill>
          <a:ln/>
          <a:effectLst>
            <a:outerShdw blurRad="101600" dist="25400" dir="5400000" algn="bl" rotWithShape="0">
              <a:srgbClr val="000000">
                <a:alpha val="10000"/>
              </a:srgbClr>
            </a:outerShdw>
          </a:effectLst>
        </p:spPr>
      </p:sp>
      <p:sp>
        <p:nvSpPr>
          <p:cNvPr id="26" name="Text 23"/>
          <p:cNvSpPr txBox="1"/>
          <p:nvPr/>
        </p:nvSpPr>
        <p:spPr>
          <a:xfrm>
            <a:off x="685800" y="3922776"/>
            <a:ext cx="914400" cy="164592"/>
          </a:xfrm>
          <a:prstGeom prst="rect">
            <a:avLst/>
          </a:prstGeom>
          <a:noFill/>
          <a:ln/>
        </p:spPr>
        <p:txBody>
          <a:bodyPr wrap="square" lIns="0" tIns="0" rIns="0" bIns="0" rtlCol="0" anchor="t"/>
          <a:lstStyle/>
          <a:p>
            <a:pPr marL="0" indent="0" algn="l">
              <a:buNone/>
            </a:pPr>
            <a:r>
              <a:rPr lang="en-US" sz="850" b="1" kern="0" spc="150" dirty="0">
                <a:solidFill>
                  <a:srgbClr val="7FA89E"/>
                </a:solidFill>
                <a:latin typeface="Calibri" pitchFamily="34" charset="0"/>
                <a:ea typeface="Calibri" pitchFamily="34" charset="-122"/>
                <a:cs typeface="Calibri" pitchFamily="34" charset="-120"/>
              </a:rPr>
              <a:t>OLD</a:t>
            </a:r>
            <a:endParaRPr lang="en-US" sz="850" dirty="0"/>
          </a:p>
        </p:txBody>
      </p:sp>
      <p:sp>
        <p:nvSpPr>
          <p:cNvPr id="27" name="Text 24"/>
          <p:cNvSpPr txBox="1"/>
          <p:nvPr/>
        </p:nvSpPr>
        <p:spPr>
          <a:xfrm>
            <a:off x="685800" y="4105656"/>
            <a:ext cx="3200400" cy="411480"/>
          </a:xfrm>
          <a:prstGeom prst="rect">
            <a:avLst/>
          </a:prstGeom>
          <a:noFill/>
          <a:ln/>
        </p:spPr>
        <p:txBody>
          <a:bodyPr wrap="square" lIns="0" tIns="0" rIns="0" bIns="0" rtlCol="0" anchor="t"/>
          <a:lstStyle/>
          <a:p>
            <a:pPr marL="0" indent="0" algn="l">
              <a:buNone/>
            </a:pPr>
            <a:r>
              <a:rPr lang="en-US" sz="1250" i="1" dirty="0">
                <a:solidFill>
                  <a:srgbClr val="9DBBB3"/>
                </a:solidFill>
                <a:latin typeface="Calibri" pitchFamily="34" charset="0"/>
                <a:ea typeface="Calibri" pitchFamily="34" charset="-122"/>
                <a:cs typeface="Calibri" pitchFamily="34" charset="-120"/>
              </a:rPr>
              <a:t>“AI gave me the answer.”</a:t>
            </a:r>
            <a:endParaRPr lang="en-US" sz="1250" dirty="0"/>
          </a:p>
        </p:txBody>
      </p:sp>
      <p:sp>
        <p:nvSpPr>
          <p:cNvPr id="28" name="Shape 25"/>
          <p:cNvSpPr/>
          <p:nvPr/>
        </p:nvSpPr>
        <p:spPr>
          <a:xfrm>
            <a:off x="4023360" y="4206240"/>
            <a:ext cx="502920" cy="0"/>
          </a:xfrm>
          <a:prstGeom prst="line">
            <a:avLst/>
          </a:prstGeom>
          <a:noFill/>
          <a:ln w="31750">
            <a:solidFill>
              <a:srgbClr val="F4A52A"/>
            </a:solidFill>
            <a:prstDash val="solid"/>
            <a:tailEnd type="triangle"/>
          </a:ln>
        </p:spPr>
      </p:sp>
      <p:sp>
        <p:nvSpPr>
          <p:cNvPr id="29" name="Text 26"/>
          <p:cNvSpPr txBox="1"/>
          <p:nvPr/>
        </p:nvSpPr>
        <p:spPr>
          <a:xfrm>
            <a:off x="4754880" y="3922776"/>
            <a:ext cx="914400" cy="164592"/>
          </a:xfrm>
          <a:prstGeom prst="rect">
            <a:avLst/>
          </a:prstGeom>
          <a:noFill/>
          <a:ln/>
        </p:spPr>
        <p:txBody>
          <a:bodyPr wrap="square" lIns="0" tIns="0" rIns="0" bIns="0" rtlCol="0" anchor="t"/>
          <a:lstStyle/>
          <a:p>
            <a:pPr marL="0" indent="0" algn="l">
              <a:buNone/>
            </a:pPr>
            <a:r>
              <a:rPr lang="en-US" sz="850" b="1" kern="0" spc="150" dirty="0">
                <a:solidFill>
                  <a:srgbClr val="F4A52A"/>
                </a:solidFill>
                <a:latin typeface="Calibri" pitchFamily="34" charset="0"/>
                <a:ea typeface="Calibri" pitchFamily="34" charset="-122"/>
                <a:cs typeface="Calibri" pitchFamily="34" charset="-120"/>
              </a:rPr>
              <a:t>NEW</a:t>
            </a:r>
            <a:endParaRPr lang="en-US" sz="850" dirty="0"/>
          </a:p>
        </p:txBody>
      </p:sp>
      <p:sp>
        <p:nvSpPr>
          <p:cNvPr id="30" name="Text 27"/>
          <p:cNvSpPr txBox="1"/>
          <p:nvPr/>
        </p:nvSpPr>
        <p:spPr>
          <a:xfrm>
            <a:off x="4754880" y="4105656"/>
            <a:ext cx="3749040" cy="457200"/>
          </a:xfrm>
          <a:prstGeom prst="rect">
            <a:avLst/>
          </a:prstGeom>
          <a:noFill/>
          <a:ln/>
        </p:spPr>
        <p:txBody>
          <a:bodyPr wrap="square" lIns="0" tIns="0" rIns="0" bIns="0" rtlCol="0" anchor="t"/>
          <a:lstStyle/>
          <a:p>
            <a:pPr marL="0" indent="0" algn="l">
              <a:buNone/>
            </a:pPr>
            <a:r>
              <a:rPr lang="en-US" sz="1300" b="1" dirty="0">
                <a:solidFill>
                  <a:srgbClr val="FFFFFF"/>
                </a:solidFill>
                <a:latin typeface="Calibri" pitchFamily="34" charset="0"/>
                <a:ea typeface="Calibri" pitchFamily="34" charset="-122"/>
                <a:cs typeface="Calibri" pitchFamily="34" charset="-120"/>
              </a:rPr>
              <a:t>AI generated a hypothesis. Now I need evidence.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1 · MINDSET &amp; OPPORTUNITY</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Real-world examples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Revenue figures are founder-reported or company-reported and not independently audited.</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457200" y="128016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8" name="Text 5"/>
          <p:cNvSpPr txBox="1"/>
          <p:nvPr/>
        </p:nvSpPr>
        <p:spPr>
          <a:xfrm>
            <a:off x="640080" y="1399032"/>
            <a:ext cx="3657600" cy="274320"/>
          </a:xfrm>
          <a:prstGeom prst="rect">
            <a:avLst/>
          </a:prstGeom>
          <a:noFill/>
          <a:ln/>
        </p:spPr>
        <p:txBody>
          <a:bodyPr wrap="square" lIns="0" tIns="0" rIns="0" bIns="0" rtlCol="0" anchor="t"/>
          <a:lstStyle/>
          <a:p>
            <a:pPr marL="0" indent="0" algn="l">
              <a:buNone/>
            </a:pPr>
            <a:r>
              <a:rPr lang="en-US" sz="1500" b="1" dirty="0">
                <a:solidFill>
                  <a:srgbClr val="0C2622"/>
                </a:solidFill>
                <a:latin typeface="Cambria" pitchFamily="34" charset="0"/>
                <a:ea typeface="Cambria" pitchFamily="34" charset="-122"/>
                <a:cs typeface="Cambria" pitchFamily="34" charset="-120"/>
              </a:rPr>
              <a:t>TypingMind</a:t>
            </a:r>
            <a:endParaRPr lang="en-US" sz="1500" dirty="0"/>
          </a:p>
        </p:txBody>
      </p:sp>
      <p:sp>
        <p:nvSpPr>
          <p:cNvPr id="9" name="Text 6"/>
          <p:cNvSpPr txBox="1"/>
          <p:nvPr/>
        </p:nvSpPr>
        <p:spPr>
          <a:xfrm>
            <a:off x="640080" y="1755648"/>
            <a:ext cx="1463040" cy="457200"/>
          </a:xfrm>
          <a:prstGeom prst="rect">
            <a:avLst/>
          </a:prstGeom>
          <a:noFill/>
          <a:ln/>
        </p:spPr>
        <p:txBody>
          <a:bodyPr wrap="square" lIns="0" tIns="0" rIns="0" bIns="0" rtlCol="0" anchor="t"/>
          <a:lstStyle/>
          <a:p>
            <a:pPr marL="0" indent="0" algn="l">
              <a:buNone/>
            </a:pPr>
            <a:r>
              <a:rPr lang="en-US" sz="2600" b="1" dirty="0">
                <a:solidFill>
                  <a:srgbClr val="12735B"/>
                </a:solidFill>
                <a:latin typeface="Cambria" pitchFamily="34" charset="0"/>
                <a:ea typeface="Cambria" pitchFamily="34" charset="-122"/>
                <a:cs typeface="Cambria" pitchFamily="34" charset="-120"/>
              </a:rPr>
              <a:t>$1M</a:t>
            </a:r>
            <a:endParaRPr lang="en-US" sz="2600" dirty="0"/>
          </a:p>
        </p:txBody>
      </p:sp>
      <p:sp>
        <p:nvSpPr>
          <p:cNvPr id="10" name="Text 7"/>
          <p:cNvSpPr txBox="1"/>
          <p:nvPr/>
        </p:nvSpPr>
        <p:spPr>
          <a:xfrm>
            <a:off x="640080" y="2240280"/>
            <a:ext cx="1417320" cy="640080"/>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reported over 12 months (to Nov 2024); ~$22K in week one</a:t>
            </a:r>
            <a:endParaRPr lang="en-US" sz="950" dirty="0"/>
          </a:p>
        </p:txBody>
      </p:sp>
      <p:sp>
        <p:nvSpPr>
          <p:cNvPr id="11" name="Text 8"/>
          <p:cNvSpPr txBox="1"/>
          <p:nvPr/>
        </p:nvSpPr>
        <p:spPr>
          <a:xfrm>
            <a:off x="2286000" y="1810512"/>
            <a:ext cx="18288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LESSON</a:t>
            </a:r>
            <a:endParaRPr lang="en-US" sz="950" dirty="0"/>
          </a:p>
        </p:txBody>
      </p:sp>
      <p:sp>
        <p:nvSpPr>
          <p:cNvPr id="12" name="Text 9"/>
          <p:cNvSpPr txBox="1"/>
          <p:nvPr/>
        </p:nvSpPr>
        <p:spPr>
          <a:xfrm>
            <a:off x="2286000" y="2029968"/>
            <a:ext cx="2057400" cy="82296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Start with a specific frustration rather than “the next big AI company.”</a:t>
            </a:r>
            <a:endParaRPr lang="en-US" sz="1100" dirty="0"/>
          </a:p>
        </p:txBody>
      </p:sp>
      <p:sp>
        <p:nvSpPr>
          <p:cNvPr id="13" name="Shape 10"/>
          <p:cNvSpPr/>
          <p:nvPr/>
        </p:nvSpPr>
        <p:spPr>
          <a:xfrm>
            <a:off x="4663440" y="128016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4" name="Text 11"/>
          <p:cNvSpPr txBox="1"/>
          <p:nvPr/>
        </p:nvSpPr>
        <p:spPr>
          <a:xfrm>
            <a:off x="4846320" y="1399032"/>
            <a:ext cx="3657600" cy="274320"/>
          </a:xfrm>
          <a:prstGeom prst="rect">
            <a:avLst/>
          </a:prstGeom>
          <a:noFill/>
          <a:ln/>
        </p:spPr>
        <p:txBody>
          <a:bodyPr wrap="square" lIns="0" tIns="0" rIns="0" bIns="0" rtlCol="0" anchor="t"/>
          <a:lstStyle/>
          <a:p>
            <a:pPr marL="0" indent="0" algn="l">
              <a:buNone/>
            </a:pPr>
            <a:r>
              <a:rPr lang="en-US" sz="1500" b="1" dirty="0">
                <a:solidFill>
                  <a:srgbClr val="0C2622"/>
                </a:solidFill>
                <a:latin typeface="Cambria" pitchFamily="34" charset="0"/>
                <a:ea typeface="Cambria" pitchFamily="34" charset="-122"/>
                <a:cs typeface="Cambria" pitchFamily="34" charset="-120"/>
              </a:rPr>
              <a:t>Photo AI</a:t>
            </a:r>
            <a:endParaRPr lang="en-US" sz="1500" dirty="0"/>
          </a:p>
        </p:txBody>
      </p:sp>
      <p:sp>
        <p:nvSpPr>
          <p:cNvPr id="15" name="Text 12"/>
          <p:cNvSpPr txBox="1"/>
          <p:nvPr/>
        </p:nvSpPr>
        <p:spPr>
          <a:xfrm>
            <a:off x="4846320" y="1755648"/>
            <a:ext cx="1463040" cy="457200"/>
          </a:xfrm>
          <a:prstGeom prst="rect">
            <a:avLst/>
          </a:prstGeom>
          <a:noFill/>
          <a:ln/>
        </p:spPr>
        <p:txBody>
          <a:bodyPr wrap="square" lIns="0" tIns="0" rIns="0" bIns="0" rtlCol="0" anchor="t"/>
          <a:lstStyle/>
          <a:p>
            <a:pPr marL="0" indent="0" algn="l">
              <a:buNone/>
            </a:pPr>
            <a:r>
              <a:rPr lang="en-US" sz="2600" b="1" dirty="0">
                <a:solidFill>
                  <a:srgbClr val="12735B"/>
                </a:solidFill>
                <a:latin typeface="Cambria" pitchFamily="34" charset="0"/>
                <a:ea typeface="Cambria" pitchFamily="34" charset="-122"/>
                <a:cs typeface="Cambria" pitchFamily="34" charset="-120"/>
              </a:rPr>
              <a:t>$105K</a:t>
            </a:r>
            <a:endParaRPr lang="en-US" sz="2600" dirty="0"/>
          </a:p>
        </p:txBody>
      </p:sp>
      <p:sp>
        <p:nvSpPr>
          <p:cNvPr id="16" name="Text 13"/>
          <p:cNvSpPr txBox="1"/>
          <p:nvPr/>
        </p:nvSpPr>
        <p:spPr>
          <a:xfrm>
            <a:off x="4846320" y="2240280"/>
            <a:ext cx="1417320" cy="640080"/>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per month, Mar 2026 · ~$80K profit (founder-reported)</a:t>
            </a:r>
            <a:endParaRPr lang="en-US" sz="950" dirty="0"/>
          </a:p>
        </p:txBody>
      </p:sp>
      <p:sp>
        <p:nvSpPr>
          <p:cNvPr id="17" name="Text 14"/>
          <p:cNvSpPr txBox="1"/>
          <p:nvPr/>
        </p:nvSpPr>
        <p:spPr>
          <a:xfrm>
            <a:off x="6492240" y="1810512"/>
            <a:ext cx="18288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LESSON</a:t>
            </a:r>
            <a:endParaRPr lang="en-US" sz="950" dirty="0"/>
          </a:p>
        </p:txBody>
      </p:sp>
      <p:sp>
        <p:nvSpPr>
          <p:cNvPr id="18" name="Text 15"/>
          <p:cNvSpPr txBox="1"/>
          <p:nvPr/>
        </p:nvSpPr>
        <p:spPr>
          <a:xfrm>
            <a:off x="6492240" y="2029968"/>
            <a:ext cx="2057400" cy="82296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A narrow AI use case can be a business when it solves a clear consumer problem.</a:t>
            </a:r>
            <a:endParaRPr lang="en-US" sz="1100" dirty="0"/>
          </a:p>
        </p:txBody>
      </p:sp>
      <p:sp>
        <p:nvSpPr>
          <p:cNvPr id="19" name="Shape 16"/>
          <p:cNvSpPr/>
          <p:nvPr/>
        </p:nvSpPr>
        <p:spPr>
          <a:xfrm>
            <a:off x="457200" y="301752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0" name="Text 17"/>
          <p:cNvSpPr txBox="1"/>
          <p:nvPr/>
        </p:nvSpPr>
        <p:spPr>
          <a:xfrm>
            <a:off x="640080" y="3136392"/>
            <a:ext cx="3657600" cy="274320"/>
          </a:xfrm>
          <a:prstGeom prst="rect">
            <a:avLst/>
          </a:prstGeom>
          <a:noFill/>
          <a:ln/>
        </p:spPr>
        <p:txBody>
          <a:bodyPr wrap="square" lIns="0" tIns="0" rIns="0" bIns="0" rtlCol="0" anchor="t"/>
          <a:lstStyle/>
          <a:p>
            <a:pPr marL="0" indent="0" algn="l">
              <a:buNone/>
            </a:pPr>
            <a:r>
              <a:rPr lang="en-US" sz="1500" b="1" dirty="0">
                <a:solidFill>
                  <a:srgbClr val="0C2622"/>
                </a:solidFill>
                <a:latin typeface="Cambria" pitchFamily="34" charset="0"/>
                <a:ea typeface="Cambria" pitchFamily="34" charset="-122"/>
                <a:cs typeface="Cambria" pitchFamily="34" charset="-120"/>
              </a:rPr>
              <a:t>Base44</a:t>
            </a:r>
            <a:endParaRPr lang="en-US" sz="1500" dirty="0"/>
          </a:p>
        </p:txBody>
      </p:sp>
      <p:sp>
        <p:nvSpPr>
          <p:cNvPr id="21" name="Text 18"/>
          <p:cNvSpPr txBox="1"/>
          <p:nvPr/>
        </p:nvSpPr>
        <p:spPr>
          <a:xfrm>
            <a:off x="640080" y="3493008"/>
            <a:ext cx="1463040" cy="457200"/>
          </a:xfrm>
          <a:prstGeom prst="rect">
            <a:avLst/>
          </a:prstGeom>
          <a:noFill/>
          <a:ln/>
        </p:spPr>
        <p:txBody>
          <a:bodyPr wrap="square" lIns="0" tIns="0" rIns="0" bIns="0" rtlCol="0" anchor="t"/>
          <a:lstStyle/>
          <a:p>
            <a:pPr marL="0" indent="0" algn="l">
              <a:buNone/>
            </a:pPr>
            <a:r>
              <a:rPr lang="en-US" sz="2600" b="1" dirty="0">
                <a:solidFill>
                  <a:srgbClr val="12735B"/>
                </a:solidFill>
                <a:latin typeface="Cambria" pitchFamily="34" charset="0"/>
                <a:ea typeface="Cambria" pitchFamily="34" charset="-122"/>
                <a:cs typeface="Cambria" pitchFamily="34" charset="-120"/>
              </a:rPr>
              <a:t>~$80M</a:t>
            </a:r>
            <a:endParaRPr lang="en-US" sz="2600" dirty="0"/>
          </a:p>
        </p:txBody>
      </p:sp>
      <p:sp>
        <p:nvSpPr>
          <p:cNvPr id="22" name="Text 19"/>
          <p:cNvSpPr txBox="1"/>
          <p:nvPr/>
        </p:nvSpPr>
        <p:spPr>
          <a:xfrm>
            <a:off x="640080" y="3977640"/>
            <a:ext cx="1417320" cy="640080"/>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Wix acquisition, June 2025 (initial consideration)</a:t>
            </a:r>
            <a:endParaRPr lang="en-US" sz="950" dirty="0"/>
          </a:p>
        </p:txBody>
      </p:sp>
      <p:sp>
        <p:nvSpPr>
          <p:cNvPr id="23" name="Text 20"/>
          <p:cNvSpPr txBox="1"/>
          <p:nvPr/>
        </p:nvSpPr>
        <p:spPr>
          <a:xfrm>
            <a:off x="2286000" y="3547872"/>
            <a:ext cx="18288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LESSON</a:t>
            </a:r>
            <a:endParaRPr lang="en-US" sz="950" dirty="0"/>
          </a:p>
        </p:txBody>
      </p:sp>
      <p:sp>
        <p:nvSpPr>
          <p:cNvPr id="24" name="Text 21"/>
          <p:cNvSpPr txBox="1"/>
          <p:nvPr/>
        </p:nvSpPr>
        <p:spPr>
          <a:xfrm>
            <a:off x="2286000" y="3767328"/>
            <a:ext cx="2057400" cy="82296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AI changes not only how products work, but who is able to build them.</a:t>
            </a:r>
            <a:endParaRPr lang="en-US" sz="1100" dirty="0"/>
          </a:p>
        </p:txBody>
      </p:sp>
      <p:sp>
        <p:nvSpPr>
          <p:cNvPr id="25" name="Shape 22"/>
          <p:cNvSpPr/>
          <p:nvPr/>
        </p:nvSpPr>
        <p:spPr>
          <a:xfrm>
            <a:off x="4663440" y="301752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6" name="Text 23"/>
          <p:cNvSpPr txBox="1"/>
          <p:nvPr/>
        </p:nvSpPr>
        <p:spPr>
          <a:xfrm>
            <a:off x="4846320" y="3136392"/>
            <a:ext cx="3657600" cy="274320"/>
          </a:xfrm>
          <a:prstGeom prst="rect">
            <a:avLst/>
          </a:prstGeom>
          <a:noFill/>
          <a:ln/>
        </p:spPr>
        <p:txBody>
          <a:bodyPr wrap="square" lIns="0" tIns="0" rIns="0" bIns="0" rtlCol="0" anchor="t"/>
          <a:lstStyle/>
          <a:p>
            <a:pPr marL="0" indent="0" algn="l">
              <a:buNone/>
            </a:pPr>
            <a:r>
              <a:rPr lang="en-US" sz="1500" b="1" dirty="0">
                <a:solidFill>
                  <a:srgbClr val="0C2622"/>
                </a:solidFill>
                <a:latin typeface="Cambria" pitchFamily="34" charset="0"/>
                <a:ea typeface="Cambria" pitchFamily="34" charset="-122"/>
                <a:cs typeface="Cambria" pitchFamily="34" charset="-120"/>
              </a:rPr>
              <a:t>Designjoy</a:t>
            </a:r>
            <a:endParaRPr lang="en-US" sz="1500" dirty="0"/>
          </a:p>
        </p:txBody>
      </p:sp>
      <p:sp>
        <p:nvSpPr>
          <p:cNvPr id="27" name="Text 24"/>
          <p:cNvSpPr txBox="1"/>
          <p:nvPr/>
        </p:nvSpPr>
        <p:spPr>
          <a:xfrm>
            <a:off x="4846320" y="3493008"/>
            <a:ext cx="1463040" cy="457200"/>
          </a:xfrm>
          <a:prstGeom prst="rect">
            <a:avLst/>
          </a:prstGeom>
          <a:noFill/>
          <a:ln/>
        </p:spPr>
        <p:txBody>
          <a:bodyPr wrap="square" lIns="0" tIns="0" rIns="0" bIns="0" rtlCol="0" anchor="t"/>
          <a:lstStyle/>
          <a:p>
            <a:pPr marL="0" indent="0" algn="l">
              <a:buNone/>
            </a:pPr>
            <a:r>
              <a:rPr lang="en-US" sz="2600" b="1" dirty="0">
                <a:solidFill>
                  <a:srgbClr val="12735B"/>
                </a:solidFill>
                <a:latin typeface="Cambria" pitchFamily="34" charset="0"/>
                <a:ea typeface="Cambria" pitchFamily="34" charset="-122"/>
                <a:cs typeface="Cambria" pitchFamily="34" charset="-120"/>
              </a:rPr>
              <a:t>$1M+</a:t>
            </a:r>
            <a:endParaRPr lang="en-US" sz="2600" dirty="0"/>
          </a:p>
        </p:txBody>
      </p:sp>
      <p:sp>
        <p:nvSpPr>
          <p:cNvPr id="28" name="Text 25"/>
          <p:cNvSpPr txBox="1"/>
          <p:nvPr/>
        </p:nvSpPr>
        <p:spPr>
          <a:xfrm>
            <a:off x="4846320" y="3977640"/>
            <a:ext cx="1417320" cy="640080"/>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annual revenue in 2022, run as a one-person agency</a:t>
            </a:r>
            <a:endParaRPr lang="en-US" sz="950" dirty="0"/>
          </a:p>
        </p:txBody>
      </p:sp>
      <p:sp>
        <p:nvSpPr>
          <p:cNvPr id="29" name="Text 26"/>
          <p:cNvSpPr txBox="1"/>
          <p:nvPr/>
        </p:nvSpPr>
        <p:spPr>
          <a:xfrm>
            <a:off x="6492240" y="3547872"/>
            <a:ext cx="18288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LESSON</a:t>
            </a:r>
            <a:endParaRPr lang="en-US" sz="950" dirty="0"/>
          </a:p>
        </p:txBody>
      </p:sp>
      <p:sp>
        <p:nvSpPr>
          <p:cNvPr id="30" name="Text 27"/>
          <p:cNvSpPr txBox="1"/>
          <p:nvPr/>
        </p:nvSpPr>
        <p:spPr>
          <a:xfrm>
            <a:off x="6492240" y="3767328"/>
            <a:ext cx="2057400" cy="822960"/>
          </a:xfrm>
          <a:prstGeom prst="rect">
            <a:avLst/>
          </a:prstGeom>
          <a:noFill/>
          <a:ln/>
        </p:spPr>
        <p:txBody>
          <a:bodyPr wrap="square" lIns="0" tIns="0" rIns="0" bIns="0" rtlCol="0" anchor="t"/>
          <a:lstStyle/>
          <a:p>
            <a:pPr marL="0" indent="0" algn="l">
              <a:buNone/>
            </a:pPr>
            <a:r>
              <a:rPr lang="en-US" sz="1100" dirty="0">
                <a:solidFill>
                  <a:srgbClr val="15302B"/>
                </a:solidFill>
                <a:latin typeface="Calibri" pitchFamily="34" charset="0"/>
                <a:ea typeface="Calibri" pitchFamily="34" charset="-122"/>
                <a:cs typeface="Calibri" pitchFamily="34" charset="-120"/>
              </a:rPr>
              <a:t>Sometimes the innovation is the business model and workflow, not the technology.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1 · CLASS EXERCISE</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Your reachable world</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57200" y="1280160"/>
            <a:ext cx="3931920" cy="1417320"/>
          </a:xfrm>
          <a:prstGeom prst="roundRect">
            <a:avLst>
              <a:gd name="adj" fmla="val 6452"/>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685800" y="1280160"/>
            <a:ext cx="3520440" cy="1417320"/>
          </a:xfrm>
          <a:prstGeom prst="rect">
            <a:avLst/>
          </a:prstGeom>
          <a:noFill/>
          <a:ln/>
        </p:spPr>
        <p:txBody>
          <a:bodyPr wrap="square" lIns="0" tIns="0" rIns="0" bIns="0" rtlCol="0" anchor="ctr"/>
          <a:lstStyle/>
          <a:p>
            <a:pPr marL="0" indent="0" algn="l">
              <a:buNone/>
            </a:pPr>
            <a:r>
              <a:rPr lang="en-US" sz="1800" i="1" dirty="0">
                <a:solidFill>
                  <a:srgbClr val="FFFFFF"/>
                </a:solidFill>
                <a:latin typeface="Cambria" pitchFamily="34" charset="0"/>
                <a:ea typeface="Cambria" pitchFamily="34" charset="-122"/>
                <a:cs typeface="Cambria" pitchFamily="34" charset="-120"/>
              </a:rPr>
              <a:t>Who are the people you already understand or can talk to this week?</a:t>
            </a:r>
            <a:endParaRPr lang="en-US" sz="1800" dirty="0"/>
          </a:p>
        </p:txBody>
      </p:sp>
      <p:sp>
        <p:nvSpPr>
          <p:cNvPr id="9" name="Text 6"/>
          <p:cNvSpPr txBox="1"/>
          <p:nvPr/>
        </p:nvSpPr>
        <p:spPr>
          <a:xfrm>
            <a:off x="457200" y="2852928"/>
            <a:ext cx="2743200" cy="182880"/>
          </a:xfrm>
          <a:prstGeom prst="rect">
            <a:avLst/>
          </a:prstGeom>
          <a:noFill/>
          <a:ln/>
        </p:spPr>
        <p:txBody>
          <a:bodyPr wrap="square" lIns="0" tIns="0" rIns="0" bIns="0" rtlCol="0" anchor="t"/>
          <a:lstStyle/>
          <a:p>
            <a:pPr marL="0" indent="0" algn="l">
              <a:buNone/>
            </a:pPr>
            <a:r>
              <a:rPr lang="en-US" sz="950" b="1" kern="0" spc="150" dirty="0">
                <a:solidFill>
                  <a:srgbClr val="587068"/>
                </a:solidFill>
                <a:latin typeface="Calibri" pitchFamily="34" charset="0"/>
                <a:ea typeface="Calibri" pitchFamily="34" charset="-122"/>
                <a:cs typeface="Calibri" pitchFamily="34" charset="-120"/>
              </a:rPr>
              <a:t>EXAMPLES</a:t>
            </a:r>
            <a:endParaRPr lang="en-US" sz="950" dirty="0"/>
          </a:p>
        </p:txBody>
      </p:sp>
      <p:sp>
        <p:nvSpPr>
          <p:cNvPr id="10" name="Shape 7"/>
          <p:cNvSpPr/>
          <p:nvPr/>
        </p:nvSpPr>
        <p:spPr>
          <a:xfrm>
            <a:off x="457200" y="3108960"/>
            <a:ext cx="1561795" cy="274320"/>
          </a:xfrm>
          <a:prstGeom prst="roundRect">
            <a:avLst>
              <a:gd name="adj" fmla="val 50000"/>
            </a:avLst>
          </a:prstGeom>
          <a:solidFill>
            <a:srgbClr val="DFF1EA"/>
          </a:solidFill>
          <a:ln/>
        </p:spPr>
      </p:sp>
      <p:sp>
        <p:nvSpPr>
          <p:cNvPr id="11" name="Text 8"/>
          <p:cNvSpPr txBox="1"/>
          <p:nvPr/>
        </p:nvSpPr>
        <p:spPr>
          <a:xfrm>
            <a:off x="457200" y="3108960"/>
            <a:ext cx="1561795"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University students</a:t>
            </a:r>
            <a:endParaRPr lang="en-US" sz="1000" dirty="0"/>
          </a:p>
        </p:txBody>
      </p:sp>
      <p:sp>
        <p:nvSpPr>
          <p:cNvPr id="12" name="Shape 9"/>
          <p:cNvSpPr/>
          <p:nvPr/>
        </p:nvSpPr>
        <p:spPr>
          <a:xfrm>
            <a:off x="2083003" y="3108960"/>
            <a:ext cx="837590" cy="274320"/>
          </a:xfrm>
          <a:prstGeom prst="roundRect">
            <a:avLst>
              <a:gd name="adj" fmla="val 50000"/>
            </a:avLst>
          </a:prstGeom>
          <a:solidFill>
            <a:srgbClr val="DFF1EA"/>
          </a:solidFill>
          <a:ln/>
        </p:spPr>
      </p:sp>
      <p:sp>
        <p:nvSpPr>
          <p:cNvPr id="13" name="Text 10"/>
          <p:cNvSpPr txBox="1"/>
          <p:nvPr/>
        </p:nvSpPr>
        <p:spPr>
          <a:xfrm>
            <a:off x="2083003" y="3108960"/>
            <a:ext cx="837590"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Teachers</a:t>
            </a:r>
            <a:endParaRPr lang="en-US" sz="1000" dirty="0"/>
          </a:p>
        </p:txBody>
      </p:sp>
      <p:sp>
        <p:nvSpPr>
          <p:cNvPr id="14" name="Shape 11"/>
          <p:cNvSpPr/>
          <p:nvPr/>
        </p:nvSpPr>
        <p:spPr>
          <a:xfrm>
            <a:off x="2984602" y="3108960"/>
            <a:ext cx="1035101" cy="274320"/>
          </a:xfrm>
          <a:prstGeom prst="roundRect">
            <a:avLst>
              <a:gd name="adj" fmla="val 50000"/>
            </a:avLst>
          </a:prstGeom>
          <a:solidFill>
            <a:srgbClr val="DFF1EA"/>
          </a:solidFill>
          <a:ln/>
        </p:spPr>
      </p:sp>
      <p:sp>
        <p:nvSpPr>
          <p:cNvPr id="15" name="Text 12"/>
          <p:cNvSpPr txBox="1"/>
          <p:nvPr/>
        </p:nvSpPr>
        <p:spPr>
          <a:xfrm>
            <a:off x="2984602" y="3108960"/>
            <a:ext cx="1035101"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Freelancers</a:t>
            </a:r>
            <a:endParaRPr lang="en-US" sz="1000" dirty="0"/>
          </a:p>
        </p:txBody>
      </p:sp>
      <p:sp>
        <p:nvSpPr>
          <p:cNvPr id="16" name="Shape 13"/>
          <p:cNvSpPr/>
          <p:nvPr/>
        </p:nvSpPr>
        <p:spPr>
          <a:xfrm>
            <a:off x="457200" y="3447288"/>
            <a:ext cx="1035101" cy="274320"/>
          </a:xfrm>
          <a:prstGeom prst="roundRect">
            <a:avLst>
              <a:gd name="adj" fmla="val 50000"/>
            </a:avLst>
          </a:prstGeom>
          <a:solidFill>
            <a:srgbClr val="DFF1EA"/>
          </a:solidFill>
          <a:ln/>
        </p:spPr>
      </p:sp>
      <p:sp>
        <p:nvSpPr>
          <p:cNvPr id="17" name="Text 14"/>
          <p:cNvSpPr txBox="1"/>
          <p:nvPr/>
        </p:nvSpPr>
        <p:spPr>
          <a:xfrm>
            <a:off x="457200" y="3447288"/>
            <a:ext cx="1035101"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Restaurants</a:t>
            </a:r>
            <a:endParaRPr lang="en-US" sz="1000" dirty="0"/>
          </a:p>
        </p:txBody>
      </p:sp>
      <p:sp>
        <p:nvSpPr>
          <p:cNvPr id="18" name="Shape 15"/>
          <p:cNvSpPr/>
          <p:nvPr/>
        </p:nvSpPr>
        <p:spPr>
          <a:xfrm>
            <a:off x="1556309" y="3447288"/>
            <a:ext cx="1298448" cy="274320"/>
          </a:xfrm>
          <a:prstGeom prst="roundRect">
            <a:avLst>
              <a:gd name="adj" fmla="val 50000"/>
            </a:avLst>
          </a:prstGeom>
          <a:solidFill>
            <a:srgbClr val="DFF1EA"/>
          </a:solidFill>
          <a:ln/>
        </p:spPr>
      </p:sp>
      <p:sp>
        <p:nvSpPr>
          <p:cNvPr id="19" name="Text 16"/>
          <p:cNvSpPr txBox="1"/>
          <p:nvPr/>
        </p:nvSpPr>
        <p:spPr>
          <a:xfrm>
            <a:off x="1556309" y="3447288"/>
            <a:ext cx="1298448"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Small retailers</a:t>
            </a:r>
            <a:endParaRPr lang="en-US" sz="1000" dirty="0"/>
          </a:p>
        </p:txBody>
      </p:sp>
      <p:sp>
        <p:nvSpPr>
          <p:cNvPr id="20" name="Shape 17"/>
          <p:cNvSpPr/>
          <p:nvPr/>
        </p:nvSpPr>
        <p:spPr>
          <a:xfrm>
            <a:off x="2918765" y="3447288"/>
            <a:ext cx="771754" cy="274320"/>
          </a:xfrm>
          <a:prstGeom prst="roundRect">
            <a:avLst>
              <a:gd name="adj" fmla="val 50000"/>
            </a:avLst>
          </a:prstGeom>
          <a:solidFill>
            <a:srgbClr val="DFF1EA"/>
          </a:solidFill>
          <a:ln/>
        </p:spPr>
      </p:sp>
      <p:sp>
        <p:nvSpPr>
          <p:cNvPr id="21" name="Text 18"/>
          <p:cNvSpPr txBox="1"/>
          <p:nvPr/>
        </p:nvSpPr>
        <p:spPr>
          <a:xfrm>
            <a:off x="2918765" y="3447288"/>
            <a:ext cx="771754"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Doctors</a:t>
            </a:r>
            <a:endParaRPr lang="en-US" sz="1000" dirty="0"/>
          </a:p>
        </p:txBody>
      </p:sp>
      <p:sp>
        <p:nvSpPr>
          <p:cNvPr id="22" name="Shape 19"/>
          <p:cNvSpPr/>
          <p:nvPr/>
        </p:nvSpPr>
        <p:spPr>
          <a:xfrm>
            <a:off x="457200" y="3785616"/>
            <a:ext cx="771754" cy="274320"/>
          </a:xfrm>
          <a:prstGeom prst="roundRect">
            <a:avLst>
              <a:gd name="adj" fmla="val 50000"/>
            </a:avLst>
          </a:prstGeom>
          <a:solidFill>
            <a:srgbClr val="DFF1EA"/>
          </a:solidFill>
          <a:ln/>
        </p:spPr>
      </p:sp>
      <p:sp>
        <p:nvSpPr>
          <p:cNvPr id="23" name="Text 20"/>
          <p:cNvSpPr txBox="1"/>
          <p:nvPr/>
        </p:nvSpPr>
        <p:spPr>
          <a:xfrm>
            <a:off x="457200" y="3785616"/>
            <a:ext cx="771754"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Clinics</a:t>
            </a:r>
            <a:endParaRPr lang="en-US" sz="1000" dirty="0"/>
          </a:p>
        </p:txBody>
      </p:sp>
      <p:sp>
        <p:nvSpPr>
          <p:cNvPr id="24" name="Shape 21"/>
          <p:cNvSpPr/>
          <p:nvPr/>
        </p:nvSpPr>
        <p:spPr>
          <a:xfrm>
            <a:off x="1292962" y="3785616"/>
            <a:ext cx="903427" cy="274320"/>
          </a:xfrm>
          <a:prstGeom prst="roundRect">
            <a:avLst>
              <a:gd name="adj" fmla="val 50000"/>
            </a:avLst>
          </a:prstGeom>
          <a:solidFill>
            <a:srgbClr val="DFF1EA"/>
          </a:solidFill>
          <a:ln/>
        </p:spPr>
      </p:sp>
      <p:sp>
        <p:nvSpPr>
          <p:cNvPr id="25" name="Text 22"/>
          <p:cNvSpPr txBox="1"/>
          <p:nvPr/>
        </p:nvSpPr>
        <p:spPr>
          <a:xfrm>
            <a:off x="1292962" y="3785616"/>
            <a:ext cx="903427"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Designers</a:t>
            </a:r>
            <a:endParaRPr lang="en-US" sz="1000" dirty="0"/>
          </a:p>
        </p:txBody>
      </p:sp>
      <p:sp>
        <p:nvSpPr>
          <p:cNvPr id="26" name="Shape 23"/>
          <p:cNvSpPr/>
          <p:nvPr/>
        </p:nvSpPr>
        <p:spPr>
          <a:xfrm>
            <a:off x="2260397" y="3785616"/>
            <a:ext cx="771754" cy="274320"/>
          </a:xfrm>
          <a:prstGeom prst="roundRect">
            <a:avLst>
              <a:gd name="adj" fmla="val 50000"/>
            </a:avLst>
          </a:prstGeom>
          <a:solidFill>
            <a:srgbClr val="DFF1EA"/>
          </a:solidFill>
          <a:ln/>
        </p:spPr>
      </p:sp>
      <p:sp>
        <p:nvSpPr>
          <p:cNvPr id="27" name="Text 24"/>
          <p:cNvSpPr txBox="1"/>
          <p:nvPr/>
        </p:nvSpPr>
        <p:spPr>
          <a:xfrm>
            <a:off x="2260397" y="3785616"/>
            <a:ext cx="771754"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Parents</a:t>
            </a:r>
            <a:endParaRPr lang="en-US" sz="1000" dirty="0"/>
          </a:p>
        </p:txBody>
      </p:sp>
      <p:sp>
        <p:nvSpPr>
          <p:cNvPr id="28" name="Shape 25"/>
          <p:cNvSpPr/>
          <p:nvPr/>
        </p:nvSpPr>
        <p:spPr>
          <a:xfrm>
            <a:off x="3096158" y="3785616"/>
            <a:ext cx="969264" cy="274320"/>
          </a:xfrm>
          <a:prstGeom prst="roundRect">
            <a:avLst>
              <a:gd name="adj" fmla="val 50000"/>
            </a:avLst>
          </a:prstGeom>
          <a:solidFill>
            <a:srgbClr val="DFF1EA"/>
          </a:solidFill>
          <a:ln/>
        </p:spPr>
      </p:sp>
      <p:sp>
        <p:nvSpPr>
          <p:cNvPr id="29" name="Text 26"/>
          <p:cNvSpPr txBox="1"/>
          <p:nvPr/>
        </p:nvSpPr>
        <p:spPr>
          <a:xfrm>
            <a:off x="3096158" y="3785616"/>
            <a:ext cx="969264"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Gym owners</a:t>
            </a:r>
            <a:endParaRPr lang="en-US" sz="1000" dirty="0"/>
          </a:p>
        </p:txBody>
      </p:sp>
      <p:sp>
        <p:nvSpPr>
          <p:cNvPr id="30" name="Shape 27"/>
          <p:cNvSpPr/>
          <p:nvPr/>
        </p:nvSpPr>
        <p:spPr>
          <a:xfrm>
            <a:off x="457200" y="4123944"/>
            <a:ext cx="1298448" cy="274320"/>
          </a:xfrm>
          <a:prstGeom prst="roundRect">
            <a:avLst>
              <a:gd name="adj" fmla="val 50000"/>
            </a:avLst>
          </a:prstGeom>
          <a:solidFill>
            <a:srgbClr val="DFF1EA"/>
          </a:solidFill>
          <a:ln/>
        </p:spPr>
      </p:sp>
      <p:sp>
        <p:nvSpPr>
          <p:cNvPr id="31" name="Text 28"/>
          <p:cNvSpPr txBox="1"/>
          <p:nvPr/>
        </p:nvSpPr>
        <p:spPr>
          <a:xfrm>
            <a:off x="457200" y="4123944"/>
            <a:ext cx="1298448"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Tuition centres</a:t>
            </a:r>
            <a:endParaRPr lang="en-US" sz="1000" dirty="0"/>
          </a:p>
        </p:txBody>
      </p:sp>
      <p:sp>
        <p:nvSpPr>
          <p:cNvPr id="32" name="Shape 29"/>
          <p:cNvSpPr/>
          <p:nvPr/>
        </p:nvSpPr>
        <p:spPr>
          <a:xfrm>
            <a:off x="1819656" y="4123944"/>
            <a:ext cx="1232611" cy="274320"/>
          </a:xfrm>
          <a:prstGeom prst="roundRect">
            <a:avLst>
              <a:gd name="adj" fmla="val 50000"/>
            </a:avLst>
          </a:prstGeom>
          <a:solidFill>
            <a:srgbClr val="DFF1EA"/>
          </a:solidFill>
          <a:ln/>
        </p:spPr>
      </p:sp>
      <p:sp>
        <p:nvSpPr>
          <p:cNvPr id="33" name="Text 30"/>
          <p:cNvSpPr txBox="1"/>
          <p:nvPr/>
        </p:nvSpPr>
        <p:spPr>
          <a:xfrm>
            <a:off x="1819656" y="4123944"/>
            <a:ext cx="1232611"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Small agencies</a:t>
            </a:r>
            <a:endParaRPr lang="en-US" sz="1000" dirty="0"/>
          </a:p>
        </p:txBody>
      </p:sp>
      <p:sp>
        <p:nvSpPr>
          <p:cNvPr id="34" name="Shape 31"/>
          <p:cNvSpPr/>
          <p:nvPr/>
        </p:nvSpPr>
        <p:spPr>
          <a:xfrm>
            <a:off x="457200" y="4462272"/>
            <a:ext cx="1495958" cy="274320"/>
          </a:xfrm>
          <a:prstGeom prst="roundRect">
            <a:avLst>
              <a:gd name="adj" fmla="val 50000"/>
            </a:avLst>
          </a:prstGeom>
          <a:solidFill>
            <a:srgbClr val="DFF1EA"/>
          </a:solidFill>
          <a:ln/>
        </p:spPr>
      </p:sp>
      <p:sp>
        <p:nvSpPr>
          <p:cNvPr id="35" name="Text 32"/>
          <p:cNvSpPr txBox="1"/>
          <p:nvPr/>
        </p:nvSpPr>
        <p:spPr>
          <a:xfrm>
            <a:off x="457200" y="4462272"/>
            <a:ext cx="1495958"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E-commerce sellers</a:t>
            </a:r>
            <a:endParaRPr lang="en-US" sz="1000" dirty="0"/>
          </a:p>
        </p:txBody>
      </p:sp>
      <p:sp>
        <p:nvSpPr>
          <p:cNvPr id="36" name="Shape 33"/>
          <p:cNvSpPr/>
          <p:nvPr/>
        </p:nvSpPr>
        <p:spPr>
          <a:xfrm>
            <a:off x="2017166" y="4462272"/>
            <a:ext cx="1561795" cy="274320"/>
          </a:xfrm>
          <a:prstGeom prst="roundRect">
            <a:avLst>
              <a:gd name="adj" fmla="val 50000"/>
            </a:avLst>
          </a:prstGeom>
          <a:solidFill>
            <a:srgbClr val="DFF1EA"/>
          </a:solidFill>
          <a:ln/>
        </p:spPr>
      </p:sp>
      <p:sp>
        <p:nvSpPr>
          <p:cNvPr id="37" name="Text 34"/>
          <p:cNvSpPr txBox="1"/>
          <p:nvPr/>
        </p:nvSpPr>
        <p:spPr>
          <a:xfrm>
            <a:off x="2017166" y="4462272"/>
            <a:ext cx="1561795" cy="274320"/>
          </a:xfrm>
          <a:prstGeom prst="rect">
            <a:avLst/>
          </a:prstGeom>
          <a:noFill/>
          <a:ln/>
        </p:spPr>
        <p:txBody>
          <a:bodyPr wrap="square" lIns="0" tIns="0" rIns="0" bIns="0" rtlCol="0" anchor="ctr"/>
          <a:lstStyle/>
          <a:p>
            <a:pPr marL="0" indent="0" algn="ctr">
              <a:buNone/>
            </a:pPr>
            <a:r>
              <a:rPr lang="en-US" sz="1000" dirty="0">
                <a:solidFill>
                  <a:srgbClr val="0C2622"/>
                </a:solidFill>
                <a:latin typeface="Calibri" pitchFamily="34" charset="0"/>
                <a:ea typeface="Calibri" pitchFamily="34" charset="-122"/>
                <a:cs typeface="Calibri" pitchFamily="34" charset="-120"/>
              </a:rPr>
              <a:t>Local manufacturers</a:t>
            </a:r>
            <a:endParaRPr lang="en-US" sz="1000" dirty="0"/>
          </a:p>
        </p:txBody>
      </p:sp>
      <p:sp>
        <p:nvSpPr>
          <p:cNvPr id="38" name="Text 35"/>
          <p:cNvSpPr txBox="1"/>
          <p:nvPr/>
        </p:nvSpPr>
        <p:spPr>
          <a:xfrm>
            <a:off x="4663440" y="1280160"/>
            <a:ext cx="4023360" cy="27432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Identify three reachable groups. For each one:</a:t>
            </a:r>
            <a:endParaRPr lang="en-US" sz="1300" dirty="0"/>
          </a:p>
        </p:txBody>
      </p:sp>
      <p:sp>
        <p:nvSpPr>
          <p:cNvPr id="39" name="Shape 36"/>
          <p:cNvSpPr/>
          <p:nvPr/>
        </p:nvSpPr>
        <p:spPr>
          <a:xfrm>
            <a:off x="4663440" y="1664208"/>
            <a:ext cx="4023360" cy="512064"/>
          </a:xfrm>
          <a:prstGeom prst="roundRect">
            <a:avLst>
              <a:gd name="adj" fmla="val 17857"/>
            </a:avLst>
          </a:prstGeom>
          <a:solidFill>
            <a:srgbClr val="FFFFFF"/>
          </a:solidFill>
          <a:ln/>
          <a:effectLst>
            <a:outerShdw blurRad="101600" dist="25400" dir="5400000" algn="bl" rotWithShape="0">
              <a:srgbClr val="000000">
                <a:alpha val="10000"/>
              </a:srgbClr>
            </a:outerShdw>
          </a:effectLst>
        </p:spPr>
      </p:sp>
      <p:sp>
        <p:nvSpPr>
          <p:cNvPr id="40" name="Shape 37"/>
          <p:cNvSpPr/>
          <p:nvPr/>
        </p:nvSpPr>
        <p:spPr>
          <a:xfrm>
            <a:off x="4773168" y="1737360"/>
            <a:ext cx="365760" cy="365760"/>
          </a:xfrm>
          <a:prstGeom prst="ellipse">
            <a:avLst/>
          </a:prstGeom>
          <a:solidFill>
            <a:srgbClr val="12735B"/>
          </a:solidFill>
          <a:ln/>
        </p:spPr>
      </p:sp>
      <p:pic>
        <p:nvPicPr>
          <p:cNvPr id="41" name="Image 0" descr="preencoded.png"/>
          <p:cNvPicPr>
            <a:picLocks noChangeAspect="1"/>
          </p:cNvPicPr>
          <p:nvPr/>
        </p:nvPicPr>
        <p:blipFill>
          <a:blip r:embed="rId3"/>
          <a:stretch>
            <a:fillRect/>
          </a:stretch>
        </p:blipFill>
        <p:spPr>
          <a:xfrm>
            <a:off x="4864608" y="1828800"/>
            <a:ext cx="182880" cy="182880"/>
          </a:xfrm>
          <a:prstGeom prst="rect">
            <a:avLst/>
          </a:prstGeom>
        </p:spPr>
      </p:pic>
      <p:sp>
        <p:nvSpPr>
          <p:cNvPr id="42" name="Text 38"/>
          <p:cNvSpPr txBox="1"/>
          <p:nvPr/>
        </p:nvSpPr>
        <p:spPr>
          <a:xfrm>
            <a:off x="5285232" y="1664208"/>
            <a:ext cx="3291840" cy="51206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How well do you understand them?</a:t>
            </a:r>
            <a:endParaRPr lang="en-US" sz="1200" dirty="0"/>
          </a:p>
        </p:txBody>
      </p:sp>
      <p:sp>
        <p:nvSpPr>
          <p:cNvPr id="43" name="Shape 39"/>
          <p:cNvSpPr/>
          <p:nvPr/>
        </p:nvSpPr>
        <p:spPr>
          <a:xfrm>
            <a:off x="4663440" y="2267712"/>
            <a:ext cx="4023360" cy="512064"/>
          </a:xfrm>
          <a:prstGeom prst="roundRect">
            <a:avLst>
              <a:gd name="adj" fmla="val 17857"/>
            </a:avLst>
          </a:prstGeom>
          <a:solidFill>
            <a:srgbClr val="FFFFFF"/>
          </a:solidFill>
          <a:ln/>
          <a:effectLst>
            <a:outerShdw blurRad="101600" dist="25400" dir="5400000" algn="bl" rotWithShape="0">
              <a:srgbClr val="000000">
                <a:alpha val="10000"/>
              </a:srgbClr>
            </a:outerShdw>
          </a:effectLst>
        </p:spPr>
      </p:sp>
      <p:sp>
        <p:nvSpPr>
          <p:cNvPr id="44" name="Shape 40"/>
          <p:cNvSpPr/>
          <p:nvPr/>
        </p:nvSpPr>
        <p:spPr>
          <a:xfrm>
            <a:off x="4773168" y="2340864"/>
            <a:ext cx="365760" cy="365760"/>
          </a:xfrm>
          <a:prstGeom prst="ellipse">
            <a:avLst/>
          </a:prstGeom>
          <a:solidFill>
            <a:srgbClr val="12735B"/>
          </a:solidFill>
          <a:ln/>
        </p:spPr>
      </p:sp>
      <p:pic>
        <p:nvPicPr>
          <p:cNvPr id="45" name="Image 1" descr="preencoded.png"/>
          <p:cNvPicPr>
            <a:picLocks noChangeAspect="1"/>
          </p:cNvPicPr>
          <p:nvPr/>
        </p:nvPicPr>
        <p:blipFill>
          <a:blip r:embed="rId4"/>
          <a:stretch>
            <a:fillRect/>
          </a:stretch>
        </p:blipFill>
        <p:spPr>
          <a:xfrm>
            <a:off x="4864608" y="2432304"/>
            <a:ext cx="182880" cy="182880"/>
          </a:xfrm>
          <a:prstGeom prst="rect">
            <a:avLst/>
          </a:prstGeom>
        </p:spPr>
      </p:pic>
      <p:sp>
        <p:nvSpPr>
          <p:cNvPr id="46" name="Text 41"/>
          <p:cNvSpPr txBox="1"/>
          <p:nvPr/>
        </p:nvSpPr>
        <p:spPr>
          <a:xfrm>
            <a:off x="5285232" y="2267712"/>
            <a:ext cx="3291840" cy="51206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Can you contact 10 of them?</a:t>
            </a:r>
            <a:endParaRPr lang="en-US" sz="1200" dirty="0"/>
          </a:p>
        </p:txBody>
      </p:sp>
      <p:sp>
        <p:nvSpPr>
          <p:cNvPr id="47" name="Shape 42"/>
          <p:cNvSpPr/>
          <p:nvPr/>
        </p:nvSpPr>
        <p:spPr>
          <a:xfrm>
            <a:off x="4663440" y="2871216"/>
            <a:ext cx="4023360" cy="512064"/>
          </a:xfrm>
          <a:prstGeom prst="roundRect">
            <a:avLst>
              <a:gd name="adj" fmla="val 17857"/>
            </a:avLst>
          </a:prstGeom>
          <a:solidFill>
            <a:srgbClr val="FFFFFF"/>
          </a:solidFill>
          <a:ln/>
          <a:effectLst>
            <a:outerShdw blurRad="101600" dist="25400" dir="5400000" algn="bl" rotWithShape="0">
              <a:srgbClr val="000000">
                <a:alpha val="10000"/>
              </a:srgbClr>
            </a:outerShdw>
          </a:effectLst>
        </p:spPr>
      </p:sp>
      <p:sp>
        <p:nvSpPr>
          <p:cNvPr id="48" name="Shape 43"/>
          <p:cNvSpPr/>
          <p:nvPr/>
        </p:nvSpPr>
        <p:spPr>
          <a:xfrm>
            <a:off x="4773168" y="2944368"/>
            <a:ext cx="365760" cy="365760"/>
          </a:xfrm>
          <a:prstGeom prst="ellipse">
            <a:avLst/>
          </a:prstGeom>
          <a:solidFill>
            <a:srgbClr val="12735B"/>
          </a:solidFill>
          <a:ln/>
        </p:spPr>
      </p:sp>
      <p:pic>
        <p:nvPicPr>
          <p:cNvPr id="49" name="Image 2" descr="preencoded.png"/>
          <p:cNvPicPr>
            <a:picLocks noChangeAspect="1"/>
          </p:cNvPicPr>
          <p:nvPr/>
        </p:nvPicPr>
        <p:blipFill>
          <a:blip r:embed="rId5"/>
          <a:stretch>
            <a:fillRect/>
          </a:stretch>
        </p:blipFill>
        <p:spPr>
          <a:xfrm>
            <a:off x="4864608" y="3035808"/>
            <a:ext cx="182880" cy="182880"/>
          </a:xfrm>
          <a:prstGeom prst="rect">
            <a:avLst/>
          </a:prstGeom>
        </p:spPr>
      </p:pic>
      <p:sp>
        <p:nvSpPr>
          <p:cNvPr id="50" name="Text 44"/>
          <p:cNvSpPr txBox="1"/>
          <p:nvPr/>
        </p:nvSpPr>
        <p:spPr>
          <a:xfrm>
            <a:off x="5285232" y="2871216"/>
            <a:ext cx="3291840" cy="51206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What problems do you already observe?</a:t>
            </a:r>
            <a:endParaRPr lang="en-US" sz="1200" dirty="0"/>
          </a:p>
        </p:txBody>
      </p:sp>
      <p:sp>
        <p:nvSpPr>
          <p:cNvPr id="51" name="Shape 45"/>
          <p:cNvSpPr/>
          <p:nvPr/>
        </p:nvSpPr>
        <p:spPr>
          <a:xfrm>
            <a:off x="4663440" y="3474720"/>
            <a:ext cx="4023360" cy="512064"/>
          </a:xfrm>
          <a:prstGeom prst="roundRect">
            <a:avLst>
              <a:gd name="adj" fmla="val 17857"/>
            </a:avLst>
          </a:prstGeom>
          <a:solidFill>
            <a:srgbClr val="FFFFFF"/>
          </a:solidFill>
          <a:ln/>
          <a:effectLst>
            <a:outerShdw blurRad="101600" dist="25400" dir="5400000" algn="bl" rotWithShape="0">
              <a:srgbClr val="000000">
                <a:alpha val="10000"/>
              </a:srgbClr>
            </a:outerShdw>
          </a:effectLst>
        </p:spPr>
      </p:sp>
      <p:sp>
        <p:nvSpPr>
          <p:cNvPr id="52" name="Shape 46"/>
          <p:cNvSpPr/>
          <p:nvPr/>
        </p:nvSpPr>
        <p:spPr>
          <a:xfrm>
            <a:off x="4773168" y="3547872"/>
            <a:ext cx="365760" cy="365760"/>
          </a:xfrm>
          <a:prstGeom prst="ellipse">
            <a:avLst/>
          </a:prstGeom>
          <a:solidFill>
            <a:srgbClr val="12735B"/>
          </a:solidFill>
          <a:ln/>
        </p:spPr>
      </p:sp>
      <p:pic>
        <p:nvPicPr>
          <p:cNvPr id="53" name="Image 3" descr="preencoded.png"/>
          <p:cNvPicPr>
            <a:picLocks noChangeAspect="1"/>
          </p:cNvPicPr>
          <p:nvPr/>
        </p:nvPicPr>
        <p:blipFill>
          <a:blip r:embed="rId6"/>
          <a:stretch>
            <a:fillRect/>
          </a:stretch>
        </p:blipFill>
        <p:spPr>
          <a:xfrm>
            <a:off x="4864608" y="3639312"/>
            <a:ext cx="182880" cy="182880"/>
          </a:xfrm>
          <a:prstGeom prst="rect">
            <a:avLst/>
          </a:prstGeom>
        </p:spPr>
      </p:pic>
      <p:sp>
        <p:nvSpPr>
          <p:cNvPr id="54" name="Text 47"/>
          <p:cNvSpPr txBox="1"/>
          <p:nvPr/>
        </p:nvSpPr>
        <p:spPr>
          <a:xfrm>
            <a:off x="5285232" y="3474720"/>
            <a:ext cx="3291840" cy="51206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Do they spend money solving those problems?</a:t>
            </a:r>
            <a:endParaRPr lang="en-US" sz="1200" dirty="0"/>
          </a:p>
        </p:txBody>
      </p:sp>
      <p:sp>
        <p:nvSpPr>
          <p:cNvPr id="55" name="Shape 48"/>
          <p:cNvSpPr/>
          <p:nvPr/>
        </p:nvSpPr>
        <p:spPr>
          <a:xfrm>
            <a:off x="4663440" y="4160520"/>
            <a:ext cx="4023360" cy="502920"/>
          </a:xfrm>
          <a:prstGeom prst="roundRect">
            <a:avLst>
              <a:gd name="adj" fmla="val 18182"/>
            </a:avLst>
          </a:prstGeom>
          <a:solidFill>
            <a:srgbClr val="F4A52A"/>
          </a:solidFill>
          <a:ln/>
        </p:spPr>
      </p:sp>
      <p:pic>
        <p:nvPicPr>
          <p:cNvPr id="56" name="Image 4" descr="preencoded.png"/>
          <p:cNvPicPr>
            <a:picLocks noChangeAspect="1"/>
          </p:cNvPicPr>
          <p:nvPr/>
        </p:nvPicPr>
        <p:blipFill>
          <a:blip r:embed="rId7"/>
          <a:stretch>
            <a:fillRect/>
          </a:stretch>
        </p:blipFill>
        <p:spPr>
          <a:xfrm>
            <a:off x="4846320" y="4279392"/>
            <a:ext cx="274320" cy="274320"/>
          </a:xfrm>
          <a:prstGeom prst="rect">
            <a:avLst/>
          </a:prstGeom>
        </p:spPr>
      </p:pic>
      <p:sp>
        <p:nvSpPr>
          <p:cNvPr id="57" name="Text 49"/>
          <p:cNvSpPr txBox="1"/>
          <p:nvPr/>
        </p:nvSpPr>
        <p:spPr>
          <a:xfrm>
            <a:off x="5257800" y="4160520"/>
            <a:ext cx="3383280" cy="502920"/>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Deliverable:  </a:t>
            </a:r>
            <a:r>
              <a:rPr lang="en-US" sz="1300" dirty="0">
                <a:solidFill>
                  <a:srgbClr val="0C2622"/>
                </a:solidFill>
                <a:latin typeface="Calibri" pitchFamily="34" charset="0"/>
                <a:ea typeface="Calibri" pitchFamily="34" charset="-122"/>
                <a:cs typeface="Calibri" pitchFamily="34" charset="-120"/>
              </a:rPr>
              <a:t>My Reachable Market Map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1 · MASTER PROMPT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Prompt: reachable market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457200" y="1280160"/>
            <a:ext cx="5486400" cy="3383280"/>
          </a:xfrm>
          <a:prstGeom prst="roundRect">
            <a:avLst>
              <a:gd name="adj" fmla="val 2703"/>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685800" y="1444752"/>
            <a:ext cx="457200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MASTER PROMPT — REACHABLE MARKET</a:t>
            </a:r>
            <a:endParaRPr lang="en-US" sz="950" dirty="0"/>
          </a:p>
        </p:txBody>
      </p:sp>
      <p:sp>
        <p:nvSpPr>
          <p:cNvPr id="9" name="Text 6"/>
          <p:cNvSpPr txBox="1"/>
          <p:nvPr/>
        </p:nvSpPr>
        <p:spPr>
          <a:xfrm>
            <a:off x="685800" y="1737360"/>
            <a:ext cx="5029200" cy="2834640"/>
          </a:xfrm>
          <a:prstGeom prst="rect">
            <a:avLst/>
          </a:prstGeom>
          <a:noFill/>
          <a:ln/>
        </p:spPr>
        <p:txBody>
          <a:bodyPr wrap="square" lIns="0" tIns="0" rIns="0" bIns="0" rtlCol="0" anchor="t"/>
          <a:lstStyle/>
          <a:p>
            <a:pPr marL="0" indent="0" algn="l">
              <a:buNone/>
            </a:pPr>
            <a:r>
              <a:rPr lang="en-US" sz="1050" dirty="0">
                <a:solidFill>
                  <a:srgbClr val="FFFFFF"/>
                </a:solidFill>
                <a:latin typeface="Courier New" pitchFamily="34" charset="0"/>
                <a:ea typeface="Courier New" pitchFamily="34" charset="-122"/>
                <a:cs typeface="Courier New" pitchFamily="34" charset="-120"/>
              </a:rPr>
              <a:t>I want to explore business opportunities among people I can realistically reach.</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My background: </a:t>
            </a:r>
            <a:r>
              <a:rPr lang="en-US" sz="1050" b="1" dirty="0">
                <a:solidFill>
                  <a:srgbClr val="F4A52A"/>
                </a:solidFill>
                <a:latin typeface="Courier New" pitchFamily="34" charset="0"/>
                <a:ea typeface="Courier New" pitchFamily="34" charset="-122"/>
                <a:cs typeface="Courier New" pitchFamily="34" charset="-120"/>
              </a:rPr>
              <a:t>[describe yourself]</a:t>
            </a: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Groups I can access: </a:t>
            </a:r>
            <a:r>
              <a:rPr lang="en-US" sz="1050" b="1" dirty="0">
                <a:solidFill>
                  <a:srgbClr val="F4A52A"/>
                </a:solidFill>
                <a:latin typeface="Courier New" pitchFamily="34" charset="0"/>
                <a:ea typeface="Courier New" pitchFamily="34" charset="-122"/>
                <a:cs typeface="Courier New" pitchFamily="34" charset="-120"/>
              </a:rPr>
              <a:t>[list groups]</a:t>
            </a: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For each group, identify 10 recurring problems they may experience. For every problem show:</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1. Who experiences it.</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2. How frequently it occurs.</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3. What happens if they ignore it.</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4. How they currently solve it.</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5. Whether they are likely to spend money solving it.</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6. What evidence I would need before believing this is genuinely a business opportunity.</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marL="0" indent="0" algn="l">
              <a:buNone/>
            </a:pPr>
            <a:r>
              <a:rPr lang="en-US" sz="1050" dirty="0">
                <a:solidFill>
                  <a:srgbClr val="FFFFFF"/>
                </a:solidFill>
                <a:latin typeface="Courier New" pitchFamily="34" charset="0"/>
                <a:ea typeface="Courier New" pitchFamily="34" charset="-122"/>
                <a:cs typeface="Courier New" pitchFamily="34" charset="-120"/>
              </a:rPr>
              <a:t>Do not assume the problem exists simply because it sounds plausible.</a:t>
            </a:r>
            <a:endParaRPr lang="en-US" sz="1050" dirty="0"/>
          </a:p>
        </p:txBody>
      </p:sp>
      <p:sp>
        <p:nvSpPr>
          <p:cNvPr id="10" name="Shape 7"/>
          <p:cNvSpPr/>
          <p:nvPr/>
        </p:nvSpPr>
        <p:spPr>
          <a:xfrm>
            <a:off x="6126480" y="1280160"/>
            <a:ext cx="2560320" cy="105156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11" name="Shape 8"/>
          <p:cNvSpPr/>
          <p:nvPr/>
        </p:nvSpPr>
        <p:spPr>
          <a:xfrm>
            <a:off x="6263640" y="1417320"/>
            <a:ext cx="384048" cy="384048"/>
          </a:xfrm>
          <a:prstGeom prst="ellipse">
            <a:avLst/>
          </a:prstGeom>
          <a:solidFill>
            <a:srgbClr val="12735B"/>
          </a:solidFill>
          <a:ln/>
        </p:spPr>
      </p:sp>
      <p:pic>
        <p:nvPicPr>
          <p:cNvPr id="12" name="Image 0" descr="preencoded.png"/>
          <p:cNvPicPr>
            <a:picLocks noChangeAspect="1"/>
          </p:cNvPicPr>
          <p:nvPr/>
        </p:nvPicPr>
        <p:blipFill>
          <a:blip r:embed="rId3"/>
          <a:stretch>
            <a:fillRect/>
          </a:stretch>
        </p:blipFill>
        <p:spPr>
          <a:xfrm>
            <a:off x="6359652" y="1513332"/>
            <a:ext cx="192024" cy="192024"/>
          </a:xfrm>
          <a:prstGeom prst="rect">
            <a:avLst/>
          </a:prstGeom>
        </p:spPr>
      </p:pic>
      <p:sp>
        <p:nvSpPr>
          <p:cNvPr id="13" name="Text 9"/>
          <p:cNvSpPr txBox="1"/>
          <p:nvPr/>
        </p:nvSpPr>
        <p:spPr>
          <a:xfrm>
            <a:off x="6766560" y="1389888"/>
            <a:ext cx="187452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Starts with people you can reach</a:t>
            </a:r>
            <a:endParaRPr lang="en-US" sz="1200" dirty="0"/>
          </a:p>
        </p:txBody>
      </p:sp>
      <p:sp>
        <p:nvSpPr>
          <p:cNvPr id="14" name="Text 10"/>
          <p:cNvSpPr txBox="1"/>
          <p:nvPr/>
        </p:nvSpPr>
        <p:spPr>
          <a:xfrm>
            <a:off x="6263640" y="1901952"/>
            <a:ext cx="2331720" cy="36576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Not with a technology.</a:t>
            </a:r>
            <a:endParaRPr lang="en-US" sz="1100" dirty="0"/>
          </a:p>
        </p:txBody>
      </p:sp>
      <p:sp>
        <p:nvSpPr>
          <p:cNvPr id="15" name="Shape 11"/>
          <p:cNvSpPr/>
          <p:nvPr/>
        </p:nvSpPr>
        <p:spPr>
          <a:xfrm>
            <a:off x="6126480" y="2423160"/>
            <a:ext cx="2560320" cy="105156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16" name="Shape 12"/>
          <p:cNvSpPr/>
          <p:nvPr/>
        </p:nvSpPr>
        <p:spPr>
          <a:xfrm>
            <a:off x="6263640" y="2560320"/>
            <a:ext cx="384048" cy="384048"/>
          </a:xfrm>
          <a:prstGeom prst="ellipse">
            <a:avLst/>
          </a:prstGeom>
          <a:solidFill>
            <a:srgbClr val="12735B"/>
          </a:solidFill>
          <a:ln/>
        </p:spPr>
      </p:sp>
      <p:pic>
        <p:nvPicPr>
          <p:cNvPr id="17" name="Image 1" descr="preencoded.png"/>
          <p:cNvPicPr>
            <a:picLocks noChangeAspect="1"/>
          </p:cNvPicPr>
          <p:nvPr/>
        </p:nvPicPr>
        <p:blipFill>
          <a:blip r:embed="rId4"/>
          <a:stretch>
            <a:fillRect/>
          </a:stretch>
        </p:blipFill>
        <p:spPr>
          <a:xfrm>
            <a:off x="6359652" y="2656332"/>
            <a:ext cx="192024" cy="192024"/>
          </a:xfrm>
          <a:prstGeom prst="rect">
            <a:avLst/>
          </a:prstGeom>
        </p:spPr>
      </p:pic>
      <p:sp>
        <p:nvSpPr>
          <p:cNvPr id="18" name="Text 13"/>
          <p:cNvSpPr txBox="1"/>
          <p:nvPr/>
        </p:nvSpPr>
        <p:spPr>
          <a:xfrm>
            <a:off x="6766560" y="2532888"/>
            <a:ext cx="187452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Demands evidence</a:t>
            </a:r>
            <a:endParaRPr lang="en-US" sz="1200" dirty="0"/>
          </a:p>
        </p:txBody>
      </p:sp>
      <p:sp>
        <p:nvSpPr>
          <p:cNvPr id="19" name="Text 14"/>
          <p:cNvSpPr txBox="1"/>
          <p:nvPr/>
        </p:nvSpPr>
        <p:spPr>
          <a:xfrm>
            <a:off x="6263640" y="3044952"/>
            <a:ext cx="2331720" cy="36576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Plausible is not the same as real.</a:t>
            </a:r>
            <a:endParaRPr lang="en-US" sz="1100" dirty="0"/>
          </a:p>
        </p:txBody>
      </p:sp>
      <p:sp>
        <p:nvSpPr>
          <p:cNvPr id="20" name="Shape 15"/>
          <p:cNvSpPr/>
          <p:nvPr/>
        </p:nvSpPr>
        <p:spPr>
          <a:xfrm>
            <a:off x="6126480" y="3566160"/>
            <a:ext cx="2560320" cy="105156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21" name="Shape 16"/>
          <p:cNvSpPr/>
          <p:nvPr/>
        </p:nvSpPr>
        <p:spPr>
          <a:xfrm>
            <a:off x="6263640" y="3703320"/>
            <a:ext cx="384048" cy="384048"/>
          </a:xfrm>
          <a:prstGeom prst="ellipse">
            <a:avLst/>
          </a:prstGeom>
          <a:solidFill>
            <a:srgbClr val="12735B"/>
          </a:solidFill>
          <a:ln/>
        </p:spPr>
      </p:sp>
      <p:pic>
        <p:nvPicPr>
          <p:cNvPr id="22" name="Image 2" descr="preencoded.png"/>
          <p:cNvPicPr>
            <a:picLocks noChangeAspect="1"/>
          </p:cNvPicPr>
          <p:nvPr/>
        </p:nvPicPr>
        <p:blipFill>
          <a:blip r:embed="rId5"/>
          <a:stretch>
            <a:fillRect/>
          </a:stretch>
        </p:blipFill>
        <p:spPr>
          <a:xfrm>
            <a:off x="6359652" y="3799332"/>
            <a:ext cx="192024" cy="192024"/>
          </a:xfrm>
          <a:prstGeom prst="rect">
            <a:avLst/>
          </a:prstGeom>
        </p:spPr>
      </p:pic>
      <p:sp>
        <p:nvSpPr>
          <p:cNvPr id="23" name="Text 17"/>
          <p:cNvSpPr txBox="1"/>
          <p:nvPr/>
        </p:nvSpPr>
        <p:spPr>
          <a:xfrm>
            <a:off x="6766560" y="3675888"/>
            <a:ext cx="187452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Ends with a test</a:t>
            </a:r>
            <a:endParaRPr lang="en-US" sz="1200" dirty="0"/>
          </a:p>
        </p:txBody>
      </p:sp>
      <p:sp>
        <p:nvSpPr>
          <p:cNvPr id="24" name="Text 18"/>
          <p:cNvSpPr txBox="1"/>
          <p:nvPr/>
        </p:nvSpPr>
        <p:spPr>
          <a:xfrm>
            <a:off x="6263640" y="4187952"/>
            <a:ext cx="2331720" cy="36576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What must you verify first?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02</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2</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Finding a Problem Worth Solving</a:t>
            </a:r>
            <a:endParaRPr lang="en-US" sz="3600" dirty="0"/>
          </a:p>
        </p:txBody>
      </p:sp>
      <p:sp>
        <p:nvSpPr>
          <p:cNvPr id="6" name="Text 3"/>
          <p:cNvSpPr txBox="1"/>
          <p:nvPr/>
        </p:nvSpPr>
        <p:spPr>
          <a:xfrm>
            <a:off x="640080" y="3922776"/>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Start with problems, not products.</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2 · FINDING A PROBLEM</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Start with problems, not products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457200" y="1280160"/>
            <a:ext cx="3749040" cy="2514600"/>
          </a:xfrm>
          <a:prstGeom prst="roundRect">
            <a:avLst>
              <a:gd name="adj" fmla="val 3636"/>
            </a:avLst>
          </a:prstGeom>
          <a:solidFill>
            <a:srgbClr val="FBE7E9"/>
          </a:solidFill>
          <a:ln/>
        </p:spPr>
      </p:sp>
      <p:sp>
        <p:nvSpPr>
          <p:cNvPr id="8" name="Shape 5"/>
          <p:cNvSpPr/>
          <p:nvPr/>
        </p:nvSpPr>
        <p:spPr>
          <a:xfrm>
            <a:off x="685800" y="1481328"/>
            <a:ext cx="365760" cy="365760"/>
          </a:xfrm>
          <a:prstGeom prst="ellipse">
            <a:avLst/>
          </a:prstGeom>
          <a:solidFill>
            <a:srgbClr val="C93B4B"/>
          </a:solidFill>
          <a:ln/>
        </p:spPr>
      </p:sp>
      <p:pic>
        <p:nvPicPr>
          <p:cNvPr id="9" name="Image 0" descr="preencoded.png"/>
          <p:cNvPicPr>
            <a:picLocks noChangeAspect="1"/>
          </p:cNvPicPr>
          <p:nvPr/>
        </p:nvPicPr>
        <p:blipFill>
          <a:blip r:embed="rId3"/>
          <a:stretch>
            <a:fillRect/>
          </a:stretch>
        </p:blipFill>
        <p:spPr>
          <a:xfrm>
            <a:off x="777240" y="1572768"/>
            <a:ext cx="182880" cy="182880"/>
          </a:xfrm>
          <a:prstGeom prst="rect">
            <a:avLst/>
          </a:prstGeom>
        </p:spPr>
      </p:pic>
      <p:sp>
        <p:nvSpPr>
          <p:cNvPr id="10" name="Text 6"/>
          <p:cNvSpPr txBox="1"/>
          <p:nvPr/>
        </p:nvSpPr>
        <p:spPr>
          <a:xfrm>
            <a:off x="1188720" y="1572768"/>
            <a:ext cx="2743200" cy="182880"/>
          </a:xfrm>
          <a:prstGeom prst="rect">
            <a:avLst/>
          </a:prstGeom>
          <a:noFill/>
          <a:ln/>
        </p:spPr>
        <p:txBody>
          <a:bodyPr wrap="square" lIns="0" tIns="0" rIns="0" bIns="0" rtlCol="0" anchor="t"/>
          <a:lstStyle/>
          <a:p>
            <a:pPr marL="0" indent="0" algn="l">
              <a:buNone/>
            </a:pPr>
            <a:r>
              <a:rPr lang="en-US" sz="950" b="1" kern="0" spc="150" dirty="0">
                <a:solidFill>
                  <a:srgbClr val="C93B4B"/>
                </a:solidFill>
                <a:latin typeface="Calibri" pitchFamily="34" charset="0"/>
                <a:ea typeface="Calibri" pitchFamily="34" charset="-122"/>
                <a:cs typeface="Calibri" pitchFamily="34" charset="-120"/>
              </a:rPr>
              <a:t>WEAK APPROACH</a:t>
            </a:r>
            <a:endParaRPr lang="en-US" sz="950" dirty="0"/>
          </a:p>
        </p:txBody>
      </p:sp>
      <p:sp>
        <p:nvSpPr>
          <p:cNvPr id="11" name="Text 7"/>
          <p:cNvSpPr txBox="1"/>
          <p:nvPr/>
        </p:nvSpPr>
        <p:spPr>
          <a:xfrm>
            <a:off x="685800" y="2103120"/>
            <a:ext cx="3291840" cy="1097280"/>
          </a:xfrm>
          <a:prstGeom prst="rect">
            <a:avLst/>
          </a:prstGeom>
          <a:noFill/>
          <a:ln/>
        </p:spPr>
        <p:txBody>
          <a:bodyPr wrap="square" lIns="0" tIns="0" rIns="0" bIns="0" rtlCol="0" anchor="t"/>
          <a:lstStyle/>
          <a:p>
            <a:pPr marL="0" indent="0" algn="l">
              <a:buNone/>
            </a:pPr>
            <a:r>
              <a:rPr lang="en-US" sz="2000" i="1" dirty="0">
                <a:solidFill>
                  <a:srgbClr val="0C2622"/>
                </a:solidFill>
                <a:latin typeface="Cambria" pitchFamily="34" charset="0"/>
                <a:ea typeface="Cambria" pitchFamily="34" charset="-122"/>
                <a:cs typeface="Cambria" pitchFamily="34" charset="-120"/>
              </a:rPr>
              <a:t>“I want to build an AI chatbot.”</a:t>
            </a:r>
            <a:endParaRPr lang="en-US" sz="2000" dirty="0"/>
          </a:p>
        </p:txBody>
      </p:sp>
      <p:sp>
        <p:nvSpPr>
          <p:cNvPr id="12" name="Text 8"/>
          <p:cNvSpPr txBox="1"/>
          <p:nvPr/>
        </p:nvSpPr>
        <p:spPr>
          <a:xfrm>
            <a:off x="685800" y="3291840"/>
            <a:ext cx="3291840" cy="274320"/>
          </a:xfrm>
          <a:prstGeom prst="rect">
            <a:avLst/>
          </a:prstGeom>
          <a:noFill/>
          <a:ln/>
        </p:spPr>
        <p:txBody>
          <a:bodyPr wrap="square" lIns="0" tIns="0" rIns="0" bIns="0" rtlCol="0" anchor="t"/>
          <a:lstStyle/>
          <a:p>
            <a:pPr marL="0" indent="0" algn="l">
              <a:buNone/>
            </a:pPr>
            <a:r>
              <a:rPr lang="en-US" sz="1200" dirty="0">
                <a:solidFill>
                  <a:srgbClr val="587068"/>
                </a:solidFill>
                <a:latin typeface="Calibri" pitchFamily="34" charset="0"/>
                <a:ea typeface="Calibri" pitchFamily="34" charset="-122"/>
                <a:cs typeface="Calibri" pitchFamily="34" charset="-120"/>
              </a:rPr>
              <a:t>Starts with the technology.</a:t>
            </a:r>
            <a:endParaRPr lang="en-US" sz="1200" dirty="0"/>
          </a:p>
        </p:txBody>
      </p:sp>
      <p:sp>
        <p:nvSpPr>
          <p:cNvPr id="13" name="Shape 9"/>
          <p:cNvSpPr/>
          <p:nvPr/>
        </p:nvSpPr>
        <p:spPr>
          <a:xfrm>
            <a:off x="4297680" y="2532888"/>
            <a:ext cx="640080" cy="0"/>
          </a:xfrm>
          <a:prstGeom prst="line">
            <a:avLst/>
          </a:prstGeom>
          <a:noFill/>
          <a:ln w="38100">
            <a:solidFill>
              <a:srgbClr val="12735B"/>
            </a:solidFill>
            <a:prstDash val="solid"/>
            <a:tailEnd type="triangle"/>
          </a:ln>
        </p:spPr>
      </p:sp>
      <p:sp>
        <p:nvSpPr>
          <p:cNvPr id="14" name="Shape 10"/>
          <p:cNvSpPr/>
          <p:nvPr/>
        </p:nvSpPr>
        <p:spPr>
          <a:xfrm>
            <a:off x="5029200" y="1280160"/>
            <a:ext cx="3657600" cy="2514600"/>
          </a:xfrm>
          <a:prstGeom prst="roundRect">
            <a:avLst>
              <a:gd name="adj" fmla="val 3636"/>
            </a:avLst>
          </a:prstGeom>
          <a:solidFill>
            <a:srgbClr val="FFFFFF"/>
          </a:solidFill>
          <a:ln/>
          <a:effectLst>
            <a:outerShdw blurRad="101600" dist="25400" dir="5400000" algn="bl" rotWithShape="0">
              <a:srgbClr val="000000">
                <a:alpha val="10000"/>
              </a:srgbClr>
            </a:outerShdw>
          </a:effectLst>
        </p:spPr>
      </p:sp>
      <p:sp>
        <p:nvSpPr>
          <p:cNvPr id="15" name="Shape 11"/>
          <p:cNvSpPr/>
          <p:nvPr/>
        </p:nvSpPr>
        <p:spPr>
          <a:xfrm>
            <a:off x="5257800" y="1481328"/>
            <a:ext cx="365760" cy="365760"/>
          </a:xfrm>
          <a:prstGeom prst="ellipse">
            <a:avLst/>
          </a:prstGeom>
          <a:solidFill>
            <a:srgbClr val="12735B"/>
          </a:solidFill>
          <a:ln/>
        </p:spPr>
      </p:sp>
      <p:pic>
        <p:nvPicPr>
          <p:cNvPr id="16" name="Image 1" descr="preencoded.png"/>
          <p:cNvPicPr>
            <a:picLocks noChangeAspect="1"/>
          </p:cNvPicPr>
          <p:nvPr/>
        </p:nvPicPr>
        <p:blipFill>
          <a:blip r:embed="rId4"/>
          <a:stretch>
            <a:fillRect/>
          </a:stretch>
        </p:blipFill>
        <p:spPr>
          <a:xfrm>
            <a:off x="5349240" y="1572768"/>
            <a:ext cx="182880" cy="182880"/>
          </a:xfrm>
          <a:prstGeom prst="rect">
            <a:avLst/>
          </a:prstGeom>
        </p:spPr>
      </p:pic>
      <p:sp>
        <p:nvSpPr>
          <p:cNvPr id="17" name="Text 12"/>
          <p:cNvSpPr txBox="1"/>
          <p:nvPr/>
        </p:nvSpPr>
        <p:spPr>
          <a:xfrm>
            <a:off x="5760720" y="1572768"/>
            <a:ext cx="27432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BETTER APPROACH</a:t>
            </a:r>
            <a:endParaRPr lang="en-US" sz="950" dirty="0"/>
          </a:p>
        </p:txBody>
      </p:sp>
      <p:sp>
        <p:nvSpPr>
          <p:cNvPr id="18" name="Text 13"/>
          <p:cNvSpPr txBox="1"/>
          <p:nvPr/>
        </p:nvSpPr>
        <p:spPr>
          <a:xfrm>
            <a:off x="5257800" y="2011680"/>
            <a:ext cx="3246120" cy="1280160"/>
          </a:xfrm>
          <a:prstGeom prst="rect">
            <a:avLst/>
          </a:prstGeom>
          <a:noFill/>
          <a:ln/>
        </p:spPr>
        <p:txBody>
          <a:bodyPr wrap="square" lIns="0" tIns="0" rIns="0" bIns="0" rtlCol="0" anchor="t"/>
          <a:lstStyle/>
          <a:p>
            <a:pPr marL="0" indent="0" algn="l">
              <a:buNone/>
            </a:pPr>
            <a:r>
              <a:rPr lang="en-US" sz="1500" i="1" dirty="0">
                <a:solidFill>
                  <a:srgbClr val="0C2622"/>
                </a:solidFill>
                <a:latin typeface="Cambria" pitchFamily="34" charset="0"/>
                <a:ea typeface="Cambria" pitchFamily="34" charset="-122"/>
                <a:cs typeface="Cambria" pitchFamily="34" charset="-120"/>
              </a:rPr>
              <a:t>“Private tutoring centres lose potential students because Facebook and WhatsApp enquiries are answered slowly.”</a:t>
            </a:r>
            <a:endParaRPr lang="en-US" sz="1500" dirty="0"/>
          </a:p>
        </p:txBody>
      </p:sp>
      <p:sp>
        <p:nvSpPr>
          <p:cNvPr id="19" name="Text 14"/>
          <p:cNvSpPr txBox="1"/>
          <p:nvPr/>
        </p:nvSpPr>
        <p:spPr>
          <a:xfrm>
            <a:off x="5257800" y="3383280"/>
            <a:ext cx="3246120" cy="274320"/>
          </a:xfrm>
          <a:prstGeom prst="rect">
            <a:avLst/>
          </a:prstGeom>
          <a:noFill/>
          <a:ln/>
        </p:spPr>
        <p:txBody>
          <a:bodyPr wrap="square" lIns="0" tIns="0" rIns="0" bIns="0" rtlCol="0" anchor="t"/>
          <a:lstStyle/>
          <a:p>
            <a:pPr marL="0" indent="0" algn="l">
              <a:buNone/>
            </a:pPr>
            <a:r>
              <a:rPr lang="en-US" sz="1200" dirty="0">
                <a:solidFill>
                  <a:srgbClr val="587068"/>
                </a:solidFill>
                <a:latin typeface="Calibri" pitchFamily="34" charset="0"/>
                <a:ea typeface="Calibri" pitchFamily="34" charset="-122"/>
                <a:cs typeface="Calibri" pitchFamily="34" charset="-120"/>
              </a:rPr>
              <a:t>Starts with a customer, a pain and a cost.</a:t>
            </a:r>
            <a:endParaRPr lang="en-US" sz="1200" dirty="0"/>
          </a:p>
        </p:txBody>
      </p:sp>
      <p:sp>
        <p:nvSpPr>
          <p:cNvPr id="20" name="Shape 15"/>
          <p:cNvSpPr/>
          <p:nvPr/>
        </p:nvSpPr>
        <p:spPr>
          <a:xfrm>
            <a:off x="457200" y="4023360"/>
            <a:ext cx="8229600" cy="640080"/>
          </a:xfrm>
          <a:prstGeom prst="roundRect">
            <a:avLst>
              <a:gd name="adj" fmla="val 14286"/>
            </a:avLst>
          </a:prstGeom>
          <a:solidFill>
            <a:srgbClr val="0C2622"/>
          </a:solidFill>
          <a:ln/>
        </p:spPr>
      </p:sp>
      <p:sp>
        <p:nvSpPr>
          <p:cNvPr id="21" name="Text 16"/>
          <p:cNvSpPr txBox="1"/>
          <p:nvPr/>
        </p:nvSpPr>
        <p:spPr>
          <a:xfrm>
            <a:off x="685800" y="4023360"/>
            <a:ext cx="7772400" cy="640080"/>
          </a:xfrm>
          <a:prstGeom prst="rect">
            <a:avLst/>
          </a:prstGeom>
          <a:noFill/>
          <a:ln/>
        </p:spPr>
        <p:txBody>
          <a:bodyPr wrap="square" lIns="0" tIns="0" rIns="0" bIns="0" rtlCol="0" anchor="ctr"/>
          <a:lstStyle/>
          <a:p>
            <a:pPr marL="0" indent="0" algn="l">
              <a:buNone/>
            </a:pPr>
            <a:r>
              <a:rPr lang="en-US" sz="1700" i="1" dirty="0">
                <a:solidFill>
                  <a:srgbClr val="FFFFFF"/>
                </a:solidFill>
                <a:latin typeface="Cambria" pitchFamily="34" charset="0"/>
                <a:ea typeface="Cambria" pitchFamily="34" charset="-122"/>
                <a:cs typeface="Cambria" pitchFamily="34" charset="-120"/>
              </a:rPr>
              <a:t>Now AI becomes a possible solution — not the starting point.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2 · FINDING A PROBLEM</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Problem Quality Test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45720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640080" y="2029968"/>
            <a:ext cx="2331720" cy="274320"/>
          </a:xfrm>
          <a:prstGeom prst="rect">
            <a:avLst/>
          </a:prstGeom>
          <a:noFill/>
          <a:ln/>
        </p:spPr>
        <p:txBody>
          <a:bodyPr wrap="square" lIns="0" tIns="0" rIns="0" bIns="0" rtlCol="0" anchor="t"/>
          <a:lstStyle/>
          <a:p>
            <a:pPr marL="0" indent="0" algn="l">
              <a:buNone/>
            </a:pPr>
            <a:r>
              <a:rPr lang="en-US" sz="1600" b="1" dirty="0">
                <a:solidFill>
                  <a:srgbClr val="0C2622"/>
                </a:solidFill>
                <a:latin typeface="Cambria" pitchFamily="34" charset="0"/>
                <a:ea typeface="Cambria" pitchFamily="34" charset="-122"/>
                <a:cs typeface="Cambria" pitchFamily="34" charset="-120"/>
              </a:rPr>
              <a:t>Pain</a:t>
            </a:r>
            <a:endParaRPr lang="en-US" sz="1600" dirty="0"/>
          </a:p>
        </p:txBody>
      </p:sp>
      <p:sp>
        <p:nvSpPr>
          <p:cNvPr id="11" name="Text 7"/>
          <p:cNvSpPr txBox="1"/>
          <p:nvPr/>
        </p:nvSpPr>
        <p:spPr>
          <a:xfrm>
            <a:off x="640080" y="2331720"/>
            <a:ext cx="228600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How frustrating or costly is it?</a:t>
            </a:r>
            <a:endParaRPr lang="en-US" sz="1150" dirty="0"/>
          </a:p>
        </p:txBody>
      </p:sp>
      <p:sp>
        <p:nvSpPr>
          <p:cNvPr id="12" name="Shape 8"/>
          <p:cNvSpPr/>
          <p:nvPr/>
        </p:nvSpPr>
        <p:spPr>
          <a:xfrm>
            <a:off x="324612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3429000" y="1444752"/>
            <a:ext cx="457200" cy="45720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3543300" y="1559052"/>
            <a:ext cx="228600" cy="228600"/>
          </a:xfrm>
          <a:prstGeom prst="rect">
            <a:avLst/>
          </a:prstGeom>
        </p:spPr>
      </p:pic>
      <p:sp>
        <p:nvSpPr>
          <p:cNvPr id="15" name="Text 10"/>
          <p:cNvSpPr txBox="1"/>
          <p:nvPr/>
        </p:nvSpPr>
        <p:spPr>
          <a:xfrm>
            <a:off x="3429000" y="2029968"/>
            <a:ext cx="2331720" cy="274320"/>
          </a:xfrm>
          <a:prstGeom prst="rect">
            <a:avLst/>
          </a:prstGeom>
          <a:noFill/>
          <a:ln/>
        </p:spPr>
        <p:txBody>
          <a:bodyPr wrap="square" lIns="0" tIns="0" rIns="0" bIns="0" rtlCol="0" anchor="t"/>
          <a:lstStyle/>
          <a:p>
            <a:pPr marL="0" indent="0" algn="l">
              <a:buNone/>
            </a:pPr>
            <a:r>
              <a:rPr lang="en-US" sz="1600" b="1" dirty="0">
                <a:solidFill>
                  <a:srgbClr val="0C2622"/>
                </a:solidFill>
                <a:latin typeface="Cambria" pitchFamily="34" charset="0"/>
                <a:ea typeface="Cambria" pitchFamily="34" charset="-122"/>
                <a:cs typeface="Cambria" pitchFamily="34" charset="-120"/>
              </a:rPr>
              <a:t>Frequency</a:t>
            </a:r>
            <a:endParaRPr lang="en-US" sz="1600" dirty="0"/>
          </a:p>
        </p:txBody>
      </p:sp>
      <p:sp>
        <p:nvSpPr>
          <p:cNvPr id="16" name="Text 11"/>
          <p:cNvSpPr txBox="1"/>
          <p:nvPr/>
        </p:nvSpPr>
        <p:spPr>
          <a:xfrm>
            <a:off x="3429000" y="2331720"/>
            <a:ext cx="228600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How often does it happen?</a:t>
            </a:r>
            <a:endParaRPr lang="en-US" sz="1150" dirty="0"/>
          </a:p>
        </p:txBody>
      </p:sp>
      <p:sp>
        <p:nvSpPr>
          <p:cNvPr id="17" name="Shape 12"/>
          <p:cNvSpPr/>
          <p:nvPr/>
        </p:nvSpPr>
        <p:spPr>
          <a:xfrm>
            <a:off x="603504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8" name="Shape 13"/>
          <p:cNvSpPr/>
          <p:nvPr/>
        </p:nvSpPr>
        <p:spPr>
          <a:xfrm>
            <a:off x="6217920" y="1444752"/>
            <a:ext cx="457200" cy="457200"/>
          </a:xfrm>
          <a:prstGeom prst="ellipse">
            <a:avLst/>
          </a:prstGeom>
          <a:solidFill>
            <a:srgbClr val="12735B"/>
          </a:solidFill>
          <a:ln/>
        </p:spPr>
      </p:sp>
      <p:pic>
        <p:nvPicPr>
          <p:cNvPr id="19" name="Image 2" descr="preencoded.png"/>
          <p:cNvPicPr>
            <a:picLocks noChangeAspect="1"/>
          </p:cNvPicPr>
          <p:nvPr/>
        </p:nvPicPr>
        <p:blipFill>
          <a:blip r:embed="rId5"/>
          <a:stretch>
            <a:fillRect/>
          </a:stretch>
        </p:blipFill>
        <p:spPr>
          <a:xfrm>
            <a:off x="6332220" y="1559052"/>
            <a:ext cx="228600" cy="228600"/>
          </a:xfrm>
          <a:prstGeom prst="rect">
            <a:avLst/>
          </a:prstGeom>
        </p:spPr>
      </p:pic>
      <p:sp>
        <p:nvSpPr>
          <p:cNvPr id="20" name="Text 14"/>
          <p:cNvSpPr txBox="1"/>
          <p:nvPr/>
        </p:nvSpPr>
        <p:spPr>
          <a:xfrm>
            <a:off x="6217920" y="2029968"/>
            <a:ext cx="2331720" cy="274320"/>
          </a:xfrm>
          <a:prstGeom prst="rect">
            <a:avLst/>
          </a:prstGeom>
          <a:noFill/>
          <a:ln/>
        </p:spPr>
        <p:txBody>
          <a:bodyPr wrap="square" lIns="0" tIns="0" rIns="0" bIns="0" rtlCol="0" anchor="t"/>
          <a:lstStyle/>
          <a:p>
            <a:pPr marL="0" indent="0" algn="l">
              <a:buNone/>
            </a:pPr>
            <a:r>
              <a:rPr lang="en-US" sz="1600" b="1" dirty="0">
                <a:solidFill>
                  <a:srgbClr val="0C2622"/>
                </a:solidFill>
                <a:latin typeface="Cambria" pitchFamily="34" charset="0"/>
                <a:ea typeface="Cambria" pitchFamily="34" charset="-122"/>
                <a:cs typeface="Cambria" pitchFamily="34" charset="-120"/>
              </a:rPr>
              <a:t>Urgency</a:t>
            </a:r>
            <a:endParaRPr lang="en-US" sz="1600" dirty="0"/>
          </a:p>
        </p:txBody>
      </p:sp>
      <p:sp>
        <p:nvSpPr>
          <p:cNvPr id="21" name="Text 15"/>
          <p:cNvSpPr txBox="1"/>
          <p:nvPr/>
        </p:nvSpPr>
        <p:spPr>
          <a:xfrm>
            <a:off x="6217920" y="2331720"/>
            <a:ext cx="228600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How quickly must it be solved?</a:t>
            </a:r>
            <a:endParaRPr lang="en-US" sz="1150" dirty="0"/>
          </a:p>
        </p:txBody>
      </p:sp>
      <p:sp>
        <p:nvSpPr>
          <p:cNvPr id="22" name="Shape 16"/>
          <p:cNvSpPr/>
          <p:nvPr/>
        </p:nvSpPr>
        <p:spPr>
          <a:xfrm>
            <a:off x="45720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3" name="Shape 17"/>
          <p:cNvSpPr/>
          <p:nvPr/>
        </p:nvSpPr>
        <p:spPr>
          <a:xfrm>
            <a:off x="640080" y="3182112"/>
            <a:ext cx="457200" cy="457200"/>
          </a:xfrm>
          <a:prstGeom prst="ellipse">
            <a:avLst/>
          </a:prstGeom>
          <a:solidFill>
            <a:srgbClr val="12735B"/>
          </a:solidFill>
          <a:ln/>
        </p:spPr>
      </p:sp>
      <p:pic>
        <p:nvPicPr>
          <p:cNvPr id="24" name="Image 3" descr="preencoded.png"/>
          <p:cNvPicPr>
            <a:picLocks noChangeAspect="1"/>
          </p:cNvPicPr>
          <p:nvPr/>
        </p:nvPicPr>
        <p:blipFill>
          <a:blip r:embed="rId6"/>
          <a:stretch>
            <a:fillRect/>
          </a:stretch>
        </p:blipFill>
        <p:spPr>
          <a:xfrm>
            <a:off x="754380" y="3296412"/>
            <a:ext cx="228600" cy="228600"/>
          </a:xfrm>
          <a:prstGeom prst="rect">
            <a:avLst/>
          </a:prstGeom>
        </p:spPr>
      </p:pic>
      <p:sp>
        <p:nvSpPr>
          <p:cNvPr id="25" name="Text 18"/>
          <p:cNvSpPr txBox="1"/>
          <p:nvPr/>
        </p:nvSpPr>
        <p:spPr>
          <a:xfrm>
            <a:off x="640080" y="3767328"/>
            <a:ext cx="2331720" cy="274320"/>
          </a:xfrm>
          <a:prstGeom prst="rect">
            <a:avLst/>
          </a:prstGeom>
          <a:noFill/>
          <a:ln/>
        </p:spPr>
        <p:txBody>
          <a:bodyPr wrap="square" lIns="0" tIns="0" rIns="0" bIns="0" rtlCol="0" anchor="t"/>
          <a:lstStyle/>
          <a:p>
            <a:pPr marL="0" indent="0" algn="l">
              <a:buNone/>
            </a:pPr>
            <a:r>
              <a:rPr lang="en-US" sz="1600" b="1" dirty="0">
                <a:solidFill>
                  <a:srgbClr val="0C2622"/>
                </a:solidFill>
                <a:latin typeface="Cambria" pitchFamily="34" charset="0"/>
                <a:ea typeface="Cambria" pitchFamily="34" charset="-122"/>
                <a:cs typeface="Cambria" pitchFamily="34" charset="-120"/>
              </a:rPr>
              <a:t>Existing spending</a:t>
            </a:r>
            <a:endParaRPr lang="en-US" sz="1600" dirty="0"/>
          </a:p>
        </p:txBody>
      </p:sp>
      <p:sp>
        <p:nvSpPr>
          <p:cNvPr id="26" name="Text 19"/>
          <p:cNvSpPr txBox="1"/>
          <p:nvPr/>
        </p:nvSpPr>
        <p:spPr>
          <a:xfrm>
            <a:off x="640080" y="4069080"/>
            <a:ext cx="228600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Are people already paying for alternatives?</a:t>
            </a:r>
            <a:endParaRPr lang="en-US" sz="1150" dirty="0"/>
          </a:p>
        </p:txBody>
      </p:sp>
      <p:sp>
        <p:nvSpPr>
          <p:cNvPr id="27" name="Shape 20"/>
          <p:cNvSpPr/>
          <p:nvPr/>
        </p:nvSpPr>
        <p:spPr>
          <a:xfrm>
            <a:off x="324612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8" name="Shape 21"/>
          <p:cNvSpPr/>
          <p:nvPr/>
        </p:nvSpPr>
        <p:spPr>
          <a:xfrm>
            <a:off x="3429000" y="3182112"/>
            <a:ext cx="457200" cy="457200"/>
          </a:xfrm>
          <a:prstGeom prst="ellipse">
            <a:avLst/>
          </a:prstGeom>
          <a:solidFill>
            <a:srgbClr val="12735B"/>
          </a:solidFill>
          <a:ln/>
        </p:spPr>
      </p:sp>
      <p:pic>
        <p:nvPicPr>
          <p:cNvPr id="29" name="Image 4" descr="preencoded.png"/>
          <p:cNvPicPr>
            <a:picLocks noChangeAspect="1"/>
          </p:cNvPicPr>
          <p:nvPr/>
        </p:nvPicPr>
        <p:blipFill>
          <a:blip r:embed="rId7"/>
          <a:stretch>
            <a:fillRect/>
          </a:stretch>
        </p:blipFill>
        <p:spPr>
          <a:xfrm>
            <a:off x="3543300" y="3296412"/>
            <a:ext cx="228600" cy="228600"/>
          </a:xfrm>
          <a:prstGeom prst="rect">
            <a:avLst/>
          </a:prstGeom>
        </p:spPr>
      </p:pic>
      <p:sp>
        <p:nvSpPr>
          <p:cNvPr id="30" name="Text 22"/>
          <p:cNvSpPr txBox="1"/>
          <p:nvPr/>
        </p:nvSpPr>
        <p:spPr>
          <a:xfrm>
            <a:off x="3429000" y="3767328"/>
            <a:ext cx="2331720" cy="274320"/>
          </a:xfrm>
          <a:prstGeom prst="rect">
            <a:avLst/>
          </a:prstGeom>
          <a:noFill/>
          <a:ln/>
        </p:spPr>
        <p:txBody>
          <a:bodyPr wrap="square" lIns="0" tIns="0" rIns="0" bIns="0" rtlCol="0" anchor="t"/>
          <a:lstStyle/>
          <a:p>
            <a:pPr marL="0" indent="0" algn="l">
              <a:buNone/>
            </a:pPr>
            <a:r>
              <a:rPr lang="en-US" sz="1600" b="1" dirty="0">
                <a:solidFill>
                  <a:srgbClr val="0C2622"/>
                </a:solidFill>
                <a:latin typeface="Cambria" pitchFamily="34" charset="0"/>
                <a:ea typeface="Cambria" pitchFamily="34" charset="-122"/>
                <a:cs typeface="Cambria" pitchFamily="34" charset="-120"/>
              </a:rPr>
              <a:t>Accessibility</a:t>
            </a:r>
            <a:endParaRPr lang="en-US" sz="1600" dirty="0"/>
          </a:p>
        </p:txBody>
      </p:sp>
      <p:sp>
        <p:nvSpPr>
          <p:cNvPr id="31" name="Text 23"/>
          <p:cNvSpPr txBox="1"/>
          <p:nvPr/>
        </p:nvSpPr>
        <p:spPr>
          <a:xfrm>
            <a:off x="3429000" y="4069080"/>
            <a:ext cx="228600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Can we easily reach these customers?</a:t>
            </a:r>
            <a:endParaRPr lang="en-US" sz="1150" dirty="0"/>
          </a:p>
        </p:txBody>
      </p:sp>
      <p:sp>
        <p:nvSpPr>
          <p:cNvPr id="32" name="Shape 24"/>
          <p:cNvSpPr/>
          <p:nvPr/>
        </p:nvSpPr>
        <p:spPr>
          <a:xfrm>
            <a:off x="603504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33" name="Shape 25"/>
          <p:cNvSpPr/>
          <p:nvPr/>
        </p:nvSpPr>
        <p:spPr>
          <a:xfrm>
            <a:off x="6217920" y="3182112"/>
            <a:ext cx="457200" cy="457200"/>
          </a:xfrm>
          <a:prstGeom prst="ellipse">
            <a:avLst/>
          </a:prstGeom>
          <a:solidFill>
            <a:srgbClr val="F4A52A"/>
          </a:solidFill>
          <a:ln/>
        </p:spPr>
      </p:sp>
      <p:pic>
        <p:nvPicPr>
          <p:cNvPr id="34" name="Image 5" descr="preencoded.png"/>
          <p:cNvPicPr>
            <a:picLocks noChangeAspect="1"/>
          </p:cNvPicPr>
          <p:nvPr/>
        </p:nvPicPr>
        <p:blipFill>
          <a:blip r:embed="rId8"/>
          <a:stretch>
            <a:fillRect/>
          </a:stretch>
        </p:blipFill>
        <p:spPr>
          <a:xfrm>
            <a:off x="6332220" y="3296412"/>
            <a:ext cx="228600" cy="228600"/>
          </a:xfrm>
          <a:prstGeom prst="rect">
            <a:avLst/>
          </a:prstGeom>
        </p:spPr>
      </p:pic>
      <p:sp>
        <p:nvSpPr>
          <p:cNvPr id="35" name="Text 26"/>
          <p:cNvSpPr txBox="1"/>
          <p:nvPr/>
        </p:nvSpPr>
        <p:spPr>
          <a:xfrm>
            <a:off x="6217920" y="3767328"/>
            <a:ext cx="2331720" cy="274320"/>
          </a:xfrm>
          <a:prstGeom prst="rect">
            <a:avLst/>
          </a:prstGeom>
          <a:noFill/>
          <a:ln/>
        </p:spPr>
        <p:txBody>
          <a:bodyPr wrap="square" lIns="0" tIns="0" rIns="0" bIns="0" rtlCol="0" anchor="t"/>
          <a:lstStyle/>
          <a:p>
            <a:pPr marL="0" indent="0" algn="l">
              <a:buNone/>
            </a:pPr>
            <a:r>
              <a:rPr lang="en-US" sz="1600" b="1" dirty="0">
                <a:solidFill>
                  <a:srgbClr val="0C2622"/>
                </a:solidFill>
                <a:latin typeface="Cambria" pitchFamily="34" charset="0"/>
                <a:ea typeface="Cambria" pitchFamily="34" charset="-122"/>
                <a:cs typeface="Cambria" pitchFamily="34" charset="-120"/>
              </a:rPr>
              <a:t>AI leverage</a:t>
            </a:r>
            <a:endParaRPr lang="en-US" sz="1600" dirty="0"/>
          </a:p>
        </p:txBody>
      </p:sp>
      <p:sp>
        <p:nvSpPr>
          <p:cNvPr id="36" name="Text 27"/>
          <p:cNvSpPr txBox="1"/>
          <p:nvPr/>
        </p:nvSpPr>
        <p:spPr>
          <a:xfrm>
            <a:off x="6217920" y="4069080"/>
            <a:ext cx="228600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Can AI make the solution significantly faster, cheaper or better?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2 · PROMPTS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Three prompts for exploring problems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457200" y="1280160"/>
            <a:ext cx="2651760" cy="338328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1234440" y="1444752"/>
            <a:ext cx="178308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Problem discovery</a:t>
            </a:r>
            <a:endParaRPr lang="en-US" sz="1400" dirty="0"/>
          </a:p>
        </p:txBody>
      </p:sp>
      <p:sp>
        <p:nvSpPr>
          <p:cNvPr id="11" name="Text 7"/>
          <p:cNvSpPr txBox="1"/>
          <p:nvPr/>
        </p:nvSpPr>
        <p:spPr>
          <a:xfrm>
            <a:off x="640080" y="2011680"/>
            <a:ext cx="2331720" cy="228600"/>
          </a:xfrm>
          <a:prstGeom prst="rect">
            <a:avLst/>
          </a:prstGeom>
          <a:noFill/>
          <a:ln/>
        </p:spPr>
        <p:txBody>
          <a:bodyPr wrap="square" lIns="0" tIns="0" rIns="0" bIns="0" rtlCol="0" anchor="t"/>
          <a:lstStyle/>
          <a:p>
            <a:pPr marL="0" indent="0" algn="l">
              <a:buNone/>
            </a:pPr>
            <a:r>
              <a:rPr lang="en-US" sz="1100" i="1" dirty="0">
                <a:solidFill>
                  <a:srgbClr val="587068"/>
                </a:solidFill>
                <a:latin typeface="Calibri" pitchFamily="34" charset="0"/>
                <a:ea typeface="Calibri" pitchFamily="34" charset="-122"/>
                <a:cs typeface="Calibri" pitchFamily="34" charset="-120"/>
              </a:rPr>
              <a:t>Give it a customer group.</a:t>
            </a:r>
            <a:endParaRPr lang="en-US" sz="1100" dirty="0"/>
          </a:p>
        </p:txBody>
      </p:sp>
      <p:sp>
        <p:nvSpPr>
          <p:cNvPr id="12" name="Text 8"/>
          <p:cNvSpPr txBox="1"/>
          <p:nvPr/>
        </p:nvSpPr>
        <p:spPr>
          <a:xfrm>
            <a:off x="640080" y="2331720"/>
            <a:ext cx="2331720" cy="1691640"/>
          </a:xfrm>
          <a:prstGeom prst="rect">
            <a:avLst/>
          </a:prstGeom>
          <a:noFill/>
          <a:ln/>
        </p:spPr>
        <p:txBody>
          <a:bodyPr wrap="square" lIns="0" tIns="0" rIns="0" bIns="0" rtlCol="0" anchor="t"/>
          <a:lstStyle/>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15 recurring problems, each tagged: revenue, cost, time, convenience, risk, information or emotional</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Why it matters and current alternatives</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Willingness to pay</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How to verify it exists</a:t>
            </a:r>
            <a:endParaRPr lang="en-US" sz="1200" dirty="0"/>
          </a:p>
        </p:txBody>
      </p:sp>
      <p:sp>
        <p:nvSpPr>
          <p:cNvPr id="13" name="Shape 9"/>
          <p:cNvSpPr/>
          <p:nvPr/>
        </p:nvSpPr>
        <p:spPr>
          <a:xfrm>
            <a:off x="594360" y="4023360"/>
            <a:ext cx="2377440" cy="548640"/>
          </a:xfrm>
          <a:prstGeom prst="roundRect">
            <a:avLst>
              <a:gd name="adj" fmla="val 13333"/>
            </a:avLst>
          </a:prstGeom>
          <a:solidFill>
            <a:srgbClr val="DFF1EA"/>
          </a:solidFill>
          <a:ln/>
        </p:spPr>
      </p:sp>
      <p:sp>
        <p:nvSpPr>
          <p:cNvPr id="14" name="Text 10"/>
          <p:cNvSpPr txBox="1"/>
          <p:nvPr/>
        </p:nvSpPr>
        <p:spPr>
          <a:xfrm>
            <a:off x="685800" y="4023360"/>
            <a:ext cx="2194560" cy="548640"/>
          </a:xfrm>
          <a:prstGeom prst="rect">
            <a:avLst/>
          </a:prstGeom>
          <a:noFill/>
          <a:ln/>
        </p:spPr>
        <p:txBody>
          <a:bodyPr wrap="square" lIns="0" tIns="0" rIns="0" bIns="0" rtlCol="0" anchor="ctr"/>
          <a:lstStyle/>
          <a:p>
            <a:pPr marL="0" indent="0" algn="l">
              <a:buNone/>
            </a:pPr>
            <a:r>
              <a:rPr lang="en-US" sz="1050" b="1" dirty="0">
                <a:solidFill>
                  <a:srgbClr val="12735B"/>
                </a:solidFill>
                <a:latin typeface="Calibri" pitchFamily="34" charset="0"/>
                <a:ea typeface="Calibri" pitchFamily="34" charset="-122"/>
                <a:cs typeface="Calibri" pitchFamily="34" charset="-120"/>
              </a:rPr>
              <a:t>Do not invent evidence.</a:t>
            </a:r>
            <a:endParaRPr lang="en-US" sz="1050" dirty="0"/>
          </a:p>
        </p:txBody>
      </p:sp>
      <p:sp>
        <p:nvSpPr>
          <p:cNvPr id="15" name="Shape 11"/>
          <p:cNvSpPr/>
          <p:nvPr/>
        </p:nvSpPr>
        <p:spPr>
          <a:xfrm>
            <a:off x="3246120" y="1280160"/>
            <a:ext cx="2651760" cy="338328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16" name="Shape 12"/>
          <p:cNvSpPr/>
          <p:nvPr/>
        </p:nvSpPr>
        <p:spPr>
          <a:xfrm>
            <a:off x="3429000" y="1444752"/>
            <a:ext cx="457200" cy="457200"/>
          </a:xfrm>
          <a:prstGeom prst="ellipse">
            <a:avLst/>
          </a:prstGeom>
          <a:solidFill>
            <a:srgbClr val="12735B"/>
          </a:solidFill>
          <a:ln/>
        </p:spPr>
      </p:sp>
      <p:pic>
        <p:nvPicPr>
          <p:cNvPr id="17" name="Image 1" descr="preencoded.png"/>
          <p:cNvPicPr>
            <a:picLocks noChangeAspect="1"/>
          </p:cNvPicPr>
          <p:nvPr/>
        </p:nvPicPr>
        <p:blipFill>
          <a:blip r:embed="rId4"/>
          <a:stretch>
            <a:fillRect/>
          </a:stretch>
        </p:blipFill>
        <p:spPr>
          <a:xfrm>
            <a:off x="3543300" y="1559052"/>
            <a:ext cx="228600" cy="228600"/>
          </a:xfrm>
          <a:prstGeom prst="rect">
            <a:avLst/>
          </a:prstGeom>
        </p:spPr>
      </p:pic>
      <p:sp>
        <p:nvSpPr>
          <p:cNvPr id="18" name="Text 13"/>
          <p:cNvSpPr txBox="1"/>
          <p:nvPr/>
        </p:nvSpPr>
        <p:spPr>
          <a:xfrm>
            <a:off x="4023360" y="1444752"/>
            <a:ext cx="178308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Solution exploration</a:t>
            </a:r>
            <a:endParaRPr lang="en-US" sz="1400" dirty="0"/>
          </a:p>
        </p:txBody>
      </p:sp>
      <p:sp>
        <p:nvSpPr>
          <p:cNvPr id="19" name="Text 14"/>
          <p:cNvSpPr txBox="1"/>
          <p:nvPr/>
        </p:nvSpPr>
        <p:spPr>
          <a:xfrm>
            <a:off x="3429000" y="2011680"/>
            <a:ext cx="2331720" cy="228600"/>
          </a:xfrm>
          <a:prstGeom prst="rect">
            <a:avLst/>
          </a:prstGeom>
          <a:noFill/>
          <a:ln/>
        </p:spPr>
        <p:txBody>
          <a:bodyPr wrap="square" lIns="0" tIns="0" rIns="0" bIns="0" rtlCol="0" anchor="t"/>
          <a:lstStyle/>
          <a:p>
            <a:pPr marL="0" indent="0" algn="l">
              <a:buNone/>
            </a:pPr>
            <a:r>
              <a:rPr lang="en-US" sz="1100" i="1" dirty="0">
                <a:solidFill>
                  <a:srgbClr val="587068"/>
                </a:solidFill>
                <a:latin typeface="Calibri" pitchFamily="34" charset="0"/>
                <a:ea typeface="Calibri" pitchFamily="34" charset="-122"/>
                <a:cs typeface="Calibri" pitchFamily="34" charset="-120"/>
              </a:rPr>
              <a:t>Give it one problem.</a:t>
            </a:r>
            <a:endParaRPr lang="en-US" sz="1100" dirty="0"/>
          </a:p>
        </p:txBody>
      </p:sp>
      <p:sp>
        <p:nvSpPr>
          <p:cNvPr id="20" name="Text 15"/>
          <p:cNvSpPr txBox="1"/>
          <p:nvPr/>
        </p:nvSpPr>
        <p:spPr>
          <a:xfrm>
            <a:off x="3429000" y="2331720"/>
            <a:ext cx="2331720" cy="1691640"/>
          </a:xfrm>
          <a:prstGeom prst="rect">
            <a:avLst/>
          </a:prstGeom>
          <a:noFill/>
          <a:ln/>
        </p:spPr>
        <p:txBody>
          <a:bodyPr wrap="square" lIns="0" tIns="0" rIns="0" bIns="0" rtlCol="0" anchor="t"/>
          <a:lstStyle/>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Four solution types: software, done-for-you service, AI automation, education/content</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Difficulty, MVP cost, time to launch</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Pricing model, AI leverage, risks</a:t>
            </a:r>
            <a:endParaRPr lang="en-US" sz="1200" dirty="0"/>
          </a:p>
        </p:txBody>
      </p:sp>
      <p:sp>
        <p:nvSpPr>
          <p:cNvPr id="21" name="Shape 16"/>
          <p:cNvSpPr/>
          <p:nvPr/>
        </p:nvSpPr>
        <p:spPr>
          <a:xfrm>
            <a:off x="3383280" y="4023360"/>
            <a:ext cx="2377440" cy="548640"/>
          </a:xfrm>
          <a:prstGeom prst="roundRect">
            <a:avLst>
              <a:gd name="adj" fmla="val 13333"/>
            </a:avLst>
          </a:prstGeom>
          <a:solidFill>
            <a:srgbClr val="DFF1EA"/>
          </a:solidFill>
          <a:ln/>
        </p:spPr>
      </p:sp>
      <p:sp>
        <p:nvSpPr>
          <p:cNvPr id="22" name="Text 17"/>
          <p:cNvSpPr txBox="1"/>
          <p:nvPr/>
        </p:nvSpPr>
        <p:spPr>
          <a:xfrm>
            <a:off x="3474720" y="4023360"/>
            <a:ext cx="2194560" cy="548640"/>
          </a:xfrm>
          <a:prstGeom prst="rect">
            <a:avLst/>
          </a:prstGeom>
          <a:noFill/>
          <a:ln/>
        </p:spPr>
        <p:txBody>
          <a:bodyPr wrap="square" lIns="0" tIns="0" rIns="0" bIns="0" rtlCol="0" anchor="ctr"/>
          <a:lstStyle/>
          <a:p>
            <a:pPr marL="0" indent="0" algn="l">
              <a:buNone/>
            </a:pPr>
            <a:r>
              <a:rPr lang="en-US" sz="1050" b="1" dirty="0">
                <a:solidFill>
                  <a:srgbClr val="12735B"/>
                </a:solidFill>
                <a:latin typeface="Calibri" pitchFamily="34" charset="0"/>
                <a:ea typeface="Calibri" pitchFamily="34" charset="-122"/>
                <a:cs typeface="Calibri" pitchFamily="34" charset="-120"/>
              </a:rPr>
              <a:t>Which assumptions must be tested before building?</a:t>
            </a:r>
            <a:endParaRPr lang="en-US" sz="1050" dirty="0"/>
          </a:p>
        </p:txBody>
      </p:sp>
      <p:sp>
        <p:nvSpPr>
          <p:cNvPr id="23" name="Shape 18"/>
          <p:cNvSpPr/>
          <p:nvPr/>
        </p:nvSpPr>
        <p:spPr>
          <a:xfrm>
            <a:off x="6035040" y="1280160"/>
            <a:ext cx="2651760" cy="338328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24" name="Shape 19"/>
          <p:cNvSpPr/>
          <p:nvPr/>
        </p:nvSpPr>
        <p:spPr>
          <a:xfrm>
            <a:off x="6217920" y="1444752"/>
            <a:ext cx="457200" cy="457200"/>
          </a:xfrm>
          <a:prstGeom prst="ellipse">
            <a:avLst/>
          </a:prstGeom>
          <a:solidFill>
            <a:srgbClr val="12735B"/>
          </a:solidFill>
          <a:ln/>
        </p:spPr>
      </p:sp>
      <p:pic>
        <p:nvPicPr>
          <p:cNvPr id="25" name="Image 2" descr="preencoded.png"/>
          <p:cNvPicPr>
            <a:picLocks noChangeAspect="1"/>
          </p:cNvPicPr>
          <p:nvPr/>
        </p:nvPicPr>
        <p:blipFill>
          <a:blip r:embed="rId5"/>
          <a:stretch>
            <a:fillRect/>
          </a:stretch>
        </p:blipFill>
        <p:spPr>
          <a:xfrm>
            <a:off x="6332220" y="1559052"/>
            <a:ext cx="228600" cy="228600"/>
          </a:xfrm>
          <a:prstGeom prst="rect">
            <a:avLst/>
          </a:prstGeom>
        </p:spPr>
      </p:pic>
      <p:sp>
        <p:nvSpPr>
          <p:cNvPr id="26" name="Text 20"/>
          <p:cNvSpPr txBox="1"/>
          <p:nvPr/>
        </p:nvSpPr>
        <p:spPr>
          <a:xfrm>
            <a:off x="6812280" y="1444752"/>
            <a:ext cx="178308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Riskiest assumptions</a:t>
            </a:r>
            <a:endParaRPr lang="en-US" sz="1400" dirty="0"/>
          </a:p>
        </p:txBody>
      </p:sp>
      <p:sp>
        <p:nvSpPr>
          <p:cNvPr id="27" name="Text 21"/>
          <p:cNvSpPr txBox="1"/>
          <p:nvPr/>
        </p:nvSpPr>
        <p:spPr>
          <a:xfrm>
            <a:off x="6217920" y="2011680"/>
            <a:ext cx="2331720" cy="228600"/>
          </a:xfrm>
          <a:prstGeom prst="rect">
            <a:avLst/>
          </a:prstGeom>
          <a:noFill/>
          <a:ln/>
        </p:spPr>
        <p:txBody>
          <a:bodyPr wrap="square" lIns="0" tIns="0" rIns="0" bIns="0" rtlCol="0" anchor="t"/>
          <a:lstStyle/>
          <a:p>
            <a:pPr marL="0" indent="0" algn="l">
              <a:buNone/>
            </a:pPr>
            <a:r>
              <a:rPr lang="en-US" sz="1100" i="1" dirty="0">
                <a:solidFill>
                  <a:srgbClr val="587068"/>
                </a:solidFill>
                <a:latin typeface="Calibri" pitchFamily="34" charset="0"/>
                <a:ea typeface="Calibri" pitchFamily="34" charset="-122"/>
                <a:cs typeface="Calibri" pitchFamily="34" charset="-120"/>
              </a:rPr>
              <a:t>Give it a business concept.</a:t>
            </a:r>
            <a:endParaRPr lang="en-US" sz="1100" dirty="0"/>
          </a:p>
        </p:txBody>
      </p:sp>
      <p:sp>
        <p:nvSpPr>
          <p:cNvPr id="28" name="Text 22"/>
          <p:cNvSpPr txBox="1"/>
          <p:nvPr/>
        </p:nvSpPr>
        <p:spPr>
          <a:xfrm>
            <a:off x="6217920" y="2331720"/>
            <a:ext cx="2331720" cy="1691640"/>
          </a:xfrm>
          <a:prstGeom prst="rect">
            <a:avLst/>
          </a:prstGeom>
          <a:noFill/>
          <a:ln/>
        </p:spPr>
        <p:txBody>
          <a:bodyPr wrap="square" lIns="0" tIns="0" rIns="0" bIns="0" rtlCol="0" anchor="t"/>
          <a:lstStyle/>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Problem existence and severity</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Willingness to pay</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Customer access and trust</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Competition</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Solution effectiveness</a:t>
            </a:r>
            <a:endParaRPr lang="en-US" sz="1200" dirty="0"/>
          </a:p>
          <a:p>
            <a:pPr marL="152400" indent="-152400" algn="l">
              <a:spcAft>
                <a:spcPts val="400"/>
              </a:spcAft>
              <a:buSzPct val="100000"/>
              <a:buChar char="•"/>
            </a:pPr>
            <a:r>
              <a:rPr lang="en-US" sz="1100" dirty="0">
                <a:solidFill>
                  <a:srgbClr val="15302B"/>
                </a:solidFill>
                <a:latin typeface="Calibri" pitchFamily="34" charset="0"/>
                <a:ea typeface="Calibri" pitchFamily="34" charset="-122"/>
                <a:cs typeface="Calibri" pitchFamily="34" charset="-120"/>
              </a:rPr>
              <a:t>Economics</a:t>
            </a:r>
            <a:endParaRPr lang="en-US" sz="1200" dirty="0"/>
          </a:p>
        </p:txBody>
      </p:sp>
      <p:sp>
        <p:nvSpPr>
          <p:cNvPr id="29" name="Shape 23"/>
          <p:cNvSpPr/>
          <p:nvPr/>
        </p:nvSpPr>
        <p:spPr>
          <a:xfrm>
            <a:off x="6172200" y="4023360"/>
            <a:ext cx="2377440" cy="548640"/>
          </a:xfrm>
          <a:prstGeom prst="roundRect">
            <a:avLst>
              <a:gd name="adj" fmla="val 13333"/>
            </a:avLst>
          </a:prstGeom>
          <a:solidFill>
            <a:srgbClr val="DFF1EA"/>
          </a:solidFill>
          <a:ln/>
        </p:spPr>
      </p:sp>
      <p:sp>
        <p:nvSpPr>
          <p:cNvPr id="30" name="Text 24"/>
          <p:cNvSpPr txBox="1"/>
          <p:nvPr/>
        </p:nvSpPr>
        <p:spPr>
          <a:xfrm>
            <a:off x="6263640" y="4023360"/>
            <a:ext cx="2194560" cy="548640"/>
          </a:xfrm>
          <a:prstGeom prst="rect">
            <a:avLst/>
          </a:prstGeom>
          <a:noFill/>
          <a:ln/>
        </p:spPr>
        <p:txBody>
          <a:bodyPr wrap="square" lIns="0" tIns="0" rIns="0" bIns="0" rtlCol="0" anchor="ctr"/>
          <a:lstStyle/>
          <a:p>
            <a:pPr marL="0" indent="0" algn="l">
              <a:buNone/>
            </a:pPr>
            <a:r>
              <a:rPr lang="en-US" sz="1050" b="1" dirty="0">
                <a:solidFill>
                  <a:srgbClr val="12735B"/>
                </a:solidFill>
                <a:latin typeface="Calibri" pitchFamily="34" charset="0"/>
                <a:ea typeface="Calibri" pitchFamily="34" charset="-122"/>
                <a:cs typeface="Calibri" pitchFamily="34" charset="-120"/>
              </a:rPr>
              <a:t>Cheapest experiment that could prove me wrong.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2 · CLASS EXERCISE</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৳1,000 validation challenge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457200" y="1280160"/>
            <a:ext cx="4114800" cy="1005840"/>
          </a:xfrm>
          <a:prstGeom prst="roundRect">
            <a:avLst>
              <a:gd name="adj" fmla="val 9091"/>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685800" y="1280160"/>
            <a:ext cx="3657600" cy="100584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You have ৳1,000. You cannot build the product.</a:t>
            </a:r>
            <a:endParaRPr lang="en-US" sz="1200" dirty="0"/>
          </a:p>
          <a:p>
            <a:pPr marL="0" indent="0" algn="l">
              <a:buNone/>
            </a:pPr>
            <a:r>
              <a:rPr lang="en-US" sz="1500" i="1" dirty="0">
                <a:solidFill>
                  <a:srgbClr val="F4A52A"/>
                </a:solidFill>
                <a:latin typeface="Cambria" pitchFamily="34" charset="0"/>
                <a:ea typeface="Cambria" pitchFamily="34" charset="-122"/>
                <a:cs typeface="Cambria" pitchFamily="34" charset="-120"/>
              </a:rPr>
              <a:t>How do you test demand?</a:t>
            </a:r>
            <a:endParaRPr lang="en-US" sz="1200" dirty="0"/>
          </a:p>
        </p:txBody>
      </p:sp>
      <p:sp>
        <p:nvSpPr>
          <p:cNvPr id="9" name="Text 6"/>
          <p:cNvSpPr txBox="1"/>
          <p:nvPr/>
        </p:nvSpPr>
        <p:spPr>
          <a:xfrm>
            <a:off x="457200" y="2450592"/>
            <a:ext cx="2743200" cy="182880"/>
          </a:xfrm>
          <a:prstGeom prst="rect">
            <a:avLst/>
          </a:prstGeom>
          <a:noFill/>
          <a:ln/>
        </p:spPr>
        <p:txBody>
          <a:bodyPr wrap="square" lIns="0" tIns="0" rIns="0" bIns="0" rtlCol="0" anchor="t"/>
          <a:lstStyle/>
          <a:p>
            <a:pPr marL="0" indent="0" algn="l">
              <a:buNone/>
            </a:pPr>
            <a:r>
              <a:rPr lang="en-US" sz="950" b="1" kern="0" spc="150" dirty="0">
                <a:solidFill>
                  <a:srgbClr val="587068"/>
                </a:solidFill>
                <a:latin typeface="Calibri" pitchFamily="34" charset="0"/>
                <a:ea typeface="Calibri" pitchFamily="34" charset="-122"/>
                <a:cs typeface="Calibri" pitchFamily="34" charset="-120"/>
              </a:rPr>
              <a:t>POSSIBLE EXPERIMENTS</a:t>
            </a:r>
            <a:endParaRPr lang="en-US" sz="950" dirty="0"/>
          </a:p>
        </p:txBody>
      </p:sp>
      <p:sp>
        <p:nvSpPr>
          <p:cNvPr id="10" name="Shape 7"/>
          <p:cNvSpPr/>
          <p:nvPr/>
        </p:nvSpPr>
        <p:spPr>
          <a:xfrm>
            <a:off x="457200" y="2697480"/>
            <a:ext cx="1624340" cy="292608"/>
          </a:xfrm>
          <a:prstGeom prst="roundRect">
            <a:avLst>
              <a:gd name="adj" fmla="val 50000"/>
            </a:avLst>
          </a:prstGeom>
          <a:solidFill>
            <a:srgbClr val="DFF1EA"/>
          </a:solidFill>
          <a:ln/>
        </p:spPr>
      </p:sp>
      <p:sp>
        <p:nvSpPr>
          <p:cNvPr id="11" name="Text 8"/>
          <p:cNvSpPr txBox="1"/>
          <p:nvPr/>
        </p:nvSpPr>
        <p:spPr>
          <a:xfrm>
            <a:off x="457200" y="2697480"/>
            <a:ext cx="1624340"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Customer interviews</a:t>
            </a:r>
            <a:endParaRPr lang="en-US" sz="1050" dirty="0"/>
          </a:p>
        </p:txBody>
      </p:sp>
      <p:sp>
        <p:nvSpPr>
          <p:cNvPr id="12" name="Shape 9"/>
          <p:cNvSpPr/>
          <p:nvPr/>
        </p:nvSpPr>
        <p:spPr>
          <a:xfrm>
            <a:off x="2154692" y="2697480"/>
            <a:ext cx="1140440" cy="292608"/>
          </a:xfrm>
          <a:prstGeom prst="roundRect">
            <a:avLst>
              <a:gd name="adj" fmla="val 50000"/>
            </a:avLst>
          </a:prstGeom>
          <a:solidFill>
            <a:srgbClr val="DFF1EA"/>
          </a:solidFill>
          <a:ln/>
        </p:spPr>
      </p:sp>
      <p:sp>
        <p:nvSpPr>
          <p:cNvPr id="13" name="Text 10"/>
          <p:cNvSpPr txBox="1"/>
          <p:nvPr/>
        </p:nvSpPr>
        <p:spPr>
          <a:xfrm>
            <a:off x="2154692" y="2697480"/>
            <a:ext cx="1140440"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Landing page</a:t>
            </a:r>
            <a:endParaRPr lang="en-US" sz="1050" dirty="0"/>
          </a:p>
        </p:txBody>
      </p:sp>
      <p:sp>
        <p:nvSpPr>
          <p:cNvPr id="14" name="Shape 11"/>
          <p:cNvSpPr/>
          <p:nvPr/>
        </p:nvSpPr>
        <p:spPr>
          <a:xfrm>
            <a:off x="457200" y="3063240"/>
            <a:ext cx="1209568" cy="292608"/>
          </a:xfrm>
          <a:prstGeom prst="roundRect">
            <a:avLst>
              <a:gd name="adj" fmla="val 50000"/>
            </a:avLst>
          </a:prstGeom>
          <a:solidFill>
            <a:srgbClr val="DFF1EA"/>
          </a:solidFill>
          <a:ln/>
        </p:spPr>
      </p:sp>
      <p:sp>
        <p:nvSpPr>
          <p:cNvPr id="15" name="Text 12"/>
          <p:cNvSpPr txBox="1"/>
          <p:nvPr/>
        </p:nvSpPr>
        <p:spPr>
          <a:xfrm>
            <a:off x="457200" y="3063240"/>
            <a:ext cx="1209568"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Facebook post</a:t>
            </a:r>
            <a:endParaRPr lang="en-US" sz="1050" dirty="0"/>
          </a:p>
        </p:txBody>
      </p:sp>
      <p:sp>
        <p:nvSpPr>
          <p:cNvPr id="16" name="Shape 13"/>
          <p:cNvSpPr/>
          <p:nvPr/>
        </p:nvSpPr>
        <p:spPr>
          <a:xfrm>
            <a:off x="1739920" y="3063240"/>
            <a:ext cx="1278697" cy="292608"/>
          </a:xfrm>
          <a:prstGeom prst="roundRect">
            <a:avLst>
              <a:gd name="adj" fmla="val 50000"/>
            </a:avLst>
          </a:prstGeom>
          <a:solidFill>
            <a:srgbClr val="DFF1EA"/>
          </a:solidFill>
          <a:ln/>
        </p:spPr>
      </p:sp>
      <p:sp>
        <p:nvSpPr>
          <p:cNvPr id="17" name="Text 14"/>
          <p:cNvSpPr txBox="1"/>
          <p:nvPr/>
        </p:nvSpPr>
        <p:spPr>
          <a:xfrm>
            <a:off x="1739920" y="3063240"/>
            <a:ext cx="1278697"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Fake-door test</a:t>
            </a:r>
            <a:endParaRPr lang="en-US" sz="1050" dirty="0"/>
          </a:p>
        </p:txBody>
      </p:sp>
      <p:sp>
        <p:nvSpPr>
          <p:cNvPr id="18" name="Shape 15"/>
          <p:cNvSpPr/>
          <p:nvPr/>
        </p:nvSpPr>
        <p:spPr>
          <a:xfrm>
            <a:off x="3091769" y="3063240"/>
            <a:ext cx="863925" cy="292608"/>
          </a:xfrm>
          <a:prstGeom prst="roundRect">
            <a:avLst>
              <a:gd name="adj" fmla="val 50000"/>
            </a:avLst>
          </a:prstGeom>
          <a:solidFill>
            <a:srgbClr val="DFF1EA"/>
          </a:solidFill>
          <a:ln/>
        </p:spPr>
      </p:sp>
      <p:sp>
        <p:nvSpPr>
          <p:cNvPr id="19" name="Text 16"/>
          <p:cNvSpPr txBox="1"/>
          <p:nvPr/>
        </p:nvSpPr>
        <p:spPr>
          <a:xfrm>
            <a:off x="3091769" y="3063240"/>
            <a:ext cx="863925"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Waitlist</a:t>
            </a:r>
            <a:endParaRPr lang="en-US" sz="1050" dirty="0"/>
          </a:p>
        </p:txBody>
      </p:sp>
      <p:sp>
        <p:nvSpPr>
          <p:cNvPr id="20" name="Shape 17"/>
          <p:cNvSpPr/>
          <p:nvPr/>
        </p:nvSpPr>
        <p:spPr>
          <a:xfrm>
            <a:off x="457200" y="3429000"/>
            <a:ext cx="1762597" cy="292608"/>
          </a:xfrm>
          <a:prstGeom prst="roundRect">
            <a:avLst>
              <a:gd name="adj" fmla="val 50000"/>
            </a:avLst>
          </a:prstGeom>
          <a:solidFill>
            <a:srgbClr val="DFF1EA"/>
          </a:solidFill>
          <a:ln/>
        </p:spPr>
      </p:sp>
      <p:sp>
        <p:nvSpPr>
          <p:cNvPr id="21" name="Text 18"/>
          <p:cNvSpPr txBox="1"/>
          <p:nvPr/>
        </p:nvSpPr>
        <p:spPr>
          <a:xfrm>
            <a:off x="457200" y="3429000"/>
            <a:ext cx="1762597"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WhatsApp enquiry form</a:t>
            </a:r>
            <a:endParaRPr lang="en-US" sz="1050" dirty="0"/>
          </a:p>
        </p:txBody>
      </p:sp>
      <p:sp>
        <p:nvSpPr>
          <p:cNvPr id="22" name="Shape 19"/>
          <p:cNvSpPr/>
          <p:nvPr/>
        </p:nvSpPr>
        <p:spPr>
          <a:xfrm>
            <a:off x="2292949" y="3429000"/>
            <a:ext cx="1278697" cy="292608"/>
          </a:xfrm>
          <a:prstGeom prst="roundRect">
            <a:avLst>
              <a:gd name="adj" fmla="val 50000"/>
            </a:avLst>
          </a:prstGeom>
          <a:solidFill>
            <a:srgbClr val="DFF1EA"/>
          </a:solidFill>
          <a:ln/>
        </p:spPr>
      </p:sp>
      <p:sp>
        <p:nvSpPr>
          <p:cNvPr id="23" name="Text 20"/>
          <p:cNvSpPr txBox="1"/>
          <p:nvPr/>
        </p:nvSpPr>
        <p:spPr>
          <a:xfrm>
            <a:off x="2292949" y="3429000"/>
            <a:ext cx="1278697"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Prototype demo</a:t>
            </a:r>
            <a:endParaRPr lang="en-US" sz="1050" dirty="0"/>
          </a:p>
        </p:txBody>
      </p:sp>
      <p:sp>
        <p:nvSpPr>
          <p:cNvPr id="24" name="Shape 21"/>
          <p:cNvSpPr/>
          <p:nvPr/>
        </p:nvSpPr>
        <p:spPr>
          <a:xfrm>
            <a:off x="457200" y="3794760"/>
            <a:ext cx="933054" cy="292608"/>
          </a:xfrm>
          <a:prstGeom prst="roundRect">
            <a:avLst>
              <a:gd name="adj" fmla="val 50000"/>
            </a:avLst>
          </a:prstGeom>
          <a:solidFill>
            <a:srgbClr val="DFF1EA"/>
          </a:solidFill>
          <a:ln/>
        </p:spPr>
      </p:sp>
      <p:sp>
        <p:nvSpPr>
          <p:cNvPr id="25" name="Text 22"/>
          <p:cNvSpPr txBox="1"/>
          <p:nvPr/>
        </p:nvSpPr>
        <p:spPr>
          <a:xfrm>
            <a:off x="457200" y="3794760"/>
            <a:ext cx="933054"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Pre-order</a:t>
            </a:r>
            <a:endParaRPr lang="en-US" sz="1050" dirty="0"/>
          </a:p>
        </p:txBody>
      </p:sp>
      <p:sp>
        <p:nvSpPr>
          <p:cNvPr id="26" name="Shape 23"/>
          <p:cNvSpPr/>
          <p:nvPr/>
        </p:nvSpPr>
        <p:spPr>
          <a:xfrm>
            <a:off x="1463406" y="3794760"/>
            <a:ext cx="1278697" cy="292608"/>
          </a:xfrm>
          <a:prstGeom prst="roundRect">
            <a:avLst>
              <a:gd name="adj" fmla="val 50000"/>
            </a:avLst>
          </a:prstGeom>
          <a:solidFill>
            <a:srgbClr val="DFF1EA"/>
          </a:solidFill>
          <a:ln/>
        </p:spPr>
      </p:sp>
      <p:sp>
        <p:nvSpPr>
          <p:cNvPr id="27" name="Text 24"/>
          <p:cNvSpPr txBox="1"/>
          <p:nvPr/>
        </p:nvSpPr>
        <p:spPr>
          <a:xfrm>
            <a:off x="1463406" y="3794760"/>
            <a:ext cx="1278697"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Manual service</a:t>
            </a:r>
            <a:endParaRPr lang="en-US" sz="1050" dirty="0"/>
          </a:p>
        </p:txBody>
      </p:sp>
      <p:sp>
        <p:nvSpPr>
          <p:cNvPr id="28" name="Shape 25"/>
          <p:cNvSpPr/>
          <p:nvPr/>
        </p:nvSpPr>
        <p:spPr>
          <a:xfrm>
            <a:off x="2815255" y="3794760"/>
            <a:ext cx="1209568" cy="292608"/>
          </a:xfrm>
          <a:prstGeom prst="roundRect">
            <a:avLst>
              <a:gd name="adj" fmla="val 50000"/>
            </a:avLst>
          </a:prstGeom>
          <a:solidFill>
            <a:srgbClr val="DFF1EA"/>
          </a:solidFill>
          <a:ln/>
        </p:spPr>
      </p:sp>
      <p:sp>
        <p:nvSpPr>
          <p:cNvPr id="29" name="Text 26"/>
          <p:cNvSpPr txBox="1"/>
          <p:nvPr/>
        </p:nvSpPr>
        <p:spPr>
          <a:xfrm>
            <a:off x="2815255" y="3794760"/>
            <a:ext cx="1209568"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Cold outreach</a:t>
            </a:r>
            <a:endParaRPr lang="en-US" sz="1050" dirty="0"/>
          </a:p>
        </p:txBody>
      </p:sp>
      <p:sp>
        <p:nvSpPr>
          <p:cNvPr id="30" name="Text 27"/>
          <p:cNvSpPr txBox="1"/>
          <p:nvPr/>
        </p:nvSpPr>
        <p:spPr>
          <a:xfrm>
            <a:off x="4846320" y="1325880"/>
            <a:ext cx="384048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STRENGTH OF EVIDENCE (STRONGEST FIRST)</a:t>
            </a:r>
            <a:endParaRPr lang="en-US" sz="950" dirty="0"/>
          </a:p>
        </p:txBody>
      </p:sp>
      <p:sp>
        <p:nvSpPr>
          <p:cNvPr id="31" name="Shape 28"/>
          <p:cNvSpPr/>
          <p:nvPr/>
        </p:nvSpPr>
        <p:spPr>
          <a:xfrm>
            <a:off x="4846320" y="1627632"/>
            <a:ext cx="3840480" cy="512064"/>
          </a:xfrm>
          <a:prstGeom prst="roundRect">
            <a:avLst>
              <a:gd name="adj" fmla="val 14286"/>
            </a:avLst>
          </a:prstGeom>
          <a:solidFill>
            <a:srgbClr val="0C2622"/>
          </a:solidFill>
          <a:ln/>
        </p:spPr>
      </p:sp>
      <p:sp>
        <p:nvSpPr>
          <p:cNvPr id="32" name="Text 29"/>
          <p:cNvSpPr txBox="1"/>
          <p:nvPr/>
        </p:nvSpPr>
        <p:spPr>
          <a:xfrm>
            <a:off x="5029200" y="1627632"/>
            <a:ext cx="3566160" cy="512064"/>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Money</a:t>
            </a:r>
            <a:endParaRPr lang="en-US" sz="1500" dirty="0"/>
          </a:p>
        </p:txBody>
      </p:sp>
      <p:sp>
        <p:nvSpPr>
          <p:cNvPr id="33" name="Shape 30"/>
          <p:cNvSpPr/>
          <p:nvPr/>
        </p:nvSpPr>
        <p:spPr>
          <a:xfrm>
            <a:off x="4846320" y="2249424"/>
            <a:ext cx="3200400" cy="512064"/>
          </a:xfrm>
          <a:prstGeom prst="roundRect">
            <a:avLst>
              <a:gd name="adj" fmla="val 14286"/>
            </a:avLst>
          </a:prstGeom>
          <a:solidFill>
            <a:srgbClr val="12735B"/>
          </a:solidFill>
          <a:ln/>
        </p:spPr>
      </p:sp>
      <p:sp>
        <p:nvSpPr>
          <p:cNvPr id="34" name="Text 31"/>
          <p:cNvSpPr txBox="1"/>
          <p:nvPr/>
        </p:nvSpPr>
        <p:spPr>
          <a:xfrm>
            <a:off x="5029200" y="2249424"/>
            <a:ext cx="2926080" cy="512064"/>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Commitment</a:t>
            </a:r>
            <a:endParaRPr lang="en-US" sz="1500" dirty="0"/>
          </a:p>
        </p:txBody>
      </p:sp>
      <p:sp>
        <p:nvSpPr>
          <p:cNvPr id="35" name="Shape 32"/>
          <p:cNvSpPr/>
          <p:nvPr/>
        </p:nvSpPr>
        <p:spPr>
          <a:xfrm>
            <a:off x="4846320" y="2871216"/>
            <a:ext cx="2560320" cy="512064"/>
          </a:xfrm>
          <a:prstGeom prst="roundRect">
            <a:avLst>
              <a:gd name="adj" fmla="val 14286"/>
            </a:avLst>
          </a:prstGeom>
          <a:solidFill>
            <a:srgbClr val="6FBFA5"/>
          </a:solidFill>
          <a:ln/>
        </p:spPr>
      </p:sp>
      <p:sp>
        <p:nvSpPr>
          <p:cNvPr id="36" name="Text 33"/>
          <p:cNvSpPr txBox="1"/>
          <p:nvPr/>
        </p:nvSpPr>
        <p:spPr>
          <a:xfrm>
            <a:off x="5029200" y="2871216"/>
            <a:ext cx="2286000" cy="512064"/>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Action</a:t>
            </a:r>
            <a:endParaRPr lang="en-US" sz="1500" dirty="0"/>
          </a:p>
        </p:txBody>
      </p:sp>
      <p:sp>
        <p:nvSpPr>
          <p:cNvPr id="37" name="Shape 34"/>
          <p:cNvSpPr/>
          <p:nvPr/>
        </p:nvSpPr>
        <p:spPr>
          <a:xfrm>
            <a:off x="4846320" y="3493008"/>
            <a:ext cx="1920240" cy="512064"/>
          </a:xfrm>
          <a:prstGeom prst="roundRect">
            <a:avLst>
              <a:gd name="adj" fmla="val 14286"/>
            </a:avLst>
          </a:prstGeom>
          <a:solidFill>
            <a:srgbClr val="B5DCCE"/>
          </a:solidFill>
          <a:ln/>
        </p:spPr>
      </p:sp>
      <p:sp>
        <p:nvSpPr>
          <p:cNvPr id="38" name="Text 35"/>
          <p:cNvSpPr txBox="1"/>
          <p:nvPr/>
        </p:nvSpPr>
        <p:spPr>
          <a:xfrm>
            <a:off x="5029200" y="3493008"/>
            <a:ext cx="1645920" cy="512064"/>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Opinion</a:t>
            </a:r>
            <a:endParaRPr lang="en-US" sz="1500" dirty="0"/>
          </a:p>
        </p:txBody>
      </p:sp>
      <p:sp>
        <p:nvSpPr>
          <p:cNvPr id="39" name="Shape 36"/>
          <p:cNvSpPr/>
          <p:nvPr/>
        </p:nvSpPr>
        <p:spPr>
          <a:xfrm>
            <a:off x="457200" y="4206240"/>
            <a:ext cx="8229600" cy="475488"/>
          </a:xfrm>
          <a:prstGeom prst="roundRect">
            <a:avLst>
              <a:gd name="adj" fmla="val 19231"/>
            </a:avLst>
          </a:prstGeom>
          <a:solidFill>
            <a:srgbClr val="0C2622"/>
          </a:solidFill>
          <a:ln/>
        </p:spPr>
      </p:sp>
      <p:sp>
        <p:nvSpPr>
          <p:cNvPr id="40" name="Text 37"/>
          <p:cNvSpPr txBox="1"/>
          <p:nvPr/>
        </p:nvSpPr>
        <p:spPr>
          <a:xfrm>
            <a:off x="685800" y="4206240"/>
            <a:ext cx="7772400" cy="475488"/>
          </a:xfrm>
          <a:prstGeom prst="rect">
            <a:avLst/>
          </a:prstGeom>
          <a:noFill/>
          <a:ln/>
        </p:spPr>
        <p:txBody>
          <a:bodyPr wrap="square" lIns="0" tIns="0" rIns="0" bIns="0" rtlCol="0" anchor="ctr"/>
          <a:lstStyle/>
          <a:p>
            <a:pPr marL="0" indent="0" algn="l">
              <a:buNone/>
            </a:pPr>
            <a:r>
              <a:rPr lang="en-US" sz="1250" dirty="0">
                <a:solidFill>
                  <a:srgbClr val="FFFFFF"/>
                </a:solidFill>
                <a:latin typeface="Calibri" pitchFamily="34" charset="0"/>
                <a:ea typeface="Calibri" pitchFamily="34" charset="-122"/>
                <a:cs typeface="Calibri" pitchFamily="34" charset="-120"/>
              </a:rPr>
              <a:t>Validation is not asking friends whether an idea sounds good. Validation requires behavior.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03</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3</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Market Research &amp; Validation</a:t>
            </a:r>
            <a:endParaRPr lang="en-US" sz="3600" dirty="0"/>
          </a:p>
        </p:txBody>
      </p:sp>
      <p:sp>
        <p:nvSpPr>
          <p:cNvPr id="6" name="Text 3"/>
          <p:cNvSpPr txBox="1"/>
          <p:nvPr/>
        </p:nvSpPr>
        <p:spPr>
          <a:xfrm>
            <a:off x="640080" y="3922776"/>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AI is extremely useful for research — and extremely good at producing convincing-looking unsupported information.</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Evidence Ladder</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19</a:t>
            </a:r>
            <a:endParaRPr lang="en-US" sz="900" dirty="0"/>
          </a:p>
        </p:txBody>
      </p:sp>
      <p:sp>
        <p:nvSpPr>
          <p:cNvPr id="7" name="Text 4"/>
          <p:cNvSpPr txBox="1"/>
          <p:nvPr/>
        </p:nvSpPr>
        <p:spPr>
          <a:xfrm>
            <a:off x="502920" y="1325880"/>
            <a:ext cx="3931920" cy="1005840"/>
          </a:xfrm>
          <a:prstGeom prst="rect">
            <a:avLst/>
          </a:prstGeom>
          <a:noFill/>
          <a:ln/>
        </p:spPr>
        <p:txBody>
          <a:bodyPr wrap="square" lIns="0" tIns="0" rIns="0" bIns="0" rtlCol="0" anchor="t"/>
          <a:lstStyle/>
          <a:p>
            <a:pPr marL="0" indent="0" algn="l">
              <a:buNone/>
            </a:pPr>
            <a:r>
              <a:rPr lang="en-US" sz="1800" i="1" dirty="0">
                <a:solidFill>
                  <a:srgbClr val="0C2622"/>
                </a:solidFill>
                <a:latin typeface="Cambria" pitchFamily="34" charset="0"/>
                <a:ea typeface="Cambria" pitchFamily="34" charset="-122"/>
                <a:cs typeface="Cambria" pitchFamily="34" charset="-120"/>
              </a:rPr>
              <a:t>Every level up costs more effort — and counts for more.</a:t>
            </a:r>
            <a:endParaRPr lang="en-US" sz="1800" dirty="0"/>
          </a:p>
        </p:txBody>
      </p:sp>
      <p:sp>
        <p:nvSpPr>
          <p:cNvPr id="8" name="Shape 5"/>
          <p:cNvSpPr/>
          <p:nvPr/>
        </p:nvSpPr>
        <p:spPr>
          <a:xfrm>
            <a:off x="502920" y="2862072"/>
            <a:ext cx="1554480" cy="1783080"/>
          </a:xfrm>
          <a:prstGeom prst="roundRect">
            <a:avLst>
              <a:gd name="adj" fmla="val 4706"/>
            </a:avLst>
          </a:prstGeom>
          <a:solidFill>
            <a:srgbClr val="DFF1EA"/>
          </a:solidFill>
          <a:ln/>
        </p:spPr>
      </p:sp>
      <p:sp>
        <p:nvSpPr>
          <p:cNvPr id="9" name="Text 6"/>
          <p:cNvSpPr txBox="1"/>
          <p:nvPr/>
        </p:nvSpPr>
        <p:spPr>
          <a:xfrm>
            <a:off x="630936" y="2990088"/>
            <a:ext cx="128016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1</a:t>
            </a:r>
            <a:endParaRPr lang="en-US" sz="900" dirty="0"/>
          </a:p>
        </p:txBody>
      </p:sp>
      <p:sp>
        <p:nvSpPr>
          <p:cNvPr id="10" name="Text 7"/>
          <p:cNvSpPr txBox="1"/>
          <p:nvPr/>
        </p:nvSpPr>
        <p:spPr>
          <a:xfrm>
            <a:off x="630936" y="3191256"/>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AI hypothesis</a:t>
            </a:r>
            <a:endParaRPr lang="en-US" sz="1300" dirty="0"/>
          </a:p>
        </p:txBody>
      </p:sp>
      <p:sp>
        <p:nvSpPr>
          <p:cNvPr id="11" name="Text 8"/>
          <p:cNvSpPr txBox="1"/>
          <p:nvPr/>
        </p:nvSpPr>
        <p:spPr>
          <a:xfrm>
            <a:off x="630936" y="3685032"/>
            <a:ext cx="1325880" cy="914400"/>
          </a:xfrm>
          <a:prstGeom prst="rect">
            <a:avLst/>
          </a:prstGeom>
          <a:noFill/>
          <a:ln/>
        </p:spPr>
        <p:txBody>
          <a:bodyPr wrap="square" lIns="0" tIns="0" rIns="0" bIns="0" rtlCol="0" anchor="t"/>
          <a:lstStyle/>
          <a:p>
            <a:pPr marL="0" indent="0" algn="l">
              <a:buNone/>
            </a:pPr>
            <a:r>
              <a:rPr lang="en-US" sz="1050" dirty="0">
                <a:solidFill>
                  <a:srgbClr val="0C2622"/>
                </a:solidFill>
                <a:latin typeface="Calibri" pitchFamily="34" charset="0"/>
                <a:ea typeface="Calibri" pitchFamily="34" charset="-122"/>
                <a:cs typeface="Calibri" pitchFamily="34" charset="-120"/>
              </a:rPr>
              <a:t>“Restaurants might struggle with inventory forecasting.” Useful for exploration. Not evidence.</a:t>
            </a:r>
            <a:endParaRPr lang="en-US" sz="1050" dirty="0"/>
          </a:p>
        </p:txBody>
      </p:sp>
      <p:sp>
        <p:nvSpPr>
          <p:cNvPr id="12" name="Shape 9"/>
          <p:cNvSpPr/>
          <p:nvPr/>
        </p:nvSpPr>
        <p:spPr>
          <a:xfrm>
            <a:off x="2148840" y="2569464"/>
            <a:ext cx="1554480" cy="2075688"/>
          </a:xfrm>
          <a:prstGeom prst="roundRect">
            <a:avLst>
              <a:gd name="adj" fmla="val 4706"/>
            </a:avLst>
          </a:prstGeom>
          <a:solidFill>
            <a:srgbClr val="B5DCCE"/>
          </a:solidFill>
          <a:ln/>
        </p:spPr>
      </p:sp>
      <p:sp>
        <p:nvSpPr>
          <p:cNvPr id="13" name="Text 10"/>
          <p:cNvSpPr txBox="1"/>
          <p:nvPr/>
        </p:nvSpPr>
        <p:spPr>
          <a:xfrm>
            <a:off x="2276856" y="2697480"/>
            <a:ext cx="128016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2</a:t>
            </a:r>
            <a:endParaRPr lang="en-US" sz="900" dirty="0"/>
          </a:p>
        </p:txBody>
      </p:sp>
      <p:sp>
        <p:nvSpPr>
          <p:cNvPr id="14" name="Text 11"/>
          <p:cNvSpPr txBox="1"/>
          <p:nvPr/>
        </p:nvSpPr>
        <p:spPr>
          <a:xfrm>
            <a:off x="2276856" y="2898648"/>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Public evidence</a:t>
            </a:r>
            <a:endParaRPr lang="en-US" sz="1300" dirty="0"/>
          </a:p>
        </p:txBody>
      </p:sp>
      <p:sp>
        <p:nvSpPr>
          <p:cNvPr id="15" name="Text 12"/>
          <p:cNvSpPr txBox="1"/>
          <p:nvPr/>
        </p:nvSpPr>
        <p:spPr>
          <a:xfrm>
            <a:off x="2276856" y="3392424"/>
            <a:ext cx="1325880" cy="1207008"/>
          </a:xfrm>
          <a:prstGeom prst="rect">
            <a:avLst/>
          </a:prstGeom>
          <a:noFill/>
          <a:ln/>
        </p:spPr>
        <p:txBody>
          <a:bodyPr wrap="square" lIns="0" tIns="0" rIns="0" bIns="0" rtlCol="0" anchor="t"/>
          <a:lstStyle/>
          <a:p>
            <a:pPr marL="0" indent="0" algn="l">
              <a:buNone/>
            </a:pPr>
            <a:r>
              <a:rPr lang="en-US" sz="1050" dirty="0">
                <a:solidFill>
                  <a:srgbClr val="0C2622"/>
                </a:solidFill>
                <a:latin typeface="Calibri" pitchFamily="34" charset="0"/>
                <a:ea typeface="Calibri" pitchFamily="34" charset="-122"/>
                <a:cs typeface="Calibri" pitchFamily="34" charset="-120"/>
              </a:rPr>
              <a:t>Industry reports, competitor websites, reviews, pricing, government data.</a:t>
            </a:r>
            <a:endParaRPr lang="en-US" sz="1050" dirty="0"/>
          </a:p>
        </p:txBody>
      </p:sp>
      <p:sp>
        <p:nvSpPr>
          <p:cNvPr id="16" name="Shape 13"/>
          <p:cNvSpPr/>
          <p:nvPr/>
        </p:nvSpPr>
        <p:spPr>
          <a:xfrm>
            <a:off x="3794760" y="2276856"/>
            <a:ext cx="1554480" cy="2368296"/>
          </a:xfrm>
          <a:prstGeom prst="roundRect">
            <a:avLst>
              <a:gd name="adj" fmla="val 4706"/>
            </a:avLst>
          </a:prstGeom>
          <a:solidFill>
            <a:srgbClr val="6FBFA5"/>
          </a:solidFill>
          <a:ln/>
        </p:spPr>
      </p:sp>
      <p:sp>
        <p:nvSpPr>
          <p:cNvPr id="17" name="Text 14"/>
          <p:cNvSpPr txBox="1"/>
          <p:nvPr/>
        </p:nvSpPr>
        <p:spPr>
          <a:xfrm>
            <a:off x="3922776" y="2404872"/>
            <a:ext cx="128016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3</a:t>
            </a:r>
            <a:endParaRPr lang="en-US" sz="900" dirty="0"/>
          </a:p>
        </p:txBody>
      </p:sp>
      <p:sp>
        <p:nvSpPr>
          <p:cNvPr id="18" name="Text 15"/>
          <p:cNvSpPr txBox="1"/>
          <p:nvPr/>
        </p:nvSpPr>
        <p:spPr>
          <a:xfrm>
            <a:off x="3922776" y="2606040"/>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Customer evidence</a:t>
            </a:r>
            <a:endParaRPr lang="en-US" sz="1300" dirty="0"/>
          </a:p>
        </p:txBody>
      </p:sp>
      <p:sp>
        <p:nvSpPr>
          <p:cNvPr id="19" name="Text 16"/>
          <p:cNvSpPr txBox="1"/>
          <p:nvPr/>
        </p:nvSpPr>
        <p:spPr>
          <a:xfrm>
            <a:off x="3922776" y="3099816"/>
            <a:ext cx="1325880" cy="1499616"/>
          </a:xfrm>
          <a:prstGeom prst="rect">
            <a:avLst/>
          </a:prstGeom>
          <a:noFill/>
          <a:ln/>
        </p:spPr>
        <p:txBody>
          <a:bodyPr wrap="square" lIns="0" tIns="0" rIns="0" bIns="0" rtlCol="0" anchor="t"/>
          <a:lstStyle/>
          <a:p>
            <a:pPr marL="0" indent="0" algn="l">
              <a:buNone/>
            </a:pPr>
            <a:r>
              <a:rPr lang="en-US" sz="1050" dirty="0">
                <a:solidFill>
                  <a:srgbClr val="0C2622"/>
                </a:solidFill>
                <a:latin typeface="Calibri" pitchFamily="34" charset="0"/>
                <a:ea typeface="Calibri" pitchFamily="34" charset="-122"/>
                <a:cs typeface="Calibri" pitchFamily="34" charset="-120"/>
              </a:rPr>
              <a:t>Interviews, surveys, observations.</a:t>
            </a:r>
            <a:endParaRPr lang="en-US" sz="1050" dirty="0"/>
          </a:p>
        </p:txBody>
      </p:sp>
      <p:sp>
        <p:nvSpPr>
          <p:cNvPr id="20" name="Shape 17"/>
          <p:cNvSpPr/>
          <p:nvPr/>
        </p:nvSpPr>
        <p:spPr>
          <a:xfrm>
            <a:off x="5440680" y="1984248"/>
            <a:ext cx="1554480" cy="2660904"/>
          </a:xfrm>
          <a:prstGeom prst="roundRect">
            <a:avLst>
              <a:gd name="adj" fmla="val 4706"/>
            </a:avLst>
          </a:prstGeom>
          <a:solidFill>
            <a:srgbClr val="1E9A7A"/>
          </a:solidFill>
          <a:ln/>
        </p:spPr>
      </p:sp>
      <p:sp>
        <p:nvSpPr>
          <p:cNvPr id="21" name="Text 18"/>
          <p:cNvSpPr txBox="1"/>
          <p:nvPr/>
        </p:nvSpPr>
        <p:spPr>
          <a:xfrm>
            <a:off x="5568696" y="2112264"/>
            <a:ext cx="1280160" cy="182880"/>
          </a:xfrm>
          <a:prstGeom prst="rect">
            <a:avLst/>
          </a:prstGeom>
          <a:noFill/>
          <a:ln/>
        </p:spPr>
        <p:txBody>
          <a:bodyPr wrap="square" lIns="0" tIns="0" rIns="0" bIns="0" rtlCol="0" anchor="t"/>
          <a:lstStyle/>
          <a:p>
            <a:pPr marL="0" indent="0" algn="l">
              <a:buNone/>
            </a:pPr>
            <a:r>
              <a:rPr lang="en-US" sz="900" b="1" kern="0" spc="150" dirty="0">
                <a:solidFill>
                  <a:srgbClr val="FFFFFF"/>
                </a:solidFill>
                <a:latin typeface="Calibri" pitchFamily="34" charset="0"/>
                <a:ea typeface="Calibri" pitchFamily="34" charset="-122"/>
                <a:cs typeface="Calibri" pitchFamily="34" charset="-120"/>
              </a:rPr>
              <a:t>LEVEL 4</a:t>
            </a:r>
            <a:endParaRPr lang="en-US" sz="900" dirty="0"/>
          </a:p>
        </p:txBody>
      </p:sp>
      <p:sp>
        <p:nvSpPr>
          <p:cNvPr id="22" name="Text 19"/>
          <p:cNvSpPr txBox="1"/>
          <p:nvPr/>
        </p:nvSpPr>
        <p:spPr>
          <a:xfrm>
            <a:off x="5568696" y="2313432"/>
            <a:ext cx="1325880" cy="457200"/>
          </a:xfrm>
          <a:prstGeom prst="rect">
            <a:avLst/>
          </a:prstGeom>
          <a:noFill/>
          <a:ln/>
        </p:spPr>
        <p:txBody>
          <a:bodyPr wrap="square" lIns="0" tIns="0" rIns="0" bIns="0" rtlCol="0" anchor="t"/>
          <a:lstStyle/>
          <a:p>
            <a:pPr marL="0" indent="0" algn="l">
              <a:buNone/>
            </a:pPr>
            <a:r>
              <a:rPr lang="en-US" sz="1300" b="1" dirty="0">
                <a:solidFill>
                  <a:srgbClr val="FFFFFF"/>
                </a:solidFill>
                <a:latin typeface="Cambria" pitchFamily="34" charset="0"/>
                <a:ea typeface="Cambria" pitchFamily="34" charset="-122"/>
                <a:cs typeface="Cambria" pitchFamily="34" charset="-120"/>
              </a:rPr>
              <a:t>Behavioral evidence</a:t>
            </a:r>
            <a:endParaRPr lang="en-US" sz="1300" dirty="0"/>
          </a:p>
        </p:txBody>
      </p:sp>
      <p:sp>
        <p:nvSpPr>
          <p:cNvPr id="23" name="Text 20"/>
          <p:cNvSpPr txBox="1"/>
          <p:nvPr/>
        </p:nvSpPr>
        <p:spPr>
          <a:xfrm>
            <a:off x="5568696" y="2807208"/>
            <a:ext cx="1325880" cy="1792224"/>
          </a:xfrm>
          <a:prstGeom prst="rect">
            <a:avLst/>
          </a:prstGeom>
          <a:noFill/>
          <a:ln/>
        </p:spPr>
        <p:txBody>
          <a:bodyPr wrap="square" lIns="0" tIns="0" rIns="0" bIns="0"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People join a waitlist, request demos, provide information.</a:t>
            </a:r>
            <a:endParaRPr lang="en-US" sz="1050" dirty="0"/>
          </a:p>
        </p:txBody>
      </p:sp>
      <p:sp>
        <p:nvSpPr>
          <p:cNvPr id="24" name="Shape 21"/>
          <p:cNvSpPr/>
          <p:nvPr/>
        </p:nvSpPr>
        <p:spPr>
          <a:xfrm>
            <a:off x="7086600" y="1691640"/>
            <a:ext cx="1554480" cy="2953512"/>
          </a:xfrm>
          <a:prstGeom prst="roundRect">
            <a:avLst>
              <a:gd name="adj" fmla="val 4706"/>
            </a:avLst>
          </a:prstGeom>
          <a:solidFill>
            <a:srgbClr val="0C2622"/>
          </a:solidFill>
          <a:ln/>
        </p:spPr>
      </p:sp>
      <p:sp>
        <p:nvSpPr>
          <p:cNvPr id="25" name="Text 22"/>
          <p:cNvSpPr txBox="1"/>
          <p:nvPr/>
        </p:nvSpPr>
        <p:spPr>
          <a:xfrm>
            <a:off x="7214616" y="1819656"/>
            <a:ext cx="1280160" cy="182880"/>
          </a:xfrm>
          <a:prstGeom prst="rect">
            <a:avLst/>
          </a:prstGeom>
          <a:noFill/>
          <a:ln/>
        </p:spPr>
        <p:txBody>
          <a:bodyPr wrap="square" lIns="0" tIns="0" rIns="0" bIns="0" rtlCol="0" anchor="t"/>
          <a:lstStyle/>
          <a:p>
            <a:pPr marL="0" indent="0" algn="l">
              <a:buNone/>
            </a:pPr>
            <a:r>
              <a:rPr lang="en-US" sz="900" b="1" kern="0" spc="150" dirty="0">
                <a:solidFill>
                  <a:srgbClr val="FFFFFF"/>
                </a:solidFill>
                <a:latin typeface="Calibri" pitchFamily="34" charset="0"/>
                <a:ea typeface="Calibri" pitchFamily="34" charset="-122"/>
                <a:cs typeface="Calibri" pitchFamily="34" charset="-120"/>
              </a:rPr>
              <a:t>LEVEL 5</a:t>
            </a:r>
            <a:endParaRPr lang="en-US" sz="900" dirty="0"/>
          </a:p>
        </p:txBody>
      </p:sp>
      <p:sp>
        <p:nvSpPr>
          <p:cNvPr id="26" name="Text 23"/>
          <p:cNvSpPr txBox="1"/>
          <p:nvPr/>
        </p:nvSpPr>
        <p:spPr>
          <a:xfrm>
            <a:off x="7214616" y="2020824"/>
            <a:ext cx="1325880" cy="457200"/>
          </a:xfrm>
          <a:prstGeom prst="rect">
            <a:avLst/>
          </a:prstGeom>
          <a:noFill/>
          <a:ln/>
        </p:spPr>
        <p:txBody>
          <a:bodyPr wrap="square" lIns="0" tIns="0" rIns="0" bIns="0" rtlCol="0" anchor="t"/>
          <a:lstStyle/>
          <a:p>
            <a:pPr marL="0" indent="0" algn="l">
              <a:buNone/>
            </a:pPr>
            <a:r>
              <a:rPr lang="en-US" sz="1300" b="1" dirty="0">
                <a:solidFill>
                  <a:srgbClr val="FFFFFF"/>
                </a:solidFill>
                <a:latin typeface="Cambria" pitchFamily="34" charset="0"/>
                <a:ea typeface="Cambria" pitchFamily="34" charset="-122"/>
                <a:cs typeface="Cambria" pitchFamily="34" charset="-120"/>
              </a:rPr>
              <a:t>Commercial evidence</a:t>
            </a:r>
            <a:endParaRPr lang="en-US" sz="1300" dirty="0"/>
          </a:p>
        </p:txBody>
      </p:sp>
      <p:sp>
        <p:nvSpPr>
          <p:cNvPr id="27" name="Text 24"/>
          <p:cNvSpPr txBox="1"/>
          <p:nvPr/>
        </p:nvSpPr>
        <p:spPr>
          <a:xfrm>
            <a:off x="7214616" y="2514600"/>
            <a:ext cx="1325880" cy="2084832"/>
          </a:xfrm>
          <a:prstGeom prst="rect">
            <a:avLst/>
          </a:prstGeom>
          <a:noFill/>
          <a:ln/>
        </p:spPr>
        <p:txBody>
          <a:bodyPr wrap="square" lIns="0" tIns="0" rIns="0" bIns="0"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Someone pays.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A better AI research prompt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457200" y="1280160"/>
            <a:ext cx="5349240" cy="3383280"/>
          </a:xfrm>
          <a:prstGeom prst="roundRect">
            <a:avLst>
              <a:gd name="adj" fmla="val 2703"/>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685800" y="1444752"/>
            <a:ext cx="365760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DEEP-RESEARCH PROMPT</a:t>
            </a:r>
            <a:endParaRPr lang="en-US" sz="950" dirty="0"/>
          </a:p>
        </p:txBody>
      </p:sp>
      <p:sp>
        <p:nvSpPr>
          <p:cNvPr id="9" name="Text 6"/>
          <p:cNvSpPr txBox="1"/>
          <p:nvPr/>
        </p:nvSpPr>
        <p:spPr>
          <a:xfrm>
            <a:off x="685800" y="1737360"/>
            <a:ext cx="4937760" cy="2834640"/>
          </a:xfrm>
          <a:prstGeom prst="rect">
            <a:avLst/>
          </a:prstGeom>
          <a:noFill/>
          <a:ln/>
        </p:spPr>
        <p:txBody>
          <a:bodyPr wrap="square" lIns="0" tIns="0" rIns="0" bIns="0" rtlCol="0" anchor="t"/>
          <a:lstStyle/>
          <a:p>
            <a:pPr marL="0" indent="0" algn="l">
              <a:buNone/>
            </a:pPr>
            <a:r>
              <a:rPr lang="en-US" sz="950" dirty="0">
                <a:solidFill>
                  <a:srgbClr val="FFFFFF"/>
                </a:solidFill>
                <a:latin typeface="Courier New" pitchFamily="34" charset="0"/>
                <a:ea typeface="Courier New" pitchFamily="34" charset="-122"/>
                <a:cs typeface="Courier New" pitchFamily="34" charset="-120"/>
              </a:rPr>
              <a:t>Act as a rigorous market researcher.</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Business concept: </a:t>
            </a:r>
            <a:r>
              <a:rPr lang="en-US" sz="950" b="1" dirty="0">
                <a:solidFill>
                  <a:srgbClr val="F4A52A"/>
                </a:solidFill>
                <a:latin typeface="Courier New" pitchFamily="34" charset="0"/>
                <a:ea typeface="Courier New" pitchFamily="34" charset="-122"/>
                <a:cs typeface="Courier New" pitchFamily="34" charset="-120"/>
              </a:rPr>
              <a:t>[idea]</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Geography: </a:t>
            </a:r>
            <a:r>
              <a:rPr lang="en-US" sz="950" b="1" dirty="0">
                <a:solidFill>
                  <a:srgbClr val="F4A52A"/>
                </a:solidFill>
                <a:latin typeface="Courier New" pitchFamily="34" charset="0"/>
                <a:ea typeface="Courier New" pitchFamily="34" charset="-122"/>
                <a:cs typeface="Courier New" pitchFamily="34" charset="-120"/>
              </a:rPr>
              <a:t>[location]</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Customer: </a:t>
            </a:r>
            <a:r>
              <a:rPr lang="en-US" sz="950" b="1" dirty="0">
                <a:solidFill>
                  <a:srgbClr val="F4A52A"/>
                </a:solidFill>
                <a:latin typeface="Courier New" pitchFamily="34" charset="0"/>
                <a:ea typeface="Courier New" pitchFamily="34" charset="-122"/>
                <a:cs typeface="Courier New" pitchFamily="34" charset="-120"/>
              </a:rPr>
              <a:t>[customer]</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Research: 1. Market structure  2. Customer segments  3. Direct competitors  4. Indirect alternatives  5. Competitor pricing  6. Customer complaints  7. Demand indicators  8. Market trends  9. Regulatory considerations</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Separate the output into: Verified facts / Estimates / Assumptions / Unknowns requiring primary research.</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Cite sources for factual claims.</a:t>
            </a:r>
            <a:endParaRPr lang="en-US" sz="950" dirty="0"/>
          </a:p>
          <a:p>
            <a:pPr marL="0" indent="0" algn="l">
              <a:buNone/>
            </a:pPr>
            <a:r>
              <a:rPr lang="en-US" sz="950" dirty="0">
                <a:solidFill>
                  <a:srgbClr val="FFFFFF"/>
                </a:solidFill>
                <a:latin typeface="Courier New" pitchFamily="34" charset="0"/>
                <a:ea typeface="Courier New" pitchFamily="34" charset="-122"/>
                <a:cs typeface="Courier New" pitchFamily="34" charset="-120"/>
              </a:rPr>
              <a:t>Never create a market-size number without showing how it was calculated.</a:t>
            </a:r>
            <a:endParaRPr lang="en-US" sz="950" dirty="0"/>
          </a:p>
        </p:txBody>
      </p:sp>
      <p:sp>
        <p:nvSpPr>
          <p:cNvPr id="10" name="Shape 7"/>
          <p:cNvSpPr/>
          <p:nvPr/>
        </p:nvSpPr>
        <p:spPr>
          <a:xfrm>
            <a:off x="5989320" y="1280160"/>
            <a:ext cx="2697480" cy="868680"/>
          </a:xfrm>
          <a:prstGeom prst="roundRect">
            <a:avLst>
              <a:gd name="adj" fmla="val 10526"/>
            </a:avLst>
          </a:prstGeom>
          <a:solidFill>
            <a:srgbClr val="FBE7E9"/>
          </a:solidFill>
          <a:ln/>
        </p:spPr>
      </p:sp>
      <p:sp>
        <p:nvSpPr>
          <p:cNvPr id="11" name="Text 8"/>
          <p:cNvSpPr txBox="1"/>
          <p:nvPr/>
        </p:nvSpPr>
        <p:spPr>
          <a:xfrm>
            <a:off x="6172200" y="1389888"/>
            <a:ext cx="1828800" cy="182880"/>
          </a:xfrm>
          <a:prstGeom prst="rect">
            <a:avLst/>
          </a:prstGeom>
          <a:noFill/>
          <a:ln/>
        </p:spPr>
        <p:txBody>
          <a:bodyPr wrap="square" lIns="0" tIns="0" rIns="0" bIns="0" rtlCol="0" anchor="t"/>
          <a:lstStyle/>
          <a:p>
            <a:pPr marL="0" indent="0" algn="l">
              <a:buNone/>
            </a:pPr>
            <a:r>
              <a:rPr lang="en-US" sz="950" b="1" kern="0" spc="150" dirty="0">
                <a:solidFill>
                  <a:srgbClr val="C93B4B"/>
                </a:solidFill>
                <a:latin typeface="Calibri" pitchFamily="34" charset="0"/>
                <a:ea typeface="Calibri" pitchFamily="34" charset="-122"/>
                <a:cs typeface="Calibri" pitchFamily="34" charset="-120"/>
              </a:rPr>
              <a:t>INSTEAD OF</a:t>
            </a:r>
            <a:endParaRPr lang="en-US" sz="950" dirty="0"/>
          </a:p>
        </p:txBody>
      </p:sp>
      <p:sp>
        <p:nvSpPr>
          <p:cNvPr id="12" name="Text 9"/>
          <p:cNvSpPr txBox="1"/>
          <p:nvPr/>
        </p:nvSpPr>
        <p:spPr>
          <a:xfrm>
            <a:off x="6172200" y="1627632"/>
            <a:ext cx="2377440" cy="411480"/>
          </a:xfrm>
          <a:prstGeom prst="rect">
            <a:avLst/>
          </a:prstGeom>
          <a:noFill/>
          <a:ln/>
        </p:spPr>
        <p:txBody>
          <a:bodyPr wrap="square" lIns="0" tIns="0" rIns="0" bIns="0" rtlCol="0" anchor="t"/>
          <a:lstStyle/>
          <a:p>
            <a:pPr marL="0" indent="0" algn="l">
              <a:buNone/>
            </a:pPr>
            <a:r>
              <a:rPr lang="en-US" sz="1400" i="1" strike="sngStrike" dirty="0">
                <a:solidFill>
                  <a:srgbClr val="587068"/>
                </a:solidFill>
                <a:latin typeface="Cambria" pitchFamily="34" charset="0"/>
                <a:ea typeface="Cambria" pitchFamily="34" charset="-122"/>
                <a:cs typeface="Cambria" pitchFamily="34" charset="-120"/>
              </a:rPr>
              <a:t>Tell me the market size.</a:t>
            </a:r>
            <a:endParaRPr lang="en-US" sz="1400" dirty="0"/>
          </a:p>
        </p:txBody>
      </p:sp>
      <p:sp>
        <p:nvSpPr>
          <p:cNvPr id="13" name="Text 10"/>
          <p:cNvSpPr txBox="1"/>
          <p:nvPr/>
        </p:nvSpPr>
        <p:spPr>
          <a:xfrm>
            <a:off x="5989320" y="2331720"/>
            <a:ext cx="27432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FORCE FOUR BUCKETS</a:t>
            </a:r>
            <a:endParaRPr lang="en-US" sz="950" dirty="0"/>
          </a:p>
        </p:txBody>
      </p:sp>
      <p:sp>
        <p:nvSpPr>
          <p:cNvPr id="14" name="Shape 11"/>
          <p:cNvSpPr/>
          <p:nvPr/>
        </p:nvSpPr>
        <p:spPr>
          <a:xfrm>
            <a:off x="5989320" y="2606040"/>
            <a:ext cx="2697480" cy="438912"/>
          </a:xfrm>
          <a:prstGeom prst="roundRect">
            <a:avLst>
              <a:gd name="adj" fmla="val 16667"/>
            </a:avLst>
          </a:prstGeom>
          <a:solidFill>
            <a:srgbClr val="0C2622"/>
          </a:solidFill>
          <a:ln/>
        </p:spPr>
      </p:sp>
      <p:sp>
        <p:nvSpPr>
          <p:cNvPr id="15" name="Text 12"/>
          <p:cNvSpPr txBox="1"/>
          <p:nvPr/>
        </p:nvSpPr>
        <p:spPr>
          <a:xfrm>
            <a:off x="6172200" y="2606040"/>
            <a:ext cx="2468880" cy="43891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Verified facts</a:t>
            </a:r>
            <a:endParaRPr lang="en-US" sz="1200" dirty="0"/>
          </a:p>
        </p:txBody>
      </p:sp>
      <p:sp>
        <p:nvSpPr>
          <p:cNvPr id="16" name="Shape 13"/>
          <p:cNvSpPr/>
          <p:nvPr/>
        </p:nvSpPr>
        <p:spPr>
          <a:xfrm>
            <a:off x="5989320" y="3118104"/>
            <a:ext cx="2697480" cy="438912"/>
          </a:xfrm>
          <a:prstGeom prst="roundRect">
            <a:avLst>
              <a:gd name="adj" fmla="val 16667"/>
            </a:avLst>
          </a:prstGeom>
          <a:solidFill>
            <a:srgbClr val="12735B"/>
          </a:solidFill>
          <a:ln/>
        </p:spPr>
      </p:sp>
      <p:sp>
        <p:nvSpPr>
          <p:cNvPr id="17" name="Text 14"/>
          <p:cNvSpPr txBox="1"/>
          <p:nvPr/>
        </p:nvSpPr>
        <p:spPr>
          <a:xfrm>
            <a:off x="6172200" y="3118104"/>
            <a:ext cx="2468880" cy="43891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Estimates</a:t>
            </a:r>
            <a:endParaRPr lang="en-US" sz="1200" dirty="0"/>
          </a:p>
        </p:txBody>
      </p:sp>
      <p:sp>
        <p:nvSpPr>
          <p:cNvPr id="18" name="Shape 15"/>
          <p:cNvSpPr/>
          <p:nvPr/>
        </p:nvSpPr>
        <p:spPr>
          <a:xfrm>
            <a:off x="5989320" y="3630168"/>
            <a:ext cx="2697480" cy="438912"/>
          </a:xfrm>
          <a:prstGeom prst="roundRect">
            <a:avLst>
              <a:gd name="adj" fmla="val 16667"/>
            </a:avLst>
          </a:prstGeom>
          <a:solidFill>
            <a:srgbClr val="6FBFA5"/>
          </a:solidFill>
          <a:ln/>
        </p:spPr>
      </p:sp>
      <p:sp>
        <p:nvSpPr>
          <p:cNvPr id="19" name="Text 16"/>
          <p:cNvSpPr txBox="1"/>
          <p:nvPr/>
        </p:nvSpPr>
        <p:spPr>
          <a:xfrm>
            <a:off x="6172200" y="3630168"/>
            <a:ext cx="2468880" cy="438912"/>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Assumptions</a:t>
            </a:r>
            <a:endParaRPr lang="en-US" sz="1200" dirty="0"/>
          </a:p>
        </p:txBody>
      </p:sp>
      <p:sp>
        <p:nvSpPr>
          <p:cNvPr id="20" name="Shape 17"/>
          <p:cNvSpPr/>
          <p:nvPr/>
        </p:nvSpPr>
        <p:spPr>
          <a:xfrm>
            <a:off x="5989320" y="4142232"/>
            <a:ext cx="2697480" cy="438912"/>
          </a:xfrm>
          <a:prstGeom prst="roundRect">
            <a:avLst>
              <a:gd name="adj" fmla="val 16667"/>
            </a:avLst>
          </a:prstGeom>
          <a:solidFill>
            <a:srgbClr val="B5DCCE"/>
          </a:solidFill>
          <a:ln/>
        </p:spPr>
      </p:sp>
      <p:sp>
        <p:nvSpPr>
          <p:cNvPr id="21" name="Text 18"/>
          <p:cNvSpPr txBox="1"/>
          <p:nvPr/>
        </p:nvSpPr>
        <p:spPr>
          <a:xfrm>
            <a:off x="6172200" y="4142232"/>
            <a:ext cx="2468880" cy="438912"/>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Unknowns → primary research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TAM, SAM and SOM</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502920" y="1371600"/>
            <a:ext cx="3200400" cy="3200400"/>
          </a:xfrm>
          <a:prstGeom prst="ellipse">
            <a:avLst/>
          </a:prstGeom>
          <a:solidFill>
            <a:srgbClr val="DFF1EA"/>
          </a:solidFill>
          <a:ln w="25400">
            <a:solidFill>
              <a:srgbClr val="F3F6F5"/>
            </a:solidFill>
            <a:prstDash val="solid"/>
          </a:ln>
        </p:spPr>
      </p:sp>
      <p:sp>
        <p:nvSpPr>
          <p:cNvPr id="8" name="Shape 5"/>
          <p:cNvSpPr/>
          <p:nvPr/>
        </p:nvSpPr>
        <p:spPr>
          <a:xfrm>
            <a:off x="960120" y="2286000"/>
            <a:ext cx="2286000" cy="2286000"/>
          </a:xfrm>
          <a:prstGeom prst="ellipse">
            <a:avLst/>
          </a:prstGeom>
          <a:solidFill>
            <a:srgbClr val="6FBFA5"/>
          </a:solidFill>
          <a:ln w="25400">
            <a:solidFill>
              <a:srgbClr val="F3F6F5"/>
            </a:solidFill>
            <a:prstDash val="solid"/>
          </a:ln>
        </p:spPr>
      </p:sp>
      <p:sp>
        <p:nvSpPr>
          <p:cNvPr id="9" name="Shape 6"/>
          <p:cNvSpPr/>
          <p:nvPr/>
        </p:nvSpPr>
        <p:spPr>
          <a:xfrm>
            <a:off x="1417320" y="3200400"/>
            <a:ext cx="1371600" cy="1371600"/>
          </a:xfrm>
          <a:prstGeom prst="ellipse">
            <a:avLst/>
          </a:prstGeom>
          <a:solidFill>
            <a:srgbClr val="12735B"/>
          </a:solidFill>
          <a:ln w="25400">
            <a:solidFill>
              <a:srgbClr val="F3F6F5"/>
            </a:solidFill>
            <a:prstDash val="solid"/>
          </a:ln>
        </p:spPr>
      </p:sp>
      <p:sp>
        <p:nvSpPr>
          <p:cNvPr id="10" name="Text 7"/>
          <p:cNvSpPr txBox="1"/>
          <p:nvPr/>
        </p:nvSpPr>
        <p:spPr>
          <a:xfrm>
            <a:off x="1371600" y="1508760"/>
            <a:ext cx="1463040" cy="320040"/>
          </a:xfrm>
          <a:prstGeom prst="rect">
            <a:avLst/>
          </a:prstGeom>
          <a:noFill/>
          <a:ln/>
        </p:spPr>
        <p:txBody>
          <a:bodyPr wrap="square" lIns="0" tIns="0" rIns="0" bIns="0" rtlCol="0" anchor="t"/>
          <a:lstStyle/>
          <a:p>
            <a:pPr marL="0" indent="0" algn="ctr">
              <a:buNone/>
            </a:pPr>
            <a:r>
              <a:rPr lang="en-US" sz="1600" b="1" dirty="0">
                <a:solidFill>
                  <a:srgbClr val="0C2622"/>
                </a:solidFill>
                <a:latin typeface="Cambria" pitchFamily="34" charset="0"/>
                <a:ea typeface="Cambria" pitchFamily="34" charset="-122"/>
                <a:cs typeface="Cambria" pitchFamily="34" charset="-120"/>
              </a:rPr>
              <a:t>TAM</a:t>
            </a:r>
            <a:endParaRPr lang="en-US" sz="1600" dirty="0"/>
          </a:p>
        </p:txBody>
      </p:sp>
      <p:sp>
        <p:nvSpPr>
          <p:cNvPr id="11" name="Text 8"/>
          <p:cNvSpPr txBox="1"/>
          <p:nvPr/>
        </p:nvSpPr>
        <p:spPr>
          <a:xfrm>
            <a:off x="1371600" y="2377440"/>
            <a:ext cx="1463040" cy="320040"/>
          </a:xfrm>
          <a:prstGeom prst="rect">
            <a:avLst/>
          </a:prstGeom>
          <a:noFill/>
          <a:ln/>
        </p:spPr>
        <p:txBody>
          <a:bodyPr wrap="square" lIns="0" tIns="0" rIns="0" bIns="0" rtlCol="0" anchor="t"/>
          <a:lstStyle/>
          <a:p>
            <a:pPr marL="0" indent="0" algn="ctr">
              <a:buNone/>
            </a:pPr>
            <a:r>
              <a:rPr lang="en-US" sz="1600" b="1" dirty="0">
                <a:solidFill>
                  <a:srgbClr val="0C2622"/>
                </a:solidFill>
                <a:latin typeface="Cambria" pitchFamily="34" charset="0"/>
                <a:ea typeface="Cambria" pitchFamily="34" charset="-122"/>
                <a:cs typeface="Cambria" pitchFamily="34" charset="-120"/>
              </a:rPr>
              <a:t>SAM</a:t>
            </a:r>
            <a:endParaRPr lang="en-US" sz="1600" dirty="0"/>
          </a:p>
        </p:txBody>
      </p:sp>
      <p:sp>
        <p:nvSpPr>
          <p:cNvPr id="12" name="Text 9"/>
          <p:cNvSpPr txBox="1"/>
          <p:nvPr/>
        </p:nvSpPr>
        <p:spPr>
          <a:xfrm>
            <a:off x="1371600" y="3520440"/>
            <a:ext cx="146304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mbria" pitchFamily="34" charset="0"/>
                <a:ea typeface="Cambria" pitchFamily="34" charset="-122"/>
                <a:cs typeface="Cambria" pitchFamily="34" charset="-120"/>
              </a:rPr>
              <a:t>SOM</a:t>
            </a:r>
            <a:endParaRPr lang="en-US" sz="1800" dirty="0"/>
          </a:p>
        </p:txBody>
      </p:sp>
      <p:sp>
        <p:nvSpPr>
          <p:cNvPr id="13" name="Shape 10"/>
          <p:cNvSpPr/>
          <p:nvPr/>
        </p:nvSpPr>
        <p:spPr>
          <a:xfrm>
            <a:off x="4206240" y="1371600"/>
            <a:ext cx="201168" cy="201168"/>
          </a:xfrm>
          <a:prstGeom prst="ellipse">
            <a:avLst/>
          </a:prstGeom>
          <a:solidFill>
            <a:srgbClr val="B5DCCE"/>
          </a:solidFill>
          <a:ln/>
        </p:spPr>
      </p:sp>
      <p:sp>
        <p:nvSpPr>
          <p:cNvPr id="14" name="Text 11"/>
          <p:cNvSpPr txBox="1"/>
          <p:nvPr/>
        </p:nvSpPr>
        <p:spPr>
          <a:xfrm>
            <a:off x="4572000" y="1280160"/>
            <a:ext cx="4114800" cy="64008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TAM  </a:t>
            </a:r>
            <a:r>
              <a:rPr lang="en-US" sz="1100" dirty="0">
                <a:solidFill>
                  <a:srgbClr val="587068"/>
                </a:solidFill>
                <a:latin typeface="Calibri" pitchFamily="34" charset="0"/>
                <a:ea typeface="Calibri" pitchFamily="34" charset="-122"/>
                <a:cs typeface="Calibri" pitchFamily="34" charset="-120"/>
              </a:rPr>
              <a:t>Total Addressable Market</a:t>
            </a:r>
            <a:endParaRPr lang="en-US" sz="1200" dirty="0"/>
          </a:p>
          <a:p>
            <a:pPr marL="0" indent="0" algn="l">
              <a:buNone/>
            </a:pPr>
            <a:r>
              <a:rPr lang="en-US" sz="1150" dirty="0">
                <a:solidFill>
                  <a:srgbClr val="15302B"/>
                </a:solidFill>
                <a:latin typeface="Calibri" pitchFamily="34" charset="0"/>
                <a:ea typeface="Calibri" pitchFamily="34" charset="-122"/>
                <a:cs typeface="Calibri" pitchFamily="34" charset="-120"/>
              </a:rPr>
              <a:t>Everyone who theoretically could buy.</a:t>
            </a:r>
            <a:endParaRPr lang="en-US" sz="1200" dirty="0"/>
          </a:p>
        </p:txBody>
      </p:sp>
      <p:sp>
        <p:nvSpPr>
          <p:cNvPr id="15" name="Shape 12"/>
          <p:cNvSpPr/>
          <p:nvPr/>
        </p:nvSpPr>
        <p:spPr>
          <a:xfrm>
            <a:off x="4206240" y="2084832"/>
            <a:ext cx="201168" cy="201168"/>
          </a:xfrm>
          <a:prstGeom prst="ellipse">
            <a:avLst/>
          </a:prstGeom>
          <a:solidFill>
            <a:srgbClr val="6FBFA5"/>
          </a:solidFill>
          <a:ln/>
        </p:spPr>
      </p:sp>
      <p:sp>
        <p:nvSpPr>
          <p:cNvPr id="16" name="Text 13"/>
          <p:cNvSpPr txBox="1"/>
          <p:nvPr/>
        </p:nvSpPr>
        <p:spPr>
          <a:xfrm>
            <a:off x="4572000" y="1993392"/>
            <a:ext cx="4114800" cy="64008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SAM  </a:t>
            </a:r>
            <a:r>
              <a:rPr lang="en-US" sz="1100" dirty="0">
                <a:solidFill>
                  <a:srgbClr val="587068"/>
                </a:solidFill>
                <a:latin typeface="Calibri" pitchFamily="34" charset="0"/>
                <a:ea typeface="Calibri" pitchFamily="34" charset="-122"/>
                <a:cs typeface="Calibri" pitchFamily="34" charset="-120"/>
              </a:rPr>
              <a:t>Serviceable Available Market</a:t>
            </a:r>
            <a:endParaRPr lang="en-US" sz="1200" dirty="0"/>
          </a:p>
          <a:p>
            <a:pPr marL="0" indent="0" algn="l">
              <a:buNone/>
            </a:pPr>
            <a:r>
              <a:rPr lang="en-US" sz="1150" dirty="0">
                <a:solidFill>
                  <a:srgbClr val="15302B"/>
                </a:solidFill>
                <a:latin typeface="Calibri" pitchFamily="34" charset="0"/>
                <a:ea typeface="Calibri" pitchFamily="34" charset="-122"/>
                <a:cs typeface="Calibri" pitchFamily="34" charset="-120"/>
              </a:rPr>
              <a:t>Customers your product could realistically serve.</a:t>
            </a:r>
            <a:endParaRPr lang="en-US" sz="1200" dirty="0"/>
          </a:p>
        </p:txBody>
      </p:sp>
      <p:sp>
        <p:nvSpPr>
          <p:cNvPr id="17" name="Shape 14"/>
          <p:cNvSpPr/>
          <p:nvPr/>
        </p:nvSpPr>
        <p:spPr>
          <a:xfrm>
            <a:off x="4206240" y="2798064"/>
            <a:ext cx="201168" cy="201168"/>
          </a:xfrm>
          <a:prstGeom prst="ellipse">
            <a:avLst/>
          </a:prstGeom>
          <a:solidFill>
            <a:srgbClr val="12735B"/>
          </a:solidFill>
          <a:ln/>
        </p:spPr>
      </p:sp>
      <p:sp>
        <p:nvSpPr>
          <p:cNvPr id="18" name="Text 15"/>
          <p:cNvSpPr txBox="1"/>
          <p:nvPr/>
        </p:nvSpPr>
        <p:spPr>
          <a:xfrm>
            <a:off x="4572000" y="2706624"/>
            <a:ext cx="4114800" cy="64008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SOM  </a:t>
            </a:r>
            <a:r>
              <a:rPr lang="en-US" sz="1100" dirty="0">
                <a:solidFill>
                  <a:srgbClr val="587068"/>
                </a:solidFill>
                <a:latin typeface="Calibri" pitchFamily="34" charset="0"/>
                <a:ea typeface="Calibri" pitchFamily="34" charset="-122"/>
                <a:cs typeface="Calibri" pitchFamily="34" charset="-120"/>
              </a:rPr>
              <a:t>Serviceable Obtainable Market</a:t>
            </a:r>
            <a:endParaRPr lang="en-US" sz="1200" dirty="0"/>
          </a:p>
          <a:p>
            <a:pPr marL="0" indent="0" algn="l">
              <a:buNone/>
            </a:pPr>
            <a:r>
              <a:rPr lang="en-US" sz="1150" dirty="0">
                <a:solidFill>
                  <a:srgbClr val="15302B"/>
                </a:solidFill>
                <a:latin typeface="Calibri" pitchFamily="34" charset="0"/>
                <a:ea typeface="Calibri" pitchFamily="34" charset="-122"/>
                <a:cs typeface="Calibri" pitchFamily="34" charset="-120"/>
              </a:rPr>
              <a:t>Customers you could realistically acquire in the early stage.</a:t>
            </a:r>
            <a:endParaRPr lang="en-US" sz="1200" dirty="0"/>
          </a:p>
        </p:txBody>
      </p:sp>
      <p:sp>
        <p:nvSpPr>
          <p:cNvPr id="19" name="Shape 16"/>
          <p:cNvSpPr/>
          <p:nvPr/>
        </p:nvSpPr>
        <p:spPr>
          <a:xfrm>
            <a:off x="4206240" y="3474720"/>
            <a:ext cx="4480560" cy="1188720"/>
          </a:xfrm>
          <a:prstGeom prst="roundRect">
            <a:avLst>
              <a:gd name="adj" fmla="val 7692"/>
            </a:avLst>
          </a:prstGeom>
          <a:solidFill>
            <a:srgbClr val="0C2622"/>
          </a:solidFill>
          <a:ln/>
          <a:effectLst>
            <a:outerShdw blurRad="101600" dist="25400" dir="5400000" algn="bl" rotWithShape="0">
              <a:srgbClr val="000000">
                <a:alpha val="10000"/>
              </a:srgbClr>
            </a:outerShdw>
          </a:effectLst>
        </p:spPr>
      </p:sp>
      <p:sp>
        <p:nvSpPr>
          <p:cNvPr id="20" name="Text 17"/>
          <p:cNvSpPr txBox="1"/>
          <p:nvPr/>
        </p:nvSpPr>
        <p:spPr>
          <a:xfrm>
            <a:off x="4434840" y="3584448"/>
            <a:ext cx="365760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BOTTOM-UP SIZING</a:t>
            </a:r>
            <a:endParaRPr lang="en-US" sz="950" dirty="0"/>
          </a:p>
        </p:txBody>
      </p:sp>
      <p:sp>
        <p:nvSpPr>
          <p:cNvPr id="21" name="Text 18"/>
          <p:cNvSpPr txBox="1"/>
          <p:nvPr/>
        </p:nvSpPr>
        <p:spPr>
          <a:xfrm>
            <a:off x="4434840" y="3803904"/>
            <a:ext cx="4114800" cy="822960"/>
          </a:xfrm>
          <a:prstGeom prst="rect">
            <a:avLst/>
          </a:prstGeom>
          <a:noFill/>
          <a:ln/>
        </p:spPr>
        <p:txBody>
          <a:bodyPr wrap="square" lIns="0" tIns="0" rIns="0" bIns="0"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2,000 businesses × ৳60,000 a year</a:t>
            </a:r>
            <a:endParaRPr lang="en-US" sz="1200" dirty="0"/>
          </a:p>
          <a:p>
            <a:pPr marL="0" indent="0" algn="l">
              <a:buNone/>
            </a:pPr>
            <a:r>
              <a:rPr lang="en-US" sz="1500" b="1" dirty="0">
                <a:solidFill>
                  <a:srgbClr val="F4A52A"/>
                </a:solidFill>
                <a:latin typeface="Cambria" pitchFamily="34" charset="0"/>
                <a:ea typeface="Cambria" pitchFamily="34" charset="-122"/>
                <a:cs typeface="Cambria" pitchFamily="34" charset="-120"/>
              </a:rPr>
              <a:t>= ৳120,000,000 potential annual market</a:t>
            </a:r>
            <a:endParaRPr lang="en-US" sz="1200" dirty="0"/>
          </a:p>
          <a:p>
            <a:pPr marL="0" indent="0" algn="l">
              <a:buNone/>
            </a:pPr>
            <a:r>
              <a:rPr lang="en-US" sz="1100" i="1" dirty="0">
                <a:solidFill>
                  <a:srgbClr val="DFF1EA"/>
                </a:solidFill>
                <a:latin typeface="Cambria" pitchFamily="34" charset="0"/>
                <a:ea typeface="Cambria" pitchFamily="34" charset="-122"/>
                <a:cs typeface="Cambria" pitchFamily="34" charset="-120"/>
              </a:rPr>
              <a:t>Then challenge every assumption.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Interview about the past, not the future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457200" y="1280160"/>
            <a:ext cx="5029200" cy="2514600"/>
          </a:xfrm>
          <a:prstGeom prst="roundRect">
            <a:avLst>
              <a:gd name="adj" fmla="val 3636"/>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17320"/>
            <a:ext cx="365760" cy="36576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31520" y="1508760"/>
            <a:ext cx="182880" cy="182880"/>
          </a:xfrm>
          <a:prstGeom prst="rect">
            <a:avLst/>
          </a:prstGeom>
        </p:spPr>
      </p:pic>
      <p:sp>
        <p:nvSpPr>
          <p:cNvPr id="10" name="Text 6"/>
          <p:cNvSpPr txBox="1"/>
          <p:nvPr/>
        </p:nvSpPr>
        <p:spPr>
          <a:xfrm>
            <a:off x="1143000" y="1417320"/>
            <a:ext cx="1828800" cy="365760"/>
          </a:xfrm>
          <a:prstGeom prst="rect">
            <a:avLst/>
          </a:prstGeom>
          <a:noFill/>
          <a:ln/>
        </p:spPr>
        <p:txBody>
          <a:bodyPr wrap="square" lIns="0" tIns="0" rIns="0" bIns="0" rtlCol="0" anchor="ctr"/>
          <a:lstStyle/>
          <a:p>
            <a:pPr marL="0" indent="0" algn="l">
              <a:buNone/>
            </a:pPr>
            <a:r>
              <a:rPr lang="en-US" sz="1500" b="1" dirty="0">
                <a:solidFill>
                  <a:srgbClr val="12735B"/>
                </a:solidFill>
                <a:latin typeface="Cambria" pitchFamily="34" charset="0"/>
                <a:ea typeface="Cambria" pitchFamily="34" charset="-122"/>
                <a:cs typeface="Cambria" pitchFamily="34" charset="-120"/>
              </a:rPr>
              <a:t>Ask</a:t>
            </a:r>
            <a:endParaRPr lang="en-US" sz="1500" dirty="0"/>
          </a:p>
        </p:txBody>
      </p:sp>
      <p:sp>
        <p:nvSpPr>
          <p:cNvPr id="11" name="Text 7"/>
          <p:cNvSpPr txBox="1"/>
          <p:nvPr/>
        </p:nvSpPr>
        <p:spPr>
          <a:xfrm>
            <a:off x="685800" y="1920240"/>
            <a:ext cx="4572000" cy="1828800"/>
          </a:xfrm>
          <a:prstGeom prst="rect">
            <a:avLst/>
          </a:prstGeom>
          <a:noFill/>
          <a:ln/>
        </p:spPr>
        <p:txBody>
          <a:bodyPr wrap="square" lIns="0" tIns="0" rIns="0" bIns="0" rtlCol="0" anchor="t"/>
          <a:lstStyle/>
          <a:p>
            <a:pPr marL="0" indent="0" algn="l">
              <a:spcAft>
                <a:spcPts val="500"/>
              </a:spcAft>
              <a:buNone/>
            </a:pPr>
            <a:r>
              <a:rPr lang="en-US" sz="1250" dirty="0">
                <a:solidFill>
                  <a:srgbClr val="15302B"/>
                </a:solidFill>
                <a:latin typeface="Calibri" pitchFamily="34" charset="0"/>
                <a:ea typeface="Calibri" pitchFamily="34" charset="-122"/>
                <a:cs typeface="Calibri" pitchFamily="34" charset="-120"/>
              </a:rPr>
              <a:t>“Tell me about the last time this happened.”</a:t>
            </a:r>
            <a:endParaRPr lang="en-US" sz="1250" dirty="0"/>
          </a:p>
          <a:p>
            <a:pPr marL="0" indent="0" algn="l">
              <a:spcAft>
                <a:spcPts val="500"/>
              </a:spcAft>
              <a:buNone/>
            </a:pPr>
            <a:r>
              <a:rPr lang="en-US" sz="1250" dirty="0">
                <a:solidFill>
                  <a:srgbClr val="15302B"/>
                </a:solidFill>
                <a:latin typeface="Calibri" pitchFamily="34" charset="0"/>
                <a:ea typeface="Calibri" pitchFamily="34" charset="-122"/>
                <a:cs typeface="Calibri" pitchFamily="34" charset="-120"/>
              </a:rPr>
              <a:t>“How did you solve it?”</a:t>
            </a:r>
            <a:endParaRPr lang="en-US" sz="1250" dirty="0"/>
          </a:p>
          <a:p>
            <a:pPr marL="0" indent="0" algn="l">
              <a:spcAft>
                <a:spcPts val="500"/>
              </a:spcAft>
              <a:buNone/>
            </a:pPr>
            <a:r>
              <a:rPr lang="en-US" sz="1250" dirty="0">
                <a:solidFill>
                  <a:srgbClr val="15302B"/>
                </a:solidFill>
                <a:latin typeface="Calibri" pitchFamily="34" charset="0"/>
                <a:ea typeface="Calibri" pitchFamily="34" charset="-122"/>
                <a:cs typeface="Calibri" pitchFamily="34" charset="-120"/>
              </a:rPr>
              <a:t>“How much time did it take?”</a:t>
            </a:r>
            <a:endParaRPr lang="en-US" sz="1250" dirty="0"/>
          </a:p>
          <a:p>
            <a:pPr marL="0" indent="0" algn="l">
              <a:spcAft>
                <a:spcPts val="500"/>
              </a:spcAft>
              <a:buNone/>
            </a:pPr>
            <a:r>
              <a:rPr lang="en-US" sz="1250" dirty="0">
                <a:solidFill>
                  <a:srgbClr val="15302B"/>
                </a:solidFill>
                <a:latin typeface="Calibri" pitchFamily="34" charset="0"/>
                <a:ea typeface="Calibri" pitchFamily="34" charset="-122"/>
                <a:cs typeface="Calibri" pitchFamily="34" charset="-120"/>
              </a:rPr>
              <a:t>“What did it cost?”</a:t>
            </a:r>
            <a:endParaRPr lang="en-US" sz="1250" dirty="0"/>
          </a:p>
          <a:p>
            <a:pPr marL="0" indent="0" algn="l">
              <a:spcAft>
                <a:spcPts val="500"/>
              </a:spcAft>
              <a:buNone/>
            </a:pPr>
            <a:r>
              <a:rPr lang="en-US" sz="1250" dirty="0">
                <a:solidFill>
                  <a:srgbClr val="15302B"/>
                </a:solidFill>
                <a:latin typeface="Calibri" pitchFamily="34" charset="0"/>
                <a:ea typeface="Calibri" pitchFamily="34" charset="-122"/>
                <a:cs typeface="Calibri" pitchFamily="34" charset="-120"/>
              </a:rPr>
              <a:t>“What was frustrating?”</a:t>
            </a:r>
            <a:endParaRPr lang="en-US" sz="1250" dirty="0"/>
          </a:p>
          <a:p>
            <a:pPr marL="0" indent="0" algn="l">
              <a:spcAft>
                <a:spcPts val="500"/>
              </a:spcAft>
              <a:buNone/>
            </a:pPr>
            <a:r>
              <a:rPr lang="en-US" sz="1250" dirty="0">
                <a:solidFill>
                  <a:srgbClr val="15302B"/>
                </a:solidFill>
                <a:latin typeface="Calibri" pitchFamily="34" charset="0"/>
                <a:ea typeface="Calibri" pitchFamily="34" charset="-122"/>
                <a:cs typeface="Calibri" pitchFamily="34" charset="-120"/>
              </a:rPr>
              <a:t>“Have you paid for anything to solve this?”</a:t>
            </a:r>
            <a:endParaRPr lang="en-US" sz="1250" dirty="0"/>
          </a:p>
        </p:txBody>
      </p:sp>
      <p:sp>
        <p:nvSpPr>
          <p:cNvPr id="12" name="Shape 8"/>
          <p:cNvSpPr/>
          <p:nvPr/>
        </p:nvSpPr>
        <p:spPr>
          <a:xfrm>
            <a:off x="5669280" y="1280160"/>
            <a:ext cx="3017520" cy="2514600"/>
          </a:xfrm>
          <a:prstGeom prst="roundRect">
            <a:avLst>
              <a:gd name="adj" fmla="val 3636"/>
            </a:avLst>
          </a:prstGeom>
          <a:solidFill>
            <a:srgbClr val="FBE7E9"/>
          </a:solidFill>
          <a:ln/>
        </p:spPr>
      </p:sp>
      <p:sp>
        <p:nvSpPr>
          <p:cNvPr id="13" name="Shape 9"/>
          <p:cNvSpPr/>
          <p:nvPr/>
        </p:nvSpPr>
        <p:spPr>
          <a:xfrm>
            <a:off x="5852160" y="1417320"/>
            <a:ext cx="365760" cy="365760"/>
          </a:xfrm>
          <a:prstGeom prst="ellipse">
            <a:avLst/>
          </a:prstGeom>
          <a:solidFill>
            <a:srgbClr val="C93B4B"/>
          </a:solidFill>
          <a:ln/>
        </p:spPr>
      </p:sp>
      <p:pic>
        <p:nvPicPr>
          <p:cNvPr id="14" name="Image 1" descr="preencoded.png"/>
          <p:cNvPicPr>
            <a:picLocks noChangeAspect="1"/>
          </p:cNvPicPr>
          <p:nvPr/>
        </p:nvPicPr>
        <p:blipFill>
          <a:blip r:embed="rId4"/>
          <a:stretch>
            <a:fillRect/>
          </a:stretch>
        </p:blipFill>
        <p:spPr>
          <a:xfrm>
            <a:off x="5943600" y="1508760"/>
            <a:ext cx="182880" cy="182880"/>
          </a:xfrm>
          <a:prstGeom prst="rect">
            <a:avLst/>
          </a:prstGeom>
        </p:spPr>
      </p:pic>
      <p:sp>
        <p:nvSpPr>
          <p:cNvPr id="15" name="Text 10"/>
          <p:cNvSpPr txBox="1"/>
          <p:nvPr/>
        </p:nvSpPr>
        <p:spPr>
          <a:xfrm>
            <a:off x="6355080" y="1417320"/>
            <a:ext cx="1828800" cy="365760"/>
          </a:xfrm>
          <a:prstGeom prst="rect">
            <a:avLst/>
          </a:prstGeom>
          <a:noFill/>
          <a:ln/>
        </p:spPr>
        <p:txBody>
          <a:bodyPr wrap="square" lIns="0" tIns="0" rIns="0" bIns="0" rtlCol="0" anchor="ctr"/>
          <a:lstStyle/>
          <a:p>
            <a:pPr marL="0" indent="0" algn="l">
              <a:buNone/>
            </a:pPr>
            <a:r>
              <a:rPr lang="en-US" sz="1500" b="1" dirty="0">
                <a:solidFill>
                  <a:srgbClr val="C93B4B"/>
                </a:solidFill>
                <a:latin typeface="Cambria" pitchFamily="34" charset="0"/>
                <a:ea typeface="Cambria" pitchFamily="34" charset="-122"/>
                <a:cs typeface="Cambria" pitchFamily="34" charset="-120"/>
              </a:rPr>
              <a:t>Not</a:t>
            </a:r>
            <a:endParaRPr lang="en-US" sz="1500" dirty="0"/>
          </a:p>
        </p:txBody>
      </p:sp>
      <p:sp>
        <p:nvSpPr>
          <p:cNvPr id="16" name="Text 11"/>
          <p:cNvSpPr txBox="1"/>
          <p:nvPr/>
        </p:nvSpPr>
        <p:spPr>
          <a:xfrm>
            <a:off x="5852160" y="1920240"/>
            <a:ext cx="2651760" cy="1737360"/>
          </a:xfrm>
          <a:prstGeom prst="rect">
            <a:avLst/>
          </a:prstGeom>
          <a:noFill/>
          <a:ln/>
        </p:spPr>
        <p:txBody>
          <a:bodyPr wrap="square" lIns="0" tIns="0" rIns="0" bIns="0" rtlCol="0" anchor="t"/>
          <a:lstStyle/>
          <a:p>
            <a:pPr marL="0" indent="0" algn="l">
              <a:spcAft>
                <a:spcPts val="600"/>
              </a:spcAft>
              <a:buNone/>
            </a:pPr>
            <a:r>
              <a:rPr lang="en-US" sz="1250" dirty="0">
                <a:solidFill>
                  <a:srgbClr val="15302B"/>
                </a:solidFill>
                <a:latin typeface="Calibri" pitchFamily="34" charset="0"/>
                <a:ea typeface="Calibri" pitchFamily="34" charset="-122"/>
                <a:cs typeface="Calibri" pitchFamily="34" charset="-120"/>
              </a:rPr>
              <a:t>“Would you buy my app?”</a:t>
            </a:r>
            <a:endParaRPr lang="en-US" sz="1250" dirty="0"/>
          </a:p>
          <a:p>
            <a:pPr marL="0" indent="0" algn="l">
              <a:spcAft>
                <a:spcPts val="600"/>
              </a:spcAft>
              <a:buNone/>
            </a:pPr>
            <a:r>
              <a:rPr lang="en-US" sz="1250" dirty="0">
                <a:solidFill>
                  <a:srgbClr val="15302B"/>
                </a:solidFill>
                <a:latin typeface="Calibri" pitchFamily="34" charset="0"/>
                <a:ea typeface="Calibri" pitchFamily="34" charset="-122"/>
                <a:cs typeface="Calibri" pitchFamily="34" charset="-120"/>
              </a:rPr>
              <a:t>“Would you use my amazing product?”</a:t>
            </a:r>
            <a:endParaRPr lang="en-US" sz="1250" dirty="0"/>
          </a:p>
          <a:p>
            <a:pPr marL="0" indent="0" algn="l">
              <a:buNone/>
            </a:pPr>
            <a:r>
              <a:rPr lang="en-US" sz="1100" i="1" dirty="0">
                <a:solidFill>
                  <a:srgbClr val="587068"/>
                </a:solidFill>
                <a:latin typeface="Calibri" pitchFamily="34" charset="0"/>
                <a:ea typeface="Calibri" pitchFamily="34" charset="-122"/>
                <a:cs typeface="Calibri" pitchFamily="34" charset="-120"/>
              </a:rPr>
              <a:t>Leading, hypothetical, flattering.</a:t>
            </a:r>
            <a:endParaRPr lang="en-US" sz="1250" dirty="0"/>
          </a:p>
        </p:txBody>
      </p:sp>
      <p:sp>
        <p:nvSpPr>
          <p:cNvPr id="17" name="Shape 12"/>
          <p:cNvSpPr/>
          <p:nvPr/>
        </p:nvSpPr>
        <p:spPr>
          <a:xfrm>
            <a:off x="457200" y="3931920"/>
            <a:ext cx="8229600" cy="731520"/>
          </a:xfrm>
          <a:prstGeom prst="roundRect">
            <a:avLst>
              <a:gd name="adj" fmla="val 12500"/>
            </a:avLst>
          </a:prstGeom>
          <a:solidFill>
            <a:srgbClr val="FFFFFF"/>
          </a:solidFill>
          <a:ln/>
          <a:effectLst>
            <a:outerShdw blurRad="101600" dist="25400" dir="5400000" algn="bl" rotWithShape="0">
              <a:srgbClr val="000000">
                <a:alpha val="10000"/>
              </a:srgbClr>
            </a:outerShdw>
          </a:effectLst>
        </p:spPr>
      </p:sp>
      <p:sp>
        <p:nvSpPr>
          <p:cNvPr id="18" name="Text 13"/>
          <p:cNvSpPr txBox="1"/>
          <p:nvPr/>
        </p:nvSpPr>
        <p:spPr>
          <a:xfrm>
            <a:off x="640080" y="3931920"/>
            <a:ext cx="1920240" cy="731520"/>
          </a:xfrm>
          <a:prstGeom prst="rect">
            <a:avLst/>
          </a:prstGeom>
          <a:noFill/>
          <a:ln/>
        </p:spPr>
        <p:txBody>
          <a:bodyPr wrap="square" lIns="0" tIns="0" rIns="0" bIns="0" rtlCol="0" anchor="ctr"/>
          <a:lstStyle/>
          <a:p>
            <a:pPr marL="0" indent="0" algn="l">
              <a:buNone/>
            </a:pPr>
            <a:r>
              <a:rPr lang="en-US" sz="1100" b="1" dirty="0">
                <a:solidFill>
                  <a:srgbClr val="0C2622"/>
                </a:solidFill>
                <a:latin typeface="Calibri" pitchFamily="34" charset="0"/>
                <a:ea typeface="Calibri" pitchFamily="34" charset="-122"/>
                <a:cs typeface="Calibri" pitchFamily="34" charset="-120"/>
              </a:rPr>
              <a:t>AI can draft 15 questions covering:</a:t>
            </a:r>
            <a:endParaRPr lang="en-US" sz="1100" dirty="0"/>
          </a:p>
        </p:txBody>
      </p:sp>
      <p:sp>
        <p:nvSpPr>
          <p:cNvPr id="19" name="Shape 14"/>
          <p:cNvSpPr/>
          <p:nvPr/>
        </p:nvSpPr>
        <p:spPr>
          <a:xfrm>
            <a:off x="2606040" y="4041648"/>
            <a:ext cx="811256" cy="246888"/>
          </a:xfrm>
          <a:prstGeom prst="roundRect">
            <a:avLst>
              <a:gd name="adj" fmla="val 50000"/>
            </a:avLst>
          </a:prstGeom>
          <a:solidFill>
            <a:srgbClr val="DFF1EA"/>
          </a:solidFill>
          <a:ln/>
        </p:spPr>
      </p:sp>
      <p:sp>
        <p:nvSpPr>
          <p:cNvPr id="20" name="Text 15"/>
          <p:cNvSpPr txBox="1"/>
          <p:nvPr/>
        </p:nvSpPr>
        <p:spPr>
          <a:xfrm>
            <a:off x="2606040" y="4041648"/>
            <a:ext cx="811256"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Workflow</a:t>
            </a:r>
            <a:endParaRPr lang="en-US" sz="950" dirty="0"/>
          </a:p>
        </p:txBody>
      </p:sp>
      <p:sp>
        <p:nvSpPr>
          <p:cNvPr id="21" name="Shape 16"/>
          <p:cNvSpPr/>
          <p:nvPr/>
        </p:nvSpPr>
        <p:spPr>
          <a:xfrm>
            <a:off x="3472160" y="4041648"/>
            <a:ext cx="1061436" cy="246888"/>
          </a:xfrm>
          <a:prstGeom prst="roundRect">
            <a:avLst>
              <a:gd name="adj" fmla="val 50000"/>
            </a:avLst>
          </a:prstGeom>
          <a:solidFill>
            <a:srgbClr val="DFF1EA"/>
          </a:solidFill>
          <a:ln/>
        </p:spPr>
      </p:sp>
      <p:sp>
        <p:nvSpPr>
          <p:cNvPr id="22" name="Text 17"/>
          <p:cNvSpPr txBox="1"/>
          <p:nvPr/>
        </p:nvSpPr>
        <p:spPr>
          <a:xfrm>
            <a:off x="3472160" y="4041648"/>
            <a:ext cx="1061436"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Frustrations</a:t>
            </a:r>
            <a:endParaRPr lang="en-US" sz="950" dirty="0"/>
          </a:p>
        </p:txBody>
      </p:sp>
      <p:sp>
        <p:nvSpPr>
          <p:cNvPr id="23" name="Shape 18"/>
          <p:cNvSpPr/>
          <p:nvPr/>
        </p:nvSpPr>
        <p:spPr>
          <a:xfrm>
            <a:off x="4588459" y="4041648"/>
            <a:ext cx="873801" cy="246888"/>
          </a:xfrm>
          <a:prstGeom prst="roundRect">
            <a:avLst>
              <a:gd name="adj" fmla="val 50000"/>
            </a:avLst>
          </a:prstGeom>
          <a:solidFill>
            <a:srgbClr val="DFF1EA"/>
          </a:solidFill>
          <a:ln/>
        </p:spPr>
      </p:sp>
      <p:sp>
        <p:nvSpPr>
          <p:cNvPr id="24" name="Text 19"/>
          <p:cNvSpPr txBox="1"/>
          <p:nvPr/>
        </p:nvSpPr>
        <p:spPr>
          <a:xfrm>
            <a:off x="4588459" y="4041648"/>
            <a:ext cx="873801"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Frequency</a:t>
            </a:r>
            <a:endParaRPr lang="en-US" sz="950" dirty="0"/>
          </a:p>
        </p:txBody>
      </p:sp>
      <p:sp>
        <p:nvSpPr>
          <p:cNvPr id="25" name="Shape 20"/>
          <p:cNvSpPr/>
          <p:nvPr/>
        </p:nvSpPr>
        <p:spPr>
          <a:xfrm>
            <a:off x="5517124" y="4041648"/>
            <a:ext cx="1061436" cy="246888"/>
          </a:xfrm>
          <a:prstGeom prst="roundRect">
            <a:avLst>
              <a:gd name="adj" fmla="val 50000"/>
            </a:avLst>
          </a:prstGeom>
          <a:solidFill>
            <a:srgbClr val="DFF1EA"/>
          </a:solidFill>
          <a:ln/>
        </p:spPr>
      </p:sp>
      <p:sp>
        <p:nvSpPr>
          <p:cNvPr id="26" name="Text 21"/>
          <p:cNvSpPr txBox="1"/>
          <p:nvPr/>
        </p:nvSpPr>
        <p:spPr>
          <a:xfrm>
            <a:off x="5517124" y="4041648"/>
            <a:ext cx="1061436"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Alternatives</a:t>
            </a:r>
            <a:endParaRPr lang="en-US" sz="950" dirty="0"/>
          </a:p>
        </p:txBody>
      </p:sp>
      <p:sp>
        <p:nvSpPr>
          <p:cNvPr id="27" name="Shape 22"/>
          <p:cNvSpPr/>
          <p:nvPr/>
        </p:nvSpPr>
        <p:spPr>
          <a:xfrm>
            <a:off x="6633423" y="4041648"/>
            <a:ext cx="811256" cy="246888"/>
          </a:xfrm>
          <a:prstGeom prst="roundRect">
            <a:avLst>
              <a:gd name="adj" fmla="val 50000"/>
            </a:avLst>
          </a:prstGeom>
          <a:solidFill>
            <a:srgbClr val="DFF1EA"/>
          </a:solidFill>
          <a:ln/>
        </p:spPr>
      </p:sp>
      <p:sp>
        <p:nvSpPr>
          <p:cNvPr id="28" name="Text 23"/>
          <p:cNvSpPr txBox="1"/>
          <p:nvPr/>
        </p:nvSpPr>
        <p:spPr>
          <a:xfrm>
            <a:off x="6633423" y="4041648"/>
            <a:ext cx="811256"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Spending</a:t>
            </a:r>
            <a:endParaRPr lang="en-US" sz="950" dirty="0"/>
          </a:p>
        </p:txBody>
      </p:sp>
      <p:sp>
        <p:nvSpPr>
          <p:cNvPr id="29" name="Shape 24"/>
          <p:cNvSpPr/>
          <p:nvPr/>
        </p:nvSpPr>
        <p:spPr>
          <a:xfrm>
            <a:off x="2606040" y="4343400"/>
            <a:ext cx="1436705" cy="246888"/>
          </a:xfrm>
          <a:prstGeom prst="roundRect">
            <a:avLst>
              <a:gd name="adj" fmla="val 50000"/>
            </a:avLst>
          </a:prstGeom>
          <a:solidFill>
            <a:srgbClr val="DFF1EA"/>
          </a:solidFill>
          <a:ln/>
        </p:spPr>
      </p:sp>
      <p:sp>
        <p:nvSpPr>
          <p:cNvPr id="30" name="Text 25"/>
          <p:cNvSpPr txBox="1"/>
          <p:nvPr/>
        </p:nvSpPr>
        <p:spPr>
          <a:xfrm>
            <a:off x="2606040" y="4343400"/>
            <a:ext cx="1436705"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Switching barriers</a:t>
            </a:r>
            <a:endParaRPr lang="en-US" sz="950" dirty="0"/>
          </a:p>
        </p:txBody>
      </p:sp>
      <p:sp>
        <p:nvSpPr>
          <p:cNvPr id="31" name="Shape 26"/>
          <p:cNvSpPr/>
          <p:nvPr/>
        </p:nvSpPr>
        <p:spPr>
          <a:xfrm>
            <a:off x="4097609" y="4343400"/>
            <a:ext cx="1311615" cy="246888"/>
          </a:xfrm>
          <a:prstGeom prst="roundRect">
            <a:avLst>
              <a:gd name="adj" fmla="val 50000"/>
            </a:avLst>
          </a:prstGeom>
          <a:solidFill>
            <a:srgbClr val="DFF1EA"/>
          </a:solidFill>
          <a:ln/>
        </p:spPr>
      </p:sp>
      <p:sp>
        <p:nvSpPr>
          <p:cNvPr id="32" name="Text 27"/>
          <p:cNvSpPr txBox="1"/>
          <p:nvPr/>
        </p:nvSpPr>
        <p:spPr>
          <a:xfrm>
            <a:off x="4097609" y="4343400"/>
            <a:ext cx="1311615"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Decision process</a:t>
            </a:r>
            <a:endParaRPr lang="en-US" sz="950" dirty="0"/>
          </a:p>
        </p:txBody>
      </p:sp>
      <p:sp>
        <p:nvSpPr>
          <p:cNvPr id="33" name="Shape 28"/>
          <p:cNvSpPr/>
          <p:nvPr/>
        </p:nvSpPr>
        <p:spPr>
          <a:xfrm>
            <a:off x="5464089" y="4343400"/>
            <a:ext cx="1249070" cy="246888"/>
          </a:xfrm>
          <a:prstGeom prst="roundRect">
            <a:avLst>
              <a:gd name="adj" fmla="val 50000"/>
            </a:avLst>
          </a:prstGeom>
          <a:solidFill>
            <a:srgbClr val="DFF1EA"/>
          </a:solidFill>
          <a:ln/>
        </p:spPr>
      </p:sp>
      <p:sp>
        <p:nvSpPr>
          <p:cNvPr id="34" name="Text 29"/>
          <p:cNvSpPr txBox="1"/>
          <p:nvPr/>
        </p:nvSpPr>
        <p:spPr>
          <a:xfrm>
            <a:off x="5464089" y="4343400"/>
            <a:ext cx="1249070" cy="246888"/>
          </a:xfrm>
          <a:prstGeom prst="rect">
            <a:avLst/>
          </a:prstGeom>
          <a:noFill/>
          <a:ln/>
        </p:spPr>
        <p:txBody>
          <a:bodyPr wrap="square" lIns="0" tIns="0" rIns="0" bIns="0" rtlCol="0" anchor="ctr"/>
          <a:lstStyle/>
          <a:p>
            <a:pPr marL="0" indent="0" algn="ctr">
              <a:buNone/>
            </a:pPr>
            <a:r>
              <a:rPr lang="en-US" sz="950" dirty="0">
                <a:solidFill>
                  <a:srgbClr val="0C2622"/>
                </a:solidFill>
                <a:latin typeface="Calibri" pitchFamily="34" charset="0"/>
                <a:ea typeface="Calibri" pitchFamily="34" charset="-122"/>
                <a:cs typeface="Calibri" pitchFamily="34" charset="-120"/>
              </a:rPr>
              <a:t>Desired outcome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B2B: map the buying committee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457200" y="128016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594360" y="1444752"/>
            <a:ext cx="502920" cy="50292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20090" y="1570482"/>
            <a:ext cx="251460" cy="251460"/>
          </a:xfrm>
          <a:prstGeom prst="rect">
            <a:avLst/>
          </a:prstGeom>
        </p:spPr>
      </p:pic>
      <p:sp>
        <p:nvSpPr>
          <p:cNvPr id="10" name="Text 6"/>
          <p:cNvSpPr txBox="1"/>
          <p:nvPr/>
        </p:nvSpPr>
        <p:spPr>
          <a:xfrm>
            <a:off x="594360" y="2103120"/>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Economic buyer</a:t>
            </a:r>
            <a:endParaRPr lang="en-US" sz="1300" dirty="0"/>
          </a:p>
        </p:txBody>
      </p:sp>
      <p:sp>
        <p:nvSpPr>
          <p:cNvPr id="11" name="Text 7"/>
          <p:cNvSpPr txBox="1"/>
          <p:nvPr/>
        </p:nvSpPr>
        <p:spPr>
          <a:xfrm>
            <a:off x="594360" y="2606040"/>
            <a:ext cx="1325880" cy="77724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Controls the budget.</a:t>
            </a:r>
            <a:endParaRPr lang="en-US" sz="1100" dirty="0"/>
          </a:p>
        </p:txBody>
      </p:sp>
      <p:sp>
        <p:nvSpPr>
          <p:cNvPr id="12" name="Shape 8"/>
          <p:cNvSpPr/>
          <p:nvPr/>
        </p:nvSpPr>
        <p:spPr>
          <a:xfrm>
            <a:off x="2121408" y="128016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2258568" y="1444752"/>
            <a:ext cx="502920" cy="50292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2384298" y="1570482"/>
            <a:ext cx="251460" cy="251460"/>
          </a:xfrm>
          <a:prstGeom prst="rect">
            <a:avLst/>
          </a:prstGeom>
        </p:spPr>
      </p:pic>
      <p:sp>
        <p:nvSpPr>
          <p:cNvPr id="15" name="Text 10"/>
          <p:cNvSpPr txBox="1"/>
          <p:nvPr/>
        </p:nvSpPr>
        <p:spPr>
          <a:xfrm>
            <a:off x="2258568" y="2103120"/>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Champion</a:t>
            </a:r>
            <a:endParaRPr lang="en-US" sz="1300" dirty="0"/>
          </a:p>
        </p:txBody>
      </p:sp>
      <p:sp>
        <p:nvSpPr>
          <p:cNvPr id="16" name="Text 11"/>
          <p:cNvSpPr txBox="1"/>
          <p:nvPr/>
        </p:nvSpPr>
        <p:spPr>
          <a:xfrm>
            <a:off x="2258568" y="2606040"/>
            <a:ext cx="1325880" cy="77724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Wants it to succeed inside the company.</a:t>
            </a:r>
            <a:endParaRPr lang="en-US" sz="1100" dirty="0"/>
          </a:p>
        </p:txBody>
      </p:sp>
      <p:sp>
        <p:nvSpPr>
          <p:cNvPr id="17" name="Shape 12"/>
          <p:cNvSpPr/>
          <p:nvPr/>
        </p:nvSpPr>
        <p:spPr>
          <a:xfrm>
            <a:off x="3785616" y="128016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18" name="Shape 13"/>
          <p:cNvSpPr/>
          <p:nvPr/>
        </p:nvSpPr>
        <p:spPr>
          <a:xfrm>
            <a:off x="3922776" y="1444752"/>
            <a:ext cx="502920" cy="502920"/>
          </a:xfrm>
          <a:prstGeom prst="ellipse">
            <a:avLst/>
          </a:prstGeom>
          <a:solidFill>
            <a:srgbClr val="12735B"/>
          </a:solidFill>
          <a:ln/>
        </p:spPr>
      </p:sp>
      <p:pic>
        <p:nvPicPr>
          <p:cNvPr id="19" name="Image 2" descr="preencoded.png"/>
          <p:cNvPicPr>
            <a:picLocks noChangeAspect="1"/>
          </p:cNvPicPr>
          <p:nvPr/>
        </p:nvPicPr>
        <p:blipFill>
          <a:blip r:embed="rId5"/>
          <a:stretch>
            <a:fillRect/>
          </a:stretch>
        </p:blipFill>
        <p:spPr>
          <a:xfrm>
            <a:off x="4048506" y="1570482"/>
            <a:ext cx="251460" cy="251460"/>
          </a:xfrm>
          <a:prstGeom prst="rect">
            <a:avLst/>
          </a:prstGeom>
        </p:spPr>
      </p:pic>
      <p:sp>
        <p:nvSpPr>
          <p:cNvPr id="20" name="Text 14"/>
          <p:cNvSpPr txBox="1"/>
          <p:nvPr/>
        </p:nvSpPr>
        <p:spPr>
          <a:xfrm>
            <a:off x="3922776" y="2103120"/>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Technical evaluator</a:t>
            </a:r>
            <a:endParaRPr lang="en-US" sz="1300" dirty="0"/>
          </a:p>
        </p:txBody>
      </p:sp>
      <p:sp>
        <p:nvSpPr>
          <p:cNvPr id="21" name="Text 15"/>
          <p:cNvSpPr txBox="1"/>
          <p:nvPr/>
        </p:nvSpPr>
        <p:spPr>
          <a:xfrm>
            <a:off x="3922776" y="2606040"/>
            <a:ext cx="1325880" cy="77724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Checks fit, security and feasibility.</a:t>
            </a:r>
            <a:endParaRPr lang="en-US" sz="1100" dirty="0"/>
          </a:p>
        </p:txBody>
      </p:sp>
      <p:sp>
        <p:nvSpPr>
          <p:cNvPr id="22" name="Shape 16"/>
          <p:cNvSpPr/>
          <p:nvPr/>
        </p:nvSpPr>
        <p:spPr>
          <a:xfrm>
            <a:off x="5449824" y="128016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23" name="Shape 17"/>
          <p:cNvSpPr/>
          <p:nvPr/>
        </p:nvSpPr>
        <p:spPr>
          <a:xfrm>
            <a:off x="5586984" y="1444752"/>
            <a:ext cx="502920" cy="502920"/>
          </a:xfrm>
          <a:prstGeom prst="ellipse">
            <a:avLst/>
          </a:prstGeom>
          <a:solidFill>
            <a:srgbClr val="12735B"/>
          </a:solidFill>
          <a:ln/>
        </p:spPr>
      </p:sp>
      <p:pic>
        <p:nvPicPr>
          <p:cNvPr id="24" name="Image 3" descr="preencoded.png"/>
          <p:cNvPicPr>
            <a:picLocks noChangeAspect="1"/>
          </p:cNvPicPr>
          <p:nvPr/>
        </p:nvPicPr>
        <p:blipFill>
          <a:blip r:embed="rId6"/>
          <a:stretch>
            <a:fillRect/>
          </a:stretch>
        </p:blipFill>
        <p:spPr>
          <a:xfrm>
            <a:off x="5712714" y="1570482"/>
            <a:ext cx="251460" cy="251460"/>
          </a:xfrm>
          <a:prstGeom prst="rect">
            <a:avLst/>
          </a:prstGeom>
        </p:spPr>
      </p:pic>
      <p:sp>
        <p:nvSpPr>
          <p:cNvPr id="25" name="Text 18"/>
          <p:cNvSpPr txBox="1"/>
          <p:nvPr/>
        </p:nvSpPr>
        <p:spPr>
          <a:xfrm>
            <a:off x="5586984" y="2103120"/>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End user</a:t>
            </a:r>
            <a:endParaRPr lang="en-US" sz="1300" dirty="0"/>
          </a:p>
        </p:txBody>
      </p:sp>
      <p:sp>
        <p:nvSpPr>
          <p:cNvPr id="26" name="Text 19"/>
          <p:cNvSpPr txBox="1"/>
          <p:nvPr/>
        </p:nvSpPr>
        <p:spPr>
          <a:xfrm>
            <a:off x="5586984" y="2606040"/>
            <a:ext cx="1325880" cy="77724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Lives with the product every day.</a:t>
            </a:r>
            <a:endParaRPr lang="en-US" sz="1100" dirty="0"/>
          </a:p>
        </p:txBody>
      </p:sp>
      <p:sp>
        <p:nvSpPr>
          <p:cNvPr id="27" name="Shape 20"/>
          <p:cNvSpPr/>
          <p:nvPr/>
        </p:nvSpPr>
        <p:spPr>
          <a:xfrm>
            <a:off x="7114032" y="128016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28" name="Shape 21"/>
          <p:cNvSpPr/>
          <p:nvPr/>
        </p:nvSpPr>
        <p:spPr>
          <a:xfrm>
            <a:off x="7251192" y="1444752"/>
            <a:ext cx="502920" cy="502920"/>
          </a:xfrm>
          <a:prstGeom prst="ellipse">
            <a:avLst/>
          </a:prstGeom>
          <a:solidFill>
            <a:srgbClr val="C93B4B"/>
          </a:solidFill>
          <a:ln/>
        </p:spPr>
      </p:sp>
      <p:pic>
        <p:nvPicPr>
          <p:cNvPr id="29" name="Image 4" descr="preencoded.png"/>
          <p:cNvPicPr>
            <a:picLocks noChangeAspect="1"/>
          </p:cNvPicPr>
          <p:nvPr/>
        </p:nvPicPr>
        <p:blipFill>
          <a:blip r:embed="rId7"/>
          <a:stretch>
            <a:fillRect/>
          </a:stretch>
        </p:blipFill>
        <p:spPr>
          <a:xfrm>
            <a:off x="7376922" y="1570482"/>
            <a:ext cx="251460" cy="251460"/>
          </a:xfrm>
          <a:prstGeom prst="rect">
            <a:avLst/>
          </a:prstGeom>
        </p:spPr>
      </p:pic>
      <p:sp>
        <p:nvSpPr>
          <p:cNvPr id="30" name="Text 22"/>
          <p:cNvSpPr txBox="1"/>
          <p:nvPr/>
        </p:nvSpPr>
        <p:spPr>
          <a:xfrm>
            <a:off x="7251192" y="2103120"/>
            <a:ext cx="1325880" cy="457200"/>
          </a:xfrm>
          <a:prstGeom prst="rect">
            <a:avLst/>
          </a:prstGeom>
          <a:noFill/>
          <a:ln/>
        </p:spPr>
        <p:txBody>
          <a:bodyPr wrap="square" lIns="0" tIns="0" rIns="0" bIns="0" rtlCol="0" anchor="t"/>
          <a:lstStyle/>
          <a:p>
            <a:pPr marL="0" indent="0" algn="l">
              <a:buNone/>
            </a:pPr>
            <a:r>
              <a:rPr lang="en-US" sz="1300" b="1" dirty="0">
                <a:solidFill>
                  <a:srgbClr val="0C2622"/>
                </a:solidFill>
                <a:latin typeface="Cambria" pitchFamily="34" charset="0"/>
                <a:ea typeface="Cambria" pitchFamily="34" charset="-122"/>
                <a:cs typeface="Cambria" pitchFamily="34" charset="-120"/>
              </a:rPr>
              <a:t>Potential blocker</a:t>
            </a:r>
            <a:endParaRPr lang="en-US" sz="1300" dirty="0"/>
          </a:p>
        </p:txBody>
      </p:sp>
      <p:sp>
        <p:nvSpPr>
          <p:cNvPr id="31" name="Text 23"/>
          <p:cNvSpPr txBox="1"/>
          <p:nvPr/>
        </p:nvSpPr>
        <p:spPr>
          <a:xfrm>
            <a:off x="7251192" y="2606040"/>
            <a:ext cx="1325880" cy="777240"/>
          </a:xfrm>
          <a:prstGeom prst="rect">
            <a:avLst/>
          </a:prstGeom>
          <a:noFill/>
          <a:ln/>
        </p:spPr>
        <p:txBody>
          <a:bodyPr wrap="square" lIns="0" tIns="0" rIns="0" bIns="0" rtlCol="0" anchor="t"/>
          <a:lstStyle/>
          <a:p>
            <a:pPr marL="0" indent="0" algn="l">
              <a:buNone/>
            </a:pPr>
            <a:r>
              <a:rPr lang="en-US" sz="1100" dirty="0">
                <a:solidFill>
                  <a:srgbClr val="587068"/>
                </a:solidFill>
                <a:latin typeface="Calibri" pitchFamily="34" charset="0"/>
                <a:ea typeface="Calibri" pitchFamily="34" charset="-122"/>
                <a:cs typeface="Calibri" pitchFamily="34" charset="-120"/>
              </a:rPr>
              <a:t>Can stall or veto the deal.</a:t>
            </a:r>
            <a:endParaRPr lang="en-US" sz="1100" dirty="0"/>
          </a:p>
        </p:txBody>
      </p:sp>
      <p:sp>
        <p:nvSpPr>
          <p:cNvPr id="32" name="Text 24"/>
          <p:cNvSpPr txBox="1"/>
          <p:nvPr/>
        </p:nvSpPr>
        <p:spPr>
          <a:xfrm>
            <a:off x="457200" y="3520440"/>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FOR EACH ROLE, MAP</a:t>
            </a:r>
            <a:endParaRPr lang="en-US" sz="950" dirty="0"/>
          </a:p>
        </p:txBody>
      </p:sp>
      <p:sp>
        <p:nvSpPr>
          <p:cNvPr id="33" name="Shape 25"/>
          <p:cNvSpPr/>
          <p:nvPr/>
        </p:nvSpPr>
        <p:spPr>
          <a:xfrm>
            <a:off x="457200" y="3794760"/>
            <a:ext cx="1890979" cy="347472"/>
          </a:xfrm>
          <a:prstGeom prst="roundRect">
            <a:avLst>
              <a:gd name="adj" fmla="val 50000"/>
            </a:avLst>
          </a:prstGeom>
          <a:solidFill>
            <a:srgbClr val="0C2622"/>
          </a:solidFill>
          <a:ln/>
        </p:spPr>
      </p:sp>
      <p:sp>
        <p:nvSpPr>
          <p:cNvPr id="34" name="Text 26"/>
          <p:cNvSpPr txBox="1"/>
          <p:nvPr/>
        </p:nvSpPr>
        <p:spPr>
          <a:xfrm>
            <a:off x="457200" y="3794760"/>
            <a:ext cx="1890979"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What they care about</a:t>
            </a:r>
            <a:endParaRPr lang="en-US" sz="1200" dirty="0"/>
          </a:p>
        </p:txBody>
      </p:sp>
      <p:sp>
        <p:nvSpPr>
          <p:cNvPr id="35" name="Shape 27"/>
          <p:cNvSpPr/>
          <p:nvPr/>
        </p:nvSpPr>
        <p:spPr>
          <a:xfrm>
            <a:off x="2457907" y="3794760"/>
            <a:ext cx="1416954" cy="347472"/>
          </a:xfrm>
          <a:prstGeom prst="roundRect">
            <a:avLst>
              <a:gd name="adj" fmla="val 50000"/>
            </a:avLst>
          </a:prstGeom>
          <a:solidFill>
            <a:srgbClr val="0C2622"/>
          </a:solidFill>
          <a:ln/>
        </p:spPr>
      </p:sp>
      <p:sp>
        <p:nvSpPr>
          <p:cNvPr id="36" name="Text 28"/>
          <p:cNvSpPr txBox="1"/>
          <p:nvPr/>
        </p:nvSpPr>
        <p:spPr>
          <a:xfrm>
            <a:off x="2457907" y="3794760"/>
            <a:ext cx="1416954"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What they fear</a:t>
            </a:r>
            <a:endParaRPr lang="en-US" sz="1200" dirty="0"/>
          </a:p>
        </p:txBody>
      </p:sp>
      <p:sp>
        <p:nvSpPr>
          <p:cNvPr id="37" name="Shape 29"/>
          <p:cNvSpPr/>
          <p:nvPr/>
        </p:nvSpPr>
        <p:spPr>
          <a:xfrm>
            <a:off x="3984589" y="3794760"/>
            <a:ext cx="2365004" cy="347472"/>
          </a:xfrm>
          <a:prstGeom prst="roundRect">
            <a:avLst>
              <a:gd name="adj" fmla="val 50000"/>
            </a:avLst>
          </a:prstGeom>
          <a:solidFill>
            <a:srgbClr val="0C2622"/>
          </a:solidFill>
          <a:ln/>
        </p:spPr>
      </p:sp>
      <p:sp>
        <p:nvSpPr>
          <p:cNvPr id="38" name="Text 30"/>
          <p:cNvSpPr txBox="1"/>
          <p:nvPr/>
        </p:nvSpPr>
        <p:spPr>
          <a:xfrm>
            <a:off x="3984589" y="3794760"/>
            <a:ext cx="2365004"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What evidence they require</a:t>
            </a:r>
            <a:endParaRPr lang="en-US" sz="1200" dirty="0"/>
          </a:p>
        </p:txBody>
      </p:sp>
      <p:sp>
        <p:nvSpPr>
          <p:cNvPr id="39" name="Shape 31"/>
          <p:cNvSpPr/>
          <p:nvPr/>
        </p:nvSpPr>
        <p:spPr>
          <a:xfrm>
            <a:off x="6459322" y="3794760"/>
            <a:ext cx="1653967" cy="347472"/>
          </a:xfrm>
          <a:prstGeom prst="roundRect">
            <a:avLst>
              <a:gd name="adj" fmla="val 50000"/>
            </a:avLst>
          </a:prstGeom>
          <a:solidFill>
            <a:srgbClr val="0C2622"/>
          </a:solidFill>
          <a:ln/>
        </p:spPr>
      </p:sp>
      <p:sp>
        <p:nvSpPr>
          <p:cNvPr id="40" name="Text 32"/>
          <p:cNvSpPr txBox="1"/>
          <p:nvPr/>
        </p:nvSpPr>
        <p:spPr>
          <a:xfrm>
            <a:off x="6459322" y="3794760"/>
            <a:ext cx="1653967"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Likely objections</a:t>
            </a:r>
            <a:endParaRPr lang="en-US" sz="1200" dirty="0"/>
          </a:p>
        </p:txBody>
      </p:sp>
      <p:sp>
        <p:nvSpPr>
          <p:cNvPr id="41" name="Shape 33"/>
          <p:cNvSpPr/>
          <p:nvPr/>
        </p:nvSpPr>
        <p:spPr>
          <a:xfrm>
            <a:off x="457200" y="4251960"/>
            <a:ext cx="1969983" cy="347472"/>
          </a:xfrm>
          <a:prstGeom prst="roundRect">
            <a:avLst>
              <a:gd name="adj" fmla="val 50000"/>
            </a:avLst>
          </a:prstGeom>
          <a:solidFill>
            <a:srgbClr val="0C2622"/>
          </a:solidFill>
          <a:ln/>
        </p:spPr>
      </p:sp>
      <p:sp>
        <p:nvSpPr>
          <p:cNvPr id="42" name="Text 34"/>
          <p:cNvSpPr txBox="1"/>
          <p:nvPr/>
        </p:nvSpPr>
        <p:spPr>
          <a:xfrm>
            <a:off x="457200" y="4251960"/>
            <a:ext cx="1969983"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Appropriate messaging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validation scorecard</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457200" y="1280160"/>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594360" y="1399032"/>
            <a:ext cx="365760" cy="365760"/>
          </a:xfrm>
          <a:prstGeom prst="ellipse">
            <a:avLst/>
          </a:prstGeom>
          <a:solidFill>
            <a:srgbClr val="12735B"/>
          </a:solidFill>
          <a:ln/>
        </p:spPr>
      </p:sp>
      <p:sp>
        <p:nvSpPr>
          <p:cNvPr id="9" name="Text 6"/>
          <p:cNvSpPr txBox="1"/>
          <p:nvPr/>
        </p:nvSpPr>
        <p:spPr>
          <a:xfrm>
            <a:off x="594360" y="1399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115568" y="1280160"/>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Did I speak with real customers?</a:t>
            </a:r>
            <a:endParaRPr lang="en-US" sz="1200" dirty="0"/>
          </a:p>
        </p:txBody>
      </p:sp>
      <p:sp>
        <p:nvSpPr>
          <p:cNvPr id="11" name="Shape 8"/>
          <p:cNvSpPr/>
          <p:nvPr/>
        </p:nvSpPr>
        <p:spPr>
          <a:xfrm>
            <a:off x="457200" y="1975104"/>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12" name="Shape 9"/>
          <p:cNvSpPr/>
          <p:nvPr/>
        </p:nvSpPr>
        <p:spPr>
          <a:xfrm>
            <a:off x="594360" y="2093976"/>
            <a:ext cx="365760" cy="365760"/>
          </a:xfrm>
          <a:prstGeom prst="ellipse">
            <a:avLst/>
          </a:prstGeom>
          <a:solidFill>
            <a:srgbClr val="12735B"/>
          </a:solidFill>
          <a:ln/>
        </p:spPr>
      </p:sp>
      <p:sp>
        <p:nvSpPr>
          <p:cNvPr id="13" name="Text 10"/>
          <p:cNvSpPr txBox="1"/>
          <p:nvPr/>
        </p:nvSpPr>
        <p:spPr>
          <a:xfrm>
            <a:off x="594360" y="20939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1115568" y="1975104"/>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Did the same problem appear repeatedly?</a:t>
            </a:r>
            <a:endParaRPr lang="en-US" sz="1200" dirty="0"/>
          </a:p>
        </p:txBody>
      </p:sp>
      <p:sp>
        <p:nvSpPr>
          <p:cNvPr id="15" name="Shape 12"/>
          <p:cNvSpPr/>
          <p:nvPr/>
        </p:nvSpPr>
        <p:spPr>
          <a:xfrm>
            <a:off x="457200" y="2670048"/>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16" name="Shape 13"/>
          <p:cNvSpPr/>
          <p:nvPr/>
        </p:nvSpPr>
        <p:spPr>
          <a:xfrm>
            <a:off x="594360" y="2788920"/>
            <a:ext cx="365760" cy="365760"/>
          </a:xfrm>
          <a:prstGeom prst="ellipse">
            <a:avLst/>
          </a:prstGeom>
          <a:solidFill>
            <a:srgbClr val="12735B"/>
          </a:solidFill>
          <a:ln/>
        </p:spPr>
      </p:sp>
      <p:sp>
        <p:nvSpPr>
          <p:cNvPr id="17" name="Text 14"/>
          <p:cNvSpPr txBox="1"/>
          <p:nvPr/>
        </p:nvSpPr>
        <p:spPr>
          <a:xfrm>
            <a:off x="594360" y="27889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txBox="1"/>
          <p:nvPr/>
        </p:nvSpPr>
        <p:spPr>
          <a:xfrm>
            <a:off x="1115568" y="2670048"/>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Are people already using alternatives?</a:t>
            </a:r>
            <a:endParaRPr lang="en-US" sz="1200" dirty="0"/>
          </a:p>
        </p:txBody>
      </p:sp>
      <p:sp>
        <p:nvSpPr>
          <p:cNvPr id="19" name="Shape 16"/>
          <p:cNvSpPr/>
          <p:nvPr/>
        </p:nvSpPr>
        <p:spPr>
          <a:xfrm>
            <a:off x="457200" y="3364992"/>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20" name="Shape 17"/>
          <p:cNvSpPr/>
          <p:nvPr/>
        </p:nvSpPr>
        <p:spPr>
          <a:xfrm>
            <a:off x="594360" y="3483864"/>
            <a:ext cx="365760" cy="365760"/>
          </a:xfrm>
          <a:prstGeom prst="ellipse">
            <a:avLst/>
          </a:prstGeom>
          <a:solidFill>
            <a:srgbClr val="12735B"/>
          </a:solidFill>
          <a:ln/>
        </p:spPr>
      </p:sp>
      <p:sp>
        <p:nvSpPr>
          <p:cNvPr id="21" name="Text 18"/>
          <p:cNvSpPr txBox="1"/>
          <p:nvPr/>
        </p:nvSpPr>
        <p:spPr>
          <a:xfrm>
            <a:off x="594360" y="3483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1115568" y="3364992"/>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Does the problem create measurable cost or frustration?</a:t>
            </a:r>
            <a:endParaRPr lang="en-US" sz="1200" dirty="0"/>
          </a:p>
        </p:txBody>
      </p:sp>
      <p:sp>
        <p:nvSpPr>
          <p:cNvPr id="23" name="Shape 20"/>
          <p:cNvSpPr/>
          <p:nvPr/>
        </p:nvSpPr>
        <p:spPr>
          <a:xfrm>
            <a:off x="4663440" y="1280160"/>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24" name="Shape 21"/>
          <p:cNvSpPr/>
          <p:nvPr/>
        </p:nvSpPr>
        <p:spPr>
          <a:xfrm>
            <a:off x="4800600" y="1399032"/>
            <a:ext cx="365760" cy="365760"/>
          </a:xfrm>
          <a:prstGeom prst="ellipse">
            <a:avLst/>
          </a:prstGeom>
          <a:solidFill>
            <a:srgbClr val="12735B"/>
          </a:solidFill>
          <a:ln/>
        </p:spPr>
      </p:sp>
      <p:sp>
        <p:nvSpPr>
          <p:cNvPr id="25" name="Text 22"/>
          <p:cNvSpPr txBox="1"/>
          <p:nvPr/>
        </p:nvSpPr>
        <p:spPr>
          <a:xfrm>
            <a:off x="4800600" y="1399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3"/>
          <p:cNvSpPr txBox="1"/>
          <p:nvPr/>
        </p:nvSpPr>
        <p:spPr>
          <a:xfrm>
            <a:off x="5321808" y="1280160"/>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Can I reach these customers?</a:t>
            </a:r>
            <a:endParaRPr lang="en-US" sz="1200" dirty="0"/>
          </a:p>
        </p:txBody>
      </p:sp>
      <p:sp>
        <p:nvSpPr>
          <p:cNvPr id="27" name="Shape 24"/>
          <p:cNvSpPr/>
          <p:nvPr/>
        </p:nvSpPr>
        <p:spPr>
          <a:xfrm>
            <a:off x="4663440" y="1975104"/>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28" name="Shape 25"/>
          <p:cNvSpPr/>
          <p:nvPr/>
        </p:nvSpPr>
        <p:spPr>
          <a:xfrm>
            <a:off x="4800600" y="2093976"/>
            <a:ext cx="365760" cy="365760"/>
          </a:xfrm>
          <a:prstGeom prst="ellipse">
            <a:avLst/>
          </a:prstGeom>
          <a:solidFill>
            <a:srgbClr val="12735B"/>
          </a:solidFill>
          <a:ln/>
        </p:spPr>
      </p:sp>
      <p:sp>
        <p:nvSpPr>
          <p:cNvPr id="29" name="Text 26"/>
          <p:cNvSpPr txBox="1"/>
          <p:nvPr/>
        </p:nvSpPr>
        <p:spPr>
          <a:xfrm>
            <a:off x="4800600" y="20939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0" name="Text 27"/>
          <p:cNvSpPr txBox="1"/>
          <p:nvPr/>
        </p:nvSpPr>
        <p:spPr>
          <a:xfrm>
            <a:off x="5321808" y="1975104"/>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Has anyone requested the solution?</a:t>
            </a:r>
            <a:endParaRPr lang="en-US" sz="1200" dirty="0"/>
          </a:p>
        </p:txBody>
      </p:sp>
      <p:sp>
        <p:nvSpPr>
          <p:cNvPr id="31" name="Shape 28"/>
          <p:cNvSpPr/>
          <p:nvPr/>
        </p:nvSpPr>
        <p:spPr>
          <a:xfrm>
            <a:off x="4663440" y="2670048"/>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32" name="Shape 29"/>
          <p:cNvSpPr/>
          <p:nvPr/>
        </p:nvSpPr>
        <p:spPr>
          <a:xfrm>
            <a:off x="4800600" y="2788920"/>
            <a:ext cx="365760" cy="365760"/>
          </a:xfrm>
          <a:prstGeom prst="ellipse">
            <a:avLst/>
          </a:prstGeom>
          <a:solidFill>
            <a:srgbClr val="12735B"/>
          </a:solidFill>
          <a:ln/>
        </p:spPr>
      </p:sp>
      <p:sp>
        <p:nvSpPr>
          <p:cNvPr id="33" name="Text 30"/>
          <p:cNvSpPr txBox="1"/>
          <p:nvPr/>
        </p:nvSpPr>
        <p:spPr>
          <a:xfrm>
            <a:off x="4800600" y="27889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4" name="Text 31"/>
          <p:cNvSpPr txBox="1"/>
          <p:nvPr/>
        </p:nvSpPr>
        <p:spPr>
          <a:xfrm>
            <a:off x="5321808" y="2670048"/>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Has anybody agreed to test it?</a:t>
            </a:r>
            <a:endParaRPr lang="en-US" sz="1200" dirty="0"/>
          </a:p>
        </p:txBody>
      </p:sp>
      <p:sp>
        <p:nvSpPr>
          <p:cNvPr id="35" name="Shape 32"/>
          <p:cNvSpPr/>
          <p:nvPr/>
        </p:nvSpPr>
        <p:spPr>
          <a:xfrm>
            <a:off x="4663440" y="3364992"/>
            <a:ext cx="4023360" cy="603504"/>
          </a:xfrm>
          <a:prstGeom prst="roundRect">
            <a:avLst>
              <a:gd name="adj" fmla="val 15152"/>
            </a:avLst>
          </a:prstGeom>
          <a:solidFill>
            <a:srgbClr val="FFFFFF"/>
          </a:solidFill>
          <a:ln/>
          <a:effectLst>
            <a:outerShdw blurRad="101600" dist="25400" dir="5400000" algn="bl" rotWithShape="0">
              <a:srgbClr val="000000">
                <a:alpha val="10000"/>
              </a:srgbClr>
            </a:outerShdw>
          </a:effectLst>
        </p:spPr>
      </p:sp>
      <p:sp>
        <p:nvSpPr>
          <p:cNvPr id="36" name="Shape 33"/>
          <p:cNvSpPr/>
          <p:nvPr/>
        </p:nvSpPr>
        <p:spPr>
          <a:xfrm>
            <a:off x="4800600" y="3483864"/>
            <a:ext cx="365760" cy="365760"/>
          </a:xfrm>
          <a:prstGeom prst="ellipse">
            <a:avLst/>
          </a:prstGeom>
          <a:solidFill>
            <a:srgbClr val="F4A52A"/>
          </a:solidFill>
          <a:ln/>
        </p:spPr>
      </p:sp>
      <p:sp>
        <p:nvSpPr>
          <p:cNvPr id="37" name="Text 34"/>
          <p:cNvSpPr txBox="1"/>
          <p:nvPr/>
        </p:nvSpPr>
        <p:spPr>
          <a:xfrm>
            <a:off x="4800600" y="3483864"/>
            <a:ext cx="365760" cy="365760"/>
          </a:xfrm>
          <a:prstGeom prst="rect">
            <a:avLst/>
          </a:prstGeom>
          <a:noFill/>
          <a:ln/>
        </p:spPr>
        <p:txBody>
          <a:bodyPr wrap="square" lIns="0" tIns="0" rIns="0" bIns="0" rtlCol="0" anchor="ctr"/>
          <a:lstStyle/>
          <a:p>
            <a:pPr marL="0" indent="0" algn="ctr">
              <a:buNone/>
            </a:pPr>
            <a:r>
              <a:rPr lang="en-US" sz="1200" b="1" dirty="0">
                <a:solidFill>
                  <a:srgbClr val="0C2622"/>
                </a:solidFill>
                <a:latin typeface="Calibri" pitchFamily="34" charset="0"/>
                <a:ea typeface="Calibri" pitchFamily="34" charset="-122"/>
                <a:cs typeface="Calibri" pitchFamily="34" charset="-120"/>
              </a:rPr>
              <a:t>8</a:t>
            </a:r>
            <a:endParaRPr lang="en-US" sz="1200" dirty="0"/>
          </a:p>
        </p:txBody>
      </p:sp>
      <p:sp>
        <p:nvSpPr>
          <p:cNvPr id="38" name="Text 35"/>
          <p:cNvSpPr txBox="1"/>
          <p:nvPr/>
        </p:nvSpPr>
        <p:spPr>
          <a:xfrm>
            <a:off x="5321808" y="3364992"/>
            <a:ext cx="3246120" cy="603504"/>
          </a:xfrm>
          <a:prstGeom prst="rect">
            <a:avLst/>
          </a:prstGeom>
          <a:noFill/>
          <a:ln/>
        </p:spPr>
        <p:txBody>
          <a:bodyPr wrap="square" lIns="0" tIns="0" rIns="0" bIns="0" rtlCol="0" anchor="ctr"/>
          <a:lstStyle/>
          <a:p>
            <a:pPr marL="0" indent="0" algn="l">
              <a:buNone/>
            </a:pPr>
            <a:r>
              <a:rPr lang="en-US" sz="1200" dirty="0">
                <a:solidFill>
                  <a:srgbClr val="15302B"/>
                </a:solidFill>
                <a:latin typeface="Calibri" pitchFamily="34" charset="0"/>
                <a:ea typeface="Calibri" pitchFamily="34" charset="-122"/>
                <a:cs typeface="Calibri" pitchFamily="34" charset="-120"/>
              </a:rPr>
              <a:t>Has anybody agreed to pay?</a:t>
            </a:r>
            <a:endParaRPr lang="en-US" sz="1200" dirty="0"/>
          </a:p>
        </p:txBody>
      </p:sp>
      <p:sp>
        <p:nvSpPr>
          <p:cNvPr id="39" name="Shape 36"/>
          <p:cNvSpPr/>
          <p:nvPr/>
        </p:nvSpPr>
        <p:spPr>
          <a:xfrm>
            <a:off x="457200" y="4187952"/>
            <a:ext cx="8229600" cy="502920"/>
          </a:xfrm>
          <a:prstGeom prst="roundRect">
            <a:avLst>
              <a:gd name="adj" fmla="val 18182"/>
            </a:avLst>
          </a:prstGeom>
          <a:solidFill>
            <a:srgbClr val="0C2622"/>
          </a:solidFill>
          <a:ln/>
        </p:spPr>
      </p:sp>
      <p:sp>
        <p:nvSpPr>
          <p:cNvPr id="40" name="Text 37"/>
          <p:cNvSpPr txBox="1"/>
          <p:nvPr/>
        </p:nvSpPr>
        <p:spPr>
          <a:xfrm>
            <a:off x="685800" y="4187952"/>
            <a:ext cx="7772400" cy="5029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The goal isn’t eight “yes” answers. </a:t>
            </a:r>
            <a:r>
              <a:rPr lang="en-US" sz="1300" dirty="0">
                <a:solidFill>
                  <a:srgbClr val="FFFFFF"/>
                </a:solidFill>
                <a:latin typeface="Calibri" pitchFamily="34" charset="0"/>
                <a:ea typeface="Calibri" pitchFamily="34" charset="-122"/>
                <a:cs typeface="Calibri" pitchFamily="34" charset="-120"/>
              </a:rPr>
              <a:t>The goal is to know what is evidence and what is still assumption.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3 · RESEARCH &amp; VALIDATION</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Economics checkpoint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45720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1234440" y="1444752"/>
            <a:ext cx="1783080" cy="457200"/>
          </a:xfrm>
          <a:prstGeom prst="rect">
            <a:avLst/>
          </a:prstGeom>
          <a:noFill/>
          <a:ln/>
        </p:spPr>
        <p:txBody>
          <a:bodyPr wrap="square" lIns="0" tIns="0" rIns="0" bIns="0" rtlCol="0" anchor="ctr"/>
          <a:lstStyle/>
          <a:p>
            <a:pPr marL="0" indent="0" algn="l">
              <a:buNone/>
            </a:pPr>
            <a:r>
              <a:rPr lang="en-US" sz="1600" b="1" dirty="0">
                <a:solidFill>
                  <a:srgbClr val="0C2622"/>
                </a:solidFill>
                <a:latin typeface="Cambria" pitchFamily="34" charset="0"/>
                <a:ea typeface="Cambria" pitchFamily="34" charset="-122"/>
                <a:cs typeface="Cambria" pitchFamily="34" charset="-120"/>
              </a:rPr>
              <a:t>Revenue</a:t>
            </a:r>
            <a:endParaRPr lang="en-US" sz="1600" dirty="0"/>
          </a:p>
        </p:txBody>
      </p:sp>
      <p:sp>
        <p:nvSpPr>
          <p:cNvPr id="11" name="Text 7"/>
          <p:cNvSpPr txBox="1"/>
          <p:nvPr/>
        </p:nvSpPr>
        <p:spPr>
          <a:xfrm>
            <a:off x="640080" y="2103120"/>
            <a:ext cx="2331720" cy="731520"/>
          </a:xfrm>
          <a:prstGeom prst="rect">
            <a:avLst/>
          </a:prstGeom>
          <a:noFill/>
          <a:ln/>
        </p:spPr>
        <p:txBody>
          <a:bodyPr wrap="square" lIns="0" tIns="0" rIns="0" bIns="0" rtlCol="0" anchor="t"/>
          <a:lstStyle/>
          <a:p>
            <a:pPr marL="0" indent="0" algn="l">
              <a:buNone/>
            </a:pPr>
            <a:r>
              <a:rPr lang="en-US" sz="1250" dirty="0">
                <a:solidFill>
                  <a:srgbClr val="15302B"/>
                </a:solidFill>
                <a:latin typeface="Calibri" pitchFamily="34" charset="0"/>
                <a:ea typeface="Calibri" pitchFamily="34" charset="-122"/>
                <a:cs typeface="Calibri" pitchFamily="34" charset="-120"/>
              </a:rPr>
              <a:t>Customers × average revenue per customer</a:t>
            </a:r>
            <a:endParaRPr lang="en-US" sz="1250" dirty="0"/>
          </a:p>
        </p:txBody>
      </p:sp>
      <p:sp>
        <p:nvSpPr>
          <p:cNvPr id="12" name="Shape 8"/>
          <p:cNvSpPr/>
          <p:nvPr/>
        </p:nvSpPr>
        <p:spPr>
          <a:xfrm>
            <a:off x="324612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3429000" y="1444752"/>
            <a:ext cx="457200" cy="45720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3543300" y="1559052"/>
            <a:ext cx="228600" cy="228600"/>
          </a:xfrm>
          <a:prstGeom prst="rect">
            <a:avLst/>
          </a:prstGeom>
        </p:spPr>
      </p:pic>
      <p:sp>
        <p:nvSpPr>
          <p:cNvPr id="15" name="Text 10"/>
          <p:cNvSpPr txBox="1"/>
          <p:nvPr/>
        </p:nvSpPr>
        <p:spPr>
          <a:xfrm>
            <a:off x="4023360" y="1444752"/>
            <a:ext cx="1783080" cy="457200"/>
          </a:xfrm>
          <a:prstGeom prst="rect">
            <a:avLst/>
          </a:prstGeom>
          <a:noFill/>
          <a:ln/>
        </p:spPr>
        <p:txBody>
          <a:bodyPr wrap="square" lIns="0" tIns="0" rIns="0" bIns="0" rtlCol="0" anchor="ctr"/>
          <a:lstStyle/>
          <a:p>
            <a:pPr marL="0" indent="0" algn="l">
              <a:buNone/>
            </a:pPr>
            <a:r>
              <a:rPr lang="en-US" sz="1600" b="1" dirty="0">
                <a:solidFill>
                  <a:srgbClr val="0C2622"/>
                </a:solidFill>
                <a:latin typeface="Cambria" pitchFamily="34" charset="0"/>
                <a:ea typeface="Cambria" pitchFamily="34" charset="-122"/>
                <a:cs typeface="Cambria" pitchFamily="34" charset="-120"/>
              </a:rPr>
              <a:t>Gross profit</a:t>
            </a:r>
            <a:endParaRPr lang="en-US" sz="1600" dirty="0"/>
          </a:p>
        </p:txBody>
      </p:sp>
      <p:sp>
        <p:nvSpPr>
          <p:cNvPr id="16" name="Text 11"/>
          <p:cNvSpPr txBox="1"/>
          <p:nvPr/>
        </p:nvSpPr>
        <p:spPr>
          <a:xfrm>
            <a:off x="3429000" y="2103120"/>
            <a:ext cx="2331720" cy="731520"/>
          </a:xfrm>
          <a:prstGeom prst="rect">
            <a:avLst/>
          </a:prstGeom>
          <a:noFill/>
          <a:ln/>
        </p:spPr>
        <p:txBody>
          <a:bodyPr wrap="square" lIns="0" tIns="0" rIns="0" bIns="0" rtlCol="0" anchor="t"/>
          <a:lstStyle/>
          <a:p>
            <a:pPr marL="0" indent="0" algn="l">
              <a:buNone/>
            </a:pPr>
            <a:r>
              <a:rPr lang="en-US" sz="1250" dirty="0">
                <a:solidFill>
                  <a:srgbClr val="15302B"/>
                </a:solidFill>
                <a:latin typeface="Calibri" pitchFamily="34" charset="0"/>
                <a:ea typeface="Calibri" pitchFamily="34" charset="-122"/>
                <a:cs typeface="Calibri" pitchFamily="34" charset="-120"/>
              </a:rPr>
              <a:t>Revenue − direct delivery cost</a:t>
            </a:r>
            <a:endParaRPr lang="en-US" sz="1250" dirty="0"/>
          </a:p>
        </p:txBody>
      </p:sp>
      <p:sp>
        <p:nvSpPr>
          <p:cNvPr id="17" name="Shape 12"/>
          <p:cNvSpPr/>
          <p:nvPr/>
        </p:nvSpPr>
        <p:spPr>
          <a:xfrm>
            <a:off x="603504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8" name="Shape 13"/>
          <p:cNvSpPr/>
          <p:nvPr/>
        </p:nvSpPr>
        <p:spPr>
          <a:xfrm>
            <a:off x="6217920" y="1444752"/>
            <a:ext cx="457200" cy="457200"/>
          </a:xfrm>
          <a:prstGeom prst="ellipse">
            <a:avLst/>
          </a:prstGeom>
          <a:solidFill>
            <a:srgbClr val="12735B"/>
          </a:solidFill>
          <a:ln/>
        </p:spPr>
      </p:sp>
      <p:pic>
        <p:nvPicPr>
          <p:cNvPr id="19" name="Image 2" descr="preencoded.png"/>
          <p:cNvPicPr>
            <a:picLocks noChangeAspect="1"/>
          </p:cNvPicPr>
          <p:nvPr/>
        </p:nvPicPr>
        <p:blipFill>
          <a:blip r:embed="rId5"/>
          <a:stretch>
            <a:fillRect/>
          </a:stretch>
        </p:blipFill>
        <p:spPr>
          <a:xfrm>
            <a:off x="6332220" y="1559052"/>
            <a:ext cx="228600" cy="228600"/>
          </a:xfrm>
          <a:prstGeom prst="rect">
            <a:avLst/>
          </a:prstGeom>
        </p:spPr>
      </p:pic>
      <p:sp>
        <p:nvSpPr>
          <p:cNvPr id="20" name="Text 14"/>
          <p:cNvSpPr txBox="1"/>
          <p:nvPr/>
        </p:nvSpPr>
        <p:spPr>
          <a:xfrm>
            <a:off x="6812280" y="1444752"/>
            <a:ext cx="1783080" cy="457200"/>
          </a:xfrm>
          <a:prstGeom prst="rect">
            <a:avLst/>
          </a:prstGeom>
          <a:noFill/>
          <a:ln/>
        </p:spPr>
        <p:txBody>
          <a:bodyPr wrap="square" lIns="0" tIns="0" rIns="0" bIns="0" rtlCol="0" anchor="ctr"/>
          <a:lstStyle/>
          <a:p>
            <a:pPr marL="0" indent="0" algn="l">
              <a:buNone/>
            </a:pPr>
            <a:r>
              <a:rPr lang="en-US" sz="1600" b="1" dirty="0">
                <a:solidFill>
                  <a:srgbClr val="0C2622"/>
                </a:solidFill>
                <a:latin typeface="Cambria" pitchFamily="34" charset="0"/>
                <a:ea typeface="Cambria" pitchFamily="34" charset="-122"/>
                <a:cs typeface="Cambria" pitchFamily="34" charset="-120"/>
              </a:rPr>
              <a:t>CAC</a:t>
            </a:r>
            <a:endParaRPr lang="en-US" sz="1600" dirty="0"/>
          </a:p>
        </p:txBody>
      </p:sp>
      <p:sp>
        <p:nvSpPr>
          <p:cNvPr id="21" name="Text 15"/>
          <p:cNvSpPr txBox="1"/>
          <p:nvPr/>
        </p:nvSpPr>
        <p:spPr>
          <a:xfrm>
            <a:off x="6217920" y="2103120"/>
            <a:ext cx="2331720" cy="731520"/>
          </a:xfrm>
          <a:prstGeom prst="rect">
            <a:avLst/>
          </a:prstGeom>
          <a:noFill/>
          <a:ln/>
        </p:spPr>
        <p:txBody>
          <a:bodyPr wrap="square" lIns="0" tIns="0" rIns="0" bIns="0" rtlCol="0" anchor="t"/>
          <a:lstStyle/>
          <a:p>
            <a:pPr marL="0" indent="0" algn="l">
              <a:buNone/>
            </a:pPr>
            <a:r>
              <a:rPr lang="en-US" sz="1250" dirty="0">
                <a:solidFill>
                  <a:srgbClr val="15302B"/>
                </a:solidFill>
                <a:latin typeface="Calibri" pitchFamily="34" charset="0"/>
                <a:ea typeface="Calibri" pitchFamily="34" charset="-122"/>
                <a:cs typeface="Calibri" pitchFamily="34" charset="-120"/>
              </a:rPr>
              <a:t>Customer Acquisition Cost</a:t>
            </a:r>
            <a:endParaRPr lang="en-US" sz="1250" dirty="0"/>
          </a:p>
        </p:txBody>
      </p:sp>
      <p:sp>
        <p:nvSpPr>
          <p:cNvPr id="22" name="Shape 16"/>
          <p:cNvSpPr/>
          <p:nvPr/>
        </p:nvSpPr>
        <p:spPr>
          <a:xfrm>
            <a:off x="45720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3" name="Shape 17"/>
          <p:cNvSpPr/>
          <p:nvPr/>
        </p:nvSpPr>
        <p:spPr>
          <a:xfrm>
            <a:off x="640080" y="3182112"/>
            <a:ext cx="457200" cy="457200"/>
          </a:xfrm>
          <a:prstGeom prst="ellipse">
            <a:avLst/>
          </a:prstGeom>
          <a:solidFill>
            <a:srgbClr val="12735B"/>
          </a:solidFill>
          <a:ln/>
        </p:spPr>
      </p:sp>
      <p:pic>
        <p:nvPicPr>
          <p:cNvPr id="24" name="Image 3" descr="preencoded.png"/>
          <p:cNvPicPr>
            <a:picLocks noChangeAspect="1"/>
          </p:cNvPicPr>
          <p:nvPr/>
        </p:nvPicPr>
        <p:blipFill>
          <a:blip r:embed="rId6"/>
          <a:stretch>
            <a:fillRect/>
          </a:stretch>
        </p:blipFill>
        <p:spPr>
          <a:xfrm>
            <a:off x="754380" y="3296412"/>
            <a:ext cx="228600" cy="228600"/>
          </a:xfrm>
          <a:prstGeom prst="rect">
            <a:avLst/>
          </a:prstGeom>
        </p:spPr>
      </p:pic>
      <p:sp>
        <p:nvSpPr>
          <p:cNvPr id="25" name="Text 18"/>
          <p:cNvSpPr txBox="1"/>
          <p:nvPr/>
        </p:nvSpPr>
        <p:spPr>
          <a:xfrm>
            <a:off x="1234440" y="3182112"/>
            <a:ext cx="1783080" cy="457200"/>
          </a:xfrm>
          <a:prstGeom prst="rect">
            <a:avLst/>
          </a:prstGeom>
          <a:noFill/>
          <a:ln/>
        </p:spPr>
        <p:txBody>
          <a:bodyPr wrap="square" lIns="0" tIns="0" rIns="0" bIns="0" rtlCol="0" anchor="ctr"/>
          <a:lstStyle/>
          <a:p>
            <a:pPr marL="0" indent="0" algn="l">
              <a:buNone/>
            </a:pPr>
            <a:r>
              <a:rPr lang="en-US" sz="1600" b="1" dirty="0">
                <a:solidFill>
                  <a:srgbClr val="0C2622"/>
                </a:solidFill>
                <a:latin typeface="Cambria" pitchFamily="34" charset="0"/>
                <a:ea typeface="Cambria" pitchFamily="34" charset="-122"/>
                <a:cs typeface="Cambria" pitchFamily="34" charset="-120"/>
              </a:rPr>
              <a:t>Contribution margin</a:t>
            </a:r>
            <a:endParaRPr lang="en-US" sz="1600" dirty="0"/>
          </a:p>
        </p:txBody>
      </p:sp>
      <p:sp>
        <p:nvSpPr>
          <p:cNvPr id="26" name="Text 19"/>
          <p:cNvSpPr txBox="1"/>
          <p:nvPr/>
        </p:nvSpPr>
        <p:spPr>
          <a:xfrm>
            <a:off x="640080" y="3840480"/>
            <a:ext cx="2331720" cy="731520"/>
          </a:xfrm>
          <a:prstGeom prst="rect">
            <a:avLst/>
          </a:prstGeom>
          <a:noFill/>
          <a:ln/>
        </p:spPr>
        <p:txBody>
          <a:bodyPr wrap="square" lIns="0" tIns="0" rIns="0" bIns="0" rtlCol="0" anchor="t"/>
          <a:lstStyle/>
          <a:p>
            <a:pPr marL="0" indent="0" algn="l">
              <a:buNone/>
            </a:pPr>
            <a:r>
              <a:rPr lang="en-US" sz="1250" dirty="0">
                <a:solidFill>
                  <a:srgbClr val="15302B"/>
                </a:solidFill>
                <a:latin typeface="Calibri" pitchFamily="34" charset="0"/>
                <a:ea typeface="Calibri" pitchFamily="34" charset="-122"/>
                <a:cs typeface="Calibri" pitchFamily="34" charset="-120"/>
              </a:rPr>
              <a:t>Revenue per customer − variable costs</a:t>
            </a:r>
            <a:endParaRPr lang="en-US" sz="1250" dirty="0"/>
          </a:p>
        </p:txBody>
      </p:sp>
      <p:sp>
        <p:nvSpPr>
          <p:cNvPr id="27" name="Shape 20"/>
          <p:cNvSpPr/>
          <p:nvPr/>
        </p:nvSpPr>
        <p:spPr>
          <a:xfrm>
            <a:off x="324612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8" name="Shape 21"/>
          <p:cNvSpPr/>
          <p:nvPr/>
        </p:nvSpPr>
        <p:spPr>
          <a:xfrm>
            <a:off x="3429000" y="3182112"/>
            <a:ext cx="457200" cy="457200"/>
          </a:xfrm>
          <a:prstGeom prst="ellipse">
            <a:avLst/>
          </a:prstGeom>
          <a:solidFill>
            <a:srgbClr val="12735B"/>
          </a:solidFill>
          <a:ln/>
        </p:spPr>
      </p:sp>
      <p:pic>
        <p:nvPicPr>
          <p:cNvPr id="29" name="Image 4" descr="preencoded.png"/>
          <p:cNvPicPr>
            <a:picLocks noChangeAspect="1"/>
          </p:cNvPicPr>
          <p:nvPr/>
        </p:nvPicPr>
        <p:blipFill>
          <a:blip r:embed="rId7"/>
          <a:stretch>
            <a:fillRect/>
          </a:stretch>
        </p:blipFill>
        <p:spPr>
          <a:xfrm>
            <a:off x="3543300" y="3296412"/>
            <a:ext cx="228600" cy="228600"/>
          </a:xfrm>
          <a:prstGeom prst="rect">
            <a:avLst/>
          </a:prstGeom>
        </p:spPr>
      </p:pic>
      <p:sp>
        <p:nvSpPr>
          <p:cNvPr id="30" name="Text 22"/>
          <p:cNvSpPr txBox="1"/>
          <p:nvPr/>
        </p:nvSpPr>
        <p:spPr>
          <a:xfrm>
            <a:off x="4023360" y="3182112"/>
            <a:ext cx="1783080" cy="457200"/>
          </a:xfrm>
          <a:prstGeom prst="rect">
            <a:avLst/>
          </a:prstGeom>
          <a:noFill/>
          <a:ln/>
        </p:spPr>
        <p:txBody>
          <a:bodyPr wrap="square" lIns="0" tIns="0" rIns="0" bIns="0" rtlCol="0" anchor="ctr"/>
          <a:lstStyle/>
          <a:p>
            <a:pPr marL="0" indent="0" algn="l">
              <a:buNone/>
            </a:pPr>
            <a:r>
              <a:rPr lang="en-US" sz="1600" b="1" dirty="0">
                <a:solidFill>
                  <a:srgbClr val="0C2622"/>
                </a:solidFill>
                <a:latin typeface="Cambria" pitchFamily="34" charset="0"/>
                <a:ea typeface="Cambria" pitchFamily="34" charset="-122"/>
                <a:cs typeface="Cambria" pitchFamily="34" charset="-120"/>
              </a:rPr>
              <a:t>LTV</a:t>
            </a:r>
            <a:endParaRPr lang="en-US" sz="1600" dirty="0"/>
          </a:p>
        </p:txBody>
      </p:sp>
      <p:sp>
        <p:nvSpPr>
          <p:cNvPr id="31" name="Text 23"/>
          <p:cNvSpPr txBox="1"/>
          <p:nvPr/>
        </p:nvSpPr>
        <p:spPr>
          <a:xfrm>
            <a:off x="3429000" y="3840480"/>
            <a:ext cx="2331720" cy="731520"/>
          </a:xfrm>
          <a:prstGeom prst="rect">
            <a:avLst/>
          </a:prstGeom>
          <a:noFill/>
          <a:ln/>
        </p:spPr>
        <p:txBody>
          <a:bodyPr wrap="square" lIns="0" tIns="0" rIns="0" bIns="0" rtlCol="0" anchor="t"/>
          <a:lstStyle/>
          <a:p>
            <a:pPr marL="0" indent="0" algn="l">
              <a:buNone/>
            </a:pPr>
            <a:r>
              <a:rPr lang="en-US" sz="1250" dirty="0">
                <a:solidFill>
                  <a:srgbClr val="15302B"/>
                </a:solidFill>
                <a:latin typeface="Calibri" pitchFamily="34" charset="0"/>
                <a:ea typeface="Calibri" pitchFamily="34" charset="-122"/>
                <a:cs typeface="Calibri" pitchFamily="34" charset="-120"/>
              </a:rPr>
              <a:t>Approximate lifetime value of a customer</a:t>
            </a:r>
            <a:endParaRPr lang="en-US" sz="1250" dirty="0"/>
          </a:p>
        </p:txBody>
      </p:sp>
      <p:sp>
        <p:nvSpPr>
          <p:cNvPr id="32" name="Shape 24"/>
          <p:cNvSpPr/>
          <p:nvPr/>
        </p:nvSpPr>
        <p:spPr>
          <a:xfrm>
            <a:off x="6035040" y="3017520"/>
            <a:ext cx="2651760" cy="1627632"/>
          </a:xfrm>
          <a:prstGeom prst="roundRect">
            <a:avLst>
              <a:gd name="adj" fmla="val 5618"/>
            </a:avLst>
          </a:prstGeom>
          <a:solidFill>
            <a:srgbClr val="0C2622"/>
          </a:solidFill>
          <a:ln/>
          <a:effectLst>
            <a:outerShdw blurRad="101600" dist="25400" dir="5400000" algn="bl" rotWithShape="0">
              <a:srgbClr val="000000">
                <a:alpha val="10000"/>
              </a:srgbClr>
            </a:outerShdw>
          </a:effectLst>
        </p:spPr>
      </p:sp>
      <p:sp>
        <p:nvSpPr>
          <p:cNvPr id="33" name="Text 25"/>
          <p:cNvSpPr txBox="1"/>
          <p:nvPr/>
        </p:nvSpPr>
        <p:spPr>
          <a:xfrm>
            <a:off x="6217920" y="3017520"/>
            <a:ext cx="2286000" cy="1627632"/>
          </a:xfrm>
          <a:prstGeom prst="rect">
            <a:avLst/>
          </a:prstGeom>
          <a:noFill/>
          <a:ln/>
        </p:spPr>
        <p:txBody>
          <a:bodyPr wrap="square" lIns="0" tIns="0" rIns="0" bIns="0" rtlCol="0" anchor="ctr"/>
          <a:lstStyle/>
          <a:p>
            <a:pPr marL="0" indent="0" algn="l">
              <a:buNone/>
            </a:pPr>
            <a:r>
              <a:rPr lang="en-US" sz="1350" i="1" dirty="0">
                <a:solidFill>
                  <a:srgbClr val="FFFFFF"/>
                </a:solidFill>
                <a:latin typeface="Cambria" pitchFamily="34" charset="0"/>
                <a:ea typeface="Cambria" pitchFamily="34" charset="-122"/>
                <a:cs typeface="Cambria" pitchFamily="34" charset="-120"/>
              </a:rPr>
              <a:t>A product people want can still be a bad business if acquiring or serving customers costs too much.</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04</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4</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Building the Smallest Useful MVP</a:t>
            </a:r>
            <a:endParaRPr lang="en-US" sz="3600" dirty="0"/>
          </a:p>
        </p:txBody>
      </p:sp>
      <p:sp>
        <p:nvSpPr>
          <p:cNvPr id="6" name="Text 3"/>
          <p:cNvSpPr txBox="1"/>
          <p:nvPr/>
        </p:nvSpPr>
        <p:spPr>
          <a:xfrm>
            <a:off x="640080" y="3922776"/>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Ask: what must work? Not: what features would be cool?</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4 · MVP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MVP ≠ bad product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27</a:t>
            </a:r>
            <a:endParaRPr lang="en-US" sz="900" dirty="0"/>
          </a:p>
        </p:txBody>
      </p:sp>
      <p:sp>
        <p:nvSpPr>
          <p:cNvPr id="7" name="Shape 4"/>
          <p:cNvSpPr/>
          <p:nvPr/>
        </p:nvSpPr>
        <p:spPr>
          <a:xfrm>
            <a:off x="457200" y="1280160"/>
            <a:ext cx="8229600" cy="640080"/>
          </a:xfrm>
          <a:prstGeom prst="roundRect">
            <a:avLst>
              <a:gd name="adj" fmla="val 14286"/>
            </a:avLst>
          </a:prstGeom>
          <a:solidFill>
            <a:srgbClr val="DFF1EA"/>
          </a:solidFill>
          <a:ln/>
        </p:spPr>
      </p:sp>
      <p:sp>
        <p:nvSpPr>
          <p:cNvPr id="8" name="Text 5"/>
          <p:cNvSpPr txBox="1"/>
          <p:nvPr/>
        </p:nvSpPr>
        <p:spPr>
          <a:xfrm>
            <a:off x="685800" y="1280160"/>
            <a:ext cx="7772400" cy="640080"/>
          </a:xfrm>
          <a:prstGeom prst="rect">
            <a:avLst/>
          </a:prstGeom>
          <a:noFill/>
          <a:ln/>
        </p:spPr>
        <p:txBody>
          <a:bodyPr wrap="square" lIns="0" tIns="0" rIns="0" bIns="0" rtlCol="0" anchor="ctr"/>
          <a:lstStyle/>
          <a:p>
            <a:pPr marL="0" indent="0" algn="l">
              <a:buNone/>
            </a:pPr>
            <a:r>
              <a:rPr lang="en-US" sz="1500" b="1" dirty="0">
                <a:solidFill>
                  <a:srgbClr val="12735B"/>
                </a:solidFill>
                <a:latin typeface="Cambria" pitchFamily="34" charset="0"/>
                <a:ea typeface="Cambria" pitchFamily="34" charset="-122"/>
                <a:cs typeface="Cambria" pitchFamily="34" charset="-120"/>
              </a:rPr>
              <a:t>Ask: </a:t>
            </a:r>
            <a:r>
              <a:rPr lang="en-US" sz="1500" dirty="0">
                <a:solidFill>
                  <a:srgbClr val="0C2622"/>
                </a:solidFill>
                <a:latin typeface="Cambria" pitchFamily="34" charset="0"/>
                <a:ea typeface="Cambria" pitchFamily="34" charset="-122"/>
                <a:cs typeface="Cambria" pitchFamily="34" charset="-120"/>
              </a:rPr>
              <a:t>What must work?   </a:t>
            </a:r>
            <a:r>
              <a:rPr lang="en-US" sz="1500" b="1" dirty="0">
                <a:solidFill>
                  <a:srgbClr val="C93B4B"/>
                </a:solidFill>
                <a:latin typeface="Cambria" pitchFamily="34" charset="0"/>
                <a:ea typeface="Cambria" pitchFamily="34" charset="-122"/>
                <a:cs typeface="Cambria" pitchFamily="34" charset="-120"/>
              </a:rPr>
              <a:t>Not: </a:t>
            </a:r>
            <a:r>
              <a:rPr lang="en-US" sz="1500" dirty="0">
                <a:solidFill>
                  <a:srgbClr val="0C2622"/>
                </a:solidFill>
                <a:latin typeface="Cambria" pitchFamily="34" charset="0"/>
                <a:ea typeface="Cambria" pitchFamily="34" charset="-122"/>
                <a:cs typeface="Cambria" pitchFamily="34" charset="-120"/>
              </a:rPr>
              <a:t>What features would be cool?</a:t>
            </a:r>
            <a:endParaRPr lang="en-US" sz="1500" dirty="0"/>
          </a:p>
        </p:txBody>
      </p:sp>
      <p:sp>
        <p:nvSpPr>
          <p:cNvPr id="9" name="Text 6"/>
          <p:cNvSpPr txBox="1"/>
          <p:nvPr/>
        </p:nvSpPr>
        <p:spPr>
          <a:xfrm>
            <a:off x="457200" y="2103120"/>
            <a:ext cx="4572000" cy="182880"/>
          </a:xfrm>
          <a:prstGeom prst="rect">
            <a:avLst/>
          </a:prstGeom>
          <a:noFill/>
          <a:ln/>
        </p:spPr>
        <p:txBody>
          <a:bodyPr wrap="square" lIns="0" tIns="0" rIns="0" bIns="0" rtlCol="0" anchor="t"/>
          <a:lstStyle/>
          <a:p>
            <a:pPr marL="0" indent="0" algn="l">
              <a:buNone/>
            </a:pPr>
            <a:r>
              <a:rPr lang="en-US" sz="950" b="1" kern="0" spc="150" dirty="0">
                <a:solidFill>
                  <a:srgbClr val="587068"/>
                </a:solidFill>
                <a:latin typeface="Calibri" pitchFamily="34" charset="0"/>
                <a:ea typeface="Calibri" pitchFamily="34" charset="-122"/>
                <a:cs typeface="Calibri" pitchFamily="34" charset="-120"/>
              </a:rPr>
              <a:t>EXAMPLE — AI RECRUITMENT ASSISTANT</a:t>
            </a:r>
            <a:endParaRPr lang="en-US" sz="950" dirty="0"/>
          </a:p>
        </p:txBody>
      </p:sp>
      <p:sp>
        <p:nvSpPr>
          <p:cNvPr id="10" name="Shape 7"/>
          <p:cNvSpPr/>
          <p:nvPr/>
        </p:nvSpPr>
        <p:spPr>
          <a:xfrm>
            <a:off x="457200" y="2377440"/>
            <a:ext cx="3840480" cy="2286000"/>
          </a:xfrm>
          <a:prstGeom prst="roundRect">
            <a:avLst>
              <a:gd name="adj" fmla="val 4000"/>
            </a:avLst>
          </a:prstGeom>
          <a:solidFill>
            <a:srgbClr val="E3EAE7"/>
          </a:solidFill>
          <a:ln/>
        </p:spPr>
      </p:sp>
      <p:sp>
        <p:nvSpPr>
          <p:cNvPr id="11" name="Text 8"/>
          <p:cNvSpPr txBox="1"/>
          <p:nvPr/>
        </p:nvSpPr>
        <p:spPr>
          <a:xfrm>
            <a:off x="640080" y="2487168"/>
            <a:ext cx="2743200" cy="274320"/>
          </a:xfrm>
          <a:prstGeom prst="rect">
            <a:avLst/>
          </a:prstGeom>
          <a:noFill/>
          <a:ln/>
        </p:spPr>
        <p:txBody>
          <a:bodyPr wrap="square" lIns="0" tIns="0" rIns="0" bIns="0" rtlCol="0" anchor="t"/>
          <a:lstStyle/>
          <a:p>
            <a:pPr marL="0" indent="0" algn="l">
              <a:buNone/>
            </a:pPr>
            <a:r>
              <a:rPr lang="en-US" sz="1400" b="1" dirty="0">
                <a:solidFill>
                  <a:srgbClr val="587068"/>
                </a:solidFill>
                <a:latin typeface="Cambria" pitchFamily="34" charset="0"/>
                <a:ea typeface="Cambria" pitchFamily="34" charset="-122"/>
                <a:cs typeface="Cambria" pitchFamily="34" charset="-120"/>
              </a:rPr>
              <a:t>Full product</a:t>
            </a:r>
            <a:endParaRPr lang="en-US" sz="1400" dirty="0"/>
          </a:p>
        </p:txBody>
      </p:sp>
      <p:sp>
        <p:nvSpPr>
          <p:cNvPr id="12" name="Text 9"/>
          <p:cNvSpPr txBox="1"/>
          <p:nvPr/>
        </p:nvSpPr>
        <p:spPr>
          <a:xfrm>
            <a:off x="640080" y="2834640"/>
            <a:ext cx="3474720" cy="1783080"/>
          </a:xfrm>
          <a:prstGeom prst="rect">
            <a:avLst/>
          </a:prstGeom>
          <a:noFill/>
          <a:ln/>
        </p:spPr>
        <p:txBody>
          <a:bodyPr wrap="square" lIns="0" tIns="0" rIns="0" bIns="0" rtlCol="0" anchor="t"/>
          <a:lstStyle/>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ATS</a:t>
            </a:r>
            <a:endParaRPr lang="en-US" sz="1200" dirty="0"/>
          </a:p>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Candidate profiles</a:t>
            </a:r>
            <a:endParaRPr lang="en-US" sz="1200" dirty="0"/>
          </a:p>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AI scoring</a:t>
            </a:r>
            <a:endParaRPr lang="en-US" sz="1200" dirty="0"/>
          </a:p>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Interview scheduling</a:t>
            </a:r>
            <a:endParaRPr lang="en-US" sz="1200" dirty="0"/>
          </a:p>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Video interviews</a:t>
            </a:r>
            <a:endParaRPr lang="en-US" sz="1200" dirty="0"/>
          </a:p>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Analytics dashboard</a:t>
            </a:r>
            <a:endParaRPr lang="en-US" sz="1200" dirty="0"/>
          </a:p>
          <a:p>
            <a:pPr marL="152400" indent="-152400" algn="l">
              <a:spcAft>
                <a:spcPts val="200"/>
              </a:spcAft>
              <a:buSzPct val="100000"/>
              <a:buChar char="•"/>
            </a:pPr>
            <a:r>
              <a:rPr lang="en-US" sz="1150" dirty="0">
                <a:solidFill>
                  <a:srgbClr val="587068"/>
                </a:solidFill>
                <a:latin typeface="Calibri" pitchFamily="34" charset="0"/>
                <a:ea typeface="Calibri" pitchFamily="34" charset="-122"/>
                <a:cs typeface="Calibri" pitchFamily="34" charset="-120"/>
              </a:rPr>
              <a:t>HR integrations</a:t>
            </a:r>
            <a:endParaRPr lang="en-US" sz="1200" dirty="0"/>
          </a:p>
        </p:txBody>
      </p:sp>
      <p:sp>
        <p:nvSpPr>
          <p:cNvPr id="13" name="Shape 10"/>
          <p:cNvSpPr/>
          <p:nvPr/>
        </p:nvSpPr>
        <p:spPr>
          <a:xfrm>
            <a:off x="4389120" y="3520440"/>
            <a:ext cx="457200" cy="0"/>
          </a:xfrm>
          <a:prstGeom prst="line">
            <a:avLst/>
          </a:prstGeom>
          <a:noFill/>
          <a:ln w="38100">
            <a:solidFill>
              <a:srgbClr val="12735B"/>
            </a:solidFill>
            <a:prstDash val="solid"/>
            <a:tailEnd type="triangle"/>
          </a:ln>
        </p:spPr>
      </p:sp>
      <p:sp>
        <p:nvSpPr>
          <p:cNvPr id="14" name="Shape 11"/>
          <p:cNvSpPr/>
          <p:nvPr/>
        </p:nvSpPr>
        <p:spPr>
          <a:xfrm>
            <a:off x="4937760" y="2377440"/>
            <a:ext cx="3749040" cy="2286000"/>
          </a:xfrm>
          <a:prstGeom prst="roundRect">
            <a:avLst>
              <a:gd name="adj" fmla="val 4000"/>
            </a:avLst>
          </a:prstGeom>
          <a:solidFill>
            <a:srgbClr val="FFFFFF"/>
          </a:solidFill>
          <a:ln/>
          <a:effectLst>
            <a:outerShdw blurRad="101600" dist="25400" dir="5400000" algn="bl" rotWithShape="0">
              <a:srgbClr val="000000">
                <a:alpha val="10000"/>
              </a:srgbClr>
            </a:outerShdw>
          </a:effectLst>
        </p:spPr>
      </p:sp>
      <p:sp>
        <p:nvSpPr>
          <p:cNvPr id="15" name="Text 12"/>
          <p:cNvSpPr txBox="1"/>
          <p:nvPr/>
        </p:nvSpPr>
        <p:spPr>
          <a:xfrm>
            <a:off x="5120640" y="2487168"/>
            <a:ext cx="2743200" cy="274320"/>
          </a:xfrm>
          <a:prstGeom prst="rect">
            <a:avLst/>
          </a:prstGeom>
          <a:noFill/>
          <a:ln/>
        </p:spPr>
        <p:txBody>
          <a:bodyPr wrap="square" lIns="0" tIns="0" rIns="0" bIns="0" rtlCol="0" anchor="t"/>
          <a:lstStyle/>
          <a:p>
            <a:pPr marL="0" indent="0" algn="l">
              <a:buNone/>
            </a:pPr>
            <a:r>
              <a:rPr lang="en-US" sz="1400" b="1" dirty="0">
                <a:solidFill>
                  <a:srgbClr val="12735B"/>
                </a:solidFill>
                <a:latin typeface="Cambria" pitchFamily="34" charset="0"/>
                <a:ea typeface="Cambria" pitchFamily="34" charset="-122"/>
                <a:cs typeface="Cambria" pitchFamily="34" charset="-120"/>
              </a:rPr>
              <a:t>The MVP</a:t>
            </a:r>
            <a:endParaRPr lang="en-US" sz="1400" dirty="0"/>
          </a:p>
        </p:txBody>
      </p:sp>
      <p:sp>
        <p:nvSpPr>
          <p:cNvPr id="16" name="Shape 13"/>
          <p:cNvSpPr/>
          <p:nvPr/>
        </p:nvSpPr>
        <p:spPr>
          <a:xfrm>
            <a:off x="5120640" y="2834640"/>
            <a:ext cx="3383280" cy="457200"/>
          </a:xfrm>
          <a:prstGeom prst="roundRect">
            <a:avLst>
              <a:gd name="adj" fmla="val 16000"/>
            </a:avLst>
          </a:prstGeom>
          <a:solidFill>
            <a:srgbClr val="0C2622"/>
          </a:solidFill>
          <a:ln/>
        </p:spPr>
      </p:sp>
      <p:sp>
        <p:nvSpPr>
          <p:cNvPr id="17" name="Text 14"/>
          <p:cNvSpPr txBox="1"/>
          <p:nvPr/>
        </p:nvSpPr>
        <p:spPr>
          <a:xfrm>
            <a:off x="5120640" y="2834640"/>
            <a:ext cx="3383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Upload 50 CVs</a:t>
            </a:r>
            <a:endParaRPr lang="en-US" sz="1400" dirty="0"/>
          </a:p>
        </p:txBody>
      </p:sp>
      <p:sp>
        <p:nvSpPr>
          <p:cNvPr id="18" name="Text 15"/>
          <p:cNvSpPr txBox="1"/>
          <p:nvPr/>
        </p:nvSpPr>
        <p:spPr>
          <a:xfrm>
            <a:off x="5120640" y="3401568"/>
            <a:ext cx="2743200" cy="228600"/>
          </a:xfrm>
          <a:prstGeom prst="rect">
            <a:avLst/>
          </a:prstGeom>
          <a:noFill/>
          <a:ln/>
        </p:spPr>
        <p:txBody>
          <a:bodyPr wrap="square" lIns="0" tIns="0" rIns="0" bIns="0" rtlCol="0" anchor="t"/>
          <a:lstStyle/>
          <a:p>
            <a:pPr marL="0" indent="0" algn="l">
              <a:buNone/>
            </a:pPr>
            <a:r>
              <a:rPr lang="en-US" sz="1100" i="1" dirty="0">
                <a:solidFill>
                  <a:srgbClr val="587068"/>
                </a:solidFill>
                <a:latin typeface="Calibri" pitchFamily="34" charset="0"/>
                <a:ea typeface="Calibri" pitchFamily="34" charset="-122"/>
                <a:cs typeface="Calibri" pitchFamily="34" charset="-120"/>
              </a:rPr>
              <a:t>AI produces:</a:t>
            </a:r>
            <a:endParaRPr lang="en-US" sz="1100" dirty="0"/>
          </a:p>
        </p:txBody>
      </p:sp>
      <p:sp>
        <p:nvSpPr>
          <p:cNvPr id="19" name="Text 16"/>
          <p:cNvSpPr txBox="1"/>
          <p:nvPr/>
        </p:nvSpPr>
        <p:spPr>
          <a:xfrm>
            <a:off x="5120640" y="3657600"/>
            <a:ext cx="3291840" cy="914400"/>
          </a:xfrm>
          <a:prstGeom prst="rect">
            <a:avLst/>
          </a:prstGeom>
          <a:noFill/>
          <a:ln/>
        </p:spPr>
        <p:txBody>
          <a:bodyPr wrap="square" lIns="0" tIns="0" rIns="0" bIns="0" rtlCol="0" anchor="t"/>
          <a:lstStyle/>
          <a:p>
            <a:pPr marL="152400" indent="-152400" algn="l">
              <a:spcAft>
                <a:spcPts val="200"/>
              </a:spcAft>
              <a:buSzPct val="100000"/>
              <a:buChar char="•"/>
            </a:pPr>
            <a:r>
              <a:rPr lang="en-US" sz="1200" dirty="0">
                <a:solidFill>
                  <a:srgbClr val="15302B"/>
                </a:solidFill>
                <a:latin typeface="Calibri" pitchFamily="34" charset="0"/>
                <a:ea typeface="Calibri" pitchFamily="34" charset="-122"/>
                <a:cs typeface="Calibri" pitchFamily="34" charset="-120"/>
              </a:rPr>
              <a:t>Candidate summary</a:t>
            </a:r>
            <a:endParaRPr lang="en-US" sz="1200" dirty="0"/>
          </a:p>
          <a:p>
            <a:pPr marL="152400" indent="-152400" algn="l">
              <a:spcAft>
                <a:spcPts val="200"/>
              </a:spcAft>
              <a:buSzPct val="100000"/>
              <a:buChar char="•"/>
            </a:pPr>
            <a:r>
              <a:rPr lang="en-US" sz="1200" dirty="0">
                <a:solidFill>
                  <a:srgbClr val="15302B"/>
                </a:solidFill>
                <a:latin typeface="Calibri" pitchFamily="34" charset="0"/>
                <a:ea typeface="Calibri" pitchFamily="34" charset="-122"/>
                <a:cs typeface="Calibri" pitchFamily="34" charset="-120"/>
              </a:rPr>
              <a:t>Skills matrix</a:t>
            </a:r>
            <a:endParaRPr lang="en-US" sz="1200" dirty="0"/>
          </a:p>
          <a:p>
            <a:pPr marL="152400" indent="-152400" algn="l">
              <a:spcAft>
                <a:spcPts val="200"/>
              </a:spcAft>
              <a:buSzPct val="100000"/>
              <a:buChar char="•"/>
            </a:pPr>
            <a:r>
              <a:rPr lang="en-US" sz="1200" dirty="0">
                <a:solidFill>
                  <a:srgbClr val="15302B"/>
                </a:solidFill>
                <a:latin typeface="Calibri" pitchFamily="34" charset="0"/>
                <a:ea typeface="Calibri" pitchFamily="34" charset="-122"/>
                <a:cs typeface="Calibri" pitchFamily="34" charset="-120"/>
              </a:rPr>
              <a:t>Shortlist</a:t>
            </a:r>
            <a:endParaRPr lang="en-US" sz="1200" dirty="0"/>
          </a:p>
          <a:p>
            <a:pPr marL="152400" indent="-152400" algn="l">
              <a:spcAft>
                <a:spcPts val="200"/>
              </a:spcAft>
              <a:buSzPct val="100000"/>
              <a:buChar char="•"/>
            </a:pPr>
            <a:r>
              <a:rPr lang="en-US" sz="1200" dirty="0">
                <a:solidFill>
                  <a:srgbClr val="15302B"/>
                </a:solidFill>
                <a:latin typeface="Calibri" pitchFamily="34" charset="0"/>
                <a:ea typeface="Calibri" pitchFamily="34" charset="-122"/>
                <a:cs typeface="Calibri" pitchFamily="34" charset="-120"/>
              </a:rPr>
              <a:t>Interview questions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4 · MVP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Six MVP formats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28</a:t>
            </a:r>
            <a:endParaRPr lang="en-US" sz="900" dirty="0"/>
          </a:p>
        </p:txBody>
      </p:sp>
      <p:sp>
        <p:nvSpPr>
          <p:cNvPr id="7" name="Shape 4"/>
          <p:cNvSpPr/>
          <p:nvPr/>
        </p:nvSpPr>
        <p:spPr>
          <a:xfrm>
            <a:off x="45720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1234440" y="1444752"/>
            <a:ext cx="178308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Concierge</a:t>
            </a:r>
            <a:endParaRPr lang="en-US" sz="1500" dirty="0"/>
          </a:p>
        </p:txBody>
      </p:sp>
      <p:sp>
        <p:nvSpPr>
          <p:cNvPr id="11" name="Text 7"/>
          <p:cNvSpPr txBox="1"/>
          <p:nvPr/>
        </p:nvSpPr>
        <p:spPr>
          <a:xfrm>
            <a:off x="640080" y="2103120"/>
            <a:ext cx="2331720" cy="7315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Do the service manually behind the scenes.</a:t>
            </a:r>
            <a:endParaRPr lang="en-US" sz="1200" dirty="0"/>
          </a:p>
        </p:txBody>
      </p:sp>
      <p:sp>
        <p:nvSpPr>
          <p:cNvPr id="12" name="Shape 8"/>
          <p:cNvSpPr/>
          <p:nvPr/>
        </p:nvSpPr>
        <p:spPr>
          <a:xfrm>
            <a:off x="324612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3429000" y="1444752"/>
            <a:ext cx="457200" cy="45720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3543300" y="1559052"/>
            <a:ext cx="228600" cy="228600"/>
          </a:xfrm>
          <a:prstGeom prst="rect">
            <a:avLst/>
          </a:prstGeom>
        </p:spPr>
      </p:pic>
      <p:sp>
        <p:nvSpPr>
          <p:cNvPr id="15" name="Text 10"/>
          <p:cNvSpPr txBox="1"/>
          <p:nvPr/>
        </p:nvSpPr>
        <p:spPr>
          <a:xfrm>
            <a:off x="4023360" y="1444752"/>
            <a:ext cx="178308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Wizard-of-Oz</a:t>
            </a:r>
            <a:endParaRPr lang="en-US" sz="1500" dirty="0"/>
          </a:p>
        </p:txBody>
      </p:sp>
      <p:sp>
        <p:nvSpPr>
          <p:cNvPr id="16" name="Text 11"/>
          <p:cNvSpPr txBox="1"/>
          <p:nvPr/>
        </p:nvSpPr>
        <p:spPr>
          <a:xfrm>
            <a:off x="3429000" y="2103120"/>
            <a:ext cx="2331720" cy="7315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The customer believes it is automated, but much of the work is manual.</a:t>
            </a:r>
            <a:endParaRPr lang="en-US" sz="1200" dirty="0"/>
          </a:p>
        </p:txBody>
      </p:sp>
      <p:sp>
        <p:nvSpPr>
          <p:cNvPr id="17" name="Shape 12"/>
          <p:cNvSpPr/>
          <p:nvPr/>
        </p:nvSpPr>
        <p:spPr>
          <a:xfrm>
            <a:off x="6035040" y="128016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8" name="Shape 13"/>
          <p:cNvSpPr/>
          <p:nvPr/>
        </p:nvSpPr>
        <p:spPr>
          <a:xfrm>
            <a:off x="6217920" y="1444752"/>
            <a:ext cx="457200" cy="457200"/>
          </a:xfrm>
          <a:prstGeom prst="ellipse">
            <a:avLst/>
          </a:prstGeom>
          <a:solidFill>
            <a:srgbClr val="12735B"/>
          </a:solidFill>
          <a:ln/>
        </p:spPr>
      </p:sp>
      <p:pic>
        <p:nvPicPr>
          <p:cNvPr id="19" name="Image 2" descr="preencoded.png"/>
          <p:cNvPicPr>
            <a:picLocks noChangeAspect="1"/>
          </p:cNvPicPr>
          <p:nvPr/>
        </p:nvPicPr>
        <p:blipFill>
          <a:blip r:embed="rId5"/>
          <a:stretch>
            <a:fillRect/>
          </a:stretch>
        </p:blipFill>
        <p:spPr>
          <a:xfrm>
            <a:off x="6332220" y="1559052"/>
            <a:ext cx="228600" cy="228600"/>
          </a:xfrm>
          <a:prstGeom prst="rect">
            <a:avLst/>
          </a:prstGeom>
        </p:spPr>
      </p:pic>
      <p:sp>
        <p:nvSpPr>
          <p:cNvPr id="20" name="Text 14"/>
          <p:cNvSpPr txBox="1"/>
          <p:nvPr/>
        </p:nvSpPr>
        <p:spPr>
          <a:xfrm>
            <a:off x="6812280" y="1444752"/>
            <a:ext cx="178308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Landing page</a:t>
            </a:r>
            <a:endParaRPr lang="en-US" sz="1500" dirty="0"/>
          </a:p>
        </p:txBody>
      </p:sp>
      <p:sp>
        <p:nvSpPr>
          <p:cNvPr id="21" name="Text 15"/>
          <p:cNvSpPr txBox="1"/>
          <p:nvPr/>
        </p:nvSpPr>
        <p:spPr>
          <a:xfrm>
            <a:off x="6217920" y="2103120"/>
            <a:ext cx="2331720" cy="7315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Test demand before building anything.</a:t>
            </a:r>
            <a:endParaRPr lang="en-US" sz="1200" dirty="0"/>
          </a:p>
        </p:txBody>
      </p:sp>
      <p:sp>
        <p:nvSpPr>
          <p:cNvPr id="22" name="Shape 16"/>
          <p:cNvSpPr/>
          <p:nvPr/>
        </p:nvSpPr>
        <p:spPr>
          <a:xfrm>
            <a:off x="45720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3" name="Shape 17"/>
          <p:cNvSpPr/>
          <p:nvPr/>
        </p:nvSpPr>
        <p:spPr>
          <a:xfrm>
            <a:off x="640080" y="3182112"/>
            <a:ext cx="457200" cy="457200"/>
          </a:xfrm>
          <a:prstGeom prst="ellipse">
            <a:avLst/>
          </a:prstGeom>
          <a:solidFill>
            <a:srgbClr val="12735B"/>
          </a:solidFill>
          <a:ln/>
        </p:spPr>
      </p:sp>
      <p:pic>
        <p:nvPicPr>
          <p:cNvPr id="24" name="Image 3" descr="preencoded.png"/>
          <p:cNvPicPr>
            <a:picLocks noChangeAspect="1"/>
          </p:cNvPicPr>
          <p:nvPr/>
        </p:nvPicPr>
        <p:blipFill>
          <a:blip r:embed="rId6"/>
          <a:stretch>
            <a:fillRect/>
          </a:stretch>
        </p:blipFill>
        <p:spPr>
          <a:xfrm>
            <a:off x="754380" y="3296412"/>
            <a:ext cx="228600" cy="228600"/>
          </a:xfrm>
          <a:prstGeom prst="rect">
            <a:avLst/>
          </a:prstGeom>
        </p:spPr>
      </p:pic>
      <p:sp>
        <p:nvSpPr>
          <p:cNvPr id="25" name="Text 18"/>
          <p:cNvSpPr txBox="1"/>
          <p:nvPr/>
        </p:nvSpPr>
        <p:spPr>
          <a:xfrm>
            <a:off x="1234440" y="3182112"/>
            <a:ext cx="178308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Prototype</a:t>
            </a:r>
            <a:endParaRPr lang="en-US" sz="1500" dirty="0"/>
          </a:p>
        </p:txBody>
      </p:sp>
      <p:sp>
        <p:nvSpPr>
          <p:cNvPr id="26" name="Text 19"/>
          <p:cNvSpPr txBox="1"/>
          <p:nvPr/>
        </p:nvSpPr>
        <p:spPr>
          <a:xfrm>
            <a:off x="640080" y="3840480"/>
            <a:ext cx="2331720" cy="7315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A clickable interface.</a:t>
            </a:r>
            <a:endParaRPr lang="en-US" sz="1200" dirty="0"/>
          </a:p>
        </p:txBody>
      </p:sp>
      <p:sp>
        <p:nvSpPr>
          <p:cNvPr id="27" name="Shape 20"/>
          <p:cNvSpPr/>
          <p:nvPr/>
        </p:nvSpPr>
        <p:spPr>
          <a:xfrm>
            <a:off x="324612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8" name="Shape 21"/>
          <p:cNvSpPr/>
          <p:nvPr/>
        </p:nvSpPr>
        <p:spPr>
          <a:xfrm>
            <a:off x="3429000" y="3182112"/>
            <a:ext cx="457200" cy="457200"/>
          </a:xfrm>
          <a:prstGeom prst="ellipse">
            <a:avLst/>
          </a:prstGeom>
          <a:solidFill>
            <a:srgbClr val="12735B"/>
          </a:solidFill>
          <a:ln/>
        </p:spPr>
      </p:sp>
      <p:pic>
        <p:nvPicPr>
          <p:cNvPr id="29" name="Image 4" descr="preencoded.png"/>
          <p:cNvPicPr>
            <a:picLocks noChangeAspect="1"/>
          </p:cNvPicPr>
          <p:nvPr/>
        </p:nvPicPr>
        <p:blipFill>
          <a:blip r:embed="rId7"/>
          <a:stretch>
            <a:fillRect/>
          </a:stretch>
        </p:blipFill>
        <p:spPr>
          <a:xfrm>
            <a:off x="3543300" y="3296412"/>
            <a:ext cx="228600" cy="228600"/>
          </a:xfrm>
          <a:prstGeom prst="rect">
            <a:avLst/>
          </a:prstGeom>
        </p:spPr>
      </p:pic>
      <p:sp>
        <p:nvSpPr>
          <p:cNvPr id="30" name="Text 22"/>
          <p:cNvSpPr txBox="1"/>
          <p:nvPr/>
        </p:nvSpPr>
        <p:spPr>
          <a:xfrm>
            <a:off x="4023360" y="3182112"/>
            <a:ext cx="178308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AI workflow</a:t>
            </a:r>
            <a:endParaRPr lang="en-US" sz="1500" dirty="0"/>
          </a:p>
        </p:txBody>
      </p:sp>
      <p:sp>
        <p:nvSpPr>
          <p:cNvPr id="31" name="Text 23"/>
          <p:cNvSpPr txBox="1"/>
          <p:nvPr/>
        </p:nvSpPr>
        <p:spPr>
          <a:xfrm>
            <a:off x="3429000" y="3840480"/>
            <a:ext cx="2331720" cy="7315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Multiple AI tools connected through automation.</a:t>
            </a:r>
            <a:endParaRPr lang="en-US" sz="1200" dirty="0"/>
          </a:p>
        </p:txBody>
      </p:sp>
      <p:sp>
        <p:nvSpPr>
          <p:cNvPr id="32" name="Shape 24"/>
          <p:cNvSpPr/>
          <p:nvPr/>
        </p:nvSpPr>
        <p:spPr>
          <a:xfrm>
            <a:off x="6035040" y="3017520"/>
            <a:ext cx="26517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33" name="Shape 25"/>
          <p:cNvSpPr/>
          <p:nvPr/>
        </p:nvSpPr>
        <p:spPr>
          <a:xfrm>
            <a:off x="6217920" y="3182112"/>
            <a:ext cx="457200" cy="457200"/>
          </a:xfrm>
          <a:prstGeom prst="ellipse">
            <a:avLst/>
          </a:prstGeom>
          <a:solidFill>
            <a:srgbClr val="12735B"/>
          </a:solidFill>
          <a:ln/>
        </p:spPr>
      </p:sp>
      <p:pic>
        <p:nvPicPr>
          <p:cNvPr id="34" name="Image 5" descr="preencoded.png"/>
          <p:cNvPicPr>
            <a:picLocks noChangeAspect="1"/>
          </p:cNvPicPr>
          <p:nvPr/>
        </p:nvPicPr>
        <p:blipFill>
          <a:blip r:embed="rId8"/>
          <a:stretch>
            <a:fillRect/>
          </a:stretch>
        </p:blipFill>
        <p:spPr>
          <a:xfrm>
            <a:off x="6332220" y="3296412"/>
            <a:ext cx="228600" cy="228600"/>
          </a:xfrm>
          <a:prstGeom prst="rect">
            <a:avLst/>
          </a:prstGeom>
        </p:spPr>
      </p:pic>
      <p:sp>
        <p:nvSpPr>
          <p:cNvPr id="35" name="Text 26"/>
          <p:cNvSpPr txBox="1"/>
          <p:nvPr/>
        </p:nvSpPr>
        <p:spPr>
          <a:xfrm>
            <a:off x="6812280" y="3182112"/>
            <a:ext cx="1783080" cy="457200"/>
          </a:xfrm>
          <a:prstGeom prst="rect">
            <a:avLst/>
          </a:prstGeom>
          <a:noFill/>
          <a:ln/>
        </p:spPr>
        <p:txBody>
          <a:bodyPr wrap="square" lIns="0" tIns="0" rIns="0" bIns="0" rtlCol="0" anchor="ctr"/>
          <a:lstStyle/>
          <a:p>
            <a:pPr marL="0" indent="0" algn="l">
              <a:buNone/>
            </a:pPr>
            <a:r>
              <a:rPr lang="en-US" sz="1500" b="1" dirty="0">
                <a:solidFill>
                  <a:srgbClr val="0C2622"/>
                </a:solidFill>
                <a:latin typeface="Cambria" pitchFamily="34" charset="0"/>
                <a:ea typeface="Cambria" pitchFamily="34" charset="-122"/>
                <a:cs typeface="Cambria" pitchFamily="34" charset="-120"/>
              </a:rPr>
              <a:t>Functional software</a:t>
            </a:r>
            <a:endParaRPr lang="en-US" sz="1500" dirty="0"/>
          </a:p>
        </p:txBody>
      </p:sp>
      <p:sp>
        <p:nvSpPr>
          <p:cNvPr id="36" name="Text 27"/>
          <p:cNvSpPr txBox="1"/>
          <p:nvPr/>
        </p:nvSpPr>
        <p:spPr>
          <a:xfrm>
            <a:off x="6217920" y="3840480"/>
            <a:ext cx="2331720" cy="7315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A small working product solving one job.</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4 · MVP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Scope the first 7–14 days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29</a:t>
            </a:r>
            <a:endParaRPr lang="en-US" sz="900" dirty="0"/>
          </a:p>
        </p:txBody>
      </p:sp>
      <p:sp>
        <p:nvSpPr>
          <p:cNvPr id="7" name="Shape 4"/>
          <p:cNvSpPr/>
          <p:nvPr/>
        </p:nvSpPr>
        <p:spPr>
          <a:xfrm>
            <a:off x="457200" y="1280160"/>
            <a:ext cx="1975104" cy="2468880"/>
          </a:xfrm>
          <a:prstGeom prst="roundRect">
            <a:avLst>
              <a:gd name="adj" fmla="val 4630"/>
            </a:avLst>
          </a:prstGeom>
          <a:solidFill>
            <a:srgbClr val="0C2622"/>
          </a:solidFill>
          <a:ln/>
        </p:spPr>
      </p:sp>
      <p:sp>
        <p:nvSpPr>
          <p:cNvPr id="8" name="Text 5"/>
          <p:cNvSpPr txBox="1"/>
          <p:nvPr/>
        </p:nvSpPr>
        <p:spPr>
          <a:xfrm>
            <a:off x="640080" y="1371600"/>
            <a:ext cx="548640" cy="5486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9" name="Text 6"/>
          <p:cNvSpPr txBox="1"/>
          <p:nvPr/>
        </p:nvSpPr>
        <p:spPr>
          <a:xfrm>
            <a:off x="640080" y="2148840"/>
            <a:ext cx="1691640" cy="640080"/>
          </a:xfrm>
          <a:prstGeom prst="rect">
            <a:avLst/>
          </a:prstGeom>
          <a:noFill/>
          <a:ln/>
        </p:spPr>
        <p:txBody>
          <a:bodyPr wrap="square" lIns="0" tIns="0" rIns="0" bIns="0"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MUST HAVE</a:t>
            </a:r>
            <a:endParaRPr lang="en-US" sz="1500" dirty="0"/>
          </a:p>
        </p:txBody>
      </p:sp>
      <p:sp>
        <p:nvSpPr>
          <p:cNvPr id="10" name="Text 7"/>
          <p:cNvSpPr txBox="1"/>
          <p:nvPr/>
        </p:nvSpPr>
        <p:spPr>
          <a:xfrm>
            <a:off x="640080" y="2834640"/>
            <a:ext cx="1645920" cy="822960"/>
          </a:xfrm>
          <a:prstGeom prst="rect">
            <a:avLst/>
          </a:prstGeom>
          <a:noFill/>
          <a:ln/>
        </p:spPr>
        <p:txBody>
          <a:bodyPr wrap="square" lIns="0" tIns="0" rIns="0" bIns="0"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Without it, the promised outcome fails.</a:t>
            </a:r>
            <a:endParaRPr lang="en-US" sz="1150" dirty="0"/>
          </a:p>
        </p:txBody>
      </p:sp>
      <p:sp>
        <p:nvSpPr>
          <p:cNvPr id="11" name="Shape 8"/>
          <p:cNvSpPr/>
          <p:nvPr/>
        </p:nvSpPr>
        <p:spPr>
          <a:xfrm>
            <a:off x="2542032" y="1280160"/>
            <a:ext cx="1975104" cy="2468880"/>
          </a:xfrm>
          <a:prstGeom prst="roundRect">
            <a:avLst>
              <a:gd name="adj" fmla="val 4630"/>
            </a:avLst>
          </a:prstGeom>
          <a:solidFill>
            <a:srgbClr val="1E9A7A"/>
          </a:solidFill>
          <a:ln/>
        </p:spPr>
      </p:sp>
      <p:sp>
        <p:nvSpPr>
          <p:cNvPr id="12" name="Text 9"/>
          <p:cNvSpPr txBox="1"/>
          <p:nvPr/>
        </p:nvSpPr>
        <p:spPr>
          <a:xfrm>
            <a:off x="2724912" y="1371600"/>
            <a:ext cx="548640" cy="5486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3" name="Text 10"/>
          <p:cNvSpPr txBox="1"/>
          <p:nvPr/>
        </p:nvSpPr>
        <p:spPr>
          <a:xfrm>
            <a:off x="2724912" y="2148840"/>
            <a:ext cx="1691640" cy="640080"/>
          </a:xfrm>
          <a:prstGeom prst="rect">
            <a:avLst/>
          </a:prstGeom>
          <a:noFill/>
          <a:ln/>
        </p:spPr>
        <p:txBody>
          <a:bodyPr wrap="square" lIns="0" tIns="0" rIns="0" bIns="0"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NICE TO HAVE</a:t>
            </a:r>
            <a:endParaRPr lang="en-US" sz="1500" dirty="0"/>
          </a:p>
        </p:txBody>
      </p:sp>
      <p:sp>
        <p:nvSpPr>
          <p:cNvPr id="14" name="Text 11"/>
          <p:cNvSpPr txBox="1"/>
          <p:nvPr/>
        </p:nvSpPr>
        <p:spPr>
          <a:xfrm>
            <a:off x="2724912" y="2834640"/>
            <a:ext cx="1645920" cy="822960"/>
          </a:xfrm>
          <a:prstGeom prst="rect">
            <a:avLst/>
          </a:prstGeom>
          <a:noFill/>
          <a:ln/>
        </p:spPr>
        <p:txBody>
          <a:bodyPr wrap="square" lIns="0" tIns="0" rIns="0" bIns="0"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Improves the experience, but does not prove value.</a:t>
            </a:r>
            <a:endParaRPr lang="en-US" sz="1150" dirty="0"/>
          </a:p>
        </p:txBody>
      </p:sp>
      <p:sp>
        <p:nvSpPr>
          <p:cNvPr id="15" name="Shape 12"/>
          <p:cNvSpPr/>
          <p:nvPr/>
        </p:nvSpPr>
        <p:spPr>
          <a:xfrm>
            <a:off x="4626864" y="1280160"/>
            <a:ext cx="1975104" cy="2468880"/>
          </a:xfrm>
          <a:prstGeom prst="roundRect">
            <a:avLst>
              <a:gd name="adj" fmla="val 4630"/>
            </a:avLst>
          </a:prstGeom>
          <a:solidFill>
            <a:srgbClr val="B5DCCE"/>
          </a:solidFill>
          <a:ln/>
        </p:spPr>
      </p:sp>
      <p:sp>
        <p:nvSpPr>
          <p:cNvPr id="16" name="Text 13"/>
          <p:cNvSpPr txBox="1"/>
          <p:nvPr/>
        </p:nvSpPr>
        <p:spPr>
          <a:xfrm>
            <a:off x="4809744" y="1371600"/>
            <a:ext cx="548640" cy="548640"/>
          </a:xfrm>
          <a:prstGeom prst="rect">
            <a:avLst/>
          </a:prstGeom>
          <a:noFill/>
          <a:ln/>
        </p:spPr>
        <p:txBody>
          <a:bodyPr wrap="square" lIns="0" tIns="0" rIns="0" bIns="0" rtlCol="0" anchor="t"/>
          <a:lstStyle/>
          <a:p>
            <a:pPr marL="0" indent="0" algn="l">
              <a:buNone/>
            </a:pPr>
            <a:r>
              <a:rPr lang="en-US" sz="3000" b="1" dirty="0">
                <a:solidFill>
                  <a:srgbClr val="0C2622"/>
                </a:solidFill>
                <a:latin typeface="Cambria" pitchFamily="34" charset="0"/>
                <a:ea typeface="Cambria" pitchFamily="34" charset="-122"/>
                <a:cs typeface="Cambria" pitchFamily="34" charset="-120"/>
              </a:rPr>
              <a:t>3</a:t>
            </a:r>
            <a:endParaRPr lang="en-US" sz="3000" dirty="0"/>
          </a:p>
        </p:txBody>
      </p:sp>
      <p:sp>
        <p:nvSpPr>
          <p:cNvPr id="17" name="Text 14"/>
          <p:cNvSpPr txBox="1"/>
          <p:nvPr/>
        </p:nvSpPr>
        <p:spPr>
          <a:xfrm>
            <a:off x="4809744" y="2148840"/>
            <a:ext cx="1691640" cy="640080"/>
          </a:xfrm>
          <a:prstGeom prst="rect">
            <a:avLst/>
          </a:prstGeom>
          <a:noFill/>
          <a:ln/>
        </p:spPr>
        <p:txBody>
          <a:bodyPr wrap="square" lIns="0" tIns="0" rIns="0" bIns="0" rtlCol="0" anchor="t"/>
          <a:lstStyle/>
          <a:p>
            <a:pPr marL="0" indent="0" algn="l">
              <a:buNone/>
            </a:pPr>
            <a:r>
              <a:rPr lang="en-US" sz="1500" b="1" dirty="0">
                <a:solidFill>
                  <a:srgbClr val="0C2622"/>
                </a:solidFill>
                <a:latin typeface="Cambria" pitchFamily="34" charset="0"/>
                <a:ea typeface="Cambria" pitchFamily="34" charset="-122"/>
                <a:cs typeface="Cambria" pitchFamily="34" charset="-120"/>
              </a:rPr>
              <a:t>LATER</a:t>
            </a:r>
            <a:endParaRPr lang="en-US" sz="1500" dirty="0"/>
          </a:p>
        </p:txBody>
      </p:sp>
      <p:sp>
        <p:nvSpPr>
          <p:cNvPr id="18" name="Text 15"/>
          <p:cNvSpPr txBox="1"/>
          <p:nvPr/>
        </p:nvSpPr>
        <p:spPr>
          <a:xfrm>
            <a:off x="4809744" y="2834640"/>
            <a:ext cx="1645920" cy="822960"/>
          </a:xfrm>
          <a:prstGeom prst="rect">
            <a:avLst/>
          </a:prstGeom>
          <a:noFill/>
          <a:ln/>
        </p:spPr>
        <p:txBody>
          <a:bodyPr wrap="square" lIns="0" tIns="0" rIns="0" bIns="0" rtlCol="0" anchor="t"/>
          <a:lstStyle/>
          <a:p>
            <a:pPr marL="0" indent="0" algn="l">
              <a:buNone/>
            </a:pPr>
            <a:r>
              <a:rPr lang="en-US" sz="1150" dirty="0">
                <a:solidFill>
                  <a:srgbClr val="0C2622"/>
                </a:solidFill>
                <a:latin typeface="Calibri" pitchFamily="34" charset="0"/>
                <a:ea typeface="Calibri" pitchFamily="34" charset="-122"/>
                <a:cs typeface="Calibri" pitchFamily="34" charset="-120"/>
              </a:rPr>
              <a:t>After the core value is proven.</a:t>
            </a:r>
            <a:endParaRPr lang="en-US" sz="1150" dirty="0"/>
          </a:p>
        </p:txBody>
      </p:sp>
      <p:sp>
        <p:nvSpPr>
          <p:cNvPr id="19" name="Shape 16"/>
          <p:cNvSpPr/>
          <p:nvPr/>
        </p:nvSpPr>
        <p:spPr>
          <a:xfrm>
            <a:off x="6711696" y="1280160"/>
            <a:ext cx="1975104" cy="2468880"/>
          </a:xfrm>
          <a:prstGeom prst="roundRect">
            <a:avLst>
              <a:gd name="adj" fmla="val 4630"/>
            </a:avLst>
          </a:prstGeom>
          <a:solidFill>
            <a:srgbClr val="C93B4B"/>
          </a:solidFill>
          <a:ln/>
        </p:spPr>
      </p:sp>
      <p:sp>
        <p:nvSpPr>
          <p:cNvPr id="20" name="Text 17"/>
          <p:cNvSpPr txBox="1"/>
          <p:nvPr/>
        </p:nvSpPr>
        <p:spPr>
          <a:xfrm>
            <a:off x="6894576" y="1371600"/>
            <a:ext cx="548640" cy="5486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1" name="Text 18"/>
          <p:cNvSpPr txBox="1"/>
          <p:nvPr/>
        </p:nvSpPr>
        <p:spPr>
          <a:xfrm>
            <a:off x="6894576" y="2148840"/>
            <a:ext cx="1691640" cy="640080"/>
          </a:xfrm>
          <a:prstGeom prst="rect">
            <a:avLst/>
          </a:prstGeom>
          <a:noFill/>
          <a:ln/>
        </p:spPr>
        <p:txBody>
          <a:bodyPr wrap="square" lIns="0" tIns="0" rIns="0" bIns="0"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DO NOT BUILD YET</a:t>
            </a:r>
            <a:endParaRPr lang="en-US" sz="1500" dirty="0"/>
          </a:p>
        </p:txBody>
      </p:sp>
      <p:sp>
        <p:nvSpPr>
          <p:cNvPr id="22" name="Text 19"/>
          <p:cNvSpPr txBox="1"/>
          <p:nvPr/>
        </p:nvSpPr>
        <p:spPr>
          <a:xfrm>
            <a:off x="6894576" y="2834640"/>
            <a:ext cx="1645920" cy="822960"/>
          </a:xfrm>
          <a:prstGeom prst="rect">
            <a:avLst/>
          </a:prstGeom>
          <a:noFill/>
          <a:ln/>
        </p:spPr>
        <p:txBody>
          <a:bodyPr wrap="square" lIns="0" tIns="0" rIns="0" bIns="0"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Tempting — and premature.</a:t>
            </a:r>
            <a:endParaRPr lang="en-US" sz="1150" dirty="0"/>
          </a:p>
        </p:txBody>
      </p:sp>
      <p:sp>
        <p:nvSpPr>
          <p:cNvPr id="23" name="Shape 20"/>
          <p:cNvSpPr/>
          <p:nvPr/>
        </p:nvSpPr>
        <p:spPr>
          <a:xfrm>
            <a:off x="457200" y="3977640"/>
            <a:ext cx="8229600" cy="685800"/>
          </a:xfrm>
          <a:prstGeom prst="roundRect">
            <a:avLst>
              <a:gd name="adj" fmla="val 13333"/>
            </a:avLst>
          </a:prstGeom>
          <a:solidFill>
            <a:srgbClr val="0C2622"/>
          </a:solidFill>
          <a:ln/>
        </p:spPr>
      </p:sp>
      <p:sp>
        <p:nvSpPr>
          <p:cNvPr id="24" name="Text 21"/>
          <p:cNvSpPr txBox="1"/>
          <p:nvPr/>
        </p:nvSpPr>
        <p:spPr>
          <a:xfrm>
            <a:off x="685800" y="3977640"/>
            <a:ext cx="7772400" cy="685800"/>
          </a:xfrm>
          <a:prstGeom prst="rect">
            <a:avLst/>
          </a:prstGeom>
          <a:noFill/>
          <a:ln/>
        </p:spPr>
        <p:txBody>
          <a:bodyPr wrap="square" lIns="0" tIns="0" rIns="0" bIns="0" rtlCol="0" anchor="ctr"/>
          <a:lstStyle/>
          <a:p>
            <a:pPr marL="0" indent="0" algn="l">
              <a:buNone/>
            </a:pPr>
            <a:r>
              <a:rPr lang="en-US" sz="1600" i="1" dirty="0">
                <a:solidFill>
                  <a:srgbClr val="FFFFFF"/>
                </a:solidFill>
                <a:latin typeface="Cambria" pitchFamily="34" charset="0"/>
                <a:ea typeface="Cambria" pitchFamily="34" charset="-122"/>
                <a:cs typeface="Cambria" pitchFamily="34" charset="-120"/>
              </a:rPr>
              <a:t>The MVP should prove whether customers receive the core promised outcome.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4 · MVP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AI MVP stack</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30</a:t>
            </a:r>
            <a:endParaRPr lang="en-US" sz="900" dirty="0"/>
          </a:p>
        </p:txBody>
      </p:sp>
      <p:sp>
        <p:nvSpPr>
          <p:cNvPr id="7" name="Shape 4"/>
          <p:cNvSpPr/>
          <p:nvPr/>
        </p:nvSpPr>
        <p:spPr>
          <a:xfrm>
            <a:off x="457200" y="1280160"/>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8" name="Text 5"/>
          <p:cNvSpPr txBox="1"/>
          <p:nvPr/>
        </p:nvSpPr>
        <p:spPr>
          <a:xfrm>
            <a:off x="585216" y="1371600"/>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Research</a:t>
            </a:r>
            <a:endParaRPr lang="en-US" sz="1150" dirty="0"/>
          </a:p>
        </p:txBody>
      </p:sp>
      <p:sp>
        <p:nvSpPr>
          <p:cNvPr id="9" name="Text 6"/>
          <p:cNvSpPr txBox="1"/>
          <p:nvPr/>
        </p:nvSpPr>
        <p:spPr>
          <a:xfrm>
            <a:off x="585216" y="1737360"/>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ChatGPT, Perplexity, Gemini</a:t>
            </a:r>
            <a:endParaRPr lang="en-US" sz="1050" dirty="0"/>
          </a:p>
        </p:txBody>
      </p:sp>
      <p:sp>
        <p:nvSpPr>
          <p:cNvPr id="10" name="Shape 7"/>
          <p:cNvSpPr/>
          <p:nvPr/>
        </p:nvSpPr>
        <p:spPr>
          <a:xfrm>
            <a:off x="2542032" y="1280160"/>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11" name="Text 8"/>
          <p:cNvSpPr txBox="1"/>
          <p:nvPr/>
        </p:nvSpPr>
        <p:spPr>
          <a:xfrm>
            <a:off x="2670048" y="1371600"/>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Reasoning / documentation</a:t>
            </a:r>
            <a:endParaRPr lang="en-US" sz="1150" dirty="0"/>
          </a:p>
        </p:txBody>
      </p:sp>
      <p:sp>
        <p:nvSpPr>
          <p:cNvPr id="12" name="Text 9"/>
          <p:cNvSpPr txBox="1"/>
          <p:nvPr/>
        </p:nvSpPr>
        <p:spPr>
          <a:xfrm>
            <a:off x="2670048" y="1737360"/>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ChatGPT, Claude</a:t>
            </a:r>
            <a:endParaRPr lang="en-US" sz="1050" dirty="0"/>
          </a:p>
        </p:txBody>
      </p:sp>
      <p:sp>
        <p:nvSpPr>
          <p:cNvPr id="13" name="Shape 10"/>
          <p:cNvSpPr/>
          <p:nvPr/>
        </p:nvSpPr>
        <p:spPr>
          <a:xfrm>
            <a:off x="4626864" y="1280160"/>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14" name="Text 11"/>
          <p:cNvSpPr txBox="1"/>
          <p:nvPr/>
        </p:nvSpPr>
        <p:spPr>
          <a:xfrm>
            <a:off x="4754880" y="1371600"/>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Coding / prototyping</a:t>
            </a:r>
            <a:endParaRPr lang="en-US" sz="1150" dirty="0"/>
          </a:p>
        </p:txBody>
      </p:sp>
      <p:sp>
        <p:nvSpPr>
          <p:cNvPr id="15" name="Text 12"/>
          <p:cNvSpPr txBox="1"/>
          <p:nvPr/>
        </p:nvSpPr>
        <p:spPr>
          <a:xfrm>
            <a:off x="4754880" y="1737360"/>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Claude, ChatGPT, AI coding environments</a:t>
            </a:r>
            <a:endParaRPr lang="en-US" sz="1050" dirty="0"/>
          </a:p>
        </p:txBody>
      </p:sp>
      <p:sp>
        <p:nvSpPr>
          <p:cNvPr id="16" name="Shape 13"/>
          <p:cNvSpPr/>
          <p:nvPr/>
        </p:nvSpPr>
        <p:spPr>
          <a:xfrm>
            <a:off x="6711696" y="1280160"/>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17" name="Text 14"/>
          <p:cNvSpPr txBox="1"/>
          <p:nvPr/>
        </p:nvSpPr>
        <p:spPr>
          <a:xfrm>
            <a:off x="6839712" y="1371600"/>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Landing pages</a:t>
            </a:r>
            <a:endParaRPr lang="en-US" sz="1150" dirty="0"/>
          </a:p>
        </p:txBody>
      </p:sp>
      <p:sp>
        <p:nvSpPr>
          <p:cNvPr id="18" name="Text 15"/>
          <p:cNvSpPr txBox="1"/>
          <p:nvPr/>
        </p:nvSpPr>
        <p:spPr>
          <a:xfrm>
            <a:off x="6839712" y="1737360"/>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Framer, Webflow, Carrd</a:t>
            </a:r>
            <a:endParaRPr lang="en-US" sz="1050" dirty="0"/>
          </a:p>
        </p:txBody>
      </p:sp>
      <p:sp>
        <p:nvSpPr>
          <p:cNvPr id="19" name="Shape 16"/>
          <p:cNvSpPr/>
          <p:nvPr/>
        </p:nvSpPr>
        <p:spPr>
          <a:xfrm>
            <a:off x="457200" y="2340864"/>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20" name="Text 17"/>
          <p:cNvSpPr txBox="1"/>
          <p:nvPr/>
        </p:nvSpPr>
        <p:spPr>
          <a:xfrm>
            <a:off x="585216" y="2432304"/>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Visual design</a:t>
            </a:r>
            <a:endParaRPr lang="en-US" sz="1150" dirty="0"/>
          </a:p>
        </p:txBody>
      </p:sp>
      <p:sp>
        <p:nvSpPr>
          <p:cNvPr id="21" name="Text 18"/>
          <p:cNvSpPr txBox="1"/>
          <p:nvPr/>
        </p:nvSpPr>
        <p:spPr>
          <a:xfrm>
            <a:off x="585216" y="2798064"/>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Canva and AI image tools</a:t>
            </a:r>
            <a:endParaRPr lang="en-US" sz="1050" dirty="0"/>
          </a:p>
        </p:txBody>
      </p:sp>
      <p:sp>
        <p:nvSpPr>
          <p:cNvPr id="22" name="Shape 19"/>
          <p:cNvSpPr/>
          <p:nvPr/>
        </p:nvSpPr>
        <p:spPr>
          <a:xfrm>
            <a:off x="2542032" y="2340864"/>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23" name="Text 20"/>
          <p:cNvSpPr txBox="1"/>
          <p:nvPr/>
        </p:nvSpPr>
        <p:spPr>
          <a:xfrm>
            <a:off x="2670048" y="2432304"/>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Forms</a:t>
            </a:r>
            <a:endParaRPr lang="en-US" sz="1150" dirty="0"/>
          </a:p>
        </p:txBody>
      </p:sp>
      <p:sp>
        <p:nvSpPr>
          <p:cNvPr id="24" name="Text 21"/>
          <p:cNvSpPr txBox="1"/>
          <p:nvPr/>
        </p:nvSpPr>
        <p:spPr>
          <a:xfrm>
            <a:off x="2670048" y="2798064"/>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Tally, Google Forms, Typeform</a:t>
            </a:r>
            <a:endParaRPr lang="en-US" sz="1050" dirty="0"/>
          </a:p>
        </p:txBody>
      </p:sp>
      <p:sp>
        <p:nvSpPr>
          <p:cNvPr id="25" name="Shape 22"/>
          <p:cNvSpPr/>
          <p:nvPr/>
        </p:nvSpPr>
        <p:spPr>
          <a:xfrm>
            <a:off x="4626864" y="2340864"/>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26" name="Text 23"/>
          <p:cNvSpPr txBox="1"/>
          <p:nvPr/>
        </p:nvSpPr>
        <p:spPr>
          <a:xfrm>
            <a:off x="4754880" y="2432304"/>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Databases</a:t>
            </a:r>
            <a:endParaRPr lang="en-US" sz="1150" dirty="0"/>
          </a:p>
        </p:txBody>
      </p:sp>
      <p:sp>
        <p:nvSpPr>
          <p:cNvPr id="27" name="Text 24"/>
          <p:cNvSpPr txBox="1"/>
          <p:nvPr/>
        </p:nvSpPr>
        <p:spPr>
          <a:xfrm>
            <a:off x="4754880" y="2798064"/>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Airtable, Notion, Supabase</a:t>
            </a:r>
            <a:endParaRPr lang="en-US" sz="1050" dirty="0"/>
          </a:p>
        </p:txBody>
      </p:sp>
      <p:sp>
        <p:nvSpPr>
          <p:cNvPr id="28" name="Shape 25"/>
          <p:cNvSpPr/>
          <p:nvPr/>
        </p:nvSpPr>
        <p:spPr>
          <a:xfrm>
            <a:off x="6711696" y="2340864"/>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29" name="Text 26"/>
          <p:cNvSpPr txBox="1"/>
          <p:nvPr/>
        </p:nvSpPr>
        <p:spPr>
          <a:xfrm>
            <a:off x="6839712" y="2432304"/>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Automation</a:t>
            </a:r>
            <a:endParaRPr lang="en-US" sz="1150" dirty="0"/>
          </a:p>
        </p:txBody>
      </p:sp>
      <p:sp>
        <p:nvSpPr>
          <p:cNvPr id="30" name="Text 27"/>
          <p:cNvSpPr txBox="1"/>
          <p:nvPr/>
        </p:nvSpPr>
        <p:spPr>
          <a:xfrm>
            <a:off x="6839712" y="2798064"/>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n8n, Make, Zapier</a:t>
            </a:r>
            <a:endParaRPr lang="en-US" sz="1050" dirty="0"/>
          </a:p>
        </p:txBody>
      </p:sp>
      <p:sp>
        <p:nvSpPr>
          <p:cNvPr id="31" name="Shape 28"/>
          <p:cNvSpPr/>
          <p:nvPr/>
        </p:nvSpPr>
        <p:spPr>
          <a:xfrm>
            <a:off x="457200" y="3401568"/>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32" name="Text 29"/>
          <p:cNvSpPr txBox="1"/>
          <p:nvPr/>
        </p:nvSpPr>
        <p:spPr>
          <a:xfrm>
            <a:off x="585216" y="3493008"/>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Customer communication</a:t>
            </a:r>
            <a:endParaRPr lang="en-US" sz="1150" dirty="0"/>
          </a:p>
        </p:txBody>
      </p:sp>
      <p:sp>
        <p:nvSpPr>
          <p:cNvPr id="33" name="Text 30"/>
          <p:cNvSpPr txBox="1"/>
          <p:nvPr/>
        </p:nvSpPr>
        <p:spPr>
          <a:xfrm>
            <a:off x="585216" y="3858768"/>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Email, Messenger, WhatsApp Business</a:t>
            </a:r>
            <a:endParaRPr lang="en-US" sz="1050" dirty="0"/>
          </a:p>
        </p:txBody>
      </p:sp>
      <p:sp>
        <p:nvSpPr>
          <p:cNvPr id="34" name="Shape 31"/>
          <p:cNvSpPr/>
          <p:nvPr/>
        </p:nvSpPr>
        <p:spPr>
          <a:xfrm>
            <a:off x="2542032" y="3401568"/>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35" name="Text 32"/>
          <p:cNvSpPr txBox="1"/>
          <p:nvPr/>
        </p:nvSpPr>
        <p:spPr>
          <a:xfrm>
            <a:off x="2670048" y="3493008"/>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Analytics</a:t>
            </a:r>
            <a:endParaRPr lang="en-US" sz="1150" dirty="0"/>
          </a:p>
        </p:txBody>
      </p:sp>
      <p:sp>
        <p:nvSpPr>
          <p:cNvPr id="36" name="Text 33"/>
          <p:cNvSpPr txBox="1"/>
          <p:nvPr/>
        </p:nvSpPr>
        <p:spPr>
          <a:xfrm>
            <a:off x="2670048" y="3858768"/>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GA, platform analytics, spreadsheets</a:t>
            </a:r>
            <a:endParaRPr lang="en-US" sz="1050" dirty="0"/>
          </a:p>
        </p:txBody>
      </p:sp>
      <p:sp>
        <p:nvSpPr>
          <p:cNvPr id="37" name="Shape 34"/>
          <p:cNvSpPr/>
          <p:nvPr/>
        </p:nvSpPr>
        <p:spPr>
          <a:xfrm>
            <a:off x="4626864" y="3401568"/>
            <a:ext cx="1975104" cy="969264"/>
          </a:xfrm>
          <a:prstGeom prst="roundRect">
            <a:avLst>
              <a:gd name="adj" fmla="val 9434"/>
            </a:avLst>
          </a:prstGeom>
          <a:solidFill>
            <a:srgbClr val="FFFFFF"/>
          </a:solidFill>
          <a:ln/>
          <a:effectLst>
            <a:outerShdw blurRad="101600" dist="25400" dir="5400000" algn="bl" rotWithShape="0">
              <a:srgbClr val="000000">
                <a:alpha val="10000"/>
              </a:srgbClr>
            </a:outerShdw>
          </a:effectLst>
        </p:spPr>
      </p:sp>
      <p:sp>
        <p:nvSpPr>
          <p:cNvPr id="38" name="Text 35"/>
          <p:cNvSpPr txBox="1"/>
          <p:nvPr/>
        </p:nvSpPr>
        <p:spPr>
          <a:xfrm>
            <a:off x="4754880" y="3493008"/>
            <a:ext cx="1737360" cy="365760"/>
          </a:xfrm>
          <a:prstGeom prst="rect">
            <a:avLst/>
          </a:prstGeom>
          <a:noFill/>
          <a:ln/>
        </p:spPr>
        <p:txBody>
          <a:bodyPr wrap="square" lIns="0" tIns="0" rIns="0" bIns="0" rtlCol="0" anchor="t"/>
          <a:lstStyle/>
          <a:p>
            <a:pPr marL="0" indent="0" algn="l">
              <a:buNone/>
            </a:pPr>
            <a:r>
              <a:rPr lang="en-US" sz="1150" b="1" dirty="0">
                <a:solidFill>
                  <a:srgbClr val="12735B"/>
                </a:solidFill>
                <a:latin typeface="Calibri" pitchFamily="34" charset="0"/>
                <a:ea typeface="Calibri" pitchFamily="34" charset="-122"/>
                <a:cs typeface="Calibri" pitchFamily="34" charset="-120"/>
              </a:rPr>
              <a:t>Documentation</a:t>
            </a:r>
            <a:endParaRPr lang="en-US" sz="1150" dirty="0"/>
          </a:p>
        </p:txBody>
      </p:sp>
      <p:sp>
        <p:nvSpPr>
          <p:cNvPr id="39" name="Text 36"/>
          <p:cNvSpPr txBox="1"/>
          <p:nvPr/>
        </p:nvSpPr>
        <p:spPr>
          <a:xfrm>
            <a:off x="4754880" y="3858768"/>
            <a:ext cx="1737360" cy="45720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Notion, Google Docs</a:t>
            </a:r>
            <a:endParaRPr lang="en-US" sz="1050" dirty="0"/>
          </a:p>
        </p:txBody>
      </p:sp>
      <p:sp>
        <p:nvSpPr>
          <p:cNvPr id="40" name="Shape 37"/>
          <p:cNvSpPr/>
          <p:nvPr/>
        </p:nvSpPr>
        <p:spPr>
          <a:xfrm>
            <a:off x="6711696" y="3401568"/>
            <a:ext cx="1975104" cy="969264"/>
          </a:xfrm>
          <a:prstGeom prst="roundRect">
            <a:avLst>
              <a:gd name="adj" fmla="val 9434"/>
            </a:avLst>
          </a:prstGeom>
          <a:solidFill>
            <a:srgbClr val="0C2622"/>
          </a:solidFill>
          <a:ln/>
          <a:effectLst>
            <a:outerShdw blurRad="101600" dist="25400" dir="5400000" algn="bl" rotWithShape="0">
              <a:srgbClr val="000000">
                <a:alpha val="10000"/>
              </a:srgbClr>
            </a:outerShdw>
          </a:effectLst>
        </p:spPr>
      </p:sp>
      <p:sp>
        <p:nvSpPr>
          <p:cNvPr id="41" name="Text 38"/>
          <p:cNvSpPr txBox="1"/>
          <p:nvPr/>
        </p:nvSpPr>
        <p:spPr>
          <a:xfrm>
            <a:off x="6839712" y="3493008"/>
            <a:ext cx="1737360" cy="365760"/>
          </a:xfrm>
          <a:prstGeom prst="rect">
            <a:avLst/>
          </a:prstGeom>
          <a:noFill/>
          <a:ln/>
        </p:spPr>
        <p:txBody>
          <a:bodyPr wrap="square" lIns="0" tIns="0" rIns="0" bIns="0" rtlCol="0" anchor="t"/>
          <a:lstStyle/>
          <a:p>
            <a:pPr marL="0" indent="0" algn="l">
              <a:buNone/>
            </a:pPr>
            <a:r>
              <a:rPr lang="en-US" sz="1150" b="1" dirty="0">
                <a:solidFill>
                  <a:srgbClr val="F4A52A"/>
                </a:solidFill>
                <a:latin typeface="Calibri" pitchFamily="34" charset="0"/>
                <a:ea typeface="Calibri" pitchFamily="34" charset="-122"/>
                <a:cs typeface="Calibri" pitchFamily="34" charset="-120"/>
              </a:rPr>
              <a:t>Payments (Bangladesh)</a:t>
            </a:r>
            <a:endParaRPr lang="en-US" sz="1150" dirty="0"/>
          </a:p>
        </p:txBody>
      </p:sp>
      <p:sp>
        <p:nvSpPr>
          <p:cNvPr id="42" name="Text 39"/>
          <p:cNvSpPr txBox="1"/>
          <p:nvPr/>
        </p:nvSpPr>
        <p:spPr>
          <a:xfrm>
            <a:off x="6839712" y="3858768"/>
            <a:ext cx="1737360" cy="457200"/>
          </a:xfrm>
          <a:prstGeom prst="rect">
            <a:avLst/>
          </a:prstGeom>
          <a:noFill/>
          <a:ln/>
        </p:spPr>
        <p:txBody>
          <a:bodyPr wrap="square" lIns="0" tIns="0" rIns="0" bIns="0"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bKash, Nagad, payment gateways</a:t>
            </a:r>
            <a:endParaRPr lang="en-US" sz="1050" dirty="0"/>
          </a:p>
        </p:txBody>
      </p:sp>
      <p:sp>
        <p:nvSpPr>
          <p:cNvPr id="43" name="Text 40"/>
          <p:cNvSpPr txBox="1"/>
          <p:nvPr/>
        </p:nvSpPr>
        <p:spPr>
          <a:xfrm>
            <a:off x="457200" y="4526280"/>
            <a:ext cx="8229600" cy="228600"/>
          </a:xfrm>
          <a:prstGeom prst="rect">
            <a:avLst/>
          </a:prstGeom>
          <a:noFill/>
          <a:ln/>
        </p:spPr>
        <p:txBody>
          <a:bodyPr wrap="square" lIns="0" tIns="0" rIns="0" bIns="0" rtlCol="0" anchor="t"/>
          <a:lstStyle/>
          <a:p>
            <a:pPr marL="0" indent="0" algn="l">
              <a:buNone/>
            </a:pPr>
            <a:r>
              <a:rPr lang="en-US" sz="1200" i="1" dirty="0">
                <a:solidFill>
                  <a:srgbClr val="587068"/>
                </a:solidFill>
                <a:latin typeface="Calibri" pitchFamily="34" charset="0"/>
                <a:ea typeface="Calibri" pitchFamily="34" charset="-122"/>
                <a:cs typeface="Calibri" pitchFamily="34" charset="-120"/>
              </a:rPr>
              <a:t>The point is not to memorize tools. Tools change — understand the function each one performs.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4 · MVP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Design the build workflow</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31</a:t>
            </a:r>
            <a:endParaRPr lang="en-US" sz="900" dirty="0"/>
          </a:p>
        </p:txBody>
      </p:sp>
      <p:sp>
        <p:nvSpPr>
          <p:cNvPr id="7" name="Text 4"/>
          <p:cNvSpPr txBox="1"/>
          <p:nvPr/>
        </p:nvSpPr>
        <p:spPr>
          <a:xfrm>
            <a:off x="457200" y="1234440"/>
            <a:ext cx="8229600" cy="274320"/>
          </a:xfrm>
          <a:prstGeom prst="rect">
            <a:avLst/>
          </a:prstGeom>
          <a:noFill/>
          <a:ln/>
        </p:spPr>
        <p:txBody>
          <a:bodyPr wrap="square" lIns="0" tIns="0" rIns="0" bIns="0" rtlCol="0" anchor="t"/>
          <a:lstStyle/>
          <a:p>
            <a:pPr marL="0" indent="0" algn="l">
              <a:buNone/>
            </a:pPr>
            <a:r>
              <a:rPr lang="en-US" sz="1250" dirty="0">
                <a:solidFill>
                  <a:srgbClr val="587068"/>
                </a:solidFill>
                <a:latin typeface="Calibri" pitchFamily="34" charset="0"/>
                <a:ea typeface="Calibri" pitchFamily="34" charset="-122"/>
                <a:cs typeface="Calibri" pitchFamily="34" charset="-120"/>
              </a:rPr>
              <a:t>Prompt AI to act as </a:t>
            </a:r>
            <a:r>
              <a:rPr lang="en-US" sz="1250" b="1" dirty="0">
                <a:solidFill>
                  <a:srgbClr val="587068"/>
                </a:solidFill>
                <a:latin typeface="Calibri" pitchFamily="34" charset="0"/>
                <a:ea typeface="Calibri" pitchFamily="34" charset="-122"/>
                <a:cs typeface="Calibri" pitchFamily="34" charset="-120"/>
              </a:rPr>
              <a:t>product manager and AI workflow architect</a:t>
            </a:r>
            <a:r>
              <a:rPr lang="en-US" sz="1250" dirty="0">
                <a:solidFill>
                  <a:srgbClr val="587068"/>
                </a:solidFill>
                <a:latin typeface="Calibri" pitchFamily="34" charset="0"/>
                <a:ea typeface="Calibri" pitchFamily="34" charset="-122"/>
                <a:cs typeface="Calibri" pitchFamily="34" charset="-120"/>
              </a:rPr>
              <a:t> and map every stage:</a:t>
            </a:r>
            <a:endParaRPr lang="en-US" sz="1250" dirty="0"/>
          </a:p>
        </p:txBody>
      </p:sp>
      <p:sp>
        <p:nvSpPr>
          <p:cNvPr id="8" name="Shape 5"/>
          <p:cNvSpPr/>
          <p:nvPr/>
        </p:nvSpPr>
        <p:spPr>
          <a:xfrm>
            <a:off x="457200" y="1691640"/>
            <a:ext cx="1051560" cy="137160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9" name="Shape 6"/>
          <p:cNvSpPr/>
          <p:nvPr/>
        </p:nvSpPr>
        <p:spPr>
          <a:xfrm>
            <a:off x="530352" y="1764792"/>
            <a:ext cx="274320" cy="274320"/>
          </a:xfrm>
          <a:prstGeom prst="ellipse">
            <a:avLst/>
          </a:prstGeom>
          <a:solidFill>
            <a:srgbClr val="12735B"/>
          </a:solidFill>
          <a:ln/>
        </p:spPr>
      </p:sp>
      <p:sp>
        <p:nvSpPr>
          <p:cNvPr id="10" name="Text 7"/>
          <p:cNvSpPr txBox="1"/>
          <p:nvPr/>
        </p:nvSpPr>
        <p:spPr>
          <a:xfrm>
            <a:off x="530352" y="1764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8"/>
          <p:cNvSpPr txBox="1"/>
          <p:nvPr/>
        </p:nvSpPr>
        <p:spPr>
          <a:xfrm>
            <a:off x="530352" y="2121408"/>
            <a:ext cx="914400" cy="914400"/>
          </a:xfrm>
          <a:prstGeom prst="rect">
            <a:avLst/>
          </a:prstGeom>
          <a:noFill/>
          <a:ln/>
        </p:spPr>
        <p:txBody>
          <a:bodyPr wrap="square" lIns="0" tIns="0" rIns="0" bIns="0" rtlCol="0" anchor="t"/>
          <a:lstStyle/>
          <a:p>
            <a:pPr marL="0" indent="0" algn="l">
              <a:buNone/>
            </a:pPr>
            <a:r>
              <a:rPr lang="en-US" sz="1100" b="1" dirty="0">
                <a:solidFill>
                  <a:srgbClr val="0C2622"/>
                </a:solidFill>
                <a:latin typeface="Calibri" pitchFamily="34" charset="0"/>
                <a:ea typeface="Calibri" pitchFamily="34" charset="-122"/>
                <a:cs typeface="Calibri" pitchFamily="34" charset="-120"/>
              </a:rPr>
              <a:t>Customer arrives</a:t>
            </a:r>
            <a:endParaRPr lang="en-US" sz="1100" dirty="0"/>
          </a:p>
        </p:txBody>
      </p:sp>
      <p:sp>
        <p:nvSpPr>
          <p:cNvPr id="12" name="Shape 9"/>
          <p:cNvSpPr/>
          <p:nvPr/>
        </p:nvSpPr>
        <p:spPr>
          <a:xfrm>
            <a:off x="1527048" y="2377440"/>
            <a:ext cx="109728" cy="0"/>
          </a:xfrm>
          <a:prstGeom prst="line">
            <a:avLst/>
          </a:prstGeom>
          <a:noFill/>
          <a:ln w="19050">
            <a:solidFill>
              <a:srgbClr val="587068"/>
            </a:solidFill>
            <a:prstDash val="solid"/>
            <a:tailEnd type="triangle"/>
          </a:ln>
        </p:spPr>
      </p:sp>
      <p:sp>
        <p:nvSpPr>
          <p:cNvPr id="13" name="Shape 10"/>
          <p:cNvSpPr/>
          <p:nvPr/>
        </p:nvSpPr>
        <p:spPr>
          <a:xfrm>
            <a:off x="1645920" y="1691640"/>
            <a:ext cx="1051560" cy="137160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14" name="Shape 11"/>
          <p:cNvSpPr/>
          <p:nvPr/>
        </p:nvSpPr>
        <p:spPr>
          <a:xfrm>
            <a:off x="1719072" y="1764792"/>
            <a:ext cx="274320" cy="274320"/>
          </a:xfrm>
          <a:prstGeom prst="ellipse">
            <a:avLst/>
          </a:prstGeom>
          <a:solidFill>
            <a:srgbClr val="12735B"/>
          </a:solidFill>
          <a:ln/>
        </p:spPr>
      </p:sp>
      <p:sp>
        <p:nvSpPr>
          <p:cNvPr id="15" name="Text 12"/>
          <p:cNvSpPr txBox="1"/>
          <p:nvPr/>
        </p:nvSpPr>
        <p:spPr>
          <a:xfrm>
            <a:off x="1719072" y="1764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3"/>
          <p:cNvSpPr txBox="1"/>
          <p:nvPr/>
        </p:nvSpPr>
        <p:spPr>
          <a:xfrm>
            <a:off x="1719072" y="2121408"/>
            <a:ext cx="914400" cy="914400"/>
          </a:xfrm>
          <a:prstGeom prst="rect">
            <a:avLst/>
          </a:prstGeom>
          <a:noFill/>
          <a:ln/>
        </p:spPr>
        <p:txBody>
          <a:bodyPr wrap="square" lIns="0" tIns="0" rIns="0" bIns="0" rtlCol="0" anchor="t"/>
          <a:lstStyle/>
          <a:p>
            <a:pPr marL="0" indent="0" algn="l">
              <a:buNone/>
            </a:pPr>
            <a:r>
              <a:rPr lang="en-US" sz="1100" b="1" dirty="0">
                <a:solidFill>
                  <a:srgbClr val="0C2622"/>
                </a:solidFill>
                <a:latin typeface="Calibri" pitchFamily="34" charset="0"/>
                <a:ea typeface="Calibri" pitchFamily="34" charset="-122"/>
                <a:cs typeface="Calibri" pitchFamily="34" charset="-120"/>
              </a:rPr>
              <a:t>Customer provides input</a:t>
            </a:r>
            <a:endParaRPr lang="en-US" sz="1100" dirty="0"/>
          </a:p>
        </p:txBody>
      </p:sp>
      <p:sp>
        <p:nvSpPr>
          <p:cNvPr id="17" name="Shape 14"/>
          <p:cNvSpPr/>
          <p:nvPr/>
        </p:nvSpPr>
        <p:spPr>
          <a:xfrm>
            <a:off x="2715768" y="2377440"/>
            <a:ext cx="109728" cy="0"/>
          </a:xfrm>
          <a:prstGeom prst="line">
            <a:avLst/>
          </a:prstGeom>
          <a:noFill/>
          <a:ln w="19050">
            <a:solidFill>
              <a:srgbClr val="587068"/>
            </a:solidFill>
            <a:prstDash val="solid"/>
            <a:tailEnd type="triangle"/>
          </a:ln>
        </p:spPr>
      </p:sp>
      <p:sp>
        <p:nvSpPr>
          <p:cNvPr id="18" name="Shape 15"/>
          <p:cNvSpPr/>
          <p:nvPr/>
        </p:nvSpPr>
        <p:spPr>
          <a:xfrm>
            <a:off x="2834640" y="1691640"/>
            <a:ext cx="1051560" cy="137160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19" name="Shape 16"/>
          <p:cNvSpPr/>
          <p:nvPr/>
        </p:nvSpPr>
        <p:spPr>
          <a:xfrm>
            <a:off x="2907792" y="1764792"/>
            <a:ext cx="274320" cy="274320"/>
          </a:xfrm>
          <a:prstGeom prst="ellipse">
            <a:avLst/>
          </a:prstGeom>
          <a:solidFill>
            <a:srgbClr val="12735B"/>
          </a:solidFill>
          <a:ln/>
        </p:spPr>
      </p:sp>
      <p:sp>
        <p:nvSpPr>
          <p:cNvPr id="20" name="Text 17"/>
          <p:cNvSpPr txBox="1"/>
          <p:nvPr/>
        </p:nvSpPr>
        <p:spPr>
          <a:xfrm>
            <a:off x="2907792" y="1764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8"/>
          <p:cNvSpPr txBox="1"/>
          <p:nvPr/>
        </p:nvSpPr>
        <p:spPr>
          <a:xfrm>
            <a:off x="2907792" y="2121408"/>
            <a:ext cx="914400" cy="914400"/>
          </a:xfrm>
          <a:prstGeom prst="rect">
            <a:avLst/>
          </a:prstGeom>
          <a:noFill/>
          <a:ln/>
        </p:spPr>
        <p:txBody>
          <a:bodyPr wrap="square" lIns="0" tIns="0" rIns="0" bIns="0" rtlCol="0" anchor="t"/>
          <a:lstStyle/>
          <a:p>
            <a:pPr marL="0" indent="0" algn="l">
              <a:buNone/>
            </a:pPr>
            <a:r>
              <a:rPr lang="en-US" sz="1100" b="1" dirty="0">
                <a:solidFill>
                  <a:srgbClr val="0C2622"/>
                </a:solidFill>
                <a:latin typeface="Calibri" pitchFamily="34" charset="0"/>
                <a:ea typeface="Calibri" pitchFamily="34" charset="-122"/>
                <a:cs typeface="Calibri" pitchFamily="34" charset="-120"/>
              </a:rPr>
              <a:t>System processes input</a:t>
            </a:r>
            <a:endParaRPr lang="en-US" sz="1100" dirty="0"/>
          </a:p>
        </p:txBody>
      </p:sp>
      <p:sp>
        <p:nvSpPr>
          <p:cNvPr id="22" name="Shape 19"/>
          <p:cNvSpPr/>
          <p:nvPr/>
        </p:nvSpPr>
        <p:spPr>
          <a:xfrm>
            <a:off x="3904488" y="2377440"/>
            <a:ext cx="109728" cy="0"/>
          </a:xfrm>
          <a:prstGeom prst="line">
            <a:avLst/>
          </a:prstGeom>
          <a:noFill/>
          <a:ln w="19050">
            <a:solidFill>
              <a:srgbClr val="587068"/>
            </a:solidFill>
            <a:prstDash val="solid"/>
            <a:tailEnd type="triangle"/>
          </a:ln>
        </p:spPr>
      </p:sp>
      <p:sp>
        <p:nvSpPr>
          <p:cNvPr id="23" name="Shape 20"/>
          <p:cNvSpPr/>
          <p:nvPr/>
        </p:nvSpPr>
        <p:spPr>
          <a:xfrm>
            <a:off x="4023360" y="1691640"/>
            <a:ext cx="1051560" cy="1371600"/>
          </a:xfrm>
          <a:prstGeom prst="roundRect">
            <a:avLst>
              <a:gd name="adj" fmla="val 8696"/>
            </a:avLst>
          </a:prstGeom>
          <a:solidFill>
            <a:srgbClr val="12735B"/>
          </a:solidFill>
          <a:ln/>
          <a:effectLst>
            <a:outerShdw blurRad="101600" dist="25400" dir="5400000" algn="bl" rotWithShape="0">
              <a:srgbClr val="000000">
                <a:alpha val="10000"/>
              </a:srgbClr>
            </a:outerShdw>
          </a:effectLst>
        </p:spPr>
      </p:sp>
      <p:sp>
        <p:nvSpPr>
          <p:cNvPr id="24" name="Shape 21"/>
          <p:cNvSpPr/>
          <p:nvPr/>
        </p:nvSpPr>
        <p:spPr>
          <a:xfrm>
            <a:off x="4096512" y="1764792"/>
            <a:ext cx="274320" cy="274320"/>
          </a:xfrm>
          <a:prstGeom prst="ellipse">
            <a:avLst/>
          </a:prstGeom>
          <a:solidFill>
            <a:srgbClr val="FFFFFF"/>
          </a:solidFill>
          <a:ln/>
        </p:spPr>
      </p:sp>
      <p:sp>
        <p:nvSpPr>
          <p:cNvPr id="25" name="Text 22"/>
          <p:cNvSpPr txBox="1"/>
          <p:nvPr/>
        </p:nvSpPr>
        <p:spPr>
          <a:xfrm>
            <a:off x="4096512" y="1764792"/>
            <a:ext cx="274320" cy="274320"/>
          </a:xfrm>
          <a:prstGeom prst="rect">
            <a:avLst/>
          </a:prstGeom>
          <a:noFill/>
          <a:ln/>
        </p:spPr>
        <p:txBody>
          <a:bodyPr wrap="square" lIns="0" tIns="0" rIns="0" bIns="0" rtlCol="0" anchor="ctr"/>
          <a:lstStyle/>
          <a:p>
            <a:pPr marL="0" indent="0" algn="ctr">
              <a:buNone/>
            </a:pPr>
            <a:r>
              <a:rPr lang="en-US" sz="1000" b="1" dirty="0">
                <a:solidFill>
                  <a:srgbClr val="12735B"/>
                </a:solidFill>
                <a:latin typeface="Calibri" pitchFamily="34" charset="0"/>
                <a:ea typeface="Calibri" pitchFamily="34" charset="-122"/>
                <a:cs typeface="Calibri" pitchFamily="34" charset="-120"/>
              </a:rPr>
              <a:t>4</a:t>
            </a:r>
            <a:endParaRPr lang="en-US" sz="1000" dirty="0"/>
          </a:p>
        </p:txBody>
      </p:sp>
      <p:sp>
        <p:nvSpPr>
          <p:cNvPr id="26" name="Text 23"/>
          <p:cNvSpPr txBox="1"/>
          <p:nvPr/>
        </p:nvSpPr>
        <p:spPr>
          <a:xfrm>
            <a:off x="4096512" y="2121408"/>
            <a:ext cx="914400" cy="914400"/>
          </a:xfrm>
          <a:prstGeom prst="rect">
            <a:avLst/>
          </a:prstGeom>
          <a:noFill/>
          <a:ln/>
        </p:spPr>
        <p:txBody>
          <a:bodyPr wrap="square" lIns="0" tIns="0" rIns="0" bIns="0" rtlCol="0" anchor="t"/>
          <a:lstStyle/>
          <a:p>
            <a:pPr marL="0" indent="0" algn="l">
              <a:buNone/>
            </a:pPr>
            <a:r>
              <a:rPr lang="en-US" sz="1100" b="1" dirty="0">
                <a:solidFill>
                  <a:srgbClr val="FFFFFF"/>
                </a:solidFill>
                <a:latin typeface="Calibri" pitchFamily="34" charset="0"/>
                <a:ea typeface="Calibri" pitchFamily="34" charset="-122"/>
                <a:cs typeface="Calibri" pitchFamily="34" charset="-120"/>
              </a:rPr>
              <a:t>AI performs tasks</a:t>
            </a:r>
            <a:endParaRPr lang="en-US" sz="1100" dirty="0"/>
          </a:p>
        </p:txBody>
      </p:sp>
      <p:sp>
        <p:nvSpPr>
          <p:cNvPr id="27" name="Shape 24"/>
          <p:cNvSpPr/>
          <p:nvPr/>
        </p:nvSpPr>
        <p:spPr>
          <a:xfrm>
            <a:off x="5093208" y="2377440"/>
            <a:ext cx="109728" cy="0"/>
          </a:xfrm>
          <a:prstGeom prst="line">
            <a:avLst/>
          </a:prstGeom>
          <a:noFill/>
          <a:ln w="19050">
            <a:solidFill>
              <a:srgbClr val="587068"/>
            </a:solidFill>
            <a:prstDash val="solid"/>
            <a:tailEnd type="triangle"/>
          </a:ln>
        </p:spPr>
      </p:sp>
      <p:sp>
        <p:nvSpPr>
          <p:cNvPr id="28" name="Shape 25"/>
          <p:cNvSpPr/>
          <p:nvPr/>
        </p:nvSpPr>
        <p:spPr>
          <a:xfrm>
            <a:off x="5212080" y="1691640"/>
            <a:ext cx="1051560" cy="1371600"/>
          </a:xfrm>
          <a:prstGeom prst="roundRect">
            <a:avLst>
              <a:gd name="adj" fmla="val 8696"/>
            </a:avLst>
          </a:prstGeom>
          <a:solidFill>
            <a:srgbClr val="F4A52A"/>
          </a:solidFill>
          <a:ln/>
          <a:effectLst>
            <a:outerShdw blurRad="101600" dist="25400" dir="5400000" algn="bl" rotWithShape="0">
              <a:srgbClr val="000000">
                <a:alpha val="10000"/>
              </a:srgbClr>
            </a:outerShdw>
          </a:effectLst>
        </p:spPr>
      </p:sp>
      <p:sp>
        <p:nvSpPr>
          <p:cNvPr id="29" name="Shape 26"/>
          <p:cNvSpPr/>
          <p:nvPr/>
        </p:nvSpPr>
        <p:spPr>
          <a:xfrm>
            <a:off x="5285232" y="1764792"/>
            <a:ext cx="274320" cy="274320"/>
          </a:xfrm>
          <a:prstGeom prst="ellipse">
            <a:avLst/>
          </a:prstGeom>
          <a:solidFill>
            <a:srgbClr val="0C2622"/>
          </a:solidFill>
          <a:ln/>
        </p:spPr>
      </p:sp>
      <p:sp>
        <p:nvSpPr>
          <p:cNvPr id="30" name="Text 27"/>
          <p:cNvSpPr txBox="1"/>
          <p:nvPr/>
        </p:nvSpPr>
        <p:spPr>
          <a:xfrm>
            <a:off x="5285232" y="1764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8"/>
          <p:cNvSpPr txBox="1"/>
          <p:nvPr/>
        </p:nvSpPr>
        <p:spPr>
          <a:xfrm>
            <a:off x="5285232" y="2121408"/>
            <a:ext cx="914400" cy="914400"/>
          </a:xfrm>
          <a:prstGeom prst="rect">
            <a:avLst/>
          </a:prstGeom>
          <a:noFill/>
          <a:ln/>
        </p:spPr>
        <p:txBody>
          <a:bodyPr wrap="square" lIns="0" tIns="0" rIns="0" bIns="0" rtlCol="0" anchor="t"/>
          <a:lstStyle/>
          <a:p>
            <a:pPr marL="0" indent="0" algn="l">
              <a:buNone/>
            </a:pPr>
            <a:r>
              <a:rPr lang="en-US" sz="1100" b="1" dirty="0">
                <a:solidFill>
                  <a:srgbClr val="0C2622"/>
                </a:solidFill>
                <a:latin typeface="Calibri" pitchFamily="34" charset="0"/>
                <a:ea typeface="Calibri" pitchFamily="34" charset="-122"/>
                <a:cs typeface="Calibri" pitchFamily="34" charset="-120"/>
              </a:rPr>
              <a:t>Human reviews (where necessary)</a:t>
            </a:r>
            <a:endParaRPr lang="en-US" sz="1100" dirty="0"/>
          </a:p>
        </p:txBody>
      </p:sp>
      <p:sp>
        <p:nvSpPr>
          <p:cNvPr id="32" name="Shape 29"/>
          <p:cNvSpPr/>
          <p:nvPr/>
        </p:nvSpPr>
        <p:spPr>
          <a:xfrm>
            <a:off x="6281928" y="2377440"/>
            <a:ext cx="109728" cy="0"/>
          </a:xfrm>
          <a:prstGeom prst="line">
            <a:avLst/>
          </a:prstGeom>
          <a:noFill/>
          <a:ln w="19050">
            <a:solidFill>
              <a:srgbClr val="587068"/>
            </a:solidFill>
            <a:prstDash val="solid"/>
            <a:tailEnd type="triangle"/>
          </a:ln>
        </p:spPr>
      </p:sp>
      <p:sp>
        <p:nvSpPr>
          <p:cNvPr id="33" name="Shape 30"/>
          <p:cNvSpPr/>
          <p:nvPr/>
        </p:nvSpPr>
        <p:spPr>
          <a:xfrm>
            <a:off x="6400800" y="1691640"/>
            <a:ext cx="1051560" cy="137160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34" name="Shape 31"/>
          <p:cNvSpPr/>
          <p:nvPr/>
        </p:nvSpPr>
        <p:spPr>
          <a:xfrm>
            <a:off x="6473952" y="1764792"/>
            <a:ext cx="274320" cy="274320"/>
          </a:xfrm>
          <a:prstGeom prst="ellipse">
            <a:avLst/>
          </a:prstGeom>
          <a:solidFill>
            <a:srgbClr val="12735B"/>
          </a:solidFill>
          <a:ln/>
        </p:spPr>
      </p:sp>
      <p:sp>
        <p:nvSpPr>
          <p:cNvPr id="35" name="Text 32"/>
          <p:cNvSpPr txBox="1"/>
          <p:nvPr/>
        </p:nvSpPr>
        <p:spPr>
          <a:xfrm>
            <a:off x="6473952" y="1764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6" name="Text 33"/>
          <p:cNvSpPr txBox="1"/>
          <p:nvPr/>
        </p:nvSpPr>
        <p:spPr>
          <a:xfrm>
            <a:off x="6473952" y="2121408"/>
            <a:ext cx="914400" cy="914400"/>
          </a:xfrm>
          <a:prstGeom prst="rect">
            <a:avLst/>
          </a:prstGeom>
          <a:noFill/>
          <a:ln/>
        </p:spPr>
        <p:txBody>
          <a:bodyPr wrap="square" lIns="0" tIns="0" rIns="0" bIns="0" rtlCol="0" anchor="t"/>
          <a:lstStyle/>
          <a:p>
            <a:pPr marL="0" indent="0" algn="l">
              <a:buNone/>
            </a:pPr>
            <a:r>
              <a:rPr lang="en-US" sz="1100" b="1" dirty="0">
                <a:solidFill>
                  <a:srgbClr val="0C2622"/>
                </a:solidFill>
                <a:latin typeface="Calibri" pitchFamily="34" charset="0"/>
                <a:ea typeface="Calibri" pitchFamily="34" charset="-122"/>
                <a:cs typeface="Calibri" pitchFamily="34" charset="-120"/>
              </a:rPr>
              <a:t>Customer receives outcome</a:t>
            </a:r>
            <a:endParaRPr lang="en-US" sz="1100" dirty="0"/>
          </a:p>
        </p:txBody>
      </p:sp>
      <p:sp>
        <p:nvSpPr>
          <p:cNvPr id="37" name="Shape 34"/>
          <p:cNvSpPr/>
          <p:nvPr/>
        </p:nvSpPr>
        <p:spPr>
          <a:xfrm>
            <a:off x="7470648" y="2377440"/>
            <a:ext cx="109728" cy="0"/>
          </a:xfrm>
          <a:prstGeom prst="line">
            <a:avLst/>
          </a:prstGeom>
          <a:noFill/>
          <a:ln w="19050">
            <a:solidFill>
              <a:srgbClr val="587068"/>
            </a:solidFill>
            <a:prstDash val="solid"/>
            <a:tailEnd type="triangle"/>
          </a:ln>
        </p:spPr>
      </p:sp>
      <p:sp>
        <p:nvSpPr>
          <p:cNvPr id="38" name="Shape 35"/>
          <p:cNvSpPr/>
          <p:nvPr/>
        </p:nvSpPr>
        <p:spPr>
          <a:xfrm>
            <a:off x="7589520" y="1691640"/>
            <a:ext cx="1051560" cy="1371600"/>
          </a:xfrm>
          <a:prstGeom prst="roundRect">
            <a:avLst>
              <a:gd name="adj" fmla="val 8696"/>
            </a:avLst>
          </a:prstGeom>
          <a:solidFill>
            <a:srgbClr val="FFFFFF"/>
          </a:solidFill>
          <a:ln/>
          <a:effectLst>
            <a:outerShdw blurRad="101600" dist="25400" dir="5400000" algn="bl" rotWithShape="0">
              <a:srgbClr val="000000">
                <a:alpha val="10000"/>
              </a:srgbClr>
            </a:outerShdw>
          </a:effectLst>
        </p:spPr>
      </p:sp>
      <p:sp>
        <p:nvSpPr>
          <p:cNvPr id="39" name="Shape 36"/>
          <p:cNvSpPr/>
          <p:nvPr/>
        </p:nvSpPr>
        <p:spPr>
          <a:xfrm>
            <a:off x="7662672" y="1764792"/>
            <a:ext cx="274320" cy="274320"/>
          </a:xfrm>
          <a:prstGeom prst="ellipse">
            <a:avLst/>
          </a:prstGeom>
          <a:solidFill>
            <a:srgbClr val="12735B"/>
          </a:solidFill>
          <a:ln/>
        </p:spPr>
      </p:sp>
      <p:sp>
        <p:nvSpPr>
          <p:cNvPr id="40" name="Text 37"/>
          <p:cNvSpPr txBox="1"/>
          <p:nvPr/>
        </p:nvSpPr>
        <p:spPr>
          <a:xfrm>
            <a:off x="7662672" y="1764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1" name="Text 38"/>
          <p:cNvSpPr txBox="1"/>
          <p:nvPr/>
        </p:nvSpPr>
        <p:spPr>
          <a:xfrm>
            <a:off x="7662672" y="2121408"/>
            <a:ext cx="914400" cy="914400"/>
          </a:xfrm>
          <a:prstGeom prst="rect">
            <a:avLst/>
          </a:prstGeom>
          <a:noFill/>
          <a:ln/>
        </p:spPr>
        <p:txBody>
          <a:bodyPr wrap="square" lIns="0" tIns="0" rIns="0" bIns="0" rtlCol="0" anchor="t"/>
          <a:lstStyle/>
          <a:p>
            <a:pPr marL="0" indent="0" algn="l">
              <a:buNone/>
            </a:pPr>
            <a:r>
              <a:rPr lang="en-US" sz="1100" b="1" dirty="0">
                <a:solidFill>
                  <a:srgbClr val="0C2622"/>
                </a:solidFill>
                <a:latin typeface="Calibri" pitchFamily="34" charset="0"/>
                <a:ea typeface="Calibri" pitchFamily="34" charset="-122"/>
                <a:cs typeface="Calibri" pitchFamily="34" charset="-120"/>
              </a:rPr>
              <a:t>Feedback is collected</a:t>
            </a:r>
            <a:endParaRPr lang="en-US" sz="1100" dirty="0"/>
          </a:p>
        </p:txBody>
      </p:sp>
      <p:sp>
        <p:nvSpPr>
          <p:cNvPr id="42" name="Text 39"/>
          <p:cNvSpPr txBox="1"/>
          <p:nvPr/>
        </p:nvSpPr>
        <p:spPr>
          <a:xfrm>
            <a:off x="457200" y="3383280"/>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FOR EVERY STAGE, IDENTIFY</a:t>
            </a:r>
            <a:endParaRPr lang="en-US" sz="950" dirty="0"/>
          </a:p>
        </p:txBody>
      </p:sp>
      <p:sp>
        <p:nvSpPr>
          <p:cNvPr id="43" name="Shape 40"/>
          <p:cNvSpPr/>
          <p:nvPr/>
        </p:nvSpPr>
        <p:spPr>
          <a:xfrm>
            <a:off x="457200" y="3657600"/>
            <a:ext cx="626913" cy="384048"/>
          </a:xfrm>
          <a:prstGeom prst="roundRect">
            <a:avLst>
              <a:gd name="adj" fmla="val 50000"/>
            </a:avLst>
          </a:prstGeom>
          <a:solidFill>
            <a:srgbClr val="0C2622"/>
          </a:solidFill>
          <a:ln/>
        </p:spPr>
      </p:sp>
      <p:sp>
        <p:nvSpPr>
          <p:cNvPr id="44" name="Text 41"/>
          <p:cNvSpPr txBox="1"/>
          <p:nvPr/>
        </p:nvSpPr>
        <p:spPr>
          <a:xfrm>
            <a:off x="457200" y="3657600"/>
            <a:ext cx="626913"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Tool</a:t>
            </a:r>
            <a:endParaRPr lang="en-US" sz="1200" dirty="0"/>
          </a:p>
        </p:txBody>
      </p:sp>
      <p:sp>
        <p:nvSpPr>
          <p:cNvPr id="45" name="Shape 42"/>
          <p:cNvSpPr/>
          <p:nvPr/>
        </p:nvSpPr>
        <p:spPr>
          <a:xfrm>
            <a:off x="1193841" y="3657600"/>
            <a:ext cx="1653967" cy="384048"/>
          </a:xfrm>
          <a:prstGeom prst="roundRect">
            <a:avLst>
              <a:gd name="adj" fmla="val 50000"/>
            </a:avLst>
          </a:prstGeom>
          <a:solidFill>
            <a:srgbClr val="0C2622"/>
          </a:solidFill>
          <a:ln/>
        </p:spPr>
      </p:sp>
      <p:sp>
        <p:nvSpPr>
          <p:cNvPr id="46" name="Text 43"/>
          <p:cNvSpPr txBox="1"/>
          <p:nvPr/>
        </p:nvSpPr>
        <p:spPr>
          <a:xfrm>
            <a:off x="1193841" y="3657600"/>
            <a:ext cx="1653967"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AI responsibility</a:t>
            </a:r>
            <a:endParaRPr lang="en-US" sz="1200" dirty="0"/>
          </a:p>
        </p:txBody>
      </p:sp>
      <p:sp>
        <p:nvSpPr>
          <p:cNvPr id="47" name="Shape 44"/>
          <p:cNvSpPr/>
          <p:nvPr/>
        </p:nvSpPr>
        <p:spPr>
          <a:xfrm>
            <a:off x="2957535" y="3657600"/>
            <a:ext cx="1890979" cy="384048"/>
          </a:xfrm>
          <a:prstGeom prst="roundRect">
            <a:avLst>
              <a:gd name="adj" fmla="val 50000"/>
            </a:avLst>
          </a:prstGeom>
          <a:solidFill>
            <a:srgbClr val="0C2622"/>
          </a:solidFill>
          <a:ln/>
        </p:spPr>
      </p:sp>
      <p:sp>
        <p:nvSpPr>
          <p:cNvPr id="48" name="Text 45"/>
          <p:cNvSpPr txBox="1"/>
          <p:nvPr/>
        </p:nvSpPr>
        <p:spPr>
          <a:xfrm>
            <a:off x="2957535" y="3657600"/>
            <a:ext cx="1890979"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Human responsibility</a:t>
            </a:r>
            <a:endParaRPr lang="en-US" sz="1200" dirty="0"/>
          </a:p>
        </p:txBody>
      </p:sp>
      <p:sp>
        <p:nvSpPr>
          <p:cNvPr id="49" name="Shape 46"/>
          <p:cNvSpPr/>
          <p:nvPr/>
        </p:nvSpPr>
        <p:spPr>
          <a:xfrm>
            <a:off x="4958243" y="3657600"/>
            <a:ext cx="1337950" cy="384048"/>
          </a:xfrm>
          <a:prstGeom prst="roundRect">
            <a:avLst>
              <a:gd name="adj" fmla="val 50000"/>
            </a:avLst>
          </a:prstGeom>
          <a:solidFill>
            <a:srgbClr val="0C2622"/>
          </a:solidFill>
          <a:ln/>
        </p:spPr>
      </p:sp>
      <p:sp>
        <p:nvSpPr>
          <p:cNvPr id="50" name="Text 47"/>
          <p:cNvSpPr txBox="1"/>
          <p:nvPr/>
        </p:nvSpPr>
        <p:spPr>
          <a:xfrm>
            <a:off x="4958243" y="3657600"/>
            <a:ext cx="133795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Data required</a:t>
            </a:r>
            <a:endParaRPr lang="en-US" sz="1200" dirty="0"/>
          </a:p>
        </p:txBody>
      </p:sp>
      <p:sp>
        <p:nvSpPr>
          <p:cNvPr id="51" name="Shape 48"/>
          <p:cNvSpPr/>
          <p:nvPr/>
        </p:nvSpPr>
        <p:spPr>
          <a:xfrm>
            <a:off x="6405921" y="3657600"/>
            <a:ext cx="2048988" cy="384048"/>
          </a:xfrm>
          <a:prstGeom prst="roundRect">
            <a:avLst>
              <a:gd name="adj" fmla="val 50000"/>
            </a:avLst>
          </a:prstGeom>
          <a:solidFill>
            <a:srgbClr val="0C2622"/>
          </a:solidFill>
          <a:ln/>
        </p:spPr>
      </p:sp>
      <p:sp>
        <p:nvSpPr>
          <p:cNvPr id="52" name="Text 49"/>
          <p:cNvSpPr txBox="1"/>
          <p:nvPr/>
        </p:nvSpPr>
        <p:spPr>
          <a:xfrm>
            <a:off x="6405921" y="3657600"/>
            <a:ext cx="2048988"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Automation opportunity</a:t>
            </a:r>
            <a:endParaRPr lang="en-US" sz="1200" dirty="0"/>
          </a:p>
        </p:txBody>
      </p:sp>
      <p:sp>
        <p:nvSpPr>
          <p:cNvPr id="53" name="Shape 50"/>
          <p:cNvSpPr/>
          <p:nvPr/>
        </p:nvSpPr>
        <p:spPr>
          <a:xfrm>
            <a:off x="457200" y="4151376"/>
            <a:ext cx="1258946" cy="384048"/>
          </a:xfrm>
          <a:prstGeom prst="roundRect">
            <a:avLst>
              <a:gd name="adj" fmla="val 50000"/>
            </a:avLst>
          </a:prstGeom>
          <a:solidFill>
            <a:srgbClr val="0C2622"/>
          </a:solidFill>
          <a:ln/>
        </p:spPr>
      </p:sp>
      <p:sp>
        <p:nvSpPr>
          <p:cNvPr id="54" name="Text 51"/>
          <p:cNvSpPr txBox="1"/>
          <p:nvPr/>
        </p:nvSpPr>
        <p:spPr>
          <a:xfrm>
            <a:off x="457200" y="4151376"/>
            <a:ext cx="1258946"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Failure risk</a:t>
            </a:r>
            <a:endParaRPr lang="en-US" sz="1200" dirty="0"/>
          </a:p>
        </p:txBody>
      </p:sp>
      <p:sp>
        <p:nvSpPr>
          <p:cNvPr id="55" name="Shape 52"/>
          <p:cNvSpPr/>
          <p:nvPr/>
        </p:nvSpPr>
        <p:spPr>
          <a:xfrm>
            <a:off x="1825874" y="4151376"/>
            <a:ext cx="1890979" cy="384048"/>
          </a:xfrm>
          <a:prstGeom prst="roundRect">
            <a:avLst>
              <a:gd name="adj" fmla="val 50000"/>
            </a:avLst>
          </a:prstGeom>
          <a:solidFill>
            <a:srgbClr val="0C2622"/>
          </a:solidFill>
          <a:ln/>
        </p:spPr>
      </p:sp>
      <p:sp>
        <p:nvSpPr>
          <p:cNvPr id="56" name="Text 53"/>
          <p:cNvSpPr txBox="1"/>
          <p:nvPr/>
        </p:nvSpPr>
        <p:spPr>
          <a:xfrm>
            <a:off x="1825874" y="4151376"/>
            <a:ext cx="1890979"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Quality-control step</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4 · MVP</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Using MCP in the business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32</a:t>
            </a:r>
            <a:endParaRPr lang="en-US" sz="900" dirty="0"/>
          </a:p>
        </p:txBody>
      </p:sp>
      <p:sp>
        <p:nvSpPr>
          <p:cNvPr id="7" name="Shape 4"/>
          <p:cNvSpPr/>
          <p:nvPr/>
        </p:nvSpPr>
        <p:spPr>
          <a:xfrm>
            <a:off x="457200" y="1280160"/>
            <a:ext cx="3566160" cy="457200"/>
          </a:xfrm>
          <a:prstGeom prst="roundRect">
            <a:avLst>
              <a:gd name="adj" fmla="val 20000"/>
            </a:avLst>
          </a:prstGeom>
          <a:solidFill>
            <a:srgbClr val="0C2622"/>
          </a:solidFill>
          <a:ln/>
        </p:spPr>
      </p:sp>
      <p:sp>
        <p:nvSpPr>
          <p:cNvPr id="8" name="Text 5"/>
          <p:cNvSpPr txBox="1"/>
          <p:nvPr/>
        </p:nvSpPr>
        <p:spPr>
          <a:xfrm>
            <a:off x="457200" y="1280160"/>
            <a:ext cx="35661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 model</a:t>
            </a:r>
            <a:endParaRPr lang="en-US" sz="1400" dirty="0"/>
          </a:p>
        </p:txBody>
      </p:sp>
      <p:sp>
        <p:nvSpPr>
          <p:cNvPr id="9" name="Shape 6"/>
          <p:cNvSpPr/>
          <p:nvPr/>
        </p:nvSpPr>
        <p:spPr>
          <a:xfrm>
            <a:off x="2240280" y="1764792"/>
            <a:ext cx="0" cy="246888"/>
          </a:xfrm>
          <a:prstGeom prst="line">
            <a:avLst/>
          </a:prstGeom>
          <a:noFill/>
          <a:ln w="31750">
            <a:solidFill>
              <a:srgbClr val="12735B"/>
            </a:solidFill>
            <a:prstDash val="solid"/>
            <a:tailEnd type="triangle"/>
          </a:ln>
        </p:spPr>
      </p:sp>
      <p:sp>
        <p:nvSpPr>
          <p:cNvPr id="10" name="Shape 7"/>
          <p:cNvSpPr/>
          <p:nvPr/>
        </p:nvSpPr>
        <p:spPr>
          <a:xfrm>
            <a:off x="457200" y="2039112"/>
            <a:ext cx="3566160" cy="457200"/>
          </a:xfrm>
          <a:prstGeom prst="roundRect">
            <a:avLst>
              <a:gd name="adj" fmla="val 20000"/>
            </a:avLst>
          </a:prstGeom>
          <a:solidFill>
            <a:srgbClr val="F4A52A"/>
          </a:solidFill>
          <a:ln/>
        </p:spPr>
      </p:sp>
      <p:sp>
        <p:nvSpPr>
          <p:cNvPr id="11" name="Text 8"/>
          <p:cNvSpPr txBox="1"/>
          <p:nvPr/>
        </p:nvSpPr>
        <p:spPr>
          <a:xfrm>
            <a:off x="457200" y="2039112"/>
            <a:ext cx="3566160" cy="457200"/>
          </a:xfrm>
          <a:prstGeom prst="rect">
            <a:avLst/>
          </a:prstGeom>
          <a:noFill/>
          <a:ln/>
        </p:spPr>
        <p:txBody>
          <a:bodyPr wrap="square" lIns="0" tIns="0" rIns="0" bIns="0" rtlCol="0" anchor="ctr"/>
          <a:lstStyle/>
          <a:p>
            <a:pPr marL="0" indent="0" algn="ctr">
              <a:buNone/>
            </a:pPr>
            <a:r>
              <a:rPr lang="en-US" sz="1400" b="1" dirty="0">
                <a:solidFill>
                  <a:srgbClr val="0C2622"/>
                </a:solidFill>
                <a:latin typeface="Calibri" pitchFamily="34" charset="0"/>
                <a:ea typeface="Calibri" pitchFamily="34" charset="-122"/>
                <a:cs typeface="Calibri" pitchFamily="34" charset="-120"/>
              </a:rPr>
              <a:t>MCP / integrations</a:t>
            </a:r>
            <a:endParaRPr lang="en-US" sz="1400" dirty="0"/>
          </a:p>
        </p:txBody>
      </p:sp>
      <p:sp>
        <p:nvSpPr>
          <p:cNvPr id="12" name="Shape 9"/>
          <p:cNvSpPr/>
          <p:nvPr/>
        </p:nvSpPr>
        <p:spPr>
          <a:xfrm>
            <a:off x="2240280" y="2523744"/>
            <a:ext cx="0" cy="246888"/>
          </a:xfrm>
          <a:prstGeom prst="line">
            <a:avLst/>
          </a:prstGeom>
          <a:noFill/>
          <a:ln w="31750">
            <a:solidFill>
              <a:srgbClr val="12735B"/>
            </a:solidFill>
            <a:prstDash val="solid"/>
            <a:tailEnd type="triangle"/>
          </a:ln>
        </p:spPr>
      </p:sp>
      <p:sp>
        <p:nvSpPr>
          <p:cNvPr id="13" name="Shape 10"/>
          <p:cNvSpPr/>
          <p:nvPr/>
        </p:nvSpPr>
        <p:spPr>
          <a:xfrm>
            <a:off x="457200" y="2798064"/>
            <a:ext cx="1133856" cy="402336"/>
          </a:xfrm>
          <a:prstGeom prst="roundRect">
            <a:avLst>
              <a:gd name="adj" fmla="val 18182"/>
            </a:avLst>
          </a:prstGeom>
          <a:solidFill>
            <a:srgbClr val="DFF1EA"/>
          </a:solidFill>
          <a:ln/>
        </p:spPr>
      </p:sp>
      <p:sp>
        <p:nvSpPr>
          <p:cNvPr id="14" name="Text 11"/>
          <p:cNvSpPr txBox="1"/>
          <p:nvPr/>
        </p:nvSpPr>
        <p:spPr>
          <a:xfrm>
            <a:off x="457200" y="2798064"/>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Google Drive</a:t>
            </a:r>
            <a:endParaRPr lang="en-US" sz="950" dirty="0"/>
          </a:p>
        </p:txBody>
      </p:sp>
      <p:sp>
        <p:nvSpPr>
          <p:cNvPr id="15" name="Shape 12"/>
          <p:cNvSpPr/>
          <p:nvPr/>
        </p:nvSpPr>
        <p:spPr>
          <a:xfrm>
            <a:off x="1673352" y="2798064"/>
            <a:ext cx="1133856" cy="402336"/>
          </a:xfrm>
          <a:prstGeom prst="roundRect">
            <a:avLst>
              <a:gd name="adj" fmla="val 18182"/>
            </a:avLst>
          </a:prstGeom>
          <a:solidFill>
            <a:srgbClr val="DFF1EA"/>
          </a:solidFill>
          <a:ln/>
        </p:spPr>
      </p:sp>
      <p:sp>
        <p:nvSpPr>
          <p:cNvPr id="16" name="Text 13"/>
          <p:cNvSpPr txBox="1"/>
          <p:nvPr/>
        </p:nvSpPr>
        <p:spPr>
          <a:xfrm>
            <a:off x="1673352" y="2798064"/>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CRM</a:t>
            </a:r>
            <a:endParaRPr lang="en-US" sz="950" dirty="0"/>
          </a:p>
        </p:txBody>
      </p:sp>
      <p:sp>
        <p:nvSpPr>
          <p:cNvPr id="17" name="Shape 14"/>
          <p:cNvSpPr/>
          <p:nvPr/>
        </p:nvSpPr>
        <p:spPr>
          <a:xfrm>
            <a:off x="2889504" y="2798064"/>
            <a:ext cx="1133856" cy="402336"/>
          </a:xfrm>
          <a:prstGeom prst="roundRect">
            <a:avLst>
              <a:gd name="adj" fmla="val 18182"/>
            </a:avLst>
          </a:prstGeom>
          <a:solidFill>
            <a:srgbClr val="DFF1EA"/>
          </a:solidFill>
          <a:ln/>
        </p:spPr>
      </p:sp>
      <p:sp>
        <p:nvSpPr>
          <p:cNvPr id="18" name="Text 15"/>
          <p:cNvSpPr txBox="1"/>
          <p:nvPr/>
        </p:nvSpPr>
        <p:spPr>
          <a:xfrm>
            <a:off x="2889504" y="2798064"/>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Database</a:t>
            </a:r>
            <a:endParaRPr lang="en-US" sz="950" dirty="0"/>
          </a:p>
        </p:txBody>
      </p:sp>
      <p:sp>
        <p:nvSpPr>
          <p:cNvPr id="19" name="Shape 16"/>
          <p:cNvSpPr/>
          <p:nvPr/>
        </p:nvSpPr>
        <p:spPr>
          <a:xfrm>
            <a:off x="457200" y="3273552"/>
            <a:ext cx="1133856" cy="402336"/>
          </a:xfrm>
          <a:prstGeom prst="roundRect">
            <a:avLst>
              <a:gd name="adj" fmla="val 18182"/>
            </a:avLst>
          </a:prstGeom>
          <a:solidFill>
            <a:srgbClr val="DFF1EA"/>
          </a:solidFill>
          <a:ln/>
        </p:spPr>
      </p:sp>
      <p:sp>
        <p:nvSpPr>
          <p:cNvPr id="20" name="Text 17"/>
          <p:cNvSpPr txBox="1"/>
          <p:nvPr/>
        </p:nvSpPr>
        <p:spPr>
          <a:xfrm>
            <a:off x="457200" y="3273552"/>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Calendar</a:t>
            </a:r>
            <a:endParaRPr lang="en-US" sz="950" dirty="0"/>
          </a:p>
        </p:txBody>
      </p:sp>
      <p:sp>
        <p:nvSpPr>
          <p:cNvPr id="21" name="Shape 18"/>
          <p:cNvSpPr/>
          <p:nvPr/>
        </p:nvSpPr>
        <p:spPr>
          <a:xfrm>
            <a:off x="1673352" y="3273552"/>
            <a:ext cx="1133856" cy="402336"/>
          </a:xfrm>
          <a:prstGeom prst="roundRect">
            <a:avLst>
              <a:gd name="adj" fmla="val 18182"/>
            </a:avLst>
          </a:prstGeom>
          <a:solidFill>
            <a:srgbClr val="DFF1EA"/>
          </a:solidFill>
          <a:ln/>
        </p:spPr>
      </p:sp>
      <p:sp>
        <p:nvSpPr>
          <p:cNvPr id="22" name="Text 19"/>
          <p:cNvSpPr txBox="1"/>
          <p:nvPr/>
        </p:nvSpPr>
        <p:spPr>
          <a:xfrm>
            <a:off x="1673352" y="3273552"/>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Email</a:t>
            </a:r>
            <a:endParaRPr lang="en-US" sz="950" dirty="0"/>
          </a:p>
        </p:txBody>
      </p:sp>
      <p:sp>
        <p:nvSpPr>
          <p:cNvPr id="23" name="Shape 20"/>
          <p:cNvSpPr/>
          <p:nvPr/>
        </p:nvSpPr>
        <p:spPr>
          <a:xfrm>
            <a:off x="2889504" y="3273552"/>
            <a:ext cx="1133856" cy="402336"/>
          </a:xfrm>
          <a:prstGeom prst="roundRect">
            <a:avLst>
              <a:gd name="adj" fmla="val 18182"/>
            </a:avLst>
          </a:prstGeom>
          <a:solidFill>
            <a:srgbClr val="DFF1EA"/>
          </a:solidFill>
          <a:ln/>
        </p:spPr>
      </p:sp>
      <p:sp>
        <p:nvSpPr>
          <p:cNvPr id="24" name="Text 21"/>
          <p:cNvSpPr txBox="1"/>
          <p:nvPr/>
        </p:nvSpPr>
        <p:spPr>
          <a:xfrm>
            <a:off x="2889504" y="3273552"/>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Files</a:t>
            </a:r>
            <a:endParaRPr lang="en-US" sz="950" dirty="0"/>
          </a:p>
        </p:txBody>
      </p:sp>
      <p:sp>
        <p:nvSpPr>
          <p:cNvPr id="25" name="Shape 22"/>
          <p:cNvSpPr/>
          <p:nvPr/>
        </p:nvSpPr>
        <p:spPr>
          <a:xfrm>
            <a:off x="457200" y="3749040"/>
            <a:ext cx="1133856" cy="402336"/>
          </a:xfrm>
          <a:prstGeom prst="roundRect">
            <a:avLst>
              <a:gd name="adj" fmla="val 18182"/>
            </a:avLst>
          </a:prstGeom>
          <a:solidFill>
            <a:srgbClr val="DFF1EA"/>
          </a:solidFill>
          <a:ln/>
        </p:spPr>
      </p:sp>
      <p:sp>
        <p:nvSpPr>
          <p:cNvPr id="26" name="Text 23"/>
          <p:cNvSpPr txBox="1"/>
          <p:nvPr/>
        </p:nvSpPr>
        <p:spPr>
          <a:xfrm>
            <a:off x="457200" y="3749040"/>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Analytics</a:t>
            </a:r>
            <a:endParaRPr lang="en-US" sz="950" dirty="0"/>
          </a:p>
        </p:txBody>
      </p:sp>
      <p:sp>
        <p:nvSpPr>
          <p:cNvPr id="27" name="Shape 24"/>
          <p:cNvSpPr/>
          <p:nvPr/>
        </p:nvSpPr>
        <p:spPr>
          <a:xfrm>
            <a:off x="1673352" y="3749040"/>
            <a:ext cx="1133856" cy="402336"/>
          </a:xfrm>
          <a:prstGeom prst="roundRect">
            <a:avLst>
              <a:gd name="adj" fmla="val 18182"/>
            </a:avLst>
          </a:prstGeom>
          <a:solidFill>
            <a:srgbClr val="DFF1EA"/>
          </a:solidFill>
          <a:ln/>
        </p:spPr>
      </p:sp>
      <p:sp>
        <p:nvSpPr>
          <p:cNvPr id="28" name="Text 25"/>
          <p:cNvSpPr txBox="1"/>
          <p:nvPr/>
        </p:nvSpPr>
        <p:spPr>
          <a:xfrm>
            <a:off x="1673352" y="3749040"/>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Internal knowledge</a:t>
            </a:r>
            <a:endParaRPr lang="en-US" sz="950" dirty="0"/>
          </a:p>
        </p:txBody>
      </p:sp>
      <p:sp>
        <p:nvSpPr>
          <p:cNvPr id="29" name="Shape 26"/>
          <p:cNvSpPr/>
          <p:nvPr/>
        </p:nvSpPr>
        <p:spPr>
          <a:xfrm>
            <a:off x="2889504" y="3749040"/>
            <a:ext cx="1133856" cy="402336"/>
          </a:xfrm>
          <a:prstGeom prst="roundRect">
            <a:avLst>
              <a:gd name="adj" fmla="val 18182"/>
            </a:avLst>
          </a:prstGeom>
          <a:solidFill>
            <a:srgbClr val="DFF1EA"/>
          </a:solidFill>
          <a:ln/>
        </p:spPr>
      </p:sp>
      <p:sp>
        <p:nvSpPr>
          <p:cNvPr id="30" name="Text 27"/>
          <p:cNvSpPr txBox="1"/>
          <p:nvPr/>
        </p:nvSpPr>
        <p:spPr>
          <a:xfrm>
            <a:off x="2889504" y="3749040"/>
            <a:ext cx="1133856" cy="402336"/>
          </a:xfrm>
          <a:prstGeom prst="rect">
            <a:avLst/>
          </a:prstGeom>
          <a:noFill/>
          <a:ln/>
        </p:spPr>
        <p:txBody>
          <a:bodyPr wrap="square" lIns="0" tIns="0" rIns="0" bIns="0" rtlCol="0" anchor="ctr"/>
          <a:lstStyle/>
          <a:p>
            <a:pPr marL="0" indent="0" algn="ctr">
              <a:buNone/>
            </a:pPr>
            <a:r>
              <a:rPr lang="en-US" sz="950" b="1" dirty="0">
                <a:solidFill>
                  <a:srgbClr val="0C2622"/>
                </a:solidFill>
                <a:latin typeface="Calibri" pitchFamily="34" charset="0"/>
                <a:ea typeface="Calibri" pitchFamily="34" charset="-122"/>
                <a:cs typeface="Calibri" pitchFamily="34" charset="-120"/>
              </a:rPr>
              <a:t>Business software</a:t>
            </a:r>
            <a:endParaRPr lang="en-US" sz="950" dirty="0"/>
          </a:p>
        </p:txBody>
      </p:sp>
      <p:sp>
        <p:nvSpPr>
          <p:cNvPr id="31" name="Shape 28"/>
          <p:cNvSpPr/>
          <p:nvPr/>
        </p:nvSpPr>
        <p:spPr>
          <a:xfrm>
            <a:off x="4251960" y="1280160"/>
            <a:ext cx="4434840" cy="2926080"/>
          </a:xfrm>
          <a:prstGeom prst="roundRect">
            <a:avLst>
              <a:gd name="adj" fmla="val 3125"/>
            </a:avLst>
          </a:prstGeom>
          <a:solidFill>
            <a:srgbClr val="FFFFFF"/>
          </a:solidFill>
          <a:ln/>
          <a:effectLst>
            <a:outerShdw blurRad="101600" dist="25400" dir="5400000" algn="bl" rotWithShape="0">
              <a:srgbClr val="000000">
                <a:alpha val="10000"/>
              </a:srgbClr>
            </a:outerShdw>
          </a:effectLst>
        </p:spPr>
      </p:sp>
      <p:sp>
        <p:nvSpPr>
          <p:cNvPr id="32" name="Text 29"/>
          <p:cNvSpPr txBox="1"/>
          <p:nvPr/>
        </p:nvSpPr>
        <p:spPr>
          <a:xfrm>
            <a:off x="4434840" y="1389888"/>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EXAMPLE — AI SALES ASSISTANT</a:t>
            </a:r>
            <a:endParaRPr lang="en-US" sz="950" dirty="0"/>
          </a:p>
        </p:txBody>
      </p:sp>
      <p:sp>
        <p:nvSpPr>
          <p:cNvPr id="33" name="Text 30"/>
          <p:cNvSpPr txBox="1"/>
          <p:nvPr/>
        </p:nvSpPr>
        <p:spPr>
          <a:xfrm>
            <a:off x="4434840" y="1627632"/>
            <a:ext cx="4114800" cy="274320"/>
          </a:xfrm>
          <a:prstGeom prst="rect">
            <a:avLst/>
          </a:prstGeom>
          <a:noFill/>
          <a:ln/>
        </p:spPr>
        <p:txBody>
          <a:bodyPr wrap="square" lIns="0" tIns="0" rIns="0" bIns="0" rtlCol="0" anchor="t"/>
          <a:lstStyle/>
          <a:p>
            <a:pPr marL="0" indent="0" algn="l">
              <a:buNone/>
            </a:pPr>
            <a:r>
              <a:rPr lang="en-US" sz="1150" b="1" dirty="0">
                <a:solidFill>
                  <a:srgbClr val="587068"/>
                </a:solidFill>
                <a:latin typeface="Calibri" pitchFamily="34" charset="0"/>
                <a:ea typeface="Calibri" pitchFamily="34" charset="-122"/>
                <a:cs typeface="Calibri" pitchFamily="34" charset="-120"/>
              </a:rPr>
              <a:t>Without integration: </a:t>
            </a:r>
            <a:r>
              <a:rPr lang="en-US" sz="1150" i="1" dirty="0">
                <a:solidFill>
                  <a:srgbClr val="587068"/>
                </a:solidFill>
                <a:latin typeface="Calibri" pitchFamily="34" charset="0"/>
                <a:ea typeface="Calibri" pitchFamily="34" charset="-122"/>
                <a:cs typeface="Calibri" pitchFamily="34" charset="-120"/>
              </a:rPr>
              <a:t>“Write a follow-up email.”</a:t>
            </a:r>
            <a:endParaRPr lang="en-US" sz="1150" dirty="0"/>
          </a:p>
        </p:txBody>
      </p:sp>
      <p:sp>
        <p:nvSpPr>
          <p:cNvPr id="34" name="Text 31"/>
          <p:cNvSpPr txBox="1"/>
          <p:nvPr/>
        </p:nvSpPr>
        <p:spPr>
          <a:xfrm>
            <a:off x="4434840" y="1938528"/>
            <a:ext cx="4114800" cy="274320"/>
          </a:xfrm>
          <a:prstGeom prst="rect">
            <a:avLst/>
          </a:prstGeom>
          <a:noFill/>
          <a:ln/>
        </p:spPr>
        <p:txBody>
          <a:bodyPr wrap="square" lIns="0" tIns="0" rIns="0" bIns="0" rtlCol="0" anchor="t"/>
          <a:lstStyle/>
          <a:p>
            <a:pPr marL="0" indent="0" algn="l">
              <a:buNone/>
            </a:pPr>
            <a:r>
              <a:rPr lang="en-US" sz="1250" b="1" dirty="0">
                <a:solidFill>
                  <a:srgbClr val="0C2622"/>
                </a:solidFill>
                <a:latin typeface="Calibri" pitchFamily="34" charset="0"/>
                <a:ea typeface="Calibri" pitchFamily="34" charset="-122"/>
                <a:cs typeface="Calibri" pitchFamily="34" charset="-120"/>
              </a:rPr>
              <a:t>With connected systems, AI can potentially:</a:t>
            </a:r>
            <a:endParaRPr lang="en-US" sz="1250" dirty="0"/>
          </a:p>
        </p:txBody>
      </p:sp>
      <p:sp>
        <p:nvSpPr>
          <p:cNvPr id="35" name="Shape 32"/>
          <p:cNvSpPr/>
          <p:nvPr/>
        </p:nvSpPr>
        <p:spPr>
          <a:xfrm>
            <a:off x="4434840" y="2286000"/>
            <a:ext cx="237744" cy="237744"/>
          </a:xfrm>
          <a:prstGeom prst="ellipse">
            <a:avLst/>
          </a:prstGeom>
          <a:solidFill>
            <a:srgbClr val="12735B"/>
          </a:solidFill>
          <a:ln/>
        </p:spPr>
      </p:sp>
      <p:sp>
        <p:nvSpPr>
          <p:cNvPr id="36" name="Text 33"/>
          <p:cNvSpPr txBox="1"/>
          <p:nvPr/>
        </p:nvSpPr>
        <p:spPr>
          <a:xfrm>
            <a:off x="4434840" y="22860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7" name="Text 34"/>
          <p:cNvSpPr txBox="1"/>
          <p:nvPr/>
        </p:nvSpPr>
        <p:spPr>
          <a:xfrm>
            <a:off x="4800600" y="2286000"/>
            <a:ext cx="3749040" cy="237744"/>
          </a:xfrm>
          <a:prstGeom prst="rect">
            <a:avLst/>
          </a:prstGeom>
          <a:noFill/>
          <a:ln/>
        </p:spPr>
        <p:txBody>
          <a:bodyPr wrap="square" lIns="0" tIns="0" rIns="0" bIns="0" rtlCol="0" anchor="ctr"/>
          <a:lstStyle/>
          <a:p>
            <a:pPr marL="0" indent="0" algn="l">
              <a:buNone/>
            </a:pPr>
            <a:r>
              <a:rPr lang="en-US" sz="1150" dirty="0">
                <a:solidFill>
                  <a:srgbClr val="15302B"/>
                </a:solidFill>
                <a:latin typeface="Calibri" pitchFamily="34" charset="0"/>
                <a:ea typeface="Calibri" pitchFamily="34" charset="-122"/>
                <a:cs typeface="Calibri" pitchFamily="34" charset="-120"/>
              </a:rPr>
              <a:t>Retrieve CRM information</a:t>
            </a:r>
            <a:endParaRPr lang="en-US" sz="1150" dirty="0"/>
          </a:p>
        </p:txBody>
      </p:sp>
      <p:sp>
        <p:nvSpPr>
          <p:cNvPr id="38" name="Shape 35"/>
          <p:cNvSpPr/>
          <p:nvPr/>
        </p:nvSpPr>
        <p:spPr>
          <a:xfrm>
            <a:off x="4434840" y="2596896"/>
            <a:ext cx="237744" cy="237744"/>
          </a:xfrm>
          <a:prstGeom prst="ellipse">
            <a:avLst/>
          </a:prstGeom>
          <a:solidFill>
            <a:srgbClr val="12735B"/>
          </a:solidFill>
          <a:ln/>
        </p:spPr>
      </p:sp>
      <p:sp>
        <p:nvSpPr>
          <p:cNvPr id="39" name="Text 36"/>
          <p:cNvSpPr txBox="1"/>
          <p:nvPr/>
        </p:nvSpPr>
        <p:spPr>
          <a:xfrm>
            <a:off x="4434840" y="259689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40" name="Text 37"/>
          <p:cNvSpPr txBox="1"/>
          <p:nvPr/>
        </p:nvSpPr>
        <p:spPr>
          <a:xfrm>
            <a:off x="4800600" y="2596896"/>
            <a:ext cx="3749040" cy="237744"/>
          </a:xfrm>
          <a:prstGeom prst="rect">
            <a:avLst/>
          </a:prstGeom>
          <a:noFill/>
          <a:ln/>
        </p:spPr>
        <p:txBody>
          <a:bodyPr wrap="square" lIns="0" tIns="0" rIns="0" bIns="0" rtlCol="0" anchor="ctr"/>
          <a:lstStyle/>
          <a:p>
            <a:pPr marL="0" indent="0" algn="l">
              <a:buNone/>
            </a:pPr>
            <a:r>
              <a:rPr lang="en-US" sz="1150" dirty="0">
                <a:solidFill>
                  <a:srgbClr val="15302B"/>
                </a:solidFill>
                <a:latin typeface="Calibri" pitchFamily="34" charset="0"/>
                <a:ea typeface="Calibri" pitchFamily="34" charset="-122"/>
                <a:cs typeface="Calibri" pitchFamily="34" charset="-120"/>
              </a:rPr>
              <a:t>Read previous customer communication</a:t>
            </a:r>
            <a:endParaRPr lang="en-US" sz="1150" dirty="0"/>
          </a:p>
        </p:txBody>
      </p:sp>
      <p:sp>
        <p:nvSpPr>
          <p:cNvPr id="41" name="Shape 38"/>
          <p:cNvSpPr/>
          <p:nvPr/>
        </p:nvSpPr>
        <p:spPr>
          <a:xfrm>
            <a:off x="4434840" y="2907792"/>
            <a:ext cx="237744" cy="237744"/>
          </a:xfrm>
          <a:prstGeom prst="ellipse">
            <a:avLst/>
          </a:prstGeom>
          <a:solidFill>
            <a:srgbClr val="12735B"/>
          </a:solidFill>
          <a:ln/>
        </p:spPr>
      </p:sp>
      <p:sp>
        <p:nvSpPr>
          <p:cNvPr id="42" name="Text 39"/>
          <p:cNvSpPr txBox="1"/>
          <p:nvPr/>
        </p:nvSpPr>
        <p:spPr>
          <a:xfrm>
            <a:off x="4434840" y="290779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3" name="Text 40"/>
          <p:cNvSpPr txBox="1"/>
          <p:nvPr/>
        </p:nvSpPr>
        <p:spPr>
          <a:xfrm>
            <a:off x="4800600" y="2907792"/>
            <a:ext cx="3749040" cy="237744"/>
          </a:xfrm>
          <a:prstGeom prst="rect">
            <a:avLst/>
          </a:prstGeom>
          <a:noFill/>
          <a:ln/>
        </p:spPr>
        <p:txBody>
          <a:bodyPr wrap="square" lIns="0" tIns="0" rIns="0" bIns="0" rtlCol="0" anchor="ctr"/>
          <a:lstStyle/>
          <a:p>
            <a:pPr marL="0" indent="0" algn="l">
              <a:buNone/>
            </a:pPr>
            <a:r>
              <a:rPr lang="en-US" sz="1150" dirty="0">
                <a:solidFill>
                  <a:srgbClr val="15302B"/>
                </a:solidFill>
                <a:latin typeface="Calibri" pitchFamily="34" charset="0"/>
                <a:ea typeface="Calibri" pitchFamily="34" charset="-122"/>
                <a:cs typeface="Calibri" pitchFamily="34" charset="-120"/>
              </a:rPr>
              <a:t>Identify current deal status</a:t>
            </a:r>
            <a:endParaRPr lang="en-US" sz="1150" dirty="0"/>
          </a:p>
        </p:txBody>
      </p:sp>
      <p:sp>
        <p:nvSpPr>
          <p:cNvPr id="44" name="Shape 41"/>
          <p:cNvSpPr/>
          <p:nvPr/>
        </p:nvSpPr>
        <p:spPr>
          <a:xfrm>
            <a:off x="4434840" y="3218688"/>
            <a:ext cx="237744" cy="237744"/>
          </a:xfrm>
          <a:prstGeom prst="ellipse">
            <a:avLst/>
          </a:prstGeom>
          <a:solidFill>
            <a:srgbClr val="12735B"/>
          </a:solidFill>
          <a:ln/>
        </p:spPr>
      </p:sp>
      <p:sp>
        <p:nvSpPr>
          <p:cNvPr id="45" name="Text 42"/>
          <p:cNvSpPr txBox="1"/>
          <p:nvPr/>
        </p:nvSpPr>
        <p:spPr>
          <a:xfrm>
            <a:off x="4434840" y="321868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46" name="Text 43"/>
          <p:cNvSpPr txBox="1"/>
          <p:nvPr/>
        </p:nvSpPr>
        <p:spPr>
          <a:xfrm>
            <a:off x="4800600" y="3218688"/>
            <a:ext cx="3749040" cy="237744"/>
          </a:xfrm>
          <a:prstGeom prst="rect">
            <a:avLst/>
          </a:prstGeom>
          <a:noFill/>
          <a:ln/>
        </p:spPr>
        <p:txBody>
          <a:bodyPr wrap="square" lIns="0" tIns="0" rIns="0" bIns="0" rtlCol="0" anchor="ctr"/>
          <a:lstStyle/>
          <a:p>
            <a:pPr marL="0" indent="0" algn="l">
              <a:buNone/>
            </a:pPr>
            <a:r>
              <a:rPr lang="en-US" sz="1150" dirty="0">
                <a:solidFill>
                  <a:srgbClr val="15302B"/>
                </a:solidFill>
                <a:latin typeface="Calibri" pitchFamily="34" charset="0"/>
                <a:ea typeface="Calibri" pitchFamily="34" charset="-122"/>
                <a:cs typeface="Calibri" pitchFamily="34" charset="-120"/>
              </a:rPr>
              <a:t>Draft a personalized follow-up</a:t>
            </a:r>
            <a:endParaRPr lang="en-US" sz="1150" dirty="0"/>
          </a:p>
        </p:txBody>
      </p:sp>
      <p:sp>
        <p:nvSpPr>
          <p:cNvPr id="47" name="Shape 44"/>
          <p:cNvSpPr/>
          <p:nvPr/>
        </p:nvSpPr>
        <p:spPr>
          <a:xfrm>
            <a:off x="4434840" y="3529584"/>
            <a:ext cx="237744" cy="237744"/>
          </a:xfrm>
          <a:prstGeom prst="ellipse">
            <a:avLst/>
          </a:prstGeom>
          <a:solidFill>
            <a:srgbClr val="12735B"/>
          </a:solidFill>
          <a:ln/>
        </p:spPr>
      </p:sp>
      <p:sp>
        <p:nvSpPr>
          <p:cNvPr id="48" name="Text 45"/>
          <p:cNvSpPr txBox="1"/>
          <p:nvPr/>
        </p:nvSpPr>
        <p:spPr>
          <a:xfrm>
            <a:off x="4434840" y="352958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9" name="Text 46"/>
          <p:cNvSpPr txBox="1"/>
          <p:nvPr/>
        </p:nvSpPr>
        <p:spPr>
          <a:xfrm>
            <a:off x="4800600" y="3529584"/>
            <a:ext cx="3749040" cy="237744"/>
          </a:xfrm>
          <a:prstGeom prst="rect">
            <a:avLst/>
          </a:prstGeom>
          <a:noFill/>
          <a:ln/>
        </p:spPr>
        <p:txBody>
          <a:bodyPr wrap="square" lIns="0" tIns="0" rIns="0" bIns="0" rtlCol="0" anchor="ctr"/>
          <a:lstStyle/>
          <a:p>
            <a:pPr marL="0" indent="0" algn="l">
              <a:buNone/>
            </a:pPr>
            <a:r>
              <a:rPr lang="en-US" sz="1150" dirty="0">
                <a:solidFill>
                  <a:srgbClr val="15302B"/>
                </a:solidFill>
                <a:latin typeface="Calibri" pitchFamily="34" charset="0"/>
                <a:ea typeface="Calibri" pitchFamily="34" charset="-122"/>
                <a:cs typeface="Calibri" pitchFamily="34" charset="-120"/>
              </a:rPr>
              <a:t>Recommend the next action</a:t>
            </a:r>
            <a:endParaRPr lang="en-US" sz="1150" dirty="0"/>
          </a:p>
        </p:txBody>
      </p:sp>
      <p:sp>
        <p:nvSpPr>
          <p:cNvPr id="50" name="Shape 47"/>
          <p:cNvSpPr/>
          <p:nvPr/>
        </p:nvSpPr>
        <p:spPr>
          <a:xfrm>
            <a:off x="4434840" y="3840480"/>
            <a:ext cx="237744" cy="237744"/>
          </a:xfrm>
          <a:prstGeom prst="ellipse">
            <a:avLst/>
          </a:prstGeom>
          <a:solidFill>
            <a:srgbClr val="12735B"/>
          </a:solidFill>
          <a:ln/>
        </p:spPr>
      </p:sp>
      <p:sp>
        <p:nvSpPr>
          <p:cNvPr id="51" name="Text 48"/>
          <p:cNvSpPr txBox="1"/>
          <p:nvPr/>
        </p:nvSpPr>
        <p:spPr>
          <a:xfrm>
            <a:off x="4434840" y="38404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52" name="Text 49"/>
          <p:cNvSpPr txBox="1"/>
          <p:nvPr/>
        </p:nvSpPr>
        <p:spPr>
          <a:xfrm>
            <a:off x="4800600" y="3840480"/>
            <a:ext cx="3749040" cy="237744"/>
          </a:xfrm>
          <a:prstGeom prst="rect">
            <a:avLst/>
          </a:prstGeom>
          <a:noFill/>
          <a:ln/>
        </p:spPr>
        <p:txBody>
          <a:bodyPr wrap="square" lIns="0" tIns="0" rIns="0" bIns="0" rtlCol="0" anchor="ctr"/>
          <a:lstStyle/>
          <a:p>
            <a:pPr marL="0" indent="0" algn="l">
              <a:buNone/>
            </a:pPr>
            <a:r>
              <a:rPr lang="en-US" sz="1150" dirty="0">
                <a:solidFill>
                  <a:srgbClr val="15302B"/>
                </a:solidFill>
                <a:latin typeface="Calibri" pitchFamily="34" charset="0"/>
                <a:ea typeface="Calibri" pitchFamily="34" charset="-122"/>
                <a:cs typeface="Calibri" pitchFamily="34" charset="-120"/>
              </a:rPr>
              <a:t>Update relevant systems after approval</a:t>
            </a:r>
            <a:endParaRPr lang="en-US" sz="1150" dirty="0"/>
          </a:p>
        </p:txBody>
      </p:sp>
      <p:sp>
        <p:nvSpPr>
          <p:cNvPr id="53" name="Shape 50"/>
          <p:cNvSpPr/>
          <p:nvPr/>
        </p:nvSpPr>
        <p:spPr>
          <a:xfrm>
            <a:off x="457200" y="4343400"/>
            <a:ext cx="8229600" cy="365760"/>
          </a:xfrm>
          <a:prstGeom prst="roundRect">
            <a:avLst>
              <a:gd name="adj" fmla="val 25000"/>
            </a:avLst>
          </a:prstGeom>
          <a:solidFill>
            <a:srgbClr val="0C2622"/>
          </a:solidFill>
          <a:ln/>
        </p:spPr>
      </p:sp>
      <p:sp>
        <p:nvSpPr>
          <p:cNvPr id="54" name="Text 51"/>
          <p:cNvSpPr txBox="1"/>
          <p:nvPr/>
        </p:nvSpPr>
        <p:spPr>
          <a:xfrm>
            <a:off x="685800" y="4343400"/>
            <a:ext cx="7772400" cy="365760"/>
          </a:xfrm>
          <a:prstGeom prst="rect">
            <a:avLst/>
          </a:prstGeom>
          <a:noFill/>
          <a:ln/>
        </p:spPr>
        <p:txBody>
          <a:bodyPr wrap="square" lIns="0" tIns="0" rIns="0" bIns="0"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AI as chatbot  →  </a:t>
            </a:r>
            <a:r>
              <a:rPr lang="en-US" sz="1300" b="1" dirty="0">
                <a:solidFill>
                  <a:srgbClr val="F4A52A"/>
                </a:solidFill>
                <a:latin typeface="Calibri" pitchFamily="34" charset="0"/>
                <a:ea typeface="Calibri" pitchFamily="34" charset="-122"/>
                <a:cs typeface="Calibri" pitchFamily="34" charset="-120"/>
              </a:rPr>
              <a:t>AI as business infrastructure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05</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5</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Value Proposition &amp; Positioning</a:t>
            </a:r>
            <a:endParaRPr lang="en-US" sz="3600" dirty="0"/>
          </a:p>
        </p:txBody>
      </p:sp>
      <p:sp>
        <p:nvSpPr>
          <p:cNvPr id="6" name="Text 3"/>
          <p:cNvSpPr txBox="1"/>
          <p:nvPr/>
        </p:nvSpPr>
        <p:spPr>
          <a:xfrm>
            <a:off x="640080" y="3922776"/>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Customers don’t buy features. They buy outcomes.</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5 · POSITIONING</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Customers buy outcomes, not features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34</a:t>
            </a:r>
            <a:endParaRPr lang="en-US" sz="900" dirty="0"/>
          </a:p>
        </p:txBody>
      </p:sp>
      <p:sp>
        <p:nvSpPr>
          <p:cNvPr id="7" name="Shape 4"/>
          <p:cNvSpPr/>
          <p:nvPr/>
        </p:nvSpPr>
        <p:spPr>
          <a:xfrm>
            <a:off x="457200" y="1280160"/>
            <a:ext cx="8229600" cy="1463040"/>
          </a:xfrm>
          <a:prstGeom prst="roundRect">
            <a:avLst>
              <a:gd name="adj" fmla="val 6250"/>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731520" y="1280160"/>
            <a:ext cx="7680960" cy="1463040"/>
          </a:xfrm>
          <a:prstGeom prst="rect">
            <a:avLst/>
          </a:prstGeom>
          <a:noFill/>
          <a:ln/>
        </p:spPr>
        <p:txBody>
          <a:bodyPr wrap="square" lIns="0" tIns="0" rIns="0" bIns="0" rtlCol="0" anchor="ctr"/>
          <a:lstStyle/>
          <a:p>
            <a:pPr marL="0" indent="0" algn="l">
              <a:buNone/>
            </a:pPr>
            <a:r>
              <a:rPr lang="en-US" sz="2400" dirty="0">
                <a:solidFill>
                  <a:srgbClr val="FFFFFF"/>
                </a:solidFill>
                <a:latin typeface="Cambria" pitchFamily="34" charset="0"/>
                <a:ea typeface="Cambria" pitchFamily="34" charset="-122"/>
                <a:cs typeface="Cambria" pitchFamily="34" charset="-120"/>
              </a:rPr>
              <a:t>We help </a:t>
            </a:r>
            <a:r>
              <a:rPr lang="en-US" sz="2400" b="1" dirty="0">
                <a:solidFill>
                  <a:srgbClr val="F4A52A"/>
                </a:solidFill>
                <a:latin typeface="Cambria" pitchFamily="34" charset="0"/>
                <a:ea typeface="Cambria" pitchFamily="34" charset="-122"/>
                <a:cs typeface="Cambria" pitchFamily="34" charset="-120"/>
              </a:rPr>
              <a:t>[customer]</a:t>
            </a:r>
            <a:r>
              <a:rPr lang="en-US" sz="2400" dirty="0">
                <a:solidFill>
                  <a:srgbClr val="FFFFFF"/>
                </a:solidFill>
                <a:latin typeface="Cambria" pitchFamily="34" charset="0"/>
                <a:ea typeface="Cambria" pitchFamily="34" charset="-122"/>
                <a:cs typeface="Cambria" pitchFamily="34" charset="-120"/>
              </a:rPr>
              <a:t> achieve </a:t>
            </a:r>
            <a:r>
              <a:rPr lang="en-US" sz="2400" b="1" dirty="0">
                <a:solidFill>
                  <a:srgbClr val="7ED9B8"/>
                </a:solidFill>
                <a:latin typeface="Cambria" pitchFamily="34" charset="0"/>
                <a:ea typeface="Cambria" pitchFamily="34" charset="-122"/>
                <a:cs typeface="Cambria" pitchFamily="34" charset="-120"/>
              </a:rPr>
              <a:t>[outcome]</a:t>
            </a:r>
            <a:r>
              <a:rPr lang="en-US" sz="2400" dirty="0">
                <a:solidFill>
                  <a:srgbClr val="FFFFFF"/>
                </a:solidFill>
                <a:latin typeface="Cambria" pitchFamily="34" charset="0"/>
                <a:ea typeface="Cambria" pitchFamily="34" charset="-122"/>
                <a:cs typeface="Cambria" pitchFamily="34" charset="-120"/>
              </a:rPr>
              <a:t> without </a:t>
            </a:r>
            <a:r>
              <a:rPr lang="en-US" sz="2400" b="1" dirty="0">
                <a:solidFill>
                  <a:srgbClr val="FF8FA0"/>
                </a:solidFill>
                <a:latin typeface="Cambria" pitchFamily="34" charset="0"/>
                <a:ea typeface="Cambria" pitchFamily="34" charset="-122"/>
                <a:cs typeface="Cambria" pitchFamily="34" charset="-120"/>
              </a:rPr>
              <a:t>[painful alternative]</a:t>
            </a:r>
            <a:r>
              <a:rPr lang="en-US" sz="2400" dirty="0">
                <a:solidFill>
                  <a:srgbClr val="FFFFFF"/>
                </a:solidFill>
                <a:latin typeface="Cambria" pitchFamily="34" charset="0"/>
                <a:ea typeface="Cambria" pitchFamily="34" charset="-122"/>
                <a:cs typeface="Cambria" pitchFamily="34" charset="-120"/>
              </a:rPr>
              <a:t> through </a:t>
            </a:r>
            <a:r>
              <a:rPr lang="en-US" sz="2400" b="1" dirty="0">
                <a:solidFill>
                  <a:srgbClr val="9EC9FF"/>
                </a:solidFill>
                <a:latin typeface="Cambria" pitchFamily="34" charset="0"/>
                <a:ea typeface="Cambria" pitchFamily="34" charset="-122"/>
                <a:cs typeface="Cambria" pitchFamily="34" charset="-120"/>
              </a:rPr>
              <a:t>[unique mechanism]</a:t>
            </a:r>
            <a:r>
              <a:rPr lang="en-US" sz="2400" dirty="0">
                <a:solidFill>
                  <a:srgbClr val="FFFFFF"/>
                </a:solidFill>
                <a:latin typeface="Cambria" pitchFamily="34" charset="0"/>
                <a:ea typeface="Cambria" pitchFamily="34" charset="-122"/>
                <a:cs typeface="Cambria" pitchFamily="34" charset="-120"/>
              </a:rPr>
              <a:t>.</a:t>
            </a:r>
            <a:endParaRPr lang="en-US" sz="2400" dirty="0"/>
          </a:p>
        </p:txBody>
      </p:sp>
      <p:sp>
        <p:nvSpPr>
          <p:cNvPr id="9" name="Text 6"/>
          <p:cNvSpPr txBox="1"/>
          <p:nvPr/>
        </p:nvSpPr>
        <p:spPr>
          <a:xfrm>
            <a:off x="457200" y="2926080"/>
            <a:ext cx="27432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EXAMPLE</a:t>
            </a:r>
            <a:endParaRPr lang="en-US" sz="950" dirty="0"/>
          </a:p>
        </p:txBody>
      </p:sp>
      <p:sp>
        <p:nvSpPr>
          <p:cNvPr id="10" name="Shape 7"/>
          <p:cNvSpPr/>
          <p:nvPr/>
        </p:nvSpPr>
        <p:spPr>
          <a:xfrm>
            <a:off x="457200" y="3154680"/>
            <a:ext cx="8229600" cy="1508760"/>
          </a:xfrm>
          <a:prstGeom prst="roundRect">
            <a:avLst>
              <a:gd name="adj" fmla="val 6061"/>
            </a:avLst>
          </a:prstGeom>
          <a:solidFill>
            <a:srgbClr val="FFFFFF"/>
          </a:solidFill>
          <a:ln/>
          <a:effectLst>
            <a:outerShdw blurRad="101600" dist="25400" dir="5400000" algn="bl" rotWithShape="0">
              <a:srgbClr val="000000">
                <a:alpha val="10000"/>
              </a:srgbClr>
            </a:outerShdw>
          </a:effectLst>
        </p:spPr>
      </p:sp>
      <p:sp>
        <p:nvSpPr>
          <p:cNvPr id="11" name="Text 8"/>
          <p:cNvSpPr txBox="1"/>
          <p:nvPr/>
        </p:nvSpPr>
        <p:spPr>
          <a:xfrm>
            <a:off x="731520" y="3154680"/>
            <a:ext cx="7680960" cy="1508760"/>
          </a:xfrm>
          <a:prstGeom prst="rect">
            <a:avLst/>
          </a:prstGeom>
          <a:noFill/>
          <a:ln/>
        </p:spPr>
        <p:txBody>
          <a:bodyPr wrap="square" lIns="0" tIns="0" rIns="0" bIns="0" rtlCol="0" anchor="ctr"/>
          <a:lstStyle/>
          <a:p>
            <a:pPr marL="0" indent="0" algn="l">
              <a:lnSpc>
                <a:spcPct val="110000"/>
              </a:lnSpc>
              <a:buNone/>
            </a:pPr>
            <a:r>
              <a:rPr lang="en-US" sz="1600" dirty="0">
                <a:solidFill>
                  <a:srgbClr val="15302B"/>
                </a:solidFill>
                <a:latin typeface="Calibri" pitchFamily="34" charset="0"/>
                <a:ea typeface="Calibri" pitchFamily="34" charset="-122"/>
                <a:cs typeface="Calibri" pitchFamily="34" charset="-120"/>
              </a:rPr>
              <a:t>We help </a:t>
            </a:r>
            <a:r>
              <a:rPr lang="en-US" sz="1600" b="1" dirty="0">
                <a:solidFill>
                  <a:srgbClr val="B26A00"/>
                </a:solidFill>
                <a:latin typeface="Calibri" pitchFamily="34" charset="0"/>
                <a:ea typeface="Calibri" pitchFamily="34" charset="-122"/>
                <a:cs typeface="Calibri" pitchFamily="34" charset="-120"/>
              </a:rPr>
              <a:t>small restaurants</a:t>
            </a:r>
            <a:r>
              <a:rPr lang="en-US" sz="1600" dirty="0">
                <a:solidFill>
                  <a:srgbClr val="15302B"/>
                </a:solidFill>
                <a:latin typeface="Calibri" pitchFamily="34" charset="0"/>
                <a:ea typeface="Calibri" pitchFamily="34" charset="-122"/>
                <a:cs typeface="Calibri" pitchFamily="34" charset="-120"/>
              </a:rPr>
              <a:t> </a:t>
            </a:r>
            <a:r>
              <a:rPr lang="en-US" sz="1600" b="1" dirty="0">
                <a:solidFill>
                  <a:srgbClr val="12735B"/>
                </a:solidFill>
                <a:latin typeface="Calibri" pitchFamily="34" charset="0"/>
                <a:ea typeface="Calibri" pitchFamily="34" charset="-122"/>
                <a:cs typeface="Calibri" pitchFamily="34" charset="-120"/>
              </a:rPr>
              <a:t>understand their daily sales</a:t>
            </a:r>
            <a:r>
              <a:rPr lang="en-US" sz="1600" dirty="0">
                <a:solidFill>
                  <a:srgbClr val="15302B"/>
                </a:solidFill>
                <a:latin typeface="Calibri" pitchFamily="34" charset="0"/>
                <a:ea typeface="Calibri" pitchFamily="34" charset="-122"/>
                <a:cs typeface="Calibri" pitchFamily="34" charset="-120"/>
              </a:rPr>
              <a:t> without </a:t>
            </a:r>
            <a:r>
              <a:rPr lang="en-US" sz="1600" b="1" dirty="0">
                <a:solidFill>
                  <a:srgbClr val="C93B4B"/>
                </a:solidFill>
                <a:latin typeface="Calibri" pitchFamily="34" charset="0"/>
                <a:ea typeface="Calibri" pitchFamily="34" charset="-122"/>
                <a:cs typeface="Calibri" pitchFamily="34" charset="-120"/>
              </a:rPr>
              <a:t>manually updating spreadsheets</a:t>
            </a:r>
            <a:r>
              <a:rPr lang="en-US" sz="1600" dirty="0">
                <a:solidFill>
                  <a:srgbClr val="15302B"/>
                </a:solidFill>
                <a:latin typeface="Calibri" pitchFamily="34" charset="0"/>
                <a:ea typeface="Calibri" pitchFamily="34" charset="-122"/>
                <a:cs typeface="Calibri" pitchFamily="34" charset="-120"/>
              </a:rPr>
              <a:t> by </a:t>
            </a:r>
            <a:r>
              <a:rPr lang="en-US" sz="1600" b="1" dirty="0">
                <a:solidFill>
                  <a:srgbClr val="1F5FBF"/>
                </a:solidFill>
                <a:latin typeface="Calibri" pitchFamily="34" charset="0"/>
                <a:ea typeface="Calibri" pitchFamily="34" charset="-122"/>
                <a:cs typeface="Calibri" pitchFamily="34" charset="-120"/>
              </a:rPr>
              <a:t>automatically turning transaction data into simple daily management reports</a:t>
            </a:r>
            <a:r>
              <a:rPr lang="en-US" sz="1600" dirty="0">
                <a:solidFill>
                  <a:srgbClr val="15302B"/>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5 · POSITIONING</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Positioning: three questions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35</a:t>
            </a:r>
            <a:endParaRPr lang="en-US" sz="900" dirty="0"/>
          </a:p>
        </p:txBody>
      </p:sp>
      <p:sp>
        <p:nvSpPr>
          <p:cNvPr id="7" name="Shape 4"/>
          <p:cNvSpPr/>
          <p:nvPr/>
        </p:nvSpPr>
        <p:spPr>
          <a:xfrm>
            <a:off x="457200" y="1280160"/>
            <a:ext cx="2651760" cy="2377440"/>
          </a:xfrm>
          <a:prstGeom prst="roundRect">
            <a:avLst>
              <a:gd name="adj" fmla="val 3846"/>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85800" y="1463040"/>
            <a:ext cx="548640" cy="54864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822960" y="1600200"/>
            <a:ext cx="274320" cy="274320"/>
          </a:xfrm>
          <a:prstGeom prst="rect">
            <a:avLst/>
          </a:prstGeom>
        </p:spPr>
      </p:pic>
      <p:sp>
        <p:nvSpPr>
          <p:cNvPr id="10" name="Text 6"/>
          <p:cNvSpPr txBox="1"/>
          <p:nvPr/>
        </p:nvSpPr>
        <p:spPr>
          <a:xfrm>
            <a:off x="685800" y="2194560"/>
            <a:ext cx="2194560" cy="457200"/>
          </a:xfrm>
          <a:prstGeom prst="rect">
            <a:avLst/>
          </a:prstGeom>
          <a:noFill/>
          <a:ln/>
        </p:spPr>
        <p:txBody>
          <a:bodyPr wrap="square" lIns="0" tIns="0" rIns="0" bIns="0" rtlCol="0" anchor="t"/>
          <a:lstStyle/>
          <a:p>
            <a:pPr marL="0" indent="0" algn="l">
              <a:buNone/>
            </a:pPr>
            <a:r>
              <a:rPr lang="en-US" sz="2400" b="1" dirty="0">
                <a:solidFill>
                  <a:srgbClr val="0C2622"/>
                </a:solidFill>
                <a:latin typeface="Cambria" pitchFamily="34" charset="0"/>
                <a:ea typeface="Cambria" pitchFamily="34" charset="-122"/>
                <a:cs typeface="Cambria" pitchFamily="34" charset="-120"/>
              </a:rPr>
              <a:t>Why this?</a:t>
            </a:r>
            <a:endParaRPr lang="en-US" sz="2400" dirty="0"/>
          </a:p>
        </p:txBody>
      </p:sp>
      <p:sp>
        <p:nvSpPr>
          <p:cNvPr id="11" name="Text 7"/>
          <p:cNvSpPr txBox="1"/>
          <p:nvPr/>
        </p:nvSpPr>
        <p:spPr>
          <a:xfrm>
            <a:off x="685800" y="2743200"/>
            <a:ext cx="2194560" cy="822960"/>
          </a:xfrm>
          <a:prstGeom prst="rect">
            <a:avLst/>
          </a:prstGeom>
          <a:noFill/>
          <a:ln/>
        </p:spPr>
        <p:txBody>
          <a:bodyPr wrap="square" lIns="0" tIns="0" rIns="0" bIns="0" rtlCol="0" anchor="t"/>
          <a:lstStyle/>
          <a:p>
            <a:pPr marL="0" indent="0" algn="l">
              <a:buNone/>
            </a:pPr>
            <a:r>
              <a:rPr lang="en-US" sz="1300" dirty="0">
                <a:solidFill>
                  <a:srgbClr val="587068"/>
                </a:solidFill>
                <a:latin typeface="Calibri" pitchFamily="34" charset="0"/>
                <a:ea typeface="Calibri" pitchFamily="34" charset="-122"/>
                <a:cs typeface="Calibri" pitchFamily="34" charset="-120"/>
              </a:rPr>
              <a:t>Why should someone solve the problem at all?</a:t>
            </a:r>
            <a:endParaRPr lang="en-US" sz="1300" dirty="0"/>
          </a:p>
        </p:txBody>
      </p:sp>
      <p:sp>
        <p:nvSpPr>
          <p:cNvPr id="12" name="Shape 8"/>
          <p:cNvSpPr/>
          <p:nvPr/>
        </p:nvSpPr>
        <p:spPr>
          <a:xfrm>
            <a:off x="3246120" y="1280160"/>
            <a:ext cx="2651760" cy="2377440"/>
          </a:xfrm>
          <a:prstGeom prst="roundRect">
            <a:avLst>
              <a:gd name="adj" fmla="val 3846"/>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3474720" y="1463040"/>
            <a:ext cx="548640" cy="54864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3611880" y="1600200"/>
            <a:ext cx="274320" cy="274320"/>
          </a:xfrm>
          <a:prstGeom prst="rect">
            <a:avLst/>
          </a:prstGeom>
        </p:spPr>
      </p:pic>
      <p:sp>
        <p:nvSpPr>
          <p:cNvPr id="15" name="Text 10"/>
          <p:cNvSpPr txBox="1"/>
          <p:nvPr/>
        </p:nvSpPr>
        <p:spPr>
          <a:xfrm>
            <a:off x="3474720" y="2194560"/>
            <a:ext cx="2194560" cy="457200"/>
          </a:xfrm>
          <a:prstGeom prst="rect">
            <a:avLst/>
          </a:prstGeom>
          <a:noFill/>
          <a:ln/>
        </p:spPr>
        <p:txBody>
          <a:bodyPr wrap="square" lIns="0" tIns="0" rIns="0" bIns="0" rtlCol="0" anchor="t"/>
          <a:lstStyle/>
          <a:p>
            <a:pPr marL="0" indent="0" algn="l">
              <a:buNone/>
            </a:pPr>
            <a:r>
              <a:rPr lang="en-US" sz="2400" b="1" dirty="0">
                <a:solidFill>
                  <a:srgbClr val="0C2622"/>
                </a:solidFill>
                <a:latin typeface="Cambria" pitchFamily="34" charset="0"/>
                <a:ea typeface="Cambria" pitchFamily="34" charset="-122"/>
                <a:cs typeface="Cambria" pitchFamily="34" charset="-120"/>
              </a:rPr>
              <a:t>Why you?</a:t>
            </a:r>
            <a:endParaRPr lang="en-US" sz="2400" dirty="0"/>
          </a:p>
        </p:txBody>
      </p:sp>
      <p:sp>
        <p:nvSpPr>
          <p:cNvPr id="16" name="Text 11"/>
          <p:cNvSpPr txBox="1"/>
          <p:nvPr/>
        </p:nvSpPr>
        <p:spPr>
          <a:xfrm>
            <a:off x="3474720" y="2743200"/>
            <a:ext cx="2194560" cy="822960"/>
          </a:xfrm>
          <a:prstGeom prst="rect">
            <a:avLst/>
          </a:prstGeom>
          <a:noFill/>
          <a:ln/>
        </p:spPr>
        <p:txBody>
          <a:bodyPr wrap="square" lIns="0" tIns="0" rIns="0" bIns="0" rtlCol="0" anchor="t"/>
          <a:lstStyle/>
          <a:p>
            <a:pPr marL="0" indent="0" algn="l">
              <a:buNone/>
            </a:pPr>
            <a:r>
              <a:rPr lang="en-US" sz="1300" dirty="0">
                <a:solidFill>
                  <a:srgbClr val="587068"/>
                </a:solidFill>
                <a:latin typeface="Calibri" pitchFamily="34" charset="0"/>
                <a:ea typeface="Calibri" pitchFamily="34" charset="-122"/>
                <a:cs typeface="Calibri" pitchFamily="34" charset="-120"/>
              </a:rPr>
              <a:t>Why this solution rather than the alternatives?</a:t>
            </a:r>
            <a:endParaRPr lang="en-US" sz="1300" dirty="0"/>
          </a:p>
        </p:txBody>
      </p:sp>
      <p:sp>
        <p:nvSpPr>
          <p:cNvPr id="17" name="Shape 12"/>
          <p:cNvSpPr/>
          <p:nvPr/>
        </p:nvSpPr>
        <p:spPr>
          <a:xfrm>
            <a:off x="6035040" y="1280160"/>
            <a:ext cx="2651760" cy="2377440"/>
          </a:xfrm>
          <a:prstGeom prst="roundRect">
            <a:avLst>
              <a:gd name="adj" fmla="val 3846"/>
            </a:avLst>
          </a:prstGeom>
          <a:solidFill>
            <a:srgbClr val="FFFFFF"/>
          </a:solidFill>
          <a:ln/>
          <a:effectLst>
            <a:outerShdw blurRad="101600" dist="25400" dir="5400000" algn="bl" rotWithShape="0">
              <a:srgbClr val="000000">
                <a:alpha val="10000"/>
              </a:srgbClr>
            </a:outerShdw>
          </a:effectLst>
        </p:spPr>
      </p:sp>
      <p:sp>
        <p:nvSpPr>
          <p:cNvPr id="18" name="Shape 13"/>
          <p:cNvSpPr/>
          <p:nvPr/>
        </p:nvSpPr>
        <p:spPr>
          <a:xfrm>
            <a:off x="6263640" y="1463040"/>
            <a:ext cx="548640" cy="548640"/>
          </a:xfrm>
          <a:prstGeom prst="ellipse">
            <a:avLst/>
          </a:prstGeom>
          <a:solidFill>
            <a:srgbClr val="12735B"/>
          </a:solidFill>
          <a:ln/>
        </p:spPr>
      </p:sp>
      <p:pic>
        <p:nvPicPr>
          <p:cNvPr id="19" name="Image 2" descr="preencoded.png"/>
          <p:cNvPicPr>
            <a:picLocks noChangeAspect="1"/>
          </p:cNvPicPr>
          <p:nvPr/>
        </p:nvPicPr>
        <p:blipFill>
          <a:blip r:embed="rId5"/>
          <a:stretch>
            <a:fillRect/>
          </a:stretch>
        </p:blipFill>
        <p:spPr>
          <a:xfrm>
            <a:off x="6400800" y="1600200"/>
            <a:ext cx="274320" cy="274320"/>
          </a:xfrm>
          <a:prstGeom prst="rect">
            <a:avLst/>
          </a:prstGeom>
        </p:spPr>
      </p:pic>
      <p:sp>
        <p:nvSpPr>
          <p:cNvPr id="20" name="Text 14"/>
          <p:cNvSpPr txBox="1"/>
          <p:nvPr/>
        </p:nvSpPr>
        <p:spPr>
          <a:xfrm>
            <a:off x="6263640" y="2194560"/>
            <a:ext cx="2194560" cy="457200"/>
          </a:xfrm>
          <a:prstGeom prst="rect">
            <a:avLst/>
          </a:prstGeom>
          <a:noFill/>
          <a:ln/>
        </p:spPr>
        <p:txBody>
          <a:bodyPr wrap="square" lIns="0" tIns="0" rIns="0" bIns="0" rtlCol="0" anchor="t"/>
          <a:lstStyle/>
          <a:p>
            <a:pPr marL="0" indent="0" algn="l">
              <a:buNone/>
            </a:pPr>
            <a:r>
              <a:rPr lang="en-US" sz="2400" b="1" dirty="0">
                <a:solidFill>
                  <a:srgbClr val="0C2622"/>
                </a:solidFill>
                <a:latin typeface="Cambria" pitchFamily="34" charset="0"/>
                <a:ea typeface="Cambria" pitchFamily="34" charset="-122"/>
                <a:cs typeface="Cambria" pitchFamily="34" charset="-120"/>
              </a:rPr>
              <a:t>Why now?</a:t>
            </a:r>
            <a:endParaRPr lang="en-US" sz="2400" dirty="0"/>
          </a:p>
        </p:txBody>
      </p:sp>
      <p:sp>
        <p:nvSpPr>
          <p:cNvPr id="21" name="Text 15"/>
          <p:cNvSpPr txBox="1"/>
          <p:nvPr/>
        </p:nvSpPr>
        <p:spPr>
          <a:xfrm>
            <a:off x="6263640" y="2743200"/>
            <a:ext cx="2194560" cy="822960"/>
          </a:xfrm>
          <a:prstGeom prst="rect">
            <a:avLst/>
          </a:prstGeom>
          <a:noFill/>
          <a:ln/>
        </p:spPr>
        <p:txBody>
          <a:bodyPr wrap="square" lIns="0" tIns="0" rIns="0" bIns="0" rtlCol="0" anchor="t"/>
          <a:lstStyle/>
          <a:p>
            <a:pPr marL="0" indent="0" algn="l">
              <a:buNone/>
            </a:pPr>
            <a:r>
              <a:rPr lang="en-US" sz="1300" dirty="0">
                <a:solidFill>
                  <a:srgbClr val="587068"/>
                </a:solidFill>
                <a:latin typeface="Calibri" pitchFamily="34" charset="0"/>
                <a:ea typeface="Calibri" pitchFamily="34" charset="-122"/>
                <a:cs typeface="Calibri" pitchFamily="34" charset="-120"/>
              </a:rPr>
              <a:t>Why should the customer act today?</a:t>
            </a:r>
            <a:endParaRPr lang="en-US" sz="1300" dirty="0"/>
          </a:p>
        </p:txBody>
      </p:sp>
      <p:sp>
        <p:nvSpPr>
          <p:cNvPr id="22" name="Shape 16"/>
          <p:cNvSpPr/>
          <p:nvPr/>
        </p:nvSpPr>
        <p:spPr>
          <a:xfrm>
            <a:off x="457200" y="3840480"/>
            <a:ext cx="8229600" cy="822960"/>
          </a:xfrm>
          <a:prstGeom prst="roundRect">
            <a:avLst>
              <a:gd name="adj" fmla="val 11111"/>
            </a:avLst>
          </a:prstGeom>
          <a:solidFill>
            <a:srgbClr val="DFF1EA"/>
          </a:solidFill>
          <a:ln/>
        </p:spPr>
      </p:sp>
      <p:sp>
        <p:nvSpPr>
          <p:cNvPr id="23" name="Text 17"/>
          <p:cNvSpPr txBox="1"/>
          <p:nvPr/>
        </p:nvSpPr>
        <p:spPr>
          <a:xfrm>
            <a:off x="685800" y="3840480"/>
            <a:ext cx="7772400" cy="822960"/>
          </a:xfrm>
          <a:prstGeom prst="rect">
            <a:avLst/>
          </a:prstGeom>
          <a:noFill/>
          <a:ln/>
        </p:spPr>
        <p:txBody>
          <a:bodyPr wrap="square" lIns="0" tIns="0" rIns="0" bIns="0" rtlCol="0" anchor="ctr"/>
          <a:lstStyle/>
          <a:p>
            <a:pPr marL="0" indent="0" algn="l">
              <a:buNone/>
            </a:pPr>
            <a:r>
              <a:rPr lang="en-US" sz="1250" b="1" dirty="0">
                <a:solidFill>
                  <a:srgbClr val="12735B"/>
                </a:solidFill>
                <a:latin typeface="Calibri" pitchFamily="34" charset="0"/>
                <a:ea typeface="Calibri" pitchFamily="34" charset="-122"/>
                <a:cs typeface="Calibri" pitchFamily="34" charset="-120"/>
              </a:rPr>
              <a:t>Value-proposition prompt: </a:t>
            </a:r>
            <a:r>
              <a:rPr lang="en-US" sz="1250" dirty="0">
                <a:solidFill>
                  <a:srgbClr val="0C2622"/>
                </a:solidFill>
                <a:latin typeface="Calibri" pitchFamily="34" charset="0"/>
                <a:ea typeface="Calibri" pitchFamily="34" charset="-122"/>
                <a:cs typeface="Calibri" pitchFamily="34" charset="-120"/>
              </a:rPr>
              <a:t>generate five versions using the formula. Avoid buzzwords — each must make sense to someone with no technical knowledge.</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5 · POSITIONING</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Compare competitors, then stress-test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36</a:t>
            </a:r>
            <a:endParaRPr lang="en-US" sz="900" dirty="0"/>
          </a:p>
        </p:txBody>
      </p:sp>
      <p:sp>
        <p:nvSpPr>
          <p:cNvPr id="7" name="Shape 4"/>
          <p:cNvSpPr/>
          <p:nvPr/>
        </p:nvSpPr>
        <p:spPr>
          <a:xfrm>
            <a:off x="457200" y="1280160"/>
            <a:ext cx="4023360" cy="3383280"/>
          </a:xfrm>
          <a:prstGeom prst="roundRect">
            <a:avLst>
              <a:gd name="adj" fmla="val 2703"/>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11480" cy="41148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42950" y="1547622"/>
            <a:ext cx="205740" cy="205740"/>
          </a:xfrm>
          <a:prstGeom prst="rect">
            <a:avLst/>
          </a:prstGeom>
        </p:spPr>
      </p:pic>
      <p:sp>
        <p:nvSpPr>
          <p:cNvPr id="10" name="Text 6"/>
          <p:cNvSpPr txBox="1"/>
          <p:nvPr/>
        </p:nvSpPr>
        <p:spPr>
          <a:xfrm>
            <a:off x="1188720" y="1444752"/>
            <a:ext cx="3108960" cy="41148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Competitor positioning</a:t>
            </a:r>
            <a:endParaRPr lang="en-US" sz="1400" dirty="0"/>
          </a:p>
        </p:txBody>
      </p:sp>
      <p:sp>
        <p:nvSpPr>
          <p:cNvPr id="11" name="Text 7"/>
          <p:cNvSpPr txBox="1"/>
          <p:nvPr/>
        </p:nvSpPr>
        <p:spPr>
          <a:xfrm>
            <a:off x="640080" y="2011680"/>
            <a:ext cx="3657600" cy="228600"/>
          </a:xfrm>
          <a:prstGeom prst="rect">
            <a:avLst/>
          </a:prstGeom>
          <a:noFill/>
          <a:ln/>
        </p:spPr>
        <p:txBody>
          <a:bodyPr wrap="square" lIns="0" tIns="0" rIns="0" bIns="0" rtlCol="0" anchor="t"/>
          <a:lstStyle/>
          <a:p>
            <a:pPr marL="0" indent="0" algn="l">
              <a:buNone/>
            </a:pPr>
            <a:r>
              <a:rPr lang="en-US" sz="1100" i="1" dirty="0">
                <a:solidFill>
                  <a:srgbClr val="587068"/>
                </a:solidFill>
                <a:latin typeface="Calibri" pitchFamily="34" charset="0"/>
                <a:ea typeface="Calibri" pitchFamily="34" charset="-122"/>
                <a:cs typeface="Calibri" pitchFamily="34" charset="-120"/>
              </a:rPr>
              <a:t>Compare across ten dimensions:</a:t>
            </a:r>
            <a:endParaRPr lang="en-US" sz="1100" dirty="0"/>
          </a:p>
        </p:txBody>
      </p:sp>
      <p:sp>
        <p:nvSpPr>
          <p:cNvPr id="12" name="Shape 8"/>
          <p:cNvSpPr/>
          <p:nvPr/>
        </p:nvSpPr>
        <p:spPr>
          <a:xfrm>
            <a:off x="640080" y="2331720"/>
            <a:ext cx="656539" cy="292608"/>
          </a:xfrm>
          <a:prstGeom prst="roundRect">
            <a:avLst>
              <a:gd name="adj" fmla="val 50000"/>
            </a:avLst>
          </a:prstGeom>
          <a:solidFill>
            <a:srgbClr val="DFF1EA"/>
          </a:solidFill>
          <a:ln/>
        </p:spPr>
      </p:sp>
      <p:sp>
        <p:nvSpPr>
          <p:cNvPr id="13" name="Text 9"/>
          <p:cNvSpPr txBox="1"/>
          <p:nvPr/>
        </p:nvSpPr>
        <p:spPr>
          <a:xfrm>
            <a:off x="640080" y="2331720"/>
            <a:ext cx="656539"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Price</a:t>
            </a:r>
            <a:endParaRPr lang="en-US" sz="1050" dirty="0"/>
          </a:p>
        </p:txBody>
      </p:sp>
      <p:sp>
        <p:nvSpPr>
          <p:cNvPr id="14" name="Shape 10"/>
          <p:cNvSpPr/>
          <p:nvPr/>
        </p:nvSpPr>
        <p:spPr>
          <a:xfrm>
            <a:off x="1369771" y="2331720"/>
            <a:ext cx="656539" cy="292608"/>
          </a:xfrm>
          <a:prstGeom prst="roundRect">
            <a:avLst>
              <a:gd name="adj" fmla="val 50000"/>
            </a:avLst>
          </a:prstGeom>
          <a:solidFill>
            <a:srgbClr val="DFF1EA"/>
          </a:solidFill>
          <a:ln/>
        </p:spPr>
      </p:sp>
      <p:sp>
        <p:nvSpPr>
          <p:cNvPr id="15" name="Text 11"/>
          <p:cNvSpPr txBox="1"/>
          <p:nvPr/>
        </p:nvSpPr>
        <p:spPr>
          <a:xfrm>
            <a:off x="1369771" y="2331720"/>
            <a:ext cx="656539"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Speed</a:t>
            </a:r>
            <a:endParaRPr lang="en-US" sz="1050" dirty="0"/>
          </a:p>
        </p:txBody>
      </p:sp>
      <p:sp>
        <p:nvSpPr>
          <p:cNvPr id="16" name="Shape 12"/>
          <p:cNvSpPr/>
          <p:nvPr/>
        </p:nvSpPr>
        <p:spPr>
          <a:xfrm>
            <a:off x="2099462" y="2331720"/>
            <a:ext cx="1071311" cy="292608"/>
          </a:xfrm>
          <a:prstGeom prst="roundRect">
            <a:avLst>
              <a:gd name="adj" fmla="val 50000"/>
            </a:avLst>
          </a:prstGeom>
          <a:solidFill>
            <a:srgbClr val="DFF1EA"/>
          </a:solidFill>
          <a:ln/>
        </p:spPr>
      </p:sp>
      <p:sp>
        <p:nvSpPr>
          <p:cNvPr id="17" name="Text 13"/>
          <p:cNvSpPr txBox="1"/>
          <p:nvPr/>
        </p:nvSpPr>
        <p:spPr>
          <a:xfrm>
            <a:off x="2099462" y="2331720"/>
            <a:ext cx="1071311"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Ease of use</a:t>
            </a:r>
            <a:endParaRPr lang="en-US" sz="1050" dirty="0"/>
          </a:p>
        </p:txBody>
      </p:sp>
      <p:sp>
        <p:nvSpPr>
          <p:cNvPr id="18" name="Shape 14"/>
          <p:cNvSpPr/>
          <p:nvPr/>
        </p:nvSpPr>
        <p:spPr>
          <a:xfrm>
            <a:off x="640080" y="2697480"/>
            <a:ext cx="1209568" cy="292608"/>
          </a:xfrm>
          <a:prstGeom prst="roundRect">
            <a:avLst>
              <a:gd name="adj" fmla="val 50000"/>
            </a:avLst>
          </a:prstGeom>
          <a:solidFill>
            <a:srgbClr val="DFF1EA"/>
          </a:solidFill>
          <a:ln/>
        </p:spPr>
      </p:sp>
      <p:sp>
        <p:nvSpPr>
          <p:cNvPr id="19" name="Text 15"/>
          <p:cNvSpPr txBox="1"/>
          <p:nvPr/>
        </p:nvSpPr>
        <p:spPr>
          <a:xfrm>
            <a:off x="640080" y="2697480"/>
            <a:ext cx="1209568"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Customization</a:t>
            </a:r>
            <a:endParaRPr lang="en-US" sz="1050" dirty="0"/>
          </a:p>
        </p:txBody>
      </p:sp>
      <p:sp>
        <p:nvSpPr>
          <p:cNvPr id="20" name="Shape 16"/>
          <p:cNvSpPr/>
          <p:nvPr/>
        </p:nvSpPr>
        <p:spPr>
          <a:xfrm>
            <a:off x="1922800" y="2697480"/>
            <a:ext cx="1416954" cy="292608"/>
          </a:xfrm>
          <a:prstGeom prst="roundRect">
            <a:avLst>
              <a:gd name="adj" fmla="val 50000"/>
            </a:avLst>
          </a:prstGeom>
          <a:solidFill>
            <a:srgbClr val="DFF1EA"/>
          </a:solidFill>
          <a:ln/>
        </p:spPr>
      </p:sp>
      <p:sp>
        <p:nvSpPr>
          <p:cNvPr id="21" name="Text 17"/>
          <p:cNvSpPr txBox="1"/>
          <p:nvPr/>
        </p:nvSpPr>
        <p:spPr>
          <a:xfrm>
            <a:off x="1922800" y="2697480"/>
            <a:ext cx="1416954"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Customer segment</a:t>
            </a:r>
            <a:endParaRPr lang="en-US" sz="1050" dirty="0"/>
          </a:p>
        </p:txBody>
      </p:sp>
      <p:sp>
        <p:nvSpPr>
          <p:cNvPr id="22" name="Shape 18"/>
          <p:cNvSpPr/>
          <p:nvPr/>
        </p:nvSpPr>
        <p:spPr>
          <a:xfrm>
            <a:off x="640080" y="3063240"/>
            <a:ext cx="933054" cy="292608"/>
          </a:xfrm>
          <a:prstGeom prst="roundRect">
            <a:avLst>
              <a:gd name="adj" fmla="val 50000"/>
            </a:avLst>
          </a:prstGeom>
          <a:solidFill>
            <a:srgbClr val="DFF1EA"/>
          </a:solidFill>
          <a:ln/>
        </p:spPr>
      </p:sp>
      <p:sp>
        <p:nvSpPr>
          <p:cNvPr id="23" name="Text 19"/>
          <p:cNvSpPr txBox="1"/>
          <p:nvPr/>
        </p:nvSpPr>
        <p:spPr>
          <a:xfrm>
            <a:off x="640080" y="3063240"/>
            <a:ext cx="933054"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Geography</a:t>
            </a:r>
            <a:endParaRPr lang="en-US" sz="1050" dirty="0"/>
          </a:p>
        </p:txBody>
      </p:sp>
      <p:sp>
        <p:nvSpPr>
          <p:cNvPr id="24" name="Shape 20"/>
          <p:cNvSpPr/>
          <p:nvPr/>
        </p:nvSpPr>
        <p:spPr>
          <a:xfrm>
            <a:off x="1646286" y="3063240"/>
            <a:ext cx="863925" cy="292608"/>
          </a:xfrm>
          <a:prstGeom prst="roundRect">
            <a:avLst>
              <a:gd name="adj" fmla="val 50000"/>
            </a:avLst>
          </a:prstGeom>
          <a:solidFill>
            <a:srgbClr val="DFF1EA"/>
          </a:solidFill>
          <a:ln/>
        </p:spPr>
      </p:sp>
      <p:sp>
        <p:nvSpPr>
          <p:cNvPr id="25" name="Text 21"/>
          <p:cNvSpPr txBox="1"/>
          <p:nvPr/>
        </p:nvSpPr>
        <p:spPr>
          <a:xfrm>
            <a:off x="1646286" y="3063240"/>
            <a:ext cx="863925"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Language</a:t>
            </a:r>
            <a:endParaRPr lang="en-US" sz="1050" dirty="0"/>
          </a:p>
        </p:txBody>
      </p:sp>
      <p:sp>
        <p:nvSpPr>
          <p:cNvPr id="26" name="Shape 22"/>
          <p:cNvSpPr/>
          <p:nvPr/>
        </p:nvSpPr>
        <p:spPr>
          <a:xfrm>
            <a:off x="2583363" y="3063240"/>
            <a:ext cx="794796" cy="292608"/>
          </a:xfrm>
          <a:prstGeom prst="roundRect">
            <a:avLst>
              <a:gd name="adj" fmla="val 50000"/>
            </a:avLst>
          </a:prstGeom>
          <a:solidFill>
            <a:srgbClr val="DFF1EA"/>
          </a:solidFill>
          <a:ln/>
        </p:spPr>
      </p:sp>
      <p:sp>
        <p:nvSpPr>
          <p:cNvPr id="27" name="Text 23"/>
          <p:cNvSpPr txBox="1"/>
          <p:nvPr/>
        </p:nvSpPr>
        <p:spPr>
          <a:xfrm>
            <a:off x="2583363" y="3063240"/>
            <a:ext cx="794796"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Support</a:t>
            </a:r>
            <a:endParaRPr lang="en-US" sz="1050" dirty="0"/>
          </a:p>
        </p:txBody>
      </p:sp>
      <p:sp>
        <p:nvSpPr>
          <p:cNvPr id="28" name="Shape 24"/>
          <p:cNvSpPr/>
          <p:nvPr/>
        </p:nvSpPr>
        <p:spPr>
          <a:xfrm>
            <a:off x="3451311" y="3063240"/>
            <a:ext cx="656539" cy="292608"/>
          </a:xfrm>
          <a:prstGeom prst="roundRect">
            <a:avLst>
              <a:gd name="adj" fmla="val 50000"/>
            </a:avLst>
          </a:prstGeom>
          <a:solidFill>
            <a:srgbClr val="DFF1EA"/>
          </a:solidFill>
          <a:ln/>
        </p:spPr>
      </p:sp>
      <p:sp>
        <p:nvSpPr>
          <p:cNvPr id="29" name="Text 25"/>
          <p:cNvSpPr txBox="1"/>
          <p:nvPr/>
        </p:nvSpPr>
        <p:spPr>
          <a:xfrm>
            <a:off x="3451311" y="3063240"/>
            <a:ext cx="656539"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Trust</a:t>
            </a:r>
            <a:endParaRPr lang="en-US" sz="1050" dirty="0"/>
          </a:p>
        </p:txBody>
      </p:sp>
      <p:sp>
        <p:nvSpPr>
          <p:cNvPr id="30" name="Shape 26"/>
          <p:cNvSpPr/>
          <p:nvPr/>
        </p:nvSpPr>
        <p:spPr>
          <a:xfrm>
            <a:off x="640080" y="3429000"/>
            <a:ext cx="1347826" cy="292608"/>
          </a:xfrm>
          <a:prstGeom prst="roundRect">
            <a:avLst>
              <a:gd name="adj" fmla="val 50000"/>
            </a:avLst>
          </a:prstGeom>
          <a:solidFill>
            <a:srgbClr val="DFF1EA"/>
          </a:solidFill>
          <a:ln/>
        </p:spPr>
      </p:sp>
      <p:sp>
        <p:nvSpPr>
          <p:cNvPr id="31" name="Text 27"/>
          <p:cNvSpPr txBox="1"/>
          <p:nvPr/>
        </p:nvSpPr>
        <p:spPr>
          <a:xfrm>
            <a:off x="640080" y="3429000"/>
            <a:ext cx="1347826" cy="292608"/>
          </a:xfrm>
          <a:prstGeom prst="rect">
            <a:avLst/>
          </a:prstGeom>
          <a:noFill/>
          <a:ln/>
        </p:spPr>
        <p:txBody>
          <a:bodyPr wrap="square" lIns="0" tIns="0" rIns="0" bIns="0" rtlCol="0" anchor="ctr"/>
          <a:lstStyle/>
          <a:p>
            <a:pPr marL="0" indent="0" algn="ctr">
              <a:buNone/>
            </a:pPr>
            <a:r>
              <a:rPr lang="en-US" sz="1050" dirty="0">
                <a:solidFill>
                  <a:srgbClr val="0C2622"/>
                </a:solidFill>
                <a:latin typeface="Calibri" pitchFamily="34" charset="0"/>
                <a:ea typeface="Calibri" pitchFamily="34" charset="-122"/>
                <a:cs typeface="Calibri" pitchFamily="34" charset="-120"/>
              </a:rPr>
              <a:t>AI capabilities</a:t>
            </a:r>
            <a:endParaRPr lang="en-US" sz="1050" dirty="0"/>
          </a:p>
        </p:txBody>
      </p:sp>
      <p:sp>
        <p:nvSpPr>
          <p:cNvPr id="32" name="Shape 28"/>
          <p:cNvSpPr/>
          <p:nvPr/>
        </p:nvSpPr>
        <p:spPr>
          <a:xfrm>
            <a:off x="640080" y="3886200"/>
            <a:ext cx="3657600" cy="658368"/>
          </a:xfrm>
          <a:prstGeom prst="roundRect">
            <a:avLst>
              <a:gd name="adj" fmla="val 11111"/>
            </a:avLst>
          </a:prstGeom>
          <a:solidFill>
            <a:srgbClr val="FBE7E9"/>
          </a:solidFill>
          <a:ln/>
        </p:spPr>
      </p:sp>
      <p:sp>
        <p:nvSpPr>
          <p:cNvPr id="33" name="Text 29"/>
          <p:cNvSpPr txBox="1"/>
          <p:nvPr/>
        </p:nvSpPr>
        <p:spPr>
          <a:xfrm>
            <a:off x="777240" y="3886200"/>
            <a:ext cx="3383280" cy="658368"/>
          </a:xfrm>
          <a:prstGeom prst="rect">
            <a:avLst/>
          </a:prstGeom>
          <a:noFill/>
          <a:ln/>
        </p:spPr>
        <p:txBody>
          <a:bodyPr wrap="square" lIns="0" tIns="0" rIns="0" bIns="0" rtlCol="0" anchor="ctr"/>
          <a:lstStyle/>
          <a:p>
            <a:pPr marL="0" indent="0" algn="l">
              <a:buNone/>
            </a:pPr>
            <a:r>
              <a:rPr lang="en-US" sz="1200" b="1" dirty="0">
                <a:solidFill>
                  <a:srgbClr val="C93B4B"/>
                </a:solidFill>
                <a:latin typeface="Calibri" pitchFamily="34" charset="0"/>
                <a:ea typeface="Calibri" pitchFamily="34" charset="-122"/>
                <a:cs typeface="Calibri" pitchFamily="34" charset="-120"/>
              </a:rPr>
              <a:t>Do not claim superiority unless there is evidence supporting it.</a:t>
            </a:r>
            <a:endParaRPr lang="en-US" sz="1200" dirty="0"/>
          </a:p>
        </p:txBody>
      </p:sp>
      <p:sp>
        <p:nvSpPr>
          <p:cNvPr id="34" name="Text 30"/>
          <p:cNvSpPr txBox="1"/>
          <p:nvPr/>
        </p:nvSpPr>
        <p:spPr>
          <a:xfrm>
            <a:off x="4754880" y="1325880"/>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SKEPTICAL CUSTOMER TEST</a:t>
            </a:r>
            <a:endParaRPr lang="en-US" sz="950" dirty="0"/>
          </a:p>
        </p:txBody>
      </p:sp>
      <p:sp>
        <p:nvSpPr>
          <p:cNvPr id="35" name="Shape 31"/>
          <p:cNvSpPr/>
          <p:nvPr/>
        </p:nvSpPr>
        <p:spPr>
          <a:xfrm>
            <a:off x="4754880" y="1627632"/>
            <a:ext cx="393192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36" name="Shape 32"/>
          <p:cNvSpPr/>
          <p:nvPr/>
        </p:nvSpPr>
        <p:spPr>
          <a:xfrm>
            <a:off x="4873752" y="1728216"/>
            <a:ext cx="393192" cy="393192"/>
          </a:xfrm>
          <a:prstGeom prst="ellipse">
            <a:avLst/>
          </a:prstGeom>
          <a:solidFill>
            <a:srgbClr val="0C2622"/>
          </a:solidFill>
          <a:ln/>
        </p:spPr>
      </p:sp>
      <p:pic>
        <p:nvPicPr>
          <p:cNvPr id="37" name="Image 1" descr="preencoded.png"/>
          <p:cNvPicPr>
            <a:picLocks noChangeAspect="1"/>
          </p:cNvPicPr>
          <p:nvPr/>
        </p:nvPicPr>
        <p:blipFill>
          <a:blip r:embed="rId4"/>
          <a:stretch>
            <a:fillRect/>
          </a:stretch>
        </p:blipFill>
        <p:spPr>
          <a:xfrm>
            <a:off x="4972050" y="1826514"/>
            <a:ext cx="196596" cy="196596"/>
          </a:xfrm>
          <a:prstGeom prst="rect">
            <a:avLst/>
          </a:prstGeom>
        </p:spPr>
      </p:pic>
      <p:sp>
        <p:nvSpPr>
          <p:cNvPr id="38" name="Text 33"/>
          <p:cNvSpPr txBox="1"/>
          <p:nvPr/>
        </p:nvSpPr>
        <p:spPr>
          <a:xfrm>
            <a:off x="5394960" y="1627632"/>
            <a:ext cx="3200400" cy="594360"/>
          </a:xfrm>
          <a:prstGeom prst="rect">
            <a:avLst/>
          </a:prstGeom>
          <a:noFill/>
          <a:ln/>
        </p:spPr>
        <p:txBody>
          <a:bodyPr wrap="square" lIns="0" tIns="0" rIns="0" bIns="0" rtlCol="0" anchor="ctr"/>
          <a:lstStyle/>
          <a:p>
            <a:pPr marL="0" indent="0" algn="l">
              <a:buNone/>
            </a:pPr>
            <a:r>
              <a:rPr lang="en-US" sz="1250" b="1" dirty="0">
                <a:solidFill>
                  <a:srgbClr val="0C2622"/>
                </a:solidFill>
                <a:latin typeface="Calibri" pitchFamily="34" charset="0"/>
                <a:ea typeface="Calibri" pitchFamily="34" charset="-122"/>
                <a:cs typeface="Calibri" pitchFamily="34" charset="-120"/>
              </a:rPr>
              <a:t>Skeptical customer</a:t>
            </a:r>
            <a:endParaRPr lang="en-US" sz="1250" dirty="0"/>
          </a:p>
        </p:txBody>
      </p:sp>
      <p:sp>
        <p:nvSpPr>
          <p:cNvPr id="39" name="Shape 34"/>
          <p:cNvSpPr/>
          <p:nvPr/>
        </p:nvSpPr>
        <p:spPr>
          <a:xfrm>
            <a:off x="4754880" y="2313432"/>
            <a:ext cx="393192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40" name="Shape 35"/>
          <p:cNvSpPr/>
          <p:nvPr/>
        </p:nvSpPr>
        <p:spPr>
          <a:xfrm>
            <a:off x="4873752" y="2414016"/>
            <a:ext cx="393192" cy="393192"/>
          </a:xfrm>
          <a:prstGeom prst="ellipse">
            <a:avLst/>
          </a:prstGeom>
          <a:solidFill>
            <a:srgbClr val="0C2622"/>
          </a:solidFill>
          <a:ln/>
        </p:spPr>
      </p:sp>
      <p:pic>
        <p:nvPicPr>
          <p:cNvPr id="41" name="Image 2" descr="preencoded.png"/>
          <p:cNvPicPr>
            <a:picLocks noChangeAspect="1"/>
          </p:cNvPicPr>
          <p:nvPr/>
        </p:nvPicPr>
        <p:blipFill>
          <a:blip r:embed="rId5"/>
          <a:stretch>
            <a:fillRect/>
          </a:stretch>
        </p:blipFill>
        <p:spPr>
          <a:xfrm>
            <a:off x="4972050" y="2512314"/>
            <a:ext cx="196596" cy="196596"/>
          </a:xfrm>
          <a:prstGeom prst="rect">
            <a:avLst/>
          </a:prstGeom>
        </p:spPr>
      </p:pic>
      <p:sp>
        <p:nvSpPr>
          <p:cNvPr id="42" name="Text 36"/>
          <p:cNvSpPr txBox="1"/>
          <p:nvPr/>
        </p:nvSpPr>
        <p:spPr>
          <a:xfrm>
            <a:off x="5394960" y="2313432"/>
            <a:ext cx="3200400" cy="594360"/>
          </a:xfrm>
          <a:prstGeom prst="rect">
            <a:avLst/>
          </a:prstGeom>
          <a:noFill/>
          <a:ln/>
        </p:spPr>
        <p:txBody>
          <a:bodyPr wrap="square" lIns="0" tIns="0" rIns="0" bIns="0" rtlCol="0" anchor="ctr"/>
          <a:lstStyle/>
          <a:p>
            <a:pPr marL="0" indent="0" algn="l">
              <a:buNone/>
            </a:pPr>
            <a:r>
              <a:rPr lang="en-US" sz="1250" b="1" dirty="0">
                <a:solidFill>
                  <a:srgbClr val="0C2622"/>
                </a:solidFill>
                <a:latin typeface="Calibri" pitchFamily="34" charset="0"/>
                <a:ea typeface="Calibri" pitchFamily="34" charset="-122"/>
                <a:cs typeface="Calibri" pitchFamily="34" charset="-120"/>
              </a:rPr>
              <a:t>Competitor salesperson</a:t>
            </a:r>
            <a:endParaRPr lang="en-US" sz="1250" dirty="0"/>
          </a:p>
        </p:txBody>
      </p:sp>
      <p:sp>
        <p:nvSpPr>
          <p:cNvPr id="43" name="Shape 37"/>
          <p:cNvSpPr/>
          <p:nvPr/>
        </p:nvSpPr>
        <p:spPr>
          <a:xfrm>
            <a:off x="4754880" y="2999232"/>
            <a:ext cx="393192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44" name="Shape 38"/>
          <p:cNvSpPr/>
          <p:nvPr/>
        </p:nvSpPr>
        <p:spPr>
          <a:xfrm>
            <a:off x="4873752" y="3099816"/>
            <a:ext cx="393192" cy="393192"/>
          </a:xfrm>
          <a:prstGeom prst="ellipse">
            <a:avLst/>
          </a:prstGeom>
          <a:solidFill>
            <a:srgbClr val="0C2622"/>
          </a:solidFill>
          <a:ln/>
        </p:spPr>
      </p:sp>
      <p:pic>
        <p:nvPicPr>
          <p:cNvPr id="45" name="Image 3" descr="preencoded.png"/>
          <p:cNvPicPr>
            <a:picLocks noChangeAspect="1"/>
          </p:cNvPicPr>
          <p:nvPr/>
        </p:nvPicPr>
        <p:blipFill>
          <a:blip r:embed="rId6"/>
          <a:stretch>
            <a:fillRect/>
          </a:stretch>
        </p:blipFill>
        <p:spPr>
          <a:xfrm>
            <a:off x="4972050" y="3198114"/>
            <a:ext cx="196596" cy="196596"/>
          </a:xfrm>
          <a:prstGeom prst="rect">
            <a:avLst/>
          </a:prstGeom>
        </p:spPr>
      </p:pic>
      <p:sp>
        <p:nvSpPr>
          <p:cNvPr id="46" name="Text 39"/>
          <p:cNvSpPr txBox="1"/>
          <p:nvPr/>
        </p:nvSpPr>
        <p:spPr>
          <a:xfrm>
            <a:off x="5394960" y="2999232"/>
            <a:ext cx="3200400" cy="594360"/>
          </a:xfrm>
          <a:prstGeom prst="rect">
            <a:avLst/>
          </a:prstGeom>
          <a:noFill/>
          <a:ln/>
        </p:spPr>
        <p:txBody>
          <a:bodyPr wrap="square" lIns="0" tIns="0" rIns="0" bIns="0" rtlCol="0" anchor="ctr"/>
          <a:lstStyle/>
          <a:p>
            <a:pPr marL="0" indent="0" algn="l">
              <a:buNone/>
            </a:pPr>
            <a:r>
              <a:rPr lang="en-US" sz="1250" b="1" dirty="0">
                <a:solidFill>
                  <a:srgbClr val="0C2622"/>
                </a:solidFill>
                <a:latin typeface="Calibri" pitchFamily="34" charset="0"/>
                <a:ea typeface="Calibri" pitchFamily="34" charset="-122"/>
                <a:cs typeface="Calibri" pitchFamily="34" charset="-120"/>
              </a:rPr>
              <a:t>Finance manager deciding whether to pay</a:t>
            </a:r>
            <a:endParaRPr lang="en-US" sz="1250" dirty="0"/>
          </a:p>
        </p:txBody>
      </p:sp>
      <p:sp>
        <p:nvSpPr>
          <p:cNvPr id="47" name="Shape 40"/>
          <p:cNvSpPr/>
          <p:nvPr/>
        </p:nvSpPr>
        <p:spPr>
          <a:xfrm>
            <a:off x="4754880" y="3749040"/>
            <a:ext cx="3931920" cy="914400"/>
          </a:xfrm>
          <a:prstGeom prst="roundRect">
            <a:avLst>
              <a:gd name="adj" fmla="val 10000"/>
            </a:avLst>
          </a:prstGeom>
          <a:solidFill>
            <a:srgbClr val="0C2622"/>
          </a:solidFill>
          <a:ln/>
          <a:effectLst>
            <a:outerShdw blurRad="101600" dist="25400" dir="5400000" algn="bl" rotWithShape="0">
              <a:srgbClr val="000000">
                <a:alpha val="10000"/>
              </a:srgbClr>
            </a:outerShdw>
          </a:effectLst>
        </p:spPr>
      </p:sp>
      <p:sp>
        <p:nvSpPr>
          <p:cNvPr id="48" name="Text 41"/>
          <p:cNvSpPr txBox="1"/>
          <p:nvPr/>
        </p:nvSpPr>
        <p:spPr>
          <a:xfrm>
            <a:off x="4937760" y="3749040"/>
            <a:ext cx="3566160" cy="91440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List every objection. Then rewrite the message to answer the strongest ones — without exaggerating.</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5 · POSITIONING</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From value proposition to landing page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457200" y="1280160"/>
            <a:ext cx="3108960" cy="3383280"/>
          </a:xfrm>
          <a:prstGeom prst="roundRect">
            <a:avLst>
              <a:gd name="adj" fmla="val 2941"/>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21792" y="1389888"/>
            <a:ext cx="109728" cy="109728"/>
          </a:xfrm>
          <a:prstGeom prst="ellipse">
            <a:avLst/>
          </a:prstGeom>
          <a:solidFill>
            <a:srgbClr val="C93B4B"/>
          </a:solidFill>
          <a:ln/>
        </p:spPr>
      </p:sp>
      <p:sp>
        <p:nvSpPr>
          <p:cNvPr id="9" name="Shape 6"/>
          <p:cNvSpPr/>
          <p:nvPr/>
        </p:nvSpPr>
        <p:spPr>
          <a:xfrm>
            <a:off x="804672" y="1389888"/>
            <a:ext cx="109728" cy="109728"/>
          </a:xfrm>
          <a:prstGeom prst="ellipse">
            <a:avLst/>
          </a:prstGeom>
          <a:solidFill>
            <a:srgbClr val="F4A52A"/>
          </a:solidFill>
          <a:ln/>
        </p:spPr>
      </p:sp>
      <p:sp>
        <p:nvSpPr>
          <p:cNvPr id="10" name="Shape 7"/>
          <p:cNvSpPr/>
          <p:nvPr/>
        </p:nvSpPr>
        <p:spPr>
          <a:xfrm>
            <a:off x="987552" y="1389888"/>
            <a:ext cx="109728" cy="109728"/>
          </a:xfrm>
          <a:prstGeom prst="ellipse">
            <a:avLst/>
          </a:prstGeom>
          <a:solidFill>
            <a:srgbClr val="1E9A7A"/>
          </a:solidFill>
          <a:ln/>
        </p:spPr>
      </p:sp>
      <p:sp>
        <p:nvSpPr>
          <p:cNvPr id="11" name="Shape 8"/>
          <p:cNvSpPr/>
          <p:nvPr/>
        </p:nvSpPr>
        <p:spPr>
          <a:xfrm>
            <a:off x="621792" y="1627632"/>
            <a:ext cx="2779776" cy="365760"/>
          </a:xfrm>
          <a:prstGeom prst="roundRect">
            <a:avLst>
              <a:gd name="adj" fmla="val 12500"/>
            </a:avLst>
          </a:prstGeom>
          <a:solidFill>
            <a:srgbClr val="0C2622"/>
          </a:solidFill>
          <a:ln/>
        </p:spPr>
      </p:sp>
      <p:sp>
        <p:nvSpPr>
          <p:cNvPr id="12" name="Text 9"/>
          <p:cNvSpPr txBox="1"/>
          <p:nvPr/>
        </p:nvSpPr>
        <p:spPr>
          <a:xfrm>
            <a:off x="621792" y="1627632"/>
            <a:ext cx="277977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Hero headline</a:t>
            </a:r>
            <a:endParaRPr lang="en-US" sz="1000" dirty="0"/>
          </a:p>
        </p:txBody>
      </p:sp>
      <p:sp>
        <p:nvSpPr>
          <p:cNvPr id="13" name="Shape 10"/>
          <p:cNvSpPr/>
          <p:nvPr/>
        </p:nvSpPr>
        <p:spPr>
          <a:xfrm>
            <a:off x="621792" y="2048256"/>
            <a:ext cx="2779776" cy="256032"/>
          </a:xfrm>
          <a:prstGeom prst="roundRect">
            <a:avLst>
              <a:gd name="adj" fmla="val 17857"/>
            </a:avLst>
          </a:prstGeom>
          <a:solidFill>
            <a:srgbClr val="12735B"/>
          </a:solidFill>
          <a:ln/>
        </p:spPr>
      </p:sp>
      <p:sp>
        <p:nvSpPr>
          <p:cNvPr id="14" name="Text 11"/>
          <p:cNvSpPr txBox="1"/>
          <p:nvPr/>
        </p:nvSpPr>
        <p:spPr>
          <a:xfrm>
            <a:off x="621792" y="2048256"/>
            <a:ext cx="2779776"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Subheadline</a:t>
            </a:r>
            <a:endParaRPr lang="en-US" sz="1000" dirty="0"/>
          </a:p>
        </p:txBody>
      </p:sp>
      <p:sp>
        <p:nvSpPr>
          <p:cNvPr id="15" name="Shape 12"/>
          <p:cNvSpPr/>
          <p:nvPr/>
        </p:nvSpPr>
        <p:spPr>
          <a:xfrm>
            <a:off x="621792" y="2359152"/>
            <a:ext cx="2779776" cy="256032"/>
          </a:xfrm>
          <a:prstGeom prst="roundRect">
            <a:avLst>
              <a:gd name="adj" fmla="val 17857"/>
            </a:avLst>
          </a:prstGeom>
          <a:solidFill>
            <a:srgbClr val="DFF1EA"/>
          </a:solidFill>
          <a:ln/>
        </p:spPr>
      </p:sp>
      <p:sp>
        <p:nvSpPr>
          <p:cNvPr id="16" name="Text 13"/>
          <p:cNvSpPr txBox="1"/>
          <p:nvPr/>
        </p:nvSpPr>
        <p:spPr>
          <a:xfrm>
            <a:off x="621792" y="2359152"/>
            <a:ext cx="2779776"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Problem</a:t>
            </a:r>
            <a:endParaRPr lang="en-US" sz="1000" dirty="0"/>
          </a:p>
        </p:txBody>
      </p:sp>
      <p:sp>
        <p:nvSpPr>
          <p:cNvPr id="17" name="Shape 14"/>
          <p:cNvSpPr/>
          <p:nvPr/>
        </p:nvSpPr>
        <p:spPr>
          <a:xfrm>
            <a:off x="621792" y="2670048"/>
            <a:ext cx="2779776" cy="256032"/>
          </a:xfrm>
          <a:prstGeom prst="roundRect">
            <a:avLst>
              <a:gd name="adj" fmla="val 17857"/>
            </a:avLst>
          </a:prstGeom>
          <a:solidFill>
            <a:srgbClr val="DFF1EA"/>
          </a:solidFill>
          <a:ln/>
        </p:spPr>
      </p:sp>
      <p:sp>
        <p:nvSpPr>
          <p:cNvPr id="18" name="Text 15"/>
          <p:cNvSpPr txBox="1"/>
          <p:nvPr/>
        </p:nvSpPr>
        <p:spPr>
          <a:xfrm>
            <a:off x="621792" y="2670048"/>
            <a:ext cx="2779776"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Solution</a:t>
            </a:r>
            <a:endParaRPr lang="en-US" sz="1000" dirty="0"/>
          </a:p>
        </p:txBody>
      </p:sp>
      <p:sp>
        <p:nvSpPr>
          <p:cNvPr id="19" name="Shape 16"/>
          <p:cNvSpPr/>
          <p:nvPr/>
        </p:nvSpPr>
        <p:spPr>
          <a:xfrm>
            <a:off x="621792" y="2980944"/>
            <a:ext cx="2779776" cy="256032"/>
          </a:xfrm>
          <a:prstGeom prst="roundRect">
            <a:avLst>
              <a:gd name="adj" fmla="val 17857"/>
            </a:avLst>
          </a:prstGeom>
          <a:solidFill>
            <a:srgbClr val="B5DCCE"/>
          </a:solidFill>
          <a:ln/>
        </p:spPr>
      </p:sp>
      <p:sp>
        <p:nvSpPr>
          <p:cNvPr id="20" name="Text 17"/>
          <p:cNvSpPr txBox="1"/>
          <p:nvPr/>
        </p:nvSpPr>
        <p:spPr>
          <a:xfrm>
            <a:off x="621792" y="2980944"/>
            <a:ext cx="2779776"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How it works</a:t>
            </a:r>
            <a:endParaRPr lang="en-US" sz="1000" dirty="0"/>
          </a:p>
        </p:txBody>
      </p:sp>
      <p:sp>
        <p:nvSpPr>
          <p:cNvPr id="21" name="Shape 18"/>
          <p:cNvSpPr/>
          <p:nvPr/>
        </p:nvSpPr>
        <p:spPr>
          <a:xfrm>
            <a:off x="621792" y="3291840"/>
            <a:ext cx="2779776" cy="256032"/>
          </a:xfrm>
          <a:prstGeom prst="roundRect">
            <a:avLst>
              <a:gd name="adj" fmla="val 17857"/>
            </a:avLst>
          </a:prstGeom>
          <a:solidFill>
            <a:srgbClr val="DFF1EA"/>
          </a:solidFill>
          <a:ln/>
        </p:spPr>
      </p:sp>
      <p:sp>
        <p:nvSpPr>
          <p:cNvPr id="22" name="Text 19"/>
          <p:cNvSpPr txBox="1"/>
          <p:nvPr/>
        </p:nvSpPr>
        <p:spPr>
          <a:xfrm>
            <a:off x="621792" y="3291840"/>
            <a:ext cx="2779776"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Benefits</a:t>
            </a:r>
            <a:endParaRPr lang="en-US" sz="1000" dirty="0"/>
          </a:p>
        </p:txBody>
      </p:sp>
      <p:sp>
        <p:nvSpPr>
          <p:cNvPr id="23" name="Shape 20"/>
          <p:cNvSpPr/>
          <p:nvPr/>
        </p:nvSpPr>
        <p:spPr>
          <a:xfrm>
            <a:off x="621792" y="3602736"/>
            <a:ext cx="2779776" cy="256032"/>
          </a:xfrm>
          <a:prstGeom prst="roundRect">
            <a:avLst>
              <a:gd name="adj" fmla="val 17857"/>
            </a:avLst>
          </a:prstGeom>
          <a:solidFill>
            <a:srgbClr val="B5DCCE"/>
          </a:solidFill>
          <a:ln/>
        </p:spPr>
      </p:sp>
      <p:sp>
        <p:nvSpPr>
          <p:cNvPr id="24" name="Text 21"/>
          <p:cNvSpPr txBox="1"/>
          <p:nvPr/>
        </p:nvSpPr>
        <p:spPr>
          <a:xfrm>
            <a:off x="621792" y="3602736"/>
            <a:ext cx="2779776"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Proof</a:t>
            </a:r>
            <a:endParaRPr lang="en-US" sz="1000" dirty="0"/>
          </a:p>
        </p:txBody>
      </p:sp>
      <p:sp>
        <p:nvSpPr>
          <p:cNvPr id="25" name="Shape 22"/>
          <p:cNvSpPr/>
          <p:nvPr/>
        </p:nvSpPr>
        <p:spPr>
          <a:xfrm>
            <a:off x="621792" y="3913632"/>
            <a:ext cx="2779776" cy="256032"/>
          </a:xfrm>
          <a:prstGeom prst="roundRect">
            <a:avLst>
              <a:gd name="adj" fmla="val 17857"/>
            </a:avLst>
          </a:prstGeom>
          <a:solidFill>
            <a:srgbClr val="DFF1EA"/>
          </a:solidFill>
          <a:ln/>
        </p:spPr>
      </p:sp>
      <p:sp>
        <p:nvSpPr>
          <p:cNvPr id="26" name="Text 23"/>
          <p:cNvSpPr txBox="1"/>
          <p:nvPr/>
        </p:nvSpPr>
        <p:spPr>
          <a:xfrm>
            <a:off x="621792" y="3913632"/>
            <a:ext cx="2779776" cy="256032"/>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FAQ</a:t>
            </a:r>
            <a:endParaRPr lang="en-US" sz="1000" dirty="0"/>
          </a:p>
        </p:txBody>
      </p:sp>
      <p:sp>
        <p:nvSpPr>
          <p:cNvPr id="27" name="Shape 24"/>
          <p:cNvSpPr/>
          <p:nvPr/>
        </p:nvSpPr>
        <p:spPr>
          <a:xfrm>
            <a:off x="621792" y="4224528"/>
            <a:ext cx="2779776" cy="329184"/>
          </a:xfrm>
          <a:prstGeom prst="roundRect">
            <a:avLst>
              <a:gd name="adj" fmla="val 13889"/>
            </a:avLst>
          </a:prstGeom>
          <a:solidFill>
            <a:srgbClr val="F4A52A"/>
          </a:solidFill>
          <a:ln/>
        </p:spPr>
      </p:sp>
      <p:sp>
        <p:nvSpPr>
          <p:cNvPr id="28" name="Text 25"/>
          <p:cNvSpPr txBox="1"/>
          <p:nvPr/>
        </p:nvSpPr>
        <p:spPr>
          <a:xfrm>
            <a:off x="621792" y="4224528"/>
            <a:ext cx="2779776" cy="329184"/>
          </a:xfrm>
          <a:prstGeom prst="rect">
            <a:avLst/>
          </a:prstGeom>
          <a:noFill/>
          <a:ln/>
        </p:spPr>
        <p:txBody>
          <a:bodyPr wrap="square" lIns="0" tIns="0" rIns="0" bIns="0" rtlCol="0" anchor="ctr"/>
          <a:lstStyle/>
          <a:p>
            <a:pPr marL="0" indent="0" algn="ctr">
              <a:buNone/>
            </a:pPr>
            <a:r>
              <a:rPr lang="en-US" sz="1000" b="1" dirty="0">
                <a:solidFill>
                  <a:srgbClr val="0C2622"/>
                </a:solidFill>
                <a:latin typeface="Calibri" pitchFamily="34" charset="0"/>
                <a:ea typeface="Calibri" pitchFamily="34" charset="-122"/>
                <a:cs typeface="Calibri" pitchFamily="34" charset="-120"/>
              </a:rPr>
              <a:t>CTA</a:t>
            </a:r>
            <a:endParaRPr lang="en-US" sz="1000" dirty="0"/>
          </a:p>
        </p:txBody>
      </p:sp>
      <p:sp>
        <p:nvSpPr>
          <p:cNvPr id="29" name="Text 26"/>
          <p:cNvSpPr txBox="1"/>
          <p:nvPr/>
        </p:nvSpPr>
        <p:spPr>
          <a:xfrm>
            <a:off x="3840480" y="1325880"/>
            <a:ext cx="45720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GIVE THE PROMPT SIX INPUTS</a:t>
            </a:r>
            <a:endParaRPr lang="en-US" sz="950" dirty="0"/>
          </a:p>
        </p:txBody>
      </p:sp>
      <p:sp>
        <p:nvSpPr>
          <p:cNvPr id="30" name="Shape 27"/>
          <p:cNvSpPr/>
          <p:nvPr/>
        </p:nvSpPr>
        <p:spPr>
          <a:xfrm>
            <a:off x="3840480" y="1627632"/>
            <a:ext cx="2377440" cy="475488"/>
          </a:xfrm>
          <a:prstGeom prst="roundRect">
            <a:avLst>
              <a:gd name="adj" fmla="val 19231"/>
            </a:avLst>
          </a:prstGeom>
          <a:solidFill>
            <a:srgbClr val="FFFFFF"/>
          </a:solidFill>
          <a:ln/>
          <a:effectLst>
            <a:outerShdw blurRad="101600" dist="25400" dir="5400000" algn="bl" rotWithShape="0">
              <a:srgbClr val="000000">
                <a:alpha val="10000"/>
              </a:srgbClr>
            </a:outerShdw>
          </a:effectLst>
        </p:spPr>
      </p:sp>
      <p:sp>
        <p:nvSpPr>
          <p:cNvPr id="31" name="Text 28"/>
          <p:cNvSpPr txBox="1"/>
          <p:nvPr/>
        </p:nvSpPr>
        <p:spPr>
          <a:xfrm>
            <a:off x="3977640" y="1627632"/>
            <a:ext cx="2103120" cy="47548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Product</a:t>
            </a:r>
            <a:endParaRPr lang="en-US" sz="1200" dirty="0"/>
          </a:p>
        </p:txBody>
      </p:sp>
      <p:sp>
        <p:nvSpPr>
          <p:cNvPr id="32" name="Shape 29"/>
          <p:cNvSpPr/>
          <p:nvPr/>
        </p:nvSpPr>
        <p:spPr>
          <a:xfrm>
            <a:off x="6309360" y="1627632"/>
            <a:ext cx="2377440" cy="475488"/>
          </a:xfrm>
          <a:prstGeom prst="roundRect">
            <a:avLst>
              <a:gd name="adj" fmla="val 19231"/>
            </a:avLst>
          </a:prstGeom>
          <a:solidFill>
            <a:srgbClr val="FFFFFF"/>
          </a:solidFill>
          <a:ln/>
          <a:effectLst>
            <a:outerShdw blurRad="101600" dist="25400" dir="5400000" algn="bl" rotWithShape="0">
              <a:srgbClr val="000000">
                <a:alpha val="10000"/>
              </a:srgbClr>
            </a:outerShdw>
          </a:effectLst>
        </p:spPr>
      </p:sp>
      <p:sp>
        <p:nvSpPr>
          <p:cNvPr id="33" name="Text 30"/>
          <p:cNvSpPr txBox="1"/>
          <p:nvPr/>
        </p:nvSpPr>
        <p:spPr>
          <a:xfrm>
            <a:off x="6446520" y="1627632"/>
            <a:ext cx="2103120" cy="47548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Customer (ICP)</a:t>
            </a:r>
            <a:endParaRPr lang="en-US" sz="1200" dirty="0"/>
          </a:p>
        </p:txBody>
      </p:sp>
      <p:sp>
        <p:nvSpPr>
          <p:cNvPr id="34" name="Shape 31"/>
          <p:cNvSpPr/>
          <p:nvPr/>
        </p:nvSpPr>
        <p:spPr>
          <a:xfrm>
            <a:off x="3840480" y="2194560"/>
            <a:ext cx="2377440" cy="475488"/>
          </a:xfrm>
          <a:prstGeom prst="roundRect">
            <a:avLst>
              <a:gd name="adj" fmla="val 19231"/>
            </a:avLst>
          </a:prstGeom>
          <a:solidFill>
            <a:srgbClr val="FFFFFF"/>
          </a:solidFill>
          <a:ln/>
          <a:effectLst>
            <a:outerShdw blurRad="101600" dist="25400" dir="5400000" algn="bl" rotWithShape="0">
              <a:srgbClr val="000000">
                <a:alpha val="10000"/>
              </a:srgbClr>
            </a:outerShdw>
          </a:effectLst>
        </p:spPr>
      </p:sp>
      <p:sp>
        <p:nvSpPr>
          <p:cNvPr id="35" name="Text 32"/>
          <p:cNvSpPr txBox="1"/>
          <p:nvPr/>
        </p:nvSpPr>
        <p:spPr>
          <a:xfrm>
            <a:off x="3977640" y="2194560"/>
            <a:ext cx="2103120" cy="47548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Problem</a:t>
            </a:r>
            <a:endParaRPr lang="en-US" sz="1200" dirty="0"/>
          </a:p>
        </p:txBody>
      </p:sp>
      <p:sp>
        <p:nvSpPr>
          <p:cNvPr id="36" name="Shape 33"/>
          <p:cNvSpPr/>
          <p:nvPr/>
        </p:nvSpPr>
        <p:spPr>
          <a:xfrm>
            <a:off x="6309360" y="2194560"/>
            <a:ext cx="2377440" cy="475488"/>
          </a:xfrm>
          <a:prstGeom prst="roundRect">
            <a:avLst>
              <a:gd name="adj" fmla="val 19231"/>
            </a:avLst>
          </a:prstGeom>
          <a:solidFill>
            <a:srgbClr val="FFFFFF"/>
          </a:solidFill>
          <a:ln/>
          <a:effectLst>
            <a:outerShdw blurRad="101600" dist="25400" dir="5400000" algn="bl" rotWithShape="0">
              <a:srgbClr val="000000">
                <a:alpha val="10000"/>
              </a:srgbClr>
            </a:outerShdw>
          </a:effectLst>
        </p:spPr>
      </p:sp>
      <p:sp>
        <p:nvSpPr>
          <p:cNvPr id="37" name="Text 34"/>
          <p:cNvSpPr txBox="1"/>
          <p:nvPr/>
        </p:nvSpPr>
        <p:spPr>
          <a:xfrm>
            <a:off x="6446520" y="2194560"/>
            <a:ext cx="2103120" cy="47548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Outcome</a:t>
            </a:r>
            <a:endParaRPr lang="en-US" sz="1200" dirty="0"/>
          </a:p>
        </p:txBody>
      </p:sp>
      <p:sp>
        <p:nvSpPr>
          <p:cNvPr id="38" name="Shape 35"/>
          <p:cNvSpPr/>
          <p:nvPr/>
        </p:nvSpPr>
        <p:spPr>
          <a:xfrm>
            <a:off x="3840480" y="2761488"/>
            <a:ext cx="2377440" cy="475488"/>
          </a:xfrm>
          <a:prstGeom prst="roundRect">
            <a:avLst>
              <a:gd name="adj" fmla="val 19231"/>
            </a:avLst>
          </a:prstGeom>
          <a:solidFill>
            <a:srgbClr val="FFFFFF"/>
          </a:solidFill>
          <a:ln/>
          <a:effectLst>
            <a:outerShdw blurRad="101600" dist="25400" dir="5400000" algn="bl" rotWithShape="0">
              <a:srgbClr val="000000">
                <a:alpha val="10000"/>
              </a:srgbClr>
            </a:outerShdw>
          </a:effectLst>
        </p:spPr>
      </p:sp>
      <p:sp>
        <p:nvSpPr>
          <p:cNvPr id="39" name="Text 36"/>
          <p:cNvSpPr txBox="1"/>
          <p:nvPr/>
        </p:nvSpPr>
        <p:spPr>
          <a:xfrm>
            <a:off x="3977640" y="2761488"/>
            <a:ext cx="2103120" cy="47548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Proof</a:t>
            </a:r>
            <a:endParaRPr lang="en-US" sz="1200" dirty="0"/>
          </a:p>
        </p:txBody>
      </p:sp>
      <p:sp>
        <p:nvSpPr>
          <p:cNvPr id="40" name="Shape 37"/>
          <p:cNvSpPr/>
          <p:nvPr/>
        </p:nvSpPr>
        <p:spPr>
          <a:xfrm>
            <a:off x="6309360" y="2761488"/>
            <a:ext cx="2377440" cy="475488"/>
          </a:xfrm>
          <a:prstGeom prst="roundRect">
            <a:avLst>
              <a:gd name="adj" fmla="val 19231"/>
            </a:avLst>
          </a:prstGeom>
          <a:solidFill>
            <a:srgbClr val="FFFFFF"/>
          </a:solidFill>
          <a:ln/>
          <a:effectLst>
            <a:outerShdw blurRad="101600" dist="25400" dir="5400000" algn="bl" rotWithShape="0">
              <a:srgbClr val="000000">
                <a:alpha val="10000"/>
              </a:srgbClr>
            </a:outerShdw>
          </a:effectLst>
        </p:spPr>
      </p:sp>
      <p:sp>
        <p:nvSpPr>
          <p:cNvPr id="41" name="Text 38"/>
          <p:cNvSpPr txBox="1"/>
          <p:nvPr/>
        </p:nvSpPr>
        <p:spPr>
          <a:xfrm>
            <a:off x="6446520" y="2761488"/>
            <a:ext cx="2103120" cy="47548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Desired action (CTA)</a:t>
            </a:r>
            <a:endParaRPr lang="en-US" sz="1200" dirty="0"/>
          </a:p>
        </p:txBody>
      </p:sp>
      <p:sp>
        <p:nvSpPr>
          <p:cNvPr id="42" name="Shape 39"/>
          <p:cNvSpPr/>
          <p:nvPr/>
        </p:nvSpPr>
        <p:spPr>
          <a:xfrm>
            <a:off x="3840480" y="3474720"/>
            <a:ext cx="4846320" cy="1188720"/>
          </a:xfrm>
          <a:prstGeom prst="roundRect">
            <a:avLst>
              <a:gd name="adj" fmla="val 7692"/>
            </a:avLst>
          </a:prstGeom>
          <a:solidFill>
            <a:srgbClr val="0C2622"/>
          </a:solidFill>
          <a:ln/>
          <a:effectLst>
            <a:outerShdw blurRad="101600" dist="25400" dir="5400000" algn="bl" rotWithShape="0">
              <a:srgbClr val="000000">
                <a:alpha val="10000"/>
              </a:srgbClr>
            </a:outerShdw>
          </a:effectLst>
        </p:spPr>
      </p:sp>
      <p:sp>
        <p:nvSpPr>
          <p:cNvPr id="43" name="Shape 40"/>
          <p:cNvSpPr/>
          <p:nvPr/>
        </p:nvSpPr>
        <p:spPr>
          <a:xfrm>
            <a:off x="4023360" y="3749040"/>
            <a:ext cx="457200" cy="457200"/>
          </a:xfrm>
          <a:prstGeom prst="ellipse">
            <a:avLst/>
          </a:prstGeom>
          <a:solidFill>
            <a:srgbClr val="F4A52A"/>
          </a:solidFill>
          <a:ln/>
        </p:spPr>
      </p:sp>
      <p:pic>
        <p:nvPicPr>
          <p:cNvPr id="44" name="Image 0" descr="preencoded.png"/>
          <p:cNvPicPr>
            <a:picLocks noChangeAspect="1"/>
          </p:cNvPicPr>
          <p:nvPr/>
        </p:nvPicPr>
        <p:blipFill>
          <a:blip r:embed="rId3"/>
          <a:stretch>
            <a:fillRect/>
          </a:stretch>
        </p:blipFill>
        <p:spPr>
          <a:xfrm>
            <a:off x="4137660" y="3863340"/>
            <a:ext cx="228600" cy="228600"/>
          </a:xfrm>
          <a:prstGeom prst="rect">
            <a:avLst/>
          </a:prstGeom>
        </p:spPr>
      </p:pic>
      <p:sp>
        <p:nvSpPr>
          <p:cNvPr id="45" name="Text 41"/>
          <p:cNvSpPr txBox="1"/>
          <p:nvPr/>
        </p:nvSpPr>
        <p:spPr>
          <a:xfrm>
            <a:off x="4663440" y="3474720"/>
            <a:ext cx="3840480" cy="1188720"/>
          </a:xfrm>
          <a:prstGeom prst="rect">
            <a:avLst/>
          </a:prstGeom>
          <a:noFill/>
          <a:ln/>
        </p:spPr>
        <p:txBody>
          <a:bodyPr wrap="square" lIns="0" tIns="0" rIns="0" bIns="0" rtlCol="0" anchor="ctr"/>
          <a:lstStyle/>
          <a:p>
            <a:pPr marL="0" indent="0" algn="l">
              <a:buNone/>
            </a:pPr>
            <a:r>
              <a:rPr lang="en-US" sz="1600" i="1" dirty="0">
                <a:solidFill>
                  <a:srgbClr val="FFFFFF"/>
                </a:solidFill>
                <a:latin typeface="Cambria" pitchFamily="34" charset="0"/>
                <a:ea typeface="Cambria" pitchFamily="34" charset="-122"/>
                <a:cs typeface="Cambria" pitchFamily="34" charset="-120"/>
              </a:rPr>
              <a:t>Use specific language rather than AI buzzwords.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06</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6</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Go-to-Market</a:t>
            </a:r>
            <a:endParaRPr lang="en-US" sz="3600" dirty="0"/>
          </a:p>
        </p:txBody>
      </p:sp>
      <p:sp>
        <p:nvSpPr>
          <p:cNvPr id="6" name="Text 3"/>
          <p:cNvSpPr txBox="1"/>
          <p:nvPr/>
        </p:nvSpPr>
        <p:spPr>
          <a:xfrm>
            <a:off x="640080" y="3355848"/>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How do we systematically move from no customers to customers?</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first-customer funnel</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39</a:t>
            </a:r>
            <a:endParaRPr lang="en-US" sz="900" dirty="0"/>
          </a:p>
        </p:txBody>
      </p:sp>
      <p:sp>
        <p:nvSpPr>
          <p:cNvPr id="7" name="Text 4"/>
          <p:cNvSpPr txBox="1"/>
          <p:nvPr/>
        </p:nvSpPr>
        <p:spPr>
          <a:xfrm>
            <a:off x="457200" y="1280160"/>
            <a:ext cx="3200400" cy="822960"/>
          </a:xfrm>
          <a:prstGeom prst="rect">
            <a:avLst/>
          </a:prstGeom>
          <a:noFill/>
          <a:ln/>
        </p:spPr>
        <p:txBody>
          <a:bodyPr wrap="square" lIns="0" tIns="0" rIns="0" bIns="0" rtlCol="0" anchor="t"/>
          <a:lstStyle/>
          <a:p>
            <a:pPr marL="0" indent="0" algn="l">
              <a:buNone/>
            </a:pPr>
            <a:r>
              <a:rPr lang="en-US" sz="1450" i="1" dirty="0">
                <a:solidFill>
                  <a:srgbClr val="0C2622"/>
                </a:solidFill>
                <a:latin typeface="Cambria" pitchFamily="34" charset="0"/>
                <a:ea typeface="Cambria" pitchFamily="34" charset="-122"/>
                <a:cs typeface="Cambria" pitchFamily="34" charset="-120"/>
              </a:rPr>
              <a:t>GTM means: how do we systematically move from no customers to customers?</a:t>
            </a:r>
            <a:endParaRPr lang="en-US" sz="1450" dirty="0"/>
          </a:p>
        </p:txBody>
      </p:sp>
      <p:sp>
        <p:nvSpPr>
          <p:cNvPr id="8" name="Shape 5"/>
          <p:cNvSpPr/>
          <p:nvPr/>
        </p:nvSpPr>
        <p:spPr>
          <a:xfrm>
            <a:off x="457200" y="2240280"/>
            <a:ext cx="3200400" cy="1097280"/>
          </a:xfrm>
          <a:prstGeom prst="roundRect">
            <a:avLst>
              <a:gd name="adj" fmla="val 8333"/>
            </a:avLst>
          </a:prstGeom>
          <a:solidFill>
            <a:srgbClr val="FFFFFF"/>
          </a:solidFill>
          <a:ln/>
          <a:effectLst>
            <a:outerShdw blurRad="101600" dist="25400" dir="5400000" algn="bl" rotWithShape="0">
              <a:srgbClr val="000000">
                <a:alpha val="10000"/>
              </a:srgbClr>
            </a:outerShdw>
          </a:effectLst>
        </p:spPr>
      </p:sp>
      <p:sp>
        <p:nvSpPr>
          <p:cNvPr id="9" name="Text 6"/>
          <p:cNvSpPr txBox="1"/>
          <p:nvPr/>
        </p:nvSpPr>
        <p:spPr>
          <a:xfrm>
            <a:off x="640080" y="2377440"/>
            <a:ext cx="2743200" cy="182880"/>
          </a:xfrm>
          <a:prstGeom prst="rect">
            <a:avLst/>
          </a:prstGeom>
          <a:noFill/>
          <a:ln/>
        </p:spPr>
        <p:txBody>
          <a:bodyPr wrap="square" lIns="0" tIns="0" rIns="0" bIns="0" rtlCol="0" anchor="t"/>
          <a:lstStyle/>
          <a:p>
            <a:pPr marL="0" indent="0" algn="l">
              <a:buNone/>
            </a:pPr>
            <a:r>
              <a:rPr lang="en-US" sz="950" b="1" kern="0" spc="150" dirty="0">
                <a:solidFill>
                  <a:srgbClr val="587068"/>
                </a:solidFill>
                <a:latin typeface="Calibri" pitchFamily="34" charset="0"/>
                <a:ea typeface="Calibri" pitchFamily="34" charset="-122"/>
                <a:cs typeface="Calibri" pitchFamily="34" charset="-120"/>
              </a:rPr>
              <a:t>PRODUCT ANSWERS</a:t>
            </a:r>
            <a:endParaRPr lang="en-US" sz="950" dirty="0"/>
          </a:p>
        </p:txBody>
      </p:sp>
      <p:sp>
        <p:nvSpPr>
          <p:cNvPr id="10" name="Text 7"/>
          <p:cNvSpPr txBox="1"/>
          <p:nvPr/>
        </p:nvSpPr>
        <p:spPr>
          <a:xfrm>
            <a:off x="640080" y="2670048"/>
            <a:ext cx="2926080" cy="548640"/>
          </a:xfrm>
          <a:prstGeom prst="rect">
            <a:avLst/>
          </a:prstGeom>
          <a:noFill/>
          <a:ln/>
        </p:spPr>
        <p:txBody>
          <a:bodyPr wrap="square" lIns="0" tIns="0" rIns="0" bIns="0" rtlCol="0" anchor="t"/>
          <a:lstStyle/>
          <a:p>
            <a:pPr marL="0" indent="0" algn="l">
              <a:buNone/>
            </a:pPr>
            <a:r>
              <a:rPr lang="en-US" sz="1700" b="1" dirty="0">
                <a:solidFill>
                  <a:srgbClr val="0C2622"/>
                </a:solidFill>
                <a:latin typeface="Cambria" pitchFamily="34" charset="0"/>
                <a:ea typeface="Cambria" pitchFamily="34" charset="-122"/>
                <a:cs typeface="Cambria" pitchFamily="34" charset="-120"/>
              </a:rPr>
              <a:t>What are we building?</a:t>
            </a:r>
            <a:endParaRPr lang="en-US" sz="1700" dirty="0"/>
          </a:p>
        </p:txBody>
      </p:sp>
      <p:sp>
        <p:nvSpPr>
          <p:cNvPr id="11" name="Shape 8"/>
          <p:cNvSpPr/>
          <p:nvPr/>
        </p:nvSpPr>
        <p:spPr>
          <a:xfrm>
            <a:off x="457200" y="3520440"/>
            <a:ext cx="3200400" cy="1143000"/>
          </a:xfrm>
          <a:prstGeom prst="roundRect">
            <a:avLst>
              <a:gd name="adj" fmla="val 8000"/>
            </a:avLst>
          </a:prstGeom>
          <a:solidFill>
            <a:srgbClr val="0C2622"/>
          </a:solidFill>
          <a:ln/>
          <a:effectLst>
            <a:outerShdw blurRad="101600" dist="25400" dir="5400000" algn="bl" rotWithShape="0">
              <a:srgbClr val="000000">
                <a:alpha val="10000"/>
              </a:srgbClr>
            </a:outerShdw>
          </a:effectLst>
        </p:spPr>
      </p:sp>
      <p:sp>
        <p:nvSpPr>
          <p:cNvPr id="12" name="Text 9"/>
          <p:cNvSpPr txBox="1"/>
          <p:nvPr/>
        </p:nvSpPr>
        <p:spPr>
          <a:xfrm>
            <a:off x="640080" y="3657600"/>
            <a:ext cx="274320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GTM ANSWERS</a:t>
            </a:r>
            <a:endParaRPr lang="en-US" sz="950" dirty="0"/>
          </a:p>
        </p:txBody>
      </p:sp>
      <p:sp>
        <p:nvSpPr>
          <p:cNvPr id="13" name="Text 10"/>
          <p:cNvSpPr txBox="1"/>
          <p:nvPr/>
        </p:nvSpPr>
        <p:spPr>
          <a:xfrm>
            <a:off x="640080" y="3950208"/>
            <a:ext cx="2926080" cy="640080"/>
          </a:xfrm>
          <a:prstGeom prst="rect">
            <a:avLst/>
          </a:prstGeom>
          <a:noFill/>
          <a:ln/>
        </p:spPr>
        <p:txBody>
          <a:bodyPr wrap="square" lIns="0" tIns="0" rIns="0" bIns="0" rtlCol="0" anchor="t"/>
          <a:lstStyle/>
          <a:p>
            <a:pPr marL="0" indent="0" algn="l">
              <a:buNone/>
            </a:pPr>
            <a:r>
              <a:rPr lang="en-US" sz="1700" b="1" dirty="0">
                <a:solidFill>
                  <a:srgbClr val="FFFFFF"/>
                </a:solidFill>
                <a:latin typeface="Cambria" pitchFamily="34" charset="0"/>
                <a:ea typeface="Cambria" pitchFamily="34" charset="-122"/>
                <a:cs typeface="Cambria" pitchFamily="34" charset="-120"/>
              </a:rPr>
              <a:t>How does it reach the market?</a:t>
            </a:r>
            <a:endParaRPr lang="en-US" sz="1700" dirty="0"/>
          </a:p>
        </p:txBody>
      </p:sp>
      <p:sp>
        <p:nvSpPr>
          <p:cNvPr id="14" name="Shape 11"/>
          <p:cNvSpPr/>
          <p:nvPr/>
        </p:nvSpPr>
        <p:spPr>
          <a:xfrm>
            <a:off x="3840480" y="1280160"/>
            <a:ext cx="4846320" cy="420624"/>
          </a:xfrm>
          <a:prstGeom prst="roundRect">
            <a:avLst>
              <a:gd name="adj" fmla="val 17391"/>
            </a:avLst>
          </a:prstGeom>
          <a:solidFill>
            <a:srgbClr val="1E9A7A"/>
          </a:solidFill>
          <a:ln/>
        </p:spPr>
      </p:sp>
      <p:sp>
        <p:nvSpPr>
          <p:cNvPr id="15" name="Text 12"/>
          <p:cNvSpPr txBox="1"/>
          <p:nvPr/>
        </p:nvSpPr>
        <p:spPr>
          <a:xfrm>
            <a:off x="3840480" y="1280160"/>
            <a:ext cx="484632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Awareness</a:t>
            </a:r>
            <a:r>
              <a:rPr lang="en-US" sz="1150" dirty="0">
                <a:solidFill>
                  <a:srgbClr val="CFE6DE"/>
                </a:solidFill>
                <a:latin typeface="Calibri" pitchFamily="34" charset="0"/>
                <a:ea typeface="Calibri" pitchFamily="34" charset="-122"/>
                <a:cs typeface="Calibri" pitchFamily="34" charset="-120"/>
              </a:rPr>
              <a:t>  ·  discovers the business</a:t>
            </a:r>
            <a:endParaRPr lang="en-US" sz="1150" dirty="0"/>
          </a:p>
        </p:txBody>
      </p:sp>
      <p:sp>
        <p:nvSpPr>
          <p:cNvPr id="16" name="Shape 13"/>
          <p:cNvSpPr/>
          <p:nvPr/>
        </p:nvSpPr>
        <p:spPr>
          <a:xfrm>
            <a:off x="4014216" y="1764792"/>
            <a:ext cx="4498848" cy="420624"/>
          </a:xfrm>
          <a:prstGeom prst="roundRect">
            <a:avLst>
              <a:gd name="adj" fmla="val 17391"/>
            </a:avLst>
          </a:prstGeom>
          <a:solidFill>
            <a:srgbClr val="178768"/>
          </a:solidFill>
          <a:ln/>
        </p:spPr>
      </p:sp>
      <p:sp>
        <p:nvSpPr>
          <p:cNvPr id="17" name="Text 14"/>
          <p:cNvSpPr txBox="1"/>
          <p:nvPr/>
        </p:nvSpPr>
        <p:spPr>
          <a:xfrm>
            <a:off x="4014216" y="1764792"/>
            <a:ext cx="4498848"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Interest</a:t>
            </a:r>
            <a:r>
              <a:rPr lang="en-US" sz="1150" dirty="0">
                <a:solidFill>
                  <a:srgbClr val="CFE6DE"/>
                </a:solidFill>
                <a:latin typeface="Calibri" pitchFamily="34" charset="0"/>
                <a:ea typeface="Calibri" pitchFamily="34" charset="-122"/>
                <a:cs typeface="Calibri" pitchFamily="34" charset="-120"/>
              </a:rPr>
              <a:t>  ·  investigates</a:t>
            </a:r>
            <a:endParaRPr lang="en-US" sz="1150" dirty="0"/>
          </a:p>
        </p:txBody>
      </p:sp>
      <p:sp>
        <p:nvSpPr>
          <p:cNvPr id="18" name="Shape 15"/>
          <p:cNvSpPr/>
          <p:nvPr/>
        </p:nvSpPr>
        <p:spPr>
          <a:xfrm>
            <a:off x="4187952" y="2249424"/>
            <a:ext cx="4151376" cy="420624"/>
          </a:xfrm>
          <a:prstGeom prst="roundRect">
            <a:avLst>
              <a:gd name="adj" fmla="val 17391"/>
            </a:avLst>
          </a:prstGeom>
          <a:solidFill>
            <a:srgbClr val="12735B"/>
          </a:solidFill>
          <a:ln/>
        </p:spPr>
      </p:sp>
      <p:sp>
        <p:nvSpPr>
          <p:cNvPr id="19" name="Text 16"/>
          <p:cNvSpPr txBox="1"/>
          <p:nvPr/>
        </p:nvSpPr>
        <p:spPr>
          <a:xfrm>
            <a:off x="4187952" y="2249424"/>
            <a:ext cx="4151376"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Conversation</a:t>
            </a:r>
            <a:r>
              <a:rPr lang="en-US" sz="1150" dirty="0">
                <a:solidFill>
                  <a:srgbClr val="CFE6DE"/>
                </a:solidFill>
                <a:latin typeface="Calibri" pitchFamily="34" charset="0"/>
                <a:ea typeface="Calibri" pitchFamily="34" charset="-122"/>
                <a:cs typeface="Calibri" pitchFamily="34" charset="-120"/>
              </a:rPr>
              <a:t>  ·  engages</a:t>
            </a:r>
            <a:endParaRPr lang="en-US" sz="1150" dirty="0"/>
          </a:p>
        </p:txBody>
      </p:sp>
      <p:sp>
        <p:nvSpPr>
          <p:cNvPr id="20" name="Shape 17"/>
          <p:cNvSpPr/>
          <p:nvPr/>
        </p:nvSpPr>
        <p:spPr>
          <a:xfrm>
            <a:off x="4361688" y="2734056"/>
            <a:ext cx="3803904" cy="420624"/>
          </a:xfrm>
          <a:prstGeom prst="roundRect">
            <a:avLst>
              <a:gd name="adj" fmla="val 17391"/>
            </a:avLst>
          </a:prstGeom>
          <a:solidFill>
            <a:srgbClr val="0F6350"/>
          </a:solidFill>
          <a:ln/>
        </p:spPr>
      </p:sp>
      <p:sp>
        <p:nvSpPr>
          <p:cNvPr id="21" name="Text 18"/>
          <p:cNvSpPr txBox="1"/>
          <p:nvPr/>
        </p:nvSpPr>
        <p:spPr>
          <a:xfrm>
            <a:off x="4361688" y="2734056"/>
            <a:ext cx="3803904"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Trial</a:t>
            </a:r>
            <a:r>
              <a:rPr lang="en-US" sz="1150" dirty="0">
                <a:solidFill>
                  <a:srgbClr val="CFE6DE"/>
                </a:solidFill>
                <a:latin typeface="Calibri" pitchFamily="34" charset="0"/>
                <a:ea typeface="Calibri" pitchFamily="34" charset="-122"/>
                <a:cs typeface="Calibri" pitchFamily="34" charset="-120"/>
              </a:rPr>
              <a:t>  ·  experiences value</a:t>
            </a:r>
            <a:endParaRPr lang="en-US" sz="1150" dirty="0"/>
          </a:p>
        </p:txBody>
      </p:sp>
      <p:sp>
        <p:nvSpPr>
          <p:cNvPr id="22" name="Shape 19"/>
          <p:cNvSpPr/>
          <p:nvPr/>
        </p:nvSpPr>
        <p:spPr>
          <a:xfrm>
            <a:off x="4535424" y="3218688"/>
            <a:ext cx="3456432" cy="420624"/>
          </a:xfrm>
          <a:prstGeom prst="roundRect">
            <a:avLst>
              <a:gd name="adj" fmla="val 17391"/>
            </a:avLst>
          </a:prstGeom>
          <a:solidFill>
            <a:srgbClr val="0C5443"/>
          </a:solidFill>
          <a:ln/>
        </p:spPr>
      </p:sp>
      <p:sp>
        <p:nvSpPr>
          <p:cNvPr id="23" name="Text 20"/>
          <p:cNvSpPr txBox="1"/>
          <p:nvPr/>
        </p:nvSpPr>
        <p:spPr>
          <a:xfrm>
            <a:off x="4535424" y="3218688"/>
            <a:ext cx="3456432"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Purchase</a:t>
            </a:r>
            <a:r>
              <a:rPr lang="en-US" sz="1150" dirty="0">
                <a:solidFill>
                  <a:srgbClr val="CFE6DE"/>
                </a:solidFill>
                <a:latin typeface="Calibri" pitchFamily="34" charset="0"/>
                <a:ea typeface="Calibri" pitchFamily="34" charset="-122"/>
                <a:cs typeface="Calibri" pitchFamily="34" charset="-120"/>
              </a:rPr>
              <a:t>  ·  pays</a:t>
            </a:r>
            <a:endParaRPr lang="en-US" sz="1150" dirty="0"/>
          </a:p>
        </p:txBody>
      </p:sp>
      <p:sp>
        <p:nvSpPr>
          <p:cNvPr id="24" name="Shape 21"/>
          <p:cNvSpPr/>
          <p:nvPr/>
        </p:nvSpPr>
        <p:spPr>
          <a:xfrm>
            <a:off x="4709160" y="3703320"/>
            <a:ext cx="3108960" cy="420624"/>
          </a:xfrm>
          <a:prstGeom prst="roundRect">
            <a:avLst>
              <a:gd name="adj" fmla="val 17391"/>
            </a:avLst>
          </a:prstGeom>
          <a:solidFill>
            <a:srgbClr val="0A463A"/>
          </a:solidFill>
          <a:ln/>
        </p:spPr>
      </p:sp>
      <p:sp>
        <p:nvSpPr>
          <p:cNvPr id="25" name="Text 22"/>
          <p:cNvSpPr txBox="1"/>
          <p:nvPr/>
        </p:nvSpPr>
        <p:spPr>
          <a:xfrm>
            <a:off x="4709160" y="3703320"/>
            <a:ext cx="310896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Retention</a:t>
            </a:r>
            <a:r>
              <a:rPr lang="en-US" sz="1150" dirty="0">
                <a:solidFill>
                  <a:srgbClr val="CFE6DE"/>
                </a:solidFill>
                <a:latin typeface="Calibri" pitchFamily="34" charset="0"/>
                <a:ea typeface="Calibri" pitchFamily="34" charset="-122"/>
                <a:cs typeface="Calibri" pitchFamily="34" charset="-120"/>
              </a:rPr>
              <a:t>  ·  continues</a:t>
            </a:r>
            <a:endParaRPr lang="en-US" sz="1150" dirty="0"/>
          </a:p>
        </p:txBody>
      </p:sp>
      <p:sp>
        <p:nvSpPr>
          <p:cNvPr id="26" name="Shape 23"/>
          <p:cNvSpPr/>
          <p:nvPr/>
        </p:nvSpPr>
        <p:spPr>
          <a:xfrm>
            <a:off x="4882896" y="4187952"/>
            <a:ext cx="2761488" cy="420624"/>
          </a:xfrm>
          <a:prstGeom prst="roundRect">
            <a:avLst>
              <a:gd name="adj" fmla="val 17391"/>
            </a:avLst>
          </a:prstGeom>
          <a:solidFill>
            <a:srgbClr val="0C2622"/>
          </a:solidFill>
          <a:ln/>
        </p:spPr>
      </p:sp>
      <p:sp>
        <p:nvSpPr>
          <p:cNvPr id="27" name="Text 24"/>
          <p:cNvSpPr txBox="1"/>
          <p:nvPr/>
        </p:nvSpPr>
        <p:spPr>
          <a:xfrm>
            <a:off x="4882896" y="4187952"/>
            <a:ext cx="2761488"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Referral</a:t>
            </a:r>
            <a:r>
              <a:rPr lang="en-US" sz="1150" dirty="0">
                <a:solidFill>
                  <a:srgbClr val="CFE6DE"/>
                </a:solidFill>
                <a:latin typeface="Calibri" pitchFamily="34" charset="0"/>
                <a:ea typeface="Calibri" pitchFamily="34" charset="-122"/>
                <a:cs typeface="Calibri" pitchFamily="34" charset="-120"/>
              </a:rPr>
              <a:t>  ·  tells others</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12-week plan</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40</a:t>
            </a:r>
            <a:endParaRPr lang="en-US" sz="900" dirty="0"/>
          </a:p>
        </p:txBody>
      </p:sp>
      <p:sp>
        <p:nvSpPr>
          <p:cNvPr id="7" name="Shape 4"/>
          <p:cNvSpPr/>
          <p:nvPr/>
        </p:nvSpPr>
        <p:spPr>
          <a:xfrm>
            <a:off x="457200" y="1280160"/>
            <a:ext cx="2651760" cy="457200"/>
          </a:xfrm>
          <a:prstGeom prst="roundRect">
            <a:avLst>
              <a:gd name="adj" fmla="val 16000"/>
            </a:avLst>
          </a:prstGeom>
          <a:solidFill>
            <a:srgbClr val="1E9A7A"/>
          </a:solidFill>
          <a:ln/>
        </p:spPr>
      </p:sp>
      <p:sp>
        <p:nvSpPr>
          <p:cNvPr id="8" name="Text 5"/>
          <p:cNvSpPr txBox="1"/>
          <p:nvPr/>
        </p:nvSpPr>
        <p:spPr>
          <a:xfrm>
            <a:off x="457200" y="1280160"/>
            <a:ext cx="2651760" cy="45720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WEEKS 1–4  ·  PRE-LAUNCH</a:t>
            </a:r>
            <a:endParaRPr lang="en-US" sz="1100" dirty="0"/>
          </a:p>
        </p:txBody>
      </p:sp>
      <p:sp>
        <p:nvSpPr>
          <p:cNvPr id="9" name="Shape 6"/>
          <p:cNvSpPr/>
          <p:nvPr/>
        </p:nvSpPr>
        <p:spPr>
          <a:xfrm>
            <a:off x="457200" y="1874520"/>
            <a:ext cx="2651760" cy="278892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10" name="Text 7"/>
          <p:cNvSpPr txBox="1"/>
          <p:nvPr/>
        </p:nvSpPr>
        <p:spPr>
          <a:xfrm>
            <a:off x="640080" y="2011680"/>
            <a:ext cx="2286000" cy="7772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Find early users before the product is finished.</a:t>
            </a:r>
            <a:endParaRPr lang="en-US" sz="1400" dirty="0"/>
          </a:p>
        </p:txBody>
      </p:sp>
      <p:sp>
        <p:nvSpPr>
          <p:cNvPr id="11" name="Text 8"/>
          <p:cNvSpPr txBox="1"/>
          <p:nvPr/>
        </p:nvSpPr>
        <p:spPr>
          <a:xfrm>
            <a:off x="640080" y="2761488"/>
            <a:ext cx="2331720" cy="1737360"/>
          </a:xfrm>
          <a:prstGeom prst="rect">
            <a:avLst/>
          </a:prstGeom>
          <a:noFill/>
          <a:ln/>
        </p:spPr>
        <p:txBody>
          <a:bodyPr wrap="square" lIns="0" tIns="0" rIns="0" bIns="0" rtlCol="0" anchor="t"/>
          <a:lstStyle/>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Interviews</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Waitlist</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Problem-focused content</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Founder outreach</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Community engagement</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Prototype demos</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Partnerships</a:t>
            </a:r>
            <a:endParaRPr lang="en-US" sz="1200" dirty="0"/>
          </a:p>
        </p:txBody>
      </p:sp>
      <p:sp>
        <p:nvSpPr>
          <p:cNvPr id="12" name="Shape 9"/>
          <p:cNvSpPr/>
          <p:nvPr/>
        </p:nvSpPr>
        <p:spPr>
          <a:xfrm>
            <a:off x="3246120" y="1280160"/>
            <a:ext cx="2651760" cy="457200"/>
          </a:xfrm>
          <a:prstGeom prst="roundRect">
            <a:avLst>
              <a:gd name="adj" fmla="val 16000"/>
            </a:avLst>
          </a:prstGeom>
          <a:solidFill>
            <a:srgbClr val="12735B"/>
          </a:solidFill>
          <a:ln/>
        </p:spPr>
      </p:sp>
      <p:sp>
        <p:nvSpPr>
          <p:cNvPr id="13" name="Text 10"/>
          <p:cNvSpPr txBox="1"/>
          <p:nvPr/>
        </p:nvSpPr>
        <p:spPr>
          <a:xfrm>
            <a:off x="3246120" y="1280160"/>
            <a:ext cx="2651760" cy="45720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WEEKS 5–8  ·  LAUNCH</a:t>
            </a:r>
            <a:endParaRPr lang="en-US" sz="1100" dirty="0"/>
          </a:p>
        </p:txBody>
      </p:sp>
      <p:sp>
        <p:nvSpPr>
          <p:cNvPr id="14" name="Shape 11"/>
          <p:cNvSpPr/>
          <p:nvPr/>
        </p:nvSpPr>
        <p:spPr>
          <a:xfrm>
            <a:off x="3246120" y="1874520"/>
            <a:ext cx="2651760" cy="278892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15" name="Text 12"/>
          <p:cNvSpPr txBox="1"/>
          <p:nvPr/>
        </p:nvSpPr>
        <p:spPr>
          <a:xfrm>
            <a:off x="3429000" y="2011680"/>
            <a:ext cx="2286000" cy="7772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Launch the offer and learn from the first users.</a:t>
            </a:r>
            <a:endParaRPr lang="en-US" sz="1400" dirty="0"/>
          </a:p>
        </p:txBody>
      </p:sp>
      <p:sp>
        <p:nvSpPr>
          <p:cNvPr id="16" name="Text 13"/>
          <p:cNvSpPr txBox="1"/>
          <p:nvPr/>
        </p:nvSpPr>
        <p:spPr>
          <a:xfrm>
            <a:off x="3429000" y="2761488"/>
            <a:ext cx="2331720" cy="1737360"/>
          </a:xfrm>
          <a:prstGeom prst="rect">
            <a:avLst/>
          </a:prstGeom>
          <a:noFill/>
          <a:ln/>
        </p:spPr>
        <p:txBody>
          <a:bodyPr wrap="square" lIns="0" tIns="0" rIns="0" bIns="0" rtlCol="0" anchor="t"/>
          <a:lstStyle/>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Create attention</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Get users</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Capture feedback</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Generate early revenue</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Run a 14-day launch campaign</a:t>
            </a:r>
            <a:endParaRPr lang="en-US" sz="1200" dirty="0"/>
          </a:p>
        </p:txBody>
      </p:sp>
      <p:sp>
        <p:nvSpPr>
          <p:cNvPr id="17" name="Shape 14"/>
          <p:cNvSpPr/>
          <p:nvPr/>
        </p:nvSpPr>
        <p:spPr>
          <a:xfrm>
            <a:off x="6035040" y="1280160"/>
            <a:ext cx="2651760" cy="457200"/>
          </a:xfrm>
          <a:prstGeom prst="roundRect">
            <a:avLst>
              <a:gd name="adj" fmla="val 16000"/>
            </a:avLst>
          </a:prstGeom>
          <a:solidFill>
            <a:srgbClr val="0C2622"/>
          </a:solidFill>
          <a:ln/>
        </p:spPr>
      </p:sp>
      <p:sp>
        <p:nvSpPr>
          <p:cNvPr id="18" name="Text 15"/>
          <p:cNvSpPr txBox="1"/>
          <p:nvPr/>
        </p:nvSpPr>
        <p:spPr>
          <a:xfrm>
            <a:off x="6035040" y="1280160"/>
            <a:ext cx="2651760" cy="45720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WEEKS 9–12  ·  OPTIMIZATION</a:t>
            </a:r>
            <a:endParaRPr lang="en-US" sz="1100" dirty="0"/>
          </a:p>
        </p:txBody>
      </p:sp>
      <p:sp>
        <p:nvSpPr>
          <p:cNvPr id="19" name="Shape 16"/>
          <p:cNvSpPr/>
          <p:nvPr/>
        </p:nvSpPr>
        <p:spPr>
          <a:xfrm>
            <a:off x="6035040" y="1874520"/>
            <a:ext cx="2651760" cy="278892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20" name="Text 17"/>
          <p:cNvSpPr txBox="1"/>
          <p:nvPr/>
        </p:nvSpPr>
        <p:spPr>
          <a:xfrm>
            <a:off x="6217920" y="2011680"/>
            <a:ext cx="2286000" cy="7772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What actually worked? Not: what did we think would work?</a:t>
            </a:r>
            <a:endParaRPr lang="en-US" sz="1400" dirty="0"/>
          </a:p>
        </p:txBody>
      </p:sp>
      <p:sp>
        <p:nvSpPr>
          <p:cNvPr id="21" name="Text 18"/>
          <p:cNvSpPr txBox="1"/>
          <p:nvPr/>
        </p:nvSpPr>
        <p:spPr>
          <a:xfrm>
            <a:off x="6217920" y="2761488"/>
            <a:ext cx="2331720" cy="1737360"/>
          </a:xfrm>
          <a:prstGeom prst="rect">
            <a:avLst/>
          </a:prstGeom>
          <a:noFill/>
          <a:ln/>
        </p:spPr>
        <p:txBody>
          <a:bodyPr wrap="square" lIns="0" tIns="0" rIns="0" bIns="0" rtlCol="0" anchor="t"/>
          <a:lstStyle/>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Measure leads through to revenue</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Diagnose the bottleneck</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Test and kill weak assumptions</a:t>
            </a:r>
            <a:endParaRPr lang="en-US" sz="1200" dirty="0"/>
          </a:p>
          <a:p>
            <a:pPr marL="152400" indent="-152400" algn="l">
              <a:spcAft>
                <a:spcPts val="400"/>
              </a:spcAft>
              <a:buSzPct val="100000"/>
              <a:buChar char="•"/>
            </a:pPr>
            <a:r>
              <a:rPr lang="en-US" sz="1250" dirty="0">
                <a:solidFill>
                  <a:srgbClr val="15302B"/>
                </a:solidFill>
                <a:latin typeface="Calibri" pitchFamily="34" charset="0"/>
                <a:ea typeface="Calibri" pitchFamily="34" charset="-122"/>
                <a:cs typeface="Calibri" pitchFamily="34" charset="-120"/>
              </a:rPr>
              <a:t>Run three focused experiments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Pick channels, plan content</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41</a:t>
            </a:r>
            <a:endParaRPr lang="en-US" sz="900" dirty="0"/>
          </a:p>
        </p:txBody>
      </p:sp>
      <p:sp>
        <p:nvSpPr>
          <p:cNvPr id="7" name="Shape 4"/>
          <p:cNvSpPr/>
          <p:nvPr/>
        </p:nvSpPr>
        <p:spPr>
          <a:xfrm>
            <a:off x="457200" y="1280160"/>
            <a:ext cx="3931920" cy="3383280"/>
          </a:xfrm>
          <a:prstGeom prst="roundRect">
            <a:avLst>
              <a:gd name="adj" fmla="val 2703"/>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11480" cy="41148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42950" y="1547622"/>
            <a:ext cx="205740" cy="205740"/>
          </a:xfrm>
          <a:prstGeom prst="rect">
            <a:avLst/>
          </a:prstGeom>
        </p:spPr>
      </p:pic>
      <p:sp>
        <p:nvSpPr>
          <p:cNvPr id="10" name="Text 6"/>
          <p:cNvSpPr txBox="1"/>
          <p:nvPr/>
        </p:nvSpPr>
        <p:spPr>
          <a:xfrm>
            <a:off x="1188720" y="1444752"/>
            <a:ext cx="3017520" cy="41148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Channel strategy</a:t>
            </a:r>
            <a:endParaRPr lang="en-US" sz="1400" dirty="0"/>
          </a:p>
        </p:txBody>
      </p:sp>
      <p:sp>
        <p:nvSpPr>
          <p:cNvPr id="11" name="Text 7"/>
          <p:cNvSpPr txBox="1"/>
          <p:nvPr/>
        </p:nvSpPr>
        <p:spPr>
          <a:xfrm>
            <a:off x="640080" y="2011680"/>
            <a:ext cx="3566160" cy="50292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Recommend the three most realistic channels for the first 90 days. Evaluate each on:</a:t>
            </a:r>
            <a:endParaRPr lang="en-US" sz="1200" dirty="0"/>
          </a:p>
        </p:txBody>
      </p:sp>
      <p:sp>
        <p:nvSpPr>
          <p:cNvPr id="12" name="Text 8"/>
          <p:cNvSpPr txBox="1"/>
          <p:nvPr/>
        </p:nvSpPr>
        <p:spPr>
          <a:xfrm>
            <a:off x="640080" y="2606040"/>
            <a:ext cx="3566160" cy="1371600"/>
          </a:xfrm>
          <a:prstGeom prst="rect">
            <a:avLst/>
          </a:prstGeom>
          <a:noFill/>
          <a:ln/>
        </p:spPr>
        <p:txBody>
          <a:bodyPr wrap="square" lIns="0" tIns="0" rIns="0" bIns="0" rtlCol="0" anchor="t"/>
          <a:lstStyle/>
          <a:p>
            <a:pPr marL="152400" indent="-152400" algn="l">
              <a:spcAft>
                <a:spcPts val="200"/>
              </a:spcAft>
              <a:buSzPct val="100000"/>
              <a:buChar char="•"/>
            </a:pPr>
            <a:r>
              <a:rPr lang="en-US" sz="1150" dirty="0">
                <a:solidFill>
                  <a:srgbClr val="15302B"/>
                </a:solidFill>
                <a:latin typeface="Calibri" pitchFamily="34" charset="0"/>
                <a:ea typeface="Calibri" pitchFamily="34" charset="-122"/>
                <a:cs typeface="Calibri" pitchFamily="34" charset="-120"/>
              </a:rPr>
              <a:t>Where your customers already spend time</a:t>
            </a:r>
            <a:endParaRPr lang="en-US" sz="1200" dirty="0"/>
          </a:p>
          <a:p>
            <a:pPr marL="152400" indent="-152400" algn="l">
              <a:spcAft>
                <a:spcPts val="200"/>
              </a:spcAft>
              <a:buSzPct val="100000"/>
              <a:buChar char="•"/>
            </a:pPr>
            <a:r>
              <a:rPr lang="en-US" sz="1150" dirty="0">
                <a:solidFill>
                  <a:srgbClr val="15302B"/>
                </a:solidFill>
                <a:latin typeface="Calibri" pitchFamily="34" charset="0"/>
                <a:ea typeface="Calibri" pitchFamily="34" charset="-122"/>
                <a:cs typeface="Calibri" pitchFamily="34" charset="-120"/>
              </a:rPr>
              <a:t>Cost</a:t>
            </a:r>
            <a:endParaRPr lang="en-US" sz="1200" dirty="0"/>
          </a:p>
          <a:p>
            <a:pPr marL="152400" indent="-152400" algn="l">
              <a:spcAft>
                <a:spcPts val="200"/>
              </a:spcAft>
              <a:buSzPct val="100000"/>
              <a:buChar char="•"/>
            </a:pPr>
            <a:r>
              <a:rPr lang="en-US" sz="1150" dirty="0">
                <a:solidFill>
                  <a:srgbClr val="15302B"/>
                </a:solidFill>
                <a:latin typeface="Calibri" pitchFamily="34" charset="0"/>
                <a:ea typeface="Calibri" pitchFamily="34" charset="-122"/>
                <a:cs typeface="Calibri" pitchFamily="34" charset="-120"/>
              </a:rPr>
              <a:t>Time required</a:t>
            </a:r>
            <a:endParaRPr lang="en-US" sz="1200" dirty="0"/>
          </a:p>
          <a:p>
            <a:pPr marL="152400" indent="-152400" algn="l">
              <a:spcAft>
                <a:spcPts val="200"/>
              </a:spcAft>
              <a:buSzPct val="100000"/>
              <a:buChar char="•"/>
            </a:pPr>
            <a:r>
              <a:rPr lang="en-US" sz="1150" dirty="0">
                <a:solidFill>
                  <a:srgbClr val="15302B"/>
                </a:solidFill>
                <a:latin typeface="Calibri" pitchFamily="34" charset="0"/>
                <a:ea typeface="Calibri" pitchFamily="34" charset="-122"/>
                <a:cs typeface="Calibri" pitchFamily="34" charset="-120"/>
              </a:rPr>
              <a:t>Speed of feedback</a:t>
            </a:r>
            <a:endParaRPr lang="en-US" sz="1200" dirty="0"/>
          </a:p>
          <a:p>
            <a:pPr marL="152400" indent="-152400" algn="l">
              <a:spcAft>
                <a:spcPts val="200"/>
              </a:spcAft>
              <a:buSzPct val="100000"/>
              <a:buChar char="•"/>
            </a:pPr>
            <a:r>
              <a:rPr lang="en-US" sz="1150" dirty="0">
                <a:solidFill>
                  <a:srgbClr val="15302B"/>
                </a:solidFill>
                <a:latin typeface="Calibri" pitchFamily="34" charset="0"/>
                <a:ea typeface="Calibri" pitchFamily="34" charset="-122"/>
                <a:cs typeface="Calibri" pitchFamily="34" charset="-120"/>
              </a:rPr>
              <a:t>Ability to measure results</a:t>
            </a:r>
            <a:endParaRPr lang="en-US" sz="1200" dirty="0"/>
          </a:p>
          <a:p>
            <a:pPr marL="152400" indent="-152400" algn="l">
              <a:spcAft>
                <a:spcPts val="200"/>
              </a:spcAft>
              <a:buSzPct val="100000"/>
              <a:buChar char="•"/>
            </a:pPr>
            <a:r>
              <a:rPr lang="en-US" sz="1150" dirty="0">
                <a:solidFill>
                  <a:srgbClr val="15302B"/>
                </a:solidFill>
                <a:latin typeface="Calibri" pitchFamily="34" charset="0"/>
                <a:ea typeface="Calibri" pitchFamily="34" charset="-122"/>
                <a:cs typeface="Calibri" pitchFamily="34" charset="-120"/>
              </a:rPr>
              <a:t>Scalability</a:t>
            </a:r>
            <a:endParaRPr lang="en-US" sz="1200" dirty="0"/>
          </a:p>
        </p:txBody>
      </p:sp>
      <p:sp>
        <p:nvSpPr>
          <p:cNvPr id="13" name="Shape 9"/>
          <p:cNvSpPr/>
          <p:nvPr/>
        </p:nvSpPr>
        <p:spPr>
          <a:xfrm>
            <a:off x="640080" y="4023360"/>
            <a:ext cx="3566160" cy="502920"/>
          </a:xfrm>
          <a:prstGeom prst="roundRect">
            <a:avLst>
              <a:gd name="adj" fmla="val 14545"/>
            </a:avLst>
          </a:prstGeom>
          <a:solidFill>
            <a:srgbClr val="DFF1EA"/>
          </a:solidFill>
          <a:ln/>
        </p:spPr>
      </p:sp>
      <p:sp>
        <p:nvSpPr>
          <p:cNvPr id="14" name="Text 10"/>
          <p:cNvSpPr txBox="1"/>
          <p:nvPr/>
        </p:nvSpPr>
        <p:spPr>
          <a:xfrm>
            <a:off x="777240" y="4023360"/>
            <a:ext cx="3291840" cy="502920"/>
          </a:xfrm>
          <a:prstGeom prst="rect">
            <a:avLst/>
          </a:prstGeom>
          <a:noFill/>
          <a:ln/>
        </p:spPr>
        <p:txBody>
          <a:bodyPr wrap="square" lIns="0" tIns="0" rIns="0" bIns="0" rtlCol="0" anchor="ctr"/>
          <a:lstStyle/>
          <a:p>
            <a:pPr marL="0" indent="0" algn="l">
              <a:buNone/>
            </a:pPr>
            <a:r>
              <a:rPr lang="en-US" sz="1150" b="1" dirty="0">
                <a:solidFill>
                  <a:srgbClr val="12735B"/>
                </a:solidFill>
                <a:latin typeface="Calibri" pitchFamily="34" charset="0"/>
                <a:ea typeface="Calibri" pitchFamily="34" charset="-122"/>
                <a:cs typeface="Calibri" pitchFamily="34" charset="-120"/>
              </a:rPr>
              <a:t>Then: one low-cost experiment per channel.</a:t>
            </a:r>
            <a:endParaRPr lang="en-US" sz="1150" dirty="0"/>
          </a:p>
        </p:txBody>
      </p:sp>
      <p:sp>
        <p:nvSpPr>
          <p:cNvPr id="15" name="Shape 11"/>
          <p:cNvSpPr/>
          <p:nvPr/>
        </p:nvSpPr>
        <p:spPr>
          <a:xfrm>
            <a:off x="4663440" y="1280160"/>
            <a:ext cx="4023360" cy="3383280"/>
          </a:xfrm>
          <a:prstGeom prst="roundRect">
            <a:avLst>
              <a:gd name="adj" fmla="val 2703"/>
            </a:avLst>
          </a:prstGeom>
          <a:solidFill>
            <a:srgbClr val="FFFFFF"/>
          </a:solidFill>
          <a:ln/>
          <a:effectLst>
            <a:outerShdw blurRad="101600" dist="25400" dir="5400000" algn="bl" rotWithShape="0">
              <a:srgbClr val="000000">
                <a:alpha val="10000"/>
              </a:srgbClr>
            </a:outerShdw>
          </a:effectLst>
        </p:spPr>
      </p:sp>
      <p:sp>
        <p:nvSpPr>
          <p:cNvPr id="16" name="Text 12"/>
          <p:cNvSpPr txBox="1"/>
          <p:nvPr/>
        </p:nvSpPr>
        <p:spPr>
          <a:xfrm>
            <a:off x="4846320" y="1417320"/>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12-WEEK CONTENT MIX</a:t>
            </a:r>
            <a:endParaRPr lang="en-US" sz="950" dirty="0"/>
          </a:p>
        </p:txBody>
      </p:sp>
      <p:graphicFrame>
        <p:nvGraphicFramePr>
          <p:cNvPr id="17" name="Chart 0"/>
          <p:cNvGraphicFramePr/>
          <p:nvPr/>
        </p:nvGraphicFramePr>
        <p:xfrm>
          <a:off x="4572000" y="1691640"/>
          <a:ext cx="219456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3"/>
          <p:cNvSpPr txBox="1"/>
          <p:nvPr/>
        </p:nvSpPr>
        <p:spPr>
          <a:xfrm>
            <a:off x="5257800" y="2514600"/>
            <a:ext cx="822960" cy="640080"/>
          </a:xfrm>
          <a:prstGeom prst="rect">
            <a:avLst/>
          </a:prstGeom>
          <a:noFill/>
          <a:ln/>
        </p:spPr>
        <p:txBody>
          <a:bodyPr wrap="square" lIns="0" tIns="0" rIns="0" bIns="0" rtlCol="0" anchor="ctr"/>
          <a:lstStyle/>
          <a:p>
            <a:pPr marL="0" indent="0" algn="ctr">
              <a:buNone/>
            </a:pPr>
            <a:r>
              <a:rPr lang="en-US" sz="1300" b="1" dirty="0">
                <a:solidFill>
                  <a:srgbClr val="0C2622"/>
                </a:solidFill>
                <a:latin typeface="Cambria" pitchFamily="34" charset="0"/>
                <a:ea typeface="Cambria" pitchFamily="34" charset="-122"/>
                <a:cs typeface="Cambria" pitchFamily="34" charset="-120"/>
              </a:rPr>
              <a:t>12</a:t>
            </a:r>
            <a:endParaRPr lang="en-US" sz="1300" dirty="0"/>
          </a:p>
          <a:p>
            <a:pPr marL="0" indent="0" algn="ctr">
              <a:buNone/>
            </a:pPr>
            <a:r>
              <a:rPr lang="en-US" sz="1300" b="1" dirty="0">
                <a:solidFill>
                  <a:srgbClr val="0C2622"/>
                </a:solidFill>
                <a:latin typeface="Cambria" pitchFamily="34" charset="0"/>
                <a:ea typeface="Cambria" pitchFamily="34" charset="-122"/>
                <a:cs typeface="Cambria" pitchFamily="34" charset="-120"/>
              </a:rPr>
              <a:t>weeks</a:t>
            </a:r>
            <a:endParaRPr lang="en-US" sz="1300" dirty="0"/>
          </a:p>
        </p:txBody>
      </p:sp>
      <p:sp>
        <p:nvSpPr>
          <p:cNvPr id="19" name="Shape 14"/>
          <p:cNvSpPr/>
          <p:nvPr/>
        </p:nvSpPr>
        <p:spPr>
          <a:xfrm>
            <a:off x="6858000" y="1856232"/>
            <a:ext cx="182880" cy="182880"/>
          </a:xfrm>
          <a:prstGeom prst="ellipse">
            <a:avLst/>
          </a:prstGeom>
          <a:solidFill>
            <a:srgbClr val="0C2622"/>
          </a:solidFill>
          <a:ln/>
        </p:spPr>
      </p:sp>
      <p:sp>
        <p:nvSpPr>
          <p:cNvPr id="20" name="Text 15"/>
          <p:cNvSpPr txBox="1"/>
          <p:nvPr/>
        </p:nvSpPr>
        <p:spPr>
          <a:xfrm>
            <a:off x="7104888" y="1783080"/>
            <a:ext cx="502920" cy="329184"/>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50%</a:t>
            </a:r>
            <a:endParaRPr lang="en-US" sz="1400" dirty="0"/>
          </a:p>
        </p:txBody>
      </p:sp>
      <p:sp>
        <p:nvSpPr>
          <p:cNvPr id="21" name="Text 16"/>
          <p:cNvSpPr txBox="1"/>
          <p:nvPr/>
        </p:nvSpPr>
        <p:spPr>
          <a:xfrm>
            <a:off x="7607808" y="1783080"/>
            <a:ext cx="1005840" cy="411480"/>
          </a:xfrm>
          <a:prstGeom prst="rect">
            <a:avLst/>
          </a:prstGeom>
          <a:noFill/>
          <a:ln/>
        </p:spPr>
        <p:txBody>
          <a:bodyPr wrap="square" lIns="0" tIns="0" rIns="0" bIns="0" rtlCol="0" anchor="ctr"/>
          <a:lstStyle/>
          <a:p>
            <a:pPr marL="0" indent="0" algn="l">
              <a:buNone/>
            </a:pPr>
            <a:r>
              <a:rPr lang="en-US" sz="1000" dirty="0">
                <a:solidFill>
                  <a:srgbClr val="587068"/>
                </a:solidFill>
                <a:latin typeface="Calibri" pitchFamily="34" charset="0"/>
                <a:ea typeface="Calibri" pitchFamily="34" charset="-122"/>
                <a:cs typeface="Calibri" pitchFamily="34" charset="-120"/>
              </a:rPr>
              <a:t>Problem education</a:t>
            </a:r>
            <a:endParaRPr lang="en-US" sz="1000" dirty="0"/>
          </a:p>
        </p:txBody>
      </p:sp>
      <p:sp>
        <p:nvSpPr>
          <p:cNvPr id="22" name="Shape 17"/>
          <p:cNvSpPr/>
          <p:nvPr/>
        </p:nvSpPr>
        <p:spPr>
          <a:xfrm>
            <a:off x="6858000" y="2331720"/>
            <a:ext cx="182880" cy="182880"/>
          </a:xfrm>
          <a:prstGeom prst="ellipse">
            <a:avLst/>
          </a:prstGeom>
          <a:solidFill>
            <a:srgbClr val="12735B"/>
          </a:solidFill>
          <a:ln/>
        </p:spPr>
      </p:sp>
      <p:sp>
        <p:nvSpPr>
          <p:cNvPr id="23" name="Text 18"/>
          <p:cNvSpPr txBox="1"/>
          <p:nvPr/>
        </p:nvSpPr>
        <p:spPr>
          <a:xfrm>
            <a:off x="7104888" y="2258568"/>
            <a:ext cx="502920" cy="329184"/>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20%</a:t>
            </a:r>
            <a:endParaRPr lang="en-US" sz="1400" dirty="0"/>
          </a:p>
        </p:txBody>
      </p:sp>
      <p:sp>
        <p:nvSpPr>
          <p:cNvPr id="24" name="Text 19"/>
          <p:cNvSpPr txBox="1"/>
          <p:nvPr/>
        </p:nvSpPr>
        <p:spPr>
          <a:xfrm>
            <a:off x="7607808" y="2258568"/>
            <a:ext cx="1005840" cy="411480"/>
          </a:xfrm>
          <a:prstGeom prst="rect">
            <a:avLst/>
          </a:prstGeom>
          <a:noFill/>
          <a:ln/>
        </p:spPr>
        <p:txBody>
          <a:bodyPr wrap="square" lIns="0" tIns="0" rIns="0" bIns="0" rtlCol="0" anchor="ctr"/>
          <a:lstStyle/>
          <a:p>
            <a:pPr marL="0" indent="0" algn="l">
              <a:buNone/>
            </a:pPr>
            <a:r>
              <a:rPr lang="en-US" sz="1000" dirty="0">
                <a:solidFill>
                  <a:srgbClr val="587068"/>
                </a:solidFill>
                <a:latin typeface="Calibri" pitchFamily="34" charset="0"/>
                <a:ea typeface="Calibri" pitchFamily="34" charset="-122"/>
                <a:cs typeface="Calibri" pitchFamily="34" charset="-120"/>
              </a:rPr>
              <a:t>Practical advice</a:t>
            </a:r>
            <a:endParaRPr lang="en-US" sz="1000" dirty="0"/>
          </a:p>
        </p:txBody>
      </p:sp>
      <p:sp>
        <p:nvSpPr>
          <p:cNvPr id="25" name="Shape 20"/>
          <p:cNvSpPr/>
          <p:nvPr/>
        </p:nvSpPr>
        <p:spPr>
          <a:xfrm>
            <a:off x="6858000" y="2807208"/>
            <a:ext cx="182880" cy="182880"/>
          </a:xfrm>
          <a:prstGeom prst="ellipse">
            <a:avLst/>
          </a:prstGeom>
          <a:solidFill>
            <a:srgbClr val="1E9A7A"/>
          </a:solidFill>
          <a:ln/>
        </p:spPr>
      </p:sp>
      <p:sp>
        <p:nvSpPr>
          <p:cNvPr id="26" name="Text 21"/>
          <p:cNvSpPr txBox="1"/>
          <p:nvPr/>
        </p:nvSpPr>
        <p:spPr>
          <a:xfrm>
            <a:off x="7104888" y="2734056"/>
            <a:ext cx="502920" cy="329184"/>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15%</a:t>
            </a:r>
            <a:endParaRPr lang="en-US" sz="1400" dirty="0"/>
          </a:p>
        </p:txBody>
      </p:sp>
      <p:sp>
        <p:nvSpPr>
          <p:cNvPr id="27" name="Text 22"/>
          <p:cNvSpPr txBox="1"/>
          <p:nvPr/>
        </p:nvSpPr>
        <p:spPr>
          <a:xfrm>
            <a:off x="7607808" y="2734056"/>
            <a:ext cx="1005840" cy="411480"/>
          </a:xfrm>
          <a:prstGeom prst="rect">
            <a:avLst/>
          </a:prstGeom>
          <a:noFill/>
          <a:ln/>
        </p:spPr>
        <p:txBody>
          <a:bodyPr wrap="square" lIns="0" tIns="0" rIns="0" bIns="0" rtlCol="0" anchor="ctr"/>
          <a:lstStyle/>
          <a:p>
            <a:pPr marL="0" indent="0" algn="l">
              <a:buNone/>
            </a:pPr>
            <a:r>
              <a:rPr lang="en-US" sz="1000" dirty="0">
                <a:solidFill>
                  <a:srgbClr val="587068"/>
                </a:solidFill>
                <a:latin typeface="Calibri" pitchFamily="34" charset="0"/>
                <a:ea typeface="Calibri" pitchFamily="34" charset="-122"/>
                <a:cs typeface="Calibri" pitchFamily="34" charset="-120"/>
              </a:rPr>
              <a:t>Customer stories / proof</a:t>
            </a:r>
            <a:endParaRPr lang="en-US" sz="1000" dirty="0"/>
          </a:p>
        </p:txBody>
      </p:sp>
      <p:sp>
        <p:nvSpPr>
          <p:cNvPr id="28" name="Shape 23"/>
          <p:cNvSpPr/>
          <p:nvPr/>
        </p:nvSpPr>
        <p:spPr>
          <a:xfrm>
            <a:off x="6858000" y="3282696"/>
            <a:ext cx="182880" cy="182880"/>
          </a:xfrm>
          <a:prstGeom prst="ellipse">
            <a:avLst/>
          </a:prstGeom>
          <a:solidFill>
            <a:srgbClr val="4A6FA5"/>
          </a:solidFill>
          <a:ln/>
        </p:spPr>
      </p:sp>
      <p:sp>
        <p:nvSpPr>
          <p:cNvPr id="29" name="Text 24"/>
          <p:cNvSpPr txBox="1"/>
          <p:nvPr/>
        </p:nvSpPr>
        <p:spPr>
          <a:xfrm>
            <a:off x="7104888" y="3209544"/>
            <a:ext cx="502920" cy="329184"/>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10%</a:t>
            </a:r>
            <a:endParaRPr lang="en-US" sz="1400" dirty="0"/>
          </a:p>
        </p:txBody>
      </p:sp>
      <p:sp>
        <p:nvSpPr>
          <p:cNvPr id="30" name="Text 25"/>
          <p:cNvSpPr txBox="1"/>
          <p:nvPr/>
        </p:nvSpPr>
        <p:spPr>
          <a:xfrm>
            <a:off x="7607808" y="3209544"/>
            <a:ext cx="1005840" cy="411480"/>
          </a:xfrm>
          <a:prstGeom prst="rect">
            <a:avLst/>
          </a:prstGeom>
          <a:noFill/>
          <a:ln/>
        </p:spPr>
        <p:txBody>
          <a:bodyPr wrap="square" lIns="0" tIns="0" rIns="0" bIns="0" rtlCol="0" anchor="ctr"/>
          <a:lstStyle/>
          <a:p>
            <a:pPr marL="0" indent="0" algn="l">
              <a:buNone/>
            </a:pPr>
            <a:r>
              <a:rPr lang="en-US" sz="1000" dirty="0">
                <a:solidFill>
                  <a:srgbClr val="587068"/>
                </a:solidFill>
                <a:latin typeface="Calibri" pitchFamily="34" charset="0"/>
                <a:ea typeface="Calibri" pitchFamily="34" charset="-122"/>
                <a:cs typeface="Calibri" pitchFamily="34" charset="-120"/>
              </a:rPr>
              <a:t>Founder perspective</a:t>
            </a:r>
            <a:endParaRPr lang="en-US" sz="1000" dirty="0"/>
          </a:p>
        </p:txBody>
      </p:sp>
      <p:sp>
        <p:nvSpPr>
          <p:cNvPr id="31" name="Shape 26"/>
          <p:cNvSpPr/>
          <p:nvPr/>
        </p:nvSpPr>
        <p:spPr>
          <a:xfrm>
            <a:off x="6858000" y="3758184"/>
            <a:ext cx="182880" cy="182880"/>
          </a:xfrm>
          <a:prstGeom prst="ellipse">
            <a:avLst/>
          </a:prstGeom>
          <a:solidFill>
            <a:srgbClr val="C77D0A"/>
          </a:solidFill>
          <a:ln/>
        </p:spPr>
      </p:sp>
      <p:sp>
        <p:nvSpPr>
          <p:cNvPr id="32" name="Text 27"/>
          <p:cNvSpPr txBox="1"/>
          <p:nvPr/>
        </p:nvSpPr>
        <p:spPr>
          <a:xfrm>
            <a:off x="7104888" y="3685032"/>
            <a:ext cx="502920" cy="329184"/>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5%</a:t>
            </a:r>
            <a:endParaRPr lang="en-US" sz="1400" dirty="0"/>
          </a:p>
        </p:txBody>
      </p:sp>
      <p:sp>
        <p:nvSpPr>
          <p:cNvPr id="33" name="Text 28"/>
          <p:cNvSpPr txBox="1"/>
          <p:nvPr/>
        </p:nvSpPr>
        <p:spPr>
          <a:xfrm>
            <a:off x="7607808" y="3685032"/>
            <a:ext cx="1005840" cy="411480"/>
          </a:xfrm>
          <a:prstGeom prst="rect">
            <a:avLst/>
          </a:prstGeom>
          <a:noFill/>
          <a:ln/>
        </p:spPr>
        <p:txBody>
          <a:bodyPr wrap="square" lIns="0" tIns="0" rIns="0" bIns="0" rtlCol="0" anchor="ctr"/>
          <a:lstStyle/>
          <a:p>
            <a:pPr marL="0" indent="0" algn="l">
              <a:buNone/>
            </a:pPr>
            <a:r>
              <a:rPr lang="en-US" sz="1000" dirty="0">
                <a:solidFill>
                  <a:srgbClr val="587068"/>
                </a:solidFill>
                <a:latin typeface="Calibri" pitchFamily="34" charset="0"/>
                <a:ea typeface="Calibri" pitchFamily="34" charset="-122"/>
                <a:cs typeface="Calibri" pitchFamily="34" charset="-120"/>
              </a:rPr>
              <a:t>Direct promotion</a:t>
            </a:r>
            <a:endParaRPr lang="en-US" sz="1000" dirty="0"/>
          </a:p>
        </p:txBody>
      </p:sp>
      <p:sp>
        <p:nvSpPr>
          <p:cNvPr id="34" name="Text 29"/>
          <p:cNvSpPr txBox="1"/>
          <p:nvPr/>
        </p:nvSpPr>
        <p:spPr>
          <a:xfrm>
            <a:off x="4846320" y="4160520"/>
            <a:ext cx="3657600" cy="411480"/>
          </a:xfrm>
          <a:prstGeom prst="rect">
            <a:avLst/>
          </a:prstGeom>
          <a:noFill/>
          <a:ln/>
        </p:spPr>
        <p:txBody>
          <a:bodyPr wrap="square" lIns="0" tIns="0" rIns="0" bIns="0" rtlCol="0" anchor="t"/>
          <a:lstStyle/>
          <a:p>
            <a:pPr marL="0" indent="0" algn="l">
              <a:buNone/>
            </a:pPr>
            <a:r>
              <a:rPr lang="en-US" sz="1100" i="1" dirty="0">
                <a:solidFill>
                  <a:srgbClr val="587068"/>
                </a:solidFill>
                <a:latin typeface="Calibri" pitchFamily="34" charset="0"/>
                <a:ea typeface="Calibri" pitchFamily="34" charset="-122"/>
                <a:cs typeface="Calibri" pitchFamily="34" charset="-120"/>
              </a:rPr>
              <a:t>Connect each piece of content to a business objective.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14-day launch</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42</a:t>
            </a:r>
            <a:endParaRPr lang="en-US" sz="900" dirty="0"/>
          </a:p>
        </p:txBody>
      </p:sp>
      <p:sp>
        <p:nvSpPr>
          <p:cNvPr id="7" name="Shape 4"/>
          <p:cNvSpPr/>
          <p:nvPr/>
        </p:nvSpPr>
        <p:spPr>
          <a:xfrm>
            <a:off x="457200" y="1280160"/>
            <a:ext cx="2103120" cy="2377440"/>
          </a:xfrm>
          <a:prstGeom prst="roundRect">
            <a:avLst>
              <a:gd name="adj" fmla="val 4348"/>
            </a:avLst>
          </a:prstGeom>
          <a:solidFill>
            <a:srgbClr val="B5DCCE"/>
          </a:solidFill>
          <a:ln/>
        </p:spPr>
      </p:sp>
      <p:sp>
        <p:nvSpPr>
          <p:cNvPr id="8" name="Text 5"/>
          <p:cNvSpPr txBox="1"/>
          <p:nvPr/>
        </p:nvSpPr>
        <p:spPr>
          <a:xfrm>
            <a:off x="640080" y="1417320"/>
            <a:ext cx="1371600" cy="182880"/>
          </a:xfrm>
          <a:prstGeom prst="rect">
            <a:avLst/>
          </a:prstGeom>
          <a:noFill/>
          <a:ln/>
        </p:spPr>
        <p:txBody>
          <a:bodyPr wrap="square" lIns="0" tIns="0" rIns="0" bIns="0" rtlCol="0" anchor="t"/>
          <a:lstStyle/>
          <a:p>
            <a:pPr marL="0" indent="0" algn="l">
              <a:buNone/>
            </a:pPr>
            <a:r>
              <a:rPr lang="en-US" sz="900" b="1" kern="0" spc="200" dirty="0">
                <a:solidFill>
                  <a:srgbClr val="0C2622"/>
                </a:solidFill>
                <a:latin typeface="Calibri" pitchFamily="34" charset="0"/>
                <a:ea typeface="Calibri" pitchFamily="34" charset="-122"/>
                <a:cs typeface="Calibri" pitchFamily="34" charset="-120"/>
              </a:rPr>
              <a:t>DAYS</a:t>
            </a:r>
            <a:endParaRPr lang="en-US" sz="900" dirty="0"/>
          </a:p>
        </p:txBody>
      </p:sp>
      <p:sp>
        <p:nvSpPr>
          <p:cNvPr id="9" name="Text 6"/>
          <p:cNvSpPr txBox="1"/>
          <p:nvPr/>
        </p:nvSpPr>
        <p:spPr>
          <a:xfrm>
            <a:off x="640080" y="1691640"/>
            <a:ext cx="1828800" cy="457200"/>
          </a:xfrm>
          <a:prstGeom prst="rect">
            <a:avLst/>
          </a:prstGeom>
          <a:noFill/>
          <a:ln/>
        </p:spPr>
        <p:txBody>
          <a:bodyPr wrap="square" lIns="0" tIns="0" rIns="0" bIns="0" rtlCol="0" anchor="t"/>
          <a:lstStyle/>
          <a:p>
            <a:pPr marL="0" indent="0" algn="l">
              <a:buNone/>
            </a:pPr>
            <a:r>
              <a:rPr lang="en-US" sz="2400" b="1" dirty="0">
                <a:solidFill>
                  <a:srgbClr val="0C2622"/>
                </a:solidFill>
                <a:latin typeface="Cambria" pitchFamily="34" charset="0"/>
                <a:ea typeface="Cambria" pitchFamily="34" charset="-122"/>
                <a:cs typeface="Cambria" pitchFamily="34" charset="-120"/>
              </a:rPr>
              <a:t>−7 to −1</a:t>
            </a:r>
            <a:endParaRPr lang="en-US" sz="2400" dirty="0"/>
          </a:p>
        </p:txBody>
      </p:sp>
      <p:sp>
        <p:nvSpPr>
          <p:cNvPr id="10" name="Text 7"/>
          <p:cNvSpPr txBox="1"/>
          <p:nvPr/>
        </p:nvSpPr>
        <p:spPr>
          <a:xfrm>
            <a:off x="640080" y="2377440"/>
            <a:ext cx="1828800" cy="457200"/>
          </a:xfrm>
          <a:prstGeom prst="rect">
            <a:avLst/>
          </a:prstGeom>
          <a:noFill/>
          <a:ln/>
        </p:spPr>
        <p:txBody>
          <a:bodyPr wrap="square" lIns="0" tIns="0" rIns="0" bIns="0" rtlCol="0" anchor="t"/>
          <a:lstStyle/>
          <a:p>
            <a:pPr marL="0" indent="0" algn="l">
              <a:buNone/>
            </a:pPr>
            <a:r>
              <a:rPr lang="en-US" sz="1400" b="1" dirty="0">
                <a:solidFill>
                  <a:srgbClr val="0C2622"/>
                </a:solidFill>
                <a:latin typeface="Calibri" pitchFamily="34" charset="0"/>
                <a:ea typeface="Calibri" pitchFamily="34" charset="-122"/>
                <a:cs typeface="Calibri" pitchFamily="34" charset="-120"/>
              </a:rPr>
              <a:t>Anticipation</a:t>
            </a:r>
            <a:endParaRPr lang="en-US" sz="1400" dirty="0"/>
          </a:p>
        </p:txBody>
      </p:sp>
      <p:sp>
        <p:nvSpPr>
          <p:cNvPr id="11" name="Text 8"/>
          <p:cNvSpPr txBox="1"/>
          <p:nvPr/>
        </p:nvSpPr>
        <p:spPr>
          <a:xfrm>
            <a:off x="640080" y="2880360"/>
            <a:ext cx="1783080" cy="685800"/>
          </a:xfrm>
          <a:prstGeom prst="rect">
            <a:avLst/>
          </a:prstGeom>
          <a:noFill/>
          <a:ln/>
        </p:spPr>
        <p:txBody>
          <a:bodyPr wrap="square" lIns="0" tIns="0" rIns="0" bIns="0" rtlCol="0" anchor="t"/>
          <a:lstStyle/>
          <a:p>
            <a:pPr marL="0" indent="0" algn="l">
              <a:buNone/>
            </a:pPr>
            <a:r>
              <a:rPr lang="en-US" sz="1200" dirty="0">
                <a:solidFill>
                  <a:srgbClr val="0C2622"/>
                </a:solidFill>
                <a:latin typeface="Calibri" pitchFamily="34" charset="0"/>
                <a:ea typeface="Calibri" pitchFamily="34" charset="-122"/>
                <a:cs typeface="Calibri" pitchFamily="34" charset="-120"/>
              </a:rPr>
              <a:t>Build curiosity before launch day.</a:t>
            </a:r>
            <a:endParaRPr lang="en-US" sz="1200" dirty="0"/>
          </a:p>
        </p:txBody>
      </p:sp>
      <p:sp>
        <p:nvSpPr>
          <p:cNvPr id="12" name="Shape 9"/>
          <p:cNvSpPr/>
          <p:nvPr/>
        </p:nvSpPr>
        <p:spPr>
          <a:xfrm>
            <a:off x="2651760" y="1280160"/>
            <a:ext cx="1645920" cy="2377440"/>
          </a:xfrm>
          <a:prstGeom prst="roundRect">
            <a:avLst>
              <a:gd name="adj" fmla="val 5556"/>
            </a:avLst>
          </a:prstGeom>
          <a:solidFill>
            <a:srgbClr val="F4A52A"/>
          </a:solidFill>
          <a:ln/>
        </p:spPr>
      </p:sp>
      <p:sp>
        <p:nvSpPr>
          <p:cNvPr id="13" name="Text 10"/>
          <p:cNvSpPr txBox="1"/>
          <p:nvPr/>
        </p:nvSpPr>
        <p:spPr>
          <a:xfrm>
            <a:off x="2834640" y="1417320"/>
            <a:ext cx="1371600" cy="182880"/>
          </a:xfrm>
          <a:prstGeom prst="rect">
            <a:avLst/>
          </a:prstGeom>
          <a:noFill/>
          <a:ln/>
        </p:spPr>
        <p:txBody>
          <a:bodyPr wrap="square" lIns="0" tIns="0" rIns="0" bIns="0" rtlCol="0" anchor="t"/>
          <a:lstStyle/>
          <a:p>
            <a:pPr marL="0" indent="0" algn="l">
              <a:buNone/>
            </a:pPr>
            <a:r>
              <a:rPr lang="en-US" sz="900" b="1" kern="0" spc="200" dirty="0">
                <a:solidFill>
                  <a:srgbClr val="0C2622"/>
                </a:solidFill>
                <a:latin typeface="Calibri" pitchFamily="34" charset="0"/>
                <a:ea typeface="Calibri" pitchFamily="34" charset="-122"/>
                <a:cs typeface="Calibri" pitchFamily="34" charset="-120"/>
              </a:rPr>
              <a:t>DAYS</a:t>
            </a:r>
            <a:endParaRPr lang="en-US" sz="900" dirty="0"/>
          </a:p>
        </p:txBody>
      </p:sp>
      <p:sp>
        <p:nvSpPr>
          <p:cNvPr id="14" name="Text 11"/>
          <p:cNvSpPr txBox="1"/>
          <p:nvPr/>
        </p:nvSpPr>
        <p:spPr>
          <a:xfrm>
            <a:off x="2834640" y="1691640"/>
            <a:ext cx="1371600" cy="457200"/>
          </a:xfrm>
          <a:prstGeom prst="rect">
            <a:avLst/>
          </a:prstGeom>
          <a:noFill/>
          <a:ln/>
        </p:spPr>
        <p:txBody>
          <a:bodyPr wrap="square" lIns="0" tIns="0" rIns="0" bIns="0" rtlCol="0" anchor="t"/>
          <a:lstStyle/>
          <a:p>
            <a:pPr marL="0" indent="0" algn="l">
              <a:buNone/>
            </a:pPr>
            <a:r>
              <a:rPr lang="en-US" sz="2400" b="1" dirty="0">
                <a:solidFill>
                  <a:srgbClr val="0C2622"/>
                </a:solidFill>
                <a:latin typeface="Cambria" pitchFamily="34" charset="0"/>
                <a:ea typeface="Cambria" pitchFamily="34" charset="-122"/>
                <a:cs typeface="Cambria" pitchFamily="34" charset="-120"/>
              </a:rPr>
              <a:t>Day 0</a:t>
            </a:r>
            <a:endParaRPr lang="en-US" sz="2400" dirty="0"/>
          </a:p>
        </p:txBody>
      </p:sp>
      <p:sp>
        <p:nvSpPr>
          <p:cNvPr id="15" name="Text 12"/>
          <p:cNvSpPr txBox="1"/>
          <p:nvPr/>
        </p:nvSpPr>
        <p:spPr>
          <a:xfrm>
            <a:off x="2834640" y="2377440"/>
            <a:ext cx="1371600" cy="457200"/>
          </a:xfrm>
          <a:prstGeom prst="rect">
            <a:avLst/>
          </a:prstGeom>
          <a:noFill/>
          <a:ln/>
        </p:spPr>
        <p:txBody>
          <a:bodyPr wrap="square" lIns="0" tIns="0" rIns="0" bIns="0" rtlCol="0" anchor="t"/>
          <a:lstStyle/>
          <a:p>
            <a:pPr marL="0" indent="0" algn="l">
              <a:buNone/>
            </a:pPr>
            <a:r>
              <a:rPr lang="en-US" sz="1400" b="1" dirty="0">
                <a:solidFill>
                  <a:srgbClr val="0C2622"/>
                </a:solidFill>
                <a:latin typeface="Calibri" pitchFamily="34" charset="0"/>
                <a:ea typeface="Calibri" pitchFamily="34" charset="-122"/>
                <a:cs typeface="Calibri" pitchFamily="34" charset="-120"/>
              </a:rPr>
              <a:t>Launch</a:t>
            </a:r>
            <a:endParaRPr lang="en-US" sz="1400" dirty="0"/>
          </a:p>
        </p:txBody>
      </p:sp>
      <p:sp>
        <p:nvSpPr>
          <p:cNvPr id="16" name="Text 13"/>
          <p:cNvSpPr txBox="1"/>
          <p:nvPr/>
        </p:nvSpPr>
        <p:spPr>
          <a:xfrm>
            <a:off x="2834640" y="2880360"/>
            <a:ext cx="1325880" cy="685800"/>
          </a:xfrm>
          <a:prstGeom prst="rect">
            <a:avLst/>
          </a:prstGeom>
          <a:noFill/>
          <a:ln/>
        </p:spPr>
        <p:txBody>
          <a:bodyPr wrap="square" lIns="0" tIns="0" rIns="0" bIns="0" rtlCol="0" anchor="t"/>
          <a:lstStyle/>
          <a:p>
            <a:pPr marL="0" indent="0" algn="l">
              <a:buNone/>
            </a:pPr>
            <a:r>
              <a:rPr lang="en-US" sz="1200" dirty="0">
                <a:solidFill>
                  <a:srgbClr val="0C2622"/>
                </a:solidFill>
                <a:latin typeface="Calibri" pitchFamily="34" charset="0"/>
                <a:ea typeface="Calibri" pitchFamily="34" charset="-122"/>
                <a:cs typeface="Calibri" pitchFamily="34" charset="-120"/>
              </a:rPr>
              <a:t>Go live.</a:t>
            </a:r>
            <a:endParaRPr lang="en-US" sz="1200" dirty="0"/>
          </a:p>
        </p:txBody>
      </p:sp>
      <p:sp>
        <p:nvSpPr>
          <p:cNvPr id="17" name="Shape 14"/>
          <p:cNvSpPr/>
          <p:nvPr/>
        </p:nvSpPr>
        <p:spPr>
          <a:xfrm>
            <a:off x="4389120" y="1280160"/>
            <a:ext cx="2103120" cy="2377440"/>
          </a:xfrm>
          <a:prstGeom prst="roundRect">
            <a:avLst>
              <a:gd name="adj" fmla="val 4348"/>
            </a:avLst>
          </a:prstGeom>
          <a:solidFill>
            <a:srgbClr val="12735B"/>
          </a:solidFill>
          <a:ln/>
        </p:spPr>
      </p:sp>
      <p:sp>
        <p:nvSpPr>
          <p:cNvPr id="18" name="Text 15"/>
          <p:cNvSpPr txBox="1"/>
          <p:nvPr/>
        </p:nvSpPr>
        <p:spPr>
          <a:xfrm>
            <a:off x="4572000" y="1417320"/>
            <a:ext cx="1371600" cy="182880"/>
          </a:xfrm>
          <a:prstGeom prst="rect">
            <a:avLst/>
          </a:prstGeom>
          <a:noFill/>
          <a:ln/>
        </p:spPr>
        <p:txBody>
          <a:bodyPr wrap="square" lIns="0" tIns="0" rIns="0" bIns="0" rtlCol="0" anchor="t"/>
          <a:lstStyle/>
          <a:p>
            <a:pPr marL="0" indent="0" algn="l">
              <a:buNone/>
            </a:pPr>
            <a:r>
              <a:rPr lang="en-US" sz="900" b="1" kern="0" spc="200" dirty="0">
                <a:solidFill>
                  <a:srgbClr val="FFFFFF"/>
                </a:solidFill>
                <a:latin typeface="Calibri" pitchFamily="34" charset="0"/>
                <a:ea typeface="Calibri" pitchFamily="34" charset="-122"/>
                <a:cs typeface="Calibri" pitchFamily="34" charset="-120"/>
              </a:rPr>
              <a:t>DAYS</a:t>
            </a:r>
            <a:endParaRPr lang="en-US" sz="900" dirty="0"/>
          </a:p>
        </p:txBody>
      </p:sp>
      <p:sp>
        <p:nvSpPr>
          <p:cNvPr id="19" name="Text 16"/>
          <p:cNvSpPr txBox="1"/>
          <p:nvPr/>
        </p:nvSpPr>
        <p:spPr>
          <a:xfrm>
            <a:off x="4572000" y="1691640"/>
            <a:ext cx="1828800" cy="457200"/>
          </a:xfrm>
          <a:prstGeom prst="rect">
            <a:avLst/>
          </a:prstGeom>
          <a:noFill/>
          <a:ln/>
        </p:spPr>
        <p:txBody>
          <a:bodyPr wrap="square" lIns="0" tIns="0" rIns="0" bIns="0" rtlCol="0" anchor="t"/>
          <a:lstStyle/>
          <a:p>
            <a:pPr marL="0" indent="0" algn="l">
              <a:buNone/>
            </a:pPr>
            <a:r>
              <a:rPr lang="en-US" sz="2400" b="1" dirty="0">
                <a:solidFill>
                  <a:srgbClr val="FFFFFF"/>
                </a:solidFill>
                <a:latin typeface="Cambria" pitchFamily="34" charset="0"/>
                <a:ea typeface="Cambria" pitchFamily="34" charset="-122"/>
                <a:cs typeface="Cambria" pitchFamily="34" charset="-120"/>
              </a:rPr>
              <a:t>1 to 7</a:t>
            </a:r>
            <a:endParaRPr lang="en-US" sz="2400" dirty="0"/>
          </a:p>
        </p:txBody>
      </p:sp>
      <p:sp>
        <p:nvSpPr>
          <p:cNvPr id="20" name="Text 17"/>
          <p:cNvSpPr txBox="1"/>
          <p:nvPr/>
        </p:nvSpPr>
        <p:spPr>
          <a:xfrm>
            <a:off x="4572000" y="2377440"/>
            <a:ext cx="1828800" cy="45720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Proof &amp; education</a:t>
            </a:r>
            <a:endParaRPr lang="en-US" sz="1400" dirty="0"/>
          </a:p>
        </p:txBody>
      </p:sp>
      <p:sp>
        <p:nvSpPr>
          <p:cNvPr id="21" name="Text 18"/>
          <p:cNvSpPr txBox="1"/>
          <p:nvPr/>
        </p:nvSpPr>
        <p:spPr>
          <a:xfrm>
            <a:off x="4572000" y="2880360"/>
            <a:ext cx="1783080" cy="685800"/>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Show it works; teach the problem.</a:t>
            </a:r>
            <a:endParaRPr lang="en-US" sz="1200" dirty="0"/>
          </a:p>
        </p:txBody>
      </p:sp>
      <p:sp>
        <p:nvSpPr>
          <p:cNvPr id="22" name="Shape 19"/>
          <p:cNvSpPr/>
          <p:nvPr/>
        </p:nvSpPr>
        <p:spPr>
          <a:xfrm>
            <a:off x="6583680" y="1280160"/>
            <a:ext cx="2103120" cy="2377440"/>
          </a:xfrm>
          <a:prstGeom prst="roundRect">
            <a:avLst>
              <a:gd name="adj" fmla="val 4348"/>
            </a:avLst>
          </a:prstGeom>
          <a:solidFill>
            <a:srgbClr val="0C2622"/>
          </a:solidFill>
          <a:ln/>
        </p:spPr>
      </p:sp>
      <p:sp>
        <p:nvSpPr>
          <p:cNvPr id="23" name="Text 20"/>
          <p:cNvSpPr txBox="1"/>
          <p:nvPr/>
        </p:nvSpPr>
        <p:spPr>
          <a:xfrm>
            <a:off x="6766560" y="1417320"/>
            <a:ext cx="1371600" cy="182880"/>
          </a:xfrm>
          <a:prstGeom prst="rect">
            <a:avLst/>
          </a:prstGeom>
          <a:noFill/>
          <a:ln/>
        </p:spPr>
        <p:txBody>
          <a:bodyPr wrap="square" lIns="0" tIns="0" rIns="0" bIns="0" rtlCol="0" anchor="t"/>
          <a:lstStyle/>
          <a:p>
            <a:pPr marL="0" indent="0" algn="l">
              <a:buNone/>
            </a:pPr>
            <a:r>
              <a:rPr lang="en-US" sz="900" b="1" kern="0" spc="200" dirty="0">
                <a:solidFill>
                  <a:srgbClr val="FFFFFF"/>
                </a:solidFill>
                <a:latin typeface="Calibri" pitchFamily="34" charset="0"/>
                <a:ea typeface="Calibri" pitchFamily="34" charset="-122"/>
                <a:cs typeface="Calibri" pitchFamily="34" charset="-120"/>
              </a:rPr>
              <a:t>DAYS</a:t>
            </a:r>
            <a:endParaRPr lang="en-US" sz="900" dirty="0"/>
          </a:p>
        </p:txBody>
      </p:sp>
      <p:sp>
        <p:nvSpPr>
          <p:cNvPr id="24" name="Text 21"/>
          <p:cNvSpPr txBox="1"/>
          <p:nvPr/>
        </p:nvSpPr>
        <p:spPr>
          <a:xfrm>
            <a:off x="6766560" y="1691640"/>
            <a:ext cx="1828800" cy="457200"/>
          </a:xfrm>
          <a:prstGeom prst="rect">
            <a:avLst/>
          </a:prstGeom>
          <a:noFill/>
          <a:ln/>
        </p:spPr>
        <p:txBody>
          <a:bodyPr wrap="square" lIns="0" tIns="0" rIns="0" bIns="0" rtlCol="0" anchor="t"/>
          <a:lstStyle/>
          <a:p>
            <a:pPr marL="0" indent="0" algn="l">
              <a:buNone/>
            </a:pPr>
            <a:r>
              <a:rPr lang="en-US" sz="2400" b="1" dirty="0">
                <a:solidFill>
                  <a:srgbClr val="FFFFFF"/>
                </a:solidFill>
                <a:latin typeface="Cambria" pitchFamily="34" charset="0"/>
                <a:ea typeface="Cambria" pitchFamily="34" charset="-122"/>
                <a:cs typeface="Cambria" pitchFamily="34" charset="-120"/>
              </a:rPr>
              <a:t>8 to 14</a:t>
            </a:r>
            <a:endParaRPr lang="en-US" sz="2400" dirty="0"/>
          </a:p>
        </p:txBody>
      </p:sp>
      <p:sp>
        <p:nvSpPr>
          <p:cNvPr id="25" name="Text 22"/>
          <p:cNvSpPr txBox="1"/>
          <p:nvPr/>
        </p:nvSpPr>
        <p:spPr>
          <a:xfrm>
            <a:off x="6766560" y="2377440"/>
            <a:ext cx="1828800" cy="45720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Conversion push</a:t>
            </a:r>
            <a:endParaRPr lang="en-US" sz="1400" dirty="0"/>
          </a:p>
        </p:txBody>
      </p:sp>
      <p:sp>
        <p:nvSpPr>
          <p:cNvPr id="26" name="Text 23"/>
          <p:cNvSpPr txBox="1"/>
          <p:nvPr/>
        </p:nvSpPr>
        <p:spPr>
          <a:xfrm>
            <a:off x="6766560" y="2880360"/>
            <a:ext cx="1783080" cy="685800"/>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Turn interest into customers.</a:t>
            </a:r>
            <a:endParaRPr lang="en-US" sz="1200" dirty="0"/>
          </a:p>
        </p:txBody>
      </p:sp>
      <p:sp>
        <p:nvSpPr>
          <p:cNvPr id="27" name="Text 24"/>
          <p:cNvSpPr txBox="1"/>
          <p:nvPr/>
        </p:nvSpPr>
        <p:spPr>
          <a:xfrm>
            <a:off x="457200" y="3858768"/>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FOR EACH DAY, SPECIFY</a:t>
            </a:r>
            <a:endParaRPr lang="en-US" sz="950" dirty="0"/>
          </a:p>
        </p:txBody>
      </p:sp>
      <p:sp>
        <p:nvSpPr>
          <p:cNvPr id="28" name="Shape 25"/>
          <p:cNvSpPr/>
          <p:nvPr/>
        </p:nvSpPr>
        <p:spPr>
          <a:xfrm>
            <a:off x="457200" y="4133088"/>
            <a:ext cx="1052657" cy="411480"/>
          </a:xfrm>
          <a:prstGeom prst="roundRect">
            <a:avLst>
              <a:gd name="adj" fmla="val 50000"/>
            </a:avLst>
          </a:prstGeom>
          <a:solidFill>
            <a:srgbClr val="FFFFFF"/>
          </a:solidFill>
          <a:ln w="12700">
            <a:solidFill>
              <a:srgbClr val="6FBFA5"/>
            </a:solidFill>
            <a:prstDash val="solid"/>
          </a:ln>
        </p:spPr>
      </p:sp>
      <p:sp>
        <p:nvSpPr>
          <p:cNvPr id="29" name="Text 26"/>
          <p:cNvSpPr txBox="1"/>
          <p:nvPr/>
        </p:nvSpPr>
        <p:spPr>
          <a:xfrm>
            <a:off x="457200" y="4133088"/>
            <a:ext cx="1052657" cy="411480"/>
          </a:xfrm>
          <a:prstGeom prst="rect">
            <a:avLst/>
          </a:prstGeom>
          <a:noFill/>
          <a:ln/>
        </p:spPr>
        <p:txBody>
          <a:bodyPr wrap="square" lIns="0" tIns="0" rIns="0" bIns="0" rtlCol="0" anchor="ctr"/>
          <a:lstStyle/>
          <a:p>
            <a:pPr marL="0" indent="0" algn="ctr">
              <a:buNone/>
            </a:pPr>
            <a:r>
              <a:rPr lang="en-US" sz="1300" b="1" dirty="0">
                <a:solidFill>
                  <a:srgbClr val="0C2622"/>
                </a:solidFill>
                <a:latin typeface="Calibri" pitchFamily="34" charset="0"/>
                <a:ea typeface="Calibri" pitchFamily="34" charset="-122"/>
                <a:cs typeface="Calibri" pitchFamily="34" charset="-120"/>
              </a:rPr>
              <a:t>Activity</a:t>
            </a:r>
            <a:endParaRPr lang="en-US" sz="1300" dirty="0"/>
          </a:p>
        </p:txBody>
      </p:sp>
      <p:sp>
        <p:nvSpPr>
          <p:cNvPr id="30" name="Shape 27"/>
          <p:cNvSpPr/>
          <p:nvPr/>
        </p:nvSpPr>
        <p:spPr>
          <a:xfrm>
            <a:off x="1637873" y="4133088"/>
            <a:ext cx="959937" cy="411480"/>
          </a:xfrm>
          <a:prstGeom prst="roundRect">
            <a:avLst>
              <a:gd name="adj" fmla="val 50000"/>
            </a:avLst>
          </a:prstGeom>
          <a:solidFill>
            <a:srgbClr val="FFFFFF"/>
          </a:solidFill>
          <a:ln w="12700">
            <a:solidFill>
              <a:srgbClr val="6FBFA5"/>
            </a:solidFill>
            <a:prstDash val="solid"/>
          </a:ln>
        </p:spPr>
      </p:sp>
      <p:sp>
        <p:nvSpPr>
          <p:cNvPr id="31" name="Text 28"/>
          <p:cNvSpPr txBox="1"/>
          <p:nvPr/>
        </p:nvSpPr>
        <p:spPr>
          <a:xfrm>
            <a:off x="1637873" y="4133088"/>
            <a:ext cx="959937" cy="411480"/>
          </a:xfrm>
          <a:prstGeom prst="rect">
            <a:avLst/>
          </a:prstGeom>
          <a:noFill/>
          <a:ln/>
        </p:spPr>
        <p:txBody>
          <a:bodyPr wrap="square" lIns="0" tIns="0" rIns="0" bIns="0" rtlCol="0" anchor="ctr"/>
          <a:lstStyle/>
          <a:p>
            <a:pPr marL="0" indent="0" algn="ctr">
              <a:buNone/>
            </a:pPr>
            <a:r>
              <a:rPr lang="en-US" sz="1300" b="1" dirty="0">
                <a:solidFill>
                  <a:srgbClr val="0C2622"/>
                </a:solidFill>
                <a:latin typeface="Calibri" pitchFamily="34" charset="0"/>
                <a:ea typeface="Calibri" pitchFamily="34" charset="-122"/>
                <a:cs typeface="Calibri" pitchFamily="34" charset="-120"/>
              </a:rPr>
              <a:t>Channel</a:t>
            </a:r>
            <a:endParaRPr lang="en-US" sz="1300" dirty="0"/>
          </a:p>
        </p:txBody>
      </p:sp>
      <p:sp>
        <p:nvSpPr>
          <p:cNvPr id="32" name="Shape 29"/>
          <p:cNvSpPr/>
          <p:nvPr/>
        </p:nvSpPr>
        <p:spPr>
          <a:xfrm>
            <a:off x="2725826" y="4133088"/>
            <a:ext cx="959937" cy="411480"/>
          </a:xfrm>
          <a:prstGeom prst="roundRect">
            <a:avLst>
              <a:gd name="adj" fmla="val 50000"/>
            </a:avLst>
          </a:prstGeom>
          <a:solidFill>
            <a:srgbClr val="FFFFFF"/>
          </a:solidFill>
          <a:ln w="12700">
            <a:solidFill>
              <a:srgbClr val="6FBFA5"/>
            </a:solidFill>
            <a:prstDash val="solid"/>
          </a:ln>
        </p:spPr>
      </p:sp>
      <p:sp>
        <p:nvSpPr>
          <p:cNvPr id="33" name="Text 30"/>
          <p:cNvSpPr txBox="1"/>
          <p:nvPr/>
        </p:nvSpPr>
        <p:spPr>
          <a:xfrm>
            <a:off x="2725826" y="4133088"/>
            <a:ext cx="959937" cy="411480"/>
          </a:xfrm>
          <a:prstGeom prst="rect">
            <a:avLst/>
          </a:prstGeom>
          <a:noFill/>
          <a:ln/>
        </p:spPr>
        <p:txBody>
          <a:bodyPr wrap="square" lIns="0" tIns="0" rIns="0" bIns="0" rtlCol="0" anchor="ctr"/>
          <a:lstStyle/>
          <a:p>
            <a:pPr marL="0" indent="0" algn="ctr">
              <a:buNone/>
            </a:pPr>
            <a:r>
              <a:rPr lang="en-US" sz="1300" b="1" dirty="0">
                <a:solidFill>
                  <a:srgbClr val="0C2622"/>
                </a:solidFill>
                <a:latin typeface="Calibri" pitchFamily="34" charset="0"/>
                <a:ea typeface="Calibri" pitchFamily="34" charset="-122"/>
                <a:cs typeface="Calibri" pitchFamily="34" charset="-120"/>
              </a:rPr>
              <a:t>Message</a:t>
            </a:r>
            <a:endParaRPr lang="en-US" sz="1300" dirty="0"/>
          </a:p>
        </p:txBody>
      </p:sp>
      <p:sp>
        <p:nvSpPr>
          <p:cNvPr id="34" name="Shape 31"/>
          <p:cNvSpPr/>
          <p:nvPr/>
        </p:nvSpPr>
        <p:spPr>
          <a:xfrm>
            <a:off x="3813780" y="4133088"/>
            <a:ext cx="589056" cy="411480"/>
          </a:xfrm>
          <a:prstGeom prst="roundRect">
            <a:avLst>
              <a:gd name="adj" fmla="val 50000"/>
            </a:avLst>
          </a:prstGeom>
          <a:solidFill>
            <a:srgbClr val="FFFFFF"/>
          </a:solidFill>
          <a:ln w="12700">
            <a:solidFill>
              <a:srgbClr val="6FBFA5"/>
            </a:solidFill>
            <a:prstDash val="solid"/>
          </a:ln>
        </p:spPr>
      </p:sp>
      <p:sp>
        <p:nvSpPr>
          <p:cNvPr id="35" name="Text 32"/>
          <p:cNvSpPr txBox="1"/>
          <p:nvPr/>
        </p:nvSpPr>
        <p:spPr>
          <a:xfrm>
            <a:off x="3813780" y="4133088"/>
            <a:ext cx="589056" cy="411480"/>
          </a:xfrm>
          <a:prstGeom prst="rect">
            <a:avLst/>
          </a:prstGeom>
          <a:noFill/>
          <a:ln/>
        </p:spPr>
        <p:txBody>
          <a:bodyPr wrap="square" lIns="0" tIns="0" rIns="0" bIns="0" rtlCol="0" anchor="ctr"/>
          <a:lstStyle/>
          <a:p>
            <a:pPr marL="0" indent="0" algn="ctr">
              <a:buNone/>
            </a:pPr>
            <a:r>
              <a:rPr lang="en-US" sz="1300" b="1" dirty="0">
                <a:solidFill>
                  <a:srgbClr val="0C2622"/>
                </a:solidFill>
                <a:latin typeface="Calibri" pitchFamily="34" charset="0"/>
                <a:ea typeface="Calibri" pitchFamily="34" charset="-122"/>
                <a:cs typeface="Calibri" pitchFamily="34" charset="-120"/>
              </a:rPr>
              <a:t>CTA</a:t>
            </a:r>
            <a:endParaRPr lang="en-US" sz="1300" dirty="0"/>
          </a:p>
        </p:txBody>
      </p:sp>
      <p:sp>
        <p:nvSpPr>
          <p:cNvPr id="36" name="Shape 33"/>
          <p:cNvSpPr/>
          <p:nvPr/>
        </p:nvSpPr>
        <p:spPr>
          <a:xfrm>
            <a:off x="4530852" y="4133088"/>
            <a:ext cx="867217" cy="411480"/>
          </a:xfrm>
          <a:prstGeom prst="roundRect">
            <a:avLst>
              <a:gd name="adj" fmla="val 50000"/>
            </a:avLst>
          </a:prstGeom>
          <a:solidFill>
            <a:srgbClr val="FFFFFF"/>
          </a:solidFill>
          <a:ln w="12700">
            <a:solidFill>
              <a:srgbClr val="6FBFA5"/>
            </a:solidFill>
            <a:prstDash val="solid"/>
          </a:ln>
        </p:spPr>
      </p:sp>
      <p:sp>
        <p:nvSpPr>
          <p:cNvPr id="37" name="Text 34"/>
          <p:cNvSpPr txBox="1"/>
          <p:nvPr/>
        </p:nvSpPr>
        <p:spPr>
          <a:xfrm>
            <a:off x="4530852" y="4133088"/>
            <a:ext cx="867217" cy="411480"/>
          </a:xfrm>
          <a:prstGeom prst="rect">
            <a:avLst/>
          </a:prstGeom>
          <a:noFill/>
          <a:ln/>
        </p:spPr>
        <p:txBody>
          <a:bodyPr wrap="square" lIns="0" tIns="0" rIns="0" bIns="0" rtlCol="0" anchor="ctr"/>
          <a:lstStyle/>
          <a:p>
            <a:pPr marL="0" indent="0" algn="ctr">
              <a:buNone/>
            </a:pPr>
            <a:r>
              <a:rPr lang="en-US" sz="1300" b="1" dirty="0">
                <a:solidFill>
                  <a:srgbClr val="0C2622"/>
                </a:solidFill>
                <a:latin typeface="Calibri" pitchFamily="34" charset="0"/>
                <a:ea typeface="Calibri" pitchFamily="34" charset="-122"/>
                <a:cs typeface="Calibri" pitchFamily="34" charset="-120"/>
              </a:rPr>
              <a:t>Metric</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Founder-led outbound</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43</a:t>
            </a:r>
            <a:endParaRPr lang="en-US" sz="900" dirty="0"/>
          </a:p>
        </p:txBody>
      </p:sp>
      <p:sp>
        <p:nvSpPr>
          <p:cNvPr id="7" name="Shape 4"/>
          <p:cNvSpPr/>
          <p:nvPr/>
        </p:nvSpPr>
        <p:spPr>
          <a:xfrm>
            <a:off x="457200" y="1280160"/>
            <a:ext cx="1975104" cy="1188720"/>
          </a:xfrm>
          <a:prstGeom prst="roundRect">
            <a:avLst>
              <a:gd name="adj" fmla="val 7692"/>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640080" y="2011680"/>
            <a:ext cx="1691640" cy="36576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Cold email</a:t>
            </a:r>
            <a:endParaRPr lang="en-US" sz="1300" dirty="0"/>
          </a:p>
        </p:txBody>
      </p:sp>
      <p:sp>
        <p:nvSpPr>
          <p:cNvPr id="11" name="Shape 7"/>
          <p:cNvSpPr/>
          <p:nvPr/>
        </p:nvSpPr>
        <p:spPr>
          <a:xfrm>
            <a:off x="2542032" y="1280160"/>
            <a:ext cx="1975104" cy="1188720"/>
          </a:xfrm>
          <a:prstGeom prst="roundRect">
            <a:avLst>
              <a:gd name="adj" fmla="val 7692"/>
            </a:avLst>
          </a:prstGeom>
          <a:solidFill>
            <a:srgbClr val="FFFFFF"/>
          </a:solidFill>
          <a:ln/>
          <a:effectLst>
            <a:outerShdw blurRad="101600" dist="25400" dir="5400000" algn="bl" rotWithShape="0">
              <a:srgbClr val="000000">
                <a:alpha val="10000"/>
              </a:srgbClr>
            </a:outerShdw>
          </a:effectLst>
        </p:spPr>
      </p:sp>
      <p:sp>
        <p:nvSpPr>
          <p:cNvPr id="12" name="Shape 8"/>
          <p:cNvSpPr/>
          <p:nvPr/>
        </p:nvSpPr>
        <p:spPr>
          <a:xfrm>
            <a:off x="2724912" y="1444752"/>
            <a:ext cx="457200" cy="457200"/>
          </a:xfrm>
          <a:prstGeom prst="ellipse">
            <a:avLst/>
          </a:prstGeom>
          <a:solidFill>
            <a:srgbClr val="12735B"/>
          </a:solidFill>
          <a:ln/>
        </p:spPr>
      </p:sp>
      <p:pic>
        <p:nvPicPr>
          <p:cNvPr id="13" name="Image 1" descr="preencoded.png"/>
          <p:cNvPicPr>
            <a:picLocks noChangeAspect="1"/>
          </p:cNvPicPr>
          <p:nvPr/>
        </p:nvPicPr>
        <p:blipFill>
          <a:blip r:embed="rId4"/>
          <a:stretch>
            <a:fillRect/>
          </a:stretch>
        </p:blipFill>
        <p:spPr>
          <a:xfrm>
            <a:off x="2839212" y="1559052"/>
            <a:ext cx="228600" cy="228600"/>
          </a:xfrm>
          <a:prstGeom prst="rect">
            <a:avLst/>
          </a:prstGeom>
        </p:spPr>
      </p:pic>
      <p:sp>
        <p:nvSpPr>
          <p:cNvPr id="14" name="Text 9"/>
          <p:cNvSpPr txBox="1"/>
          <p:nvPr/>
        </p:nvSpPr>
        <p:spPr>
          <a:xfrm>
            <a:off x="2724912" y="2011680"/>
            <a:ext cx="1691640" cy="36576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LinkedIn / Facebook DM</a:t>
            </a:r>
            <a:endParaRPr lang="en-US" sz="1300" dirty="0"/>
          </a:p>
        </p:txBody>
      </p:sp>
      <p:sp>
        <p:nvSpPr>
          <p:cNvPr id="15" name="Shape 10"/>
          <p:cNvSpPr/>
          <p:nvPr/>
        </p:nvSpPr>
        <p:spPr>
          <a:xfrm>
            <a:off x="4626864" y="1280160"/>
            <a:ext cx="1975104" cy="1188720"/>
          </a:xfrm>
          <a:prstGeom prst="roundRect">
            <a:avLst>
              <a:gd name="adj" fmla="val 7692"/>
            </a:avLst>
          </a:prstGeom>
          <a:solidFill>
            <a:srgbClr val="FFFFFF"/>
          </a:solidFill>
          <a:ln/>
          <a:effectLst>
            <a:outerShdw blurRad="101600" dist="25400" dir="5400000" algn="bl" rotWithShape="0">
              <a:srgbClr val="000000">
                <a:alpha val="10000"/>
              </a:srgbClr>
            </a:outerShdw>
          </a:effectLst>
        </p:spPr>
      </p:sp>
      <p:sp>
        <p:nvSpPr>
          <p:cNvPr id="16" name="Shape 11"/>
          <p:cNvSpPr/>
          <p:nvPr/>
        </p:nvSpPr>
        <p:spPr>
          <a:xfrm>
            <a:off x="4809744" y="1444752"/>
            <a:ext cx="457200" cy="457200"/>
          </a:xfrm>
          <a:prstGeom prst="ellipse">
            <a:avLst/>
          </a:prstGeom>
          <a:solidFill>
            <a:srgbClr val="12735B"/>
          </a:solidFill>
          <a:ln/>
        </p:spPr>
      </p:sp>
      <p:pic>
        <p:nvPicPr>
          <p:cNvPr id="17" name="Image 2" descr="preencoded.png"/>
          <p:cNvPicPr>
            <a:picLocks noChangeAspect="1"/>
          </p:cNvPicPr>
          <p:nvPr/>
        </p:nvPicPr>
        <p:blipFill>
          <a:blip r:embed="rId5"/>
          <a:stretch>
            <a:fillRect/>
          </a:stretch>
        </p:blipFill>
        <p:spPr>
          <a:xfrm>
            <a:off x="4924044" y="1559052"/>
            <a:ext cx="228600" cy="228600"/>
          </a:xfrm>
          <a:prstGeom prst="rect">
            <a:avLst/>
          </a:prstGeom>
        </p:spPr>
      </p:pic>
      <p:sp>
        <p:nvSpPr>
          <p:cNvPr id="18" name="Text 12"/>
          <p:cNvSpPr txBox="1"/>
          <p:nvPr/>
        </p:nvSpPr>
        <p:spPr>
          <a:xfrm>
            <a:off x="4809744" y="2011680"/>
            <a:ext cx="1691640" cy="36576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WhatsApp</a:t>
            </a:r>
            <a:endParaRPr lang="en-US" sz="1300" dirty="0"/>
          </a:p>
        </p:txBody>
      </p:sp>
      <p:sp>
        <p:nvSpPr>
          <p:cNvPr id="19" name="Shape 13"/>
          <p:cNvSpPr/>
          <p:nvPr/>
        </p:nvSpPr>
        <p:spPr>
          <a:xfrm>
            <a:off x="6711696" y="1280160"/>
            <a:ext cx="1975104" cy="1188720"/>
          </a:xfrm>
          <a:prstGeom prst="roundRect">
            <a:avLst>
              <a:gd name="adj" fmla="val 7692"/>
            </a:avLst>
          </a:prstGeom>
          <a:solidFill>
            <a:srgbClr val="FFFFFF"/>
          </a:solidFill>
          <a:ln/>
          <a:effectLst>
            <a:outerShdw blurRad="101600" dist="25400" dir="5400000" algn="bl" rotWithShape="0">
              <a:srgbClr val="000000">
                <a:alpha val="10000"/>
              </a:srgbClr>
            </a:outerShdw>
          </a:effectLst>
        </p:spPr>
      </p:sp>
      <p:sp>
        <p:nvSpPr>
          <p:cNvPr id="20" name="Shape 14"/>
          <p:cNvSpPr/>
          <p:nvPr/>
        </p:nvSpPr>
        <p:spPr>
          <a:xfrm>
            <a:off x="6894576" y="1444752"/>
            <a:ext cx="457200" cy="457200"/>
          </a:xfrm>
          <a:prstGeom prst="ellipse">
            <a:avLst/>
          </a:prstGeom>
          <a:solidFill>
            <a:srgbClr val="12735B"/>
          </a:solidFill>
          <a:ln/>
        </p:spPr>
      </p:sp>
      <p:pic>
        <p:nvPicPr>
          <p:cNvPr id="21" name="Image 3" descr="preencoded.png"/>
          <p:cNvPicPr>
            <a:picLocks noChangeAspect="1"/>
          </p:cNvPicPr>
          <p:nvPr/>
        </p:nvPicPr>
        <p:blipFill>
          <a:blip r:embed="rId6"/>
          <a:stretch>
            <a:fillRect/>
          </a:stretch>
        </p:blipFill>
        <p:spPr>
          <a:xfrm>
            <a:off x="7008876" y="1559052"/>
            <a:ext cx="228600" cy="228600"/>
          </a:xfrm>
          <a:prstGeom prst="rect">
            <a:avLst/>
          </a:prstGeom>
        </p:spPr>
      </p:pic>
      <p:sp>
        <p:nvSpPr>
          <p:cNvPr id="22" name="Text 15"/>
          <p:cNvSpPr txBox="1"/>
          <p:nvPr/>
        </p:nvSpPr>
        <p:spPr>
          <a:xfrm>
            <a:off x="6894576" y="2011680"/>
            <a:ext cx="1691640" cy="365760"/>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Warm introduction</a:t>
            </a:r>
            <a:endParaRPr lang="en-US" sz="1300" dirty="0"/>
          </a:p>
        </p:txBody>
      </p:sp>
      <p:sp>
        <p:nvSpPr>
          <p:cNvPr id="23" name="Text 16"/>
          <p:cNvSpPr txBox="1"/>
          <p:nvPr/>
        </p:nvSpPr>
        <p:spPr>
          <a:xfrm>
            <a:off x="457200" y="2743200"/>
            <a:ext cx="45720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THREE RULES FOR EVERY FIRST MESSAGE</a:t>
            </a:r>
            <a:endParaRPr lang="en-US" sz="950" dirty="0"/>
          </a:p>
        </p:txBody>
      </p:sp>
      <p:sp>
        <p:nvSpPr>
          <p:cNvPr id="24" name="Shape 17"/>
          <p:cNvSpPr/>
          <p:nvPr/>
        </p:nvSpPr>
        <p:spPr>
          <a:xfrm>
            <a:off x="457200" y="3017520"/>
            <a:ext cx="2651760" cy="1645920"/>
          </a:xfrm>
          <a:prstGeom prst="roundRect">
            <a:avLst>
              <a:gd name="adj" fmla="val 5556"/>
            </a:avLst>
          </a:prstGeom>
          <a:solidFill>
            <a:srgbClr val="FFFFFF"/>
          </a:solidFill>
          <a:ln/>
          <a:effectLst>
            <a:outerShdw blurRad="101600" dist="25400" dir="5400000" algn="bl" rotWithShape="0">
              <a:srgbClr val="000000">
                <a:alpha val="10000"/>
              </a:srgbClr>
            </a:outerShdw>
          </a:effectLst>
        </p:spPr>
      </p:sp>
      <p:sp>
        <p:nvSpPr>
          <p:cNvPr id="25" name="Text 18"/>
          <p:cNvSpPr txBox="1"/>
          <p:nvPr/>
        </p:nvSpPr>
        <p:spPr>
          <a:xfrm>
            <a:off x="640080" y="3108960"/>
            <a:ext cx="548640" cy="548640"/>
          </a:xfrm>
          <a:prstGeom prst="rect">
            <a:avLst/>
          </a:prstGeom>
          <a:noFill/>
          <a:ln/>
        </p:spPr>
        <p:txBody>
          <a:bodyPr wrap="square" lIns="0" tIns="0" rIns="0" bIns="0" rtlCol="0" anchor="t"/>
          <a:lstStyle/>
          <a:p>
            <a:pPr marL="0" indent="0" algn="l">
              <a:buNone/>
            </a:pPr>
            <a:r>
              <a:rPr lang="en-US" sz="3000" b="1" dirty="0">
                <a:solidFill>
                  <a:srgbClr val="1E9A7A"/>
                </a:solidFill>
                <a:latin typeface="Cambria" pitchFamily="34" charset="0"/>
                <a:ea typeface="Cambria" pitchFamily="34" charset="-122"/>
                <a:cs typeface="Cambria" pitchFamily="34" charset="-120"/>
              </a:rPr>
              <a:t>1</a:t>
            </a:r>
            <a:endParaRPr lang="en-US" sz="3000" dirty="0"/>
          </a:p>
        </p:txBody>
      </p:sp>
      <p:sp>
        <p:nvSpPr>
          <p:cNvPr id="26" name="Text 19"/>
          <p:cNvSpPr txBox="1"/>
          <p:nvPr/>
        </p:nvSpPr>
        <p:spPr>
          <a:xfrm>
            <a:off x="640080" y="3657600"/>
            <a:ext cx="2286000" cy="3200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Keep it short</a:t>
            </a:r>
            <a:endParaRPr lang="en-US" sz="1400" dirty="0"/>
          </a:p>
        </p:txBody>
      </p:sp>
      <p:sp>
        <p:nvSpPr>
          <p:cNvPr id="27" name="Text 20"/>
          <p:cNvSpPr txBox="1"/>
          <p:nvPr/>
        </p:nvSpPr>
        <p:spPr>
          <a:xfrm>
            <a:off x="640080" y="4023360"/>
            <a:ext cx="2286000" cy="54864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The first message earns a reply — nothing more.</a:t>
            </a:r>
            <a:endParaRPr lang="en-US" sz="1150" dirty="0"/>
          </a:p>
        </p:txBody>
      </p:sp>
      <p:sp>
        <p:nvSpPr>
          <p:cNvPr id="28" name="Shape 21"/>
          <p:cNvSpPr/>
          <p:nvPr/>
        </p:nvSpPr>
        <p:spPr>
          <a:xfrm>
            <a:off x="3246120" y="3017520"/>
            <a:ext cx="2651760" cy="1645920"/>
          </a:xfrm>
          <a:prstGeom prst="roundRect">
            <a:avLst>
              <a:gd name="adj" fmla="val 5556"/>
            </a:avLst>
          </a:prstGeom>
          <a:solidFill>
            <a:srgbClr val="FFFFFF"/>
          </a:solidFill>
          <a:ln/>
          <a:effectLst>
            <a:outerShdw blurRad="101600" dist="25400" dir="5400000" algn="bl" rotWithShape="0">
              <a:srgbClr val="000000">
                <a:alpha val="10000"/>
              </a:srgbClr>
            </a:outerShdw>
          </a:effectLst>
        </p:spPr>
      </p:sp>
      <p:sp>
        <p:nvSpPr>
          <p:cNvPr id="29" name="Text 22"/>
          <p:cNvSpPr txBox="1"/>
          <p:nvPr/>
        </p:nvSpPr>
        <p:spPr>
          <a:xfrm>
            <a:off x="3429000" y="3108960"/>
            <a:ext cx="548640" cy="548640"/>
          </a:xfrm>
          <a:prstGeom prst="rect">
            <a:avLst/>
          </a:prstGeom>
          <a:noFill/>
          <a:ln/>
        </p:spPr>
        <p:txBody>
          <a:bodyPr wrap="square" lIns="0" tIns="0" rIns="0" bIns="0" rtlCol="0" anchor="t"/>
          <a:lstStyle/>
          <a:p>
            <a:pPr marL="0" indent="0" algn="l">
              <a:buNone/>
            </a:pPr>
            <a:r>
              <a:rPr lang="en-US" sz="3000" b="1" dirty="0">
                <a:solidFill>
                  <a:srgbClr val="1E9A7A"/>
                </a:solidFill>
                <a:latin typeface="Cambria" pitchFamily="34" charset="0"/>
                <a:ea typeface="Cambria" pitchFamily="34" charset="-122"/>
                <a:cs typeface="Cambria" pitchFamily="34" charset="-120"/>
              </a:rPr>
              <a:t>2</a:t>
            </a:r>
            <a:endParaRPr lang="en-US" sz="3000" dirty="0"/>
          </a:p>
        </p:txBody>
      </p:sp>
      <p:sp>
        <p:nvSpPr>
          <p:cNvPr id="30" name="Text 23"/>
          <p:cNvSpPr txBox="1"/>
          <p:nvPr/>
        </p:nvSpPr>
        <p:spPr>
          <a:xfrm>
            <a:off x="3429000" y="3657600"/>
            <a:ext cx="2286000" cy="3200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Lead with their problem</a:t>
            </a:r>
            <a:endParaRPr lang="en-US" sz="1400" dirty="0"/>
          </a:p>
        </p:txBody>
      </p:sp>
      <p:sp>
        <p:nvSpPr>
          <p:cNvPr id="31" name="Text 24"/>
          <p:cNvSpPr txBox="1"/>
          <p:nvPr/>
        </p:nvSpPr>
        <p:spPr>
          <a:xfrm>
            <a:off x="3429000" y="4023360"/>
            <a:ext cx="2286000" cy="54864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Not with your product.</a:t>
            </a:r>
            <a:endParaRPr lang="en-US" sz="1150" dirty="0"/>
          </a:p>
        </p:txBody>
      </p:sp>
      <p:sp>
        <p:nvSpPr>
          <p:cNvPr id="32" name="Shape 25"/>
          <p:cNvSpPr/>
          <p:nvPr/>
        </p:nvSpPr>
        <p:spPr>
          <a:xfrm>
            <a:off x="6035040" y="3017520"/>
            <a:ext cx="2651760" cy="1645920"/>
          </a:xfrm>
          <a:prstGeom prst="roundRect">
            <a:avLst>
              <a:gd name="adj" fmla="val 5556"/>
            </a:avLst>
          </a:prstGeom>
          <a:solidFill>
            <a:srgbClr val="0C2622"/>
          </a:solidFill>
          <a:ln/>
          <a:effectLst>
            <a:outerShdw blurRad="101600" dist="25400" dir="5400000" algn="bl" rotWithShape="0">
              <a:srgbClr val="000000">
                <a:alpha val="10000"/>
              </a:srgbClr>
            </a:outerShdw>
          </a:effectLst>
        </p:spPr>
      </p:sp>
      <p:sp>
        <p:nvSpPr>
          <p:cNvPr id="33" name="Text 26"/>
          <p:cNvSpPr txBox="1"/>
          <p:nvPr/>
        </p:nvSpPr>
        <p:spPr>
          <a:xfrm>
            <a:off x="6217920" y="3108960"/>
            <a:ext cx="548640" cy="548640"/>
          </a:xfrm>
          <a:prstGeom prst="rect">
            <a:avLst/>
          </a:prstGeom>
          <a:noFill/>
          <a:ln/>
        </p:spPr>
        <p:txBody>
          <a:bodyPr wrap="square" lIns="0" tIns="0" rIns="0" bIns="0" rtlCol="0" anchor="t"/>
          <a:lstStyle/>
          <a:p>
            <a:pPr marL="0" indent="0" algn="l">
              <a:buNone/>
            </a:pPr>
            <a:r>
              <a:rPr lang="en-US" sz="3000" b="1" dirty="0">
                <a:solidFill>
                  <a:srgbClr val="F4A52A"/>
                </a:solidFill>
                <a:latin typeface="Cambria" pitchFamily="34" charset="0"/>
                <a:ea typeface="Cambria" pitchFamily="34" charset="-122"/>
                <a:cs typeface="Cambria" pitchFamily="34" charset="-120"/>
              </a:rPr>
              <a:t>3</a:t>
            </a:r>
            <a:endParaRPr lang="en-US" sz="3000" dirty="0"/>
          </a:p>
        </p:txBody>
      </p:sp>
      <p:sp>
        <p:nvSpPr>
          <p:cNvPr id="34" name="Text 27"/>
          <p:cNvSpPr txBox="1"/>
          <p:nvPr/>
        </p:nvSpPr>
        <p:spPr>
          <a:xfrm>
            <a:off x="6217920" y="3657600"/>
            <a:ext cx="2286000" cy="320040"/>
          </a:xfrm>
          <a:prstGeom prst="rect">
            <a:avLst/>
          </a:prstGeom>
          <a:noFill/>
          <a:ln/>
        </p:spPr>
        <p:txBody>
          <a:bodyPr wrap="square" lIns="0" tIns="0" rIns="0" bIns="0" rtlCol="0" anchor="t"/>
          <a:lstStyle/>
          <a:p>
            <a:pPr marL="0" indent="0" algn="l">
              <a:buNone/>
            </a:pPr>
            <a:r>
              <a:rPr lang="en-US" sz="1400" b="1" dirty="0">
                <a:solidFill>
                  <a:srgbClr val="FFFFFF"/>
                </a:solidFill>
                <a:latin typeface="Cambria" pitchFamily="34" charset="0"/>
                <a:ea typeface="Cambria" pitchFamily="34" charset="-122"/>
                <a:cs typeface="Cambria" pitchFamily="34" charset="-120"/>
              </a:rPr>
              <a:t>Never fake familiarity</a:t>
            </a:r>
            <a:endParaRPr lang="en-US" sz="1400" dirty="0"/>
          </a:p>
        </p:txBody>
      </p:sp>
      <p:sp>
        <p:nvSpPr>
          <p:cNvPr id="35" name="Text 28"/>
          <p:cNvSpPr txBox="1"/>
          <p:nvPr/>
        </p:nvSpPr>
        <p:spPr>
          <a:xfrm>
            <a:off x="6217920" y="4023360"/>
            <a:ext cx="2286000" cy="548640"/>
          </a:xfrm>
          <a:prstGeom prst="rect">
            <a:avLst/>
          </a:prstGeom>
          <a:noFill/>
          <a:ln/>
        </p:spPr>
        <p:txBody>
          <a:bodyPr wrap="square" lIns="0" tIns="0" rIns="0" bIns="0" rtlCol="0" anchor="t"/>
          <a:lstStyle/>
          <a:p>
            <a:pPr marL="0" indent="0" algn="l">
              <a:buNone/>
            </a:pPr>
            <a:r>
              <a:rPr lang="en-US" sz="1150" dirty="0">
                <a:solidFill>
                  <a:srgbClr val="DFF1EA"/>
                </a:solidFill>
                <a:latin typeface="Calibri" pitchFamily="34" charset="0"/>
                <a:ea typeface="Calibri" pitchFamily="34" charset="-122"/>
                <a:cs typeface="Calibri" pitchFamily="34" charset="-120"/>
              </a:rPr>
              <a:t>Don’t pretend to know what you don’t.</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Measure, then make assumptions killable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44</a:t>
            </a:r>
            <a:endParaRPr lang="en-US" sz="900" dirty="0"/>
          </a:p>
        </p:txBody>
      </p:sp>
      <p:sp>
        <p:nvSpPr>
          <p:cNvPr id="7" name="Shape 4"/>
          <p:cNvSpPr/>
          <p:nvPr/>
        </p:nvSpPr>
        <p:spPr>
          <a:xfrm>
            <a:off x="457200" y="1280160"/>
            <a:ext cx="4023360" cy="3383280"/>
          </a:xfrm>
          <a:prstGeom prst="roundRect">
            <a:avLst>
              <a:gd name="adj" fmla="val 2703"/>
            </a:avLst>
          </a:prstGeom>
          <a:solidFill>
            <a:srgbClr val="FFFFFF"/>
          </a:solidFill>
          <a:ln/>
          <a:effectLst>
            <a:outerShdw blurRad="101600" dist="25400" dir="5400000" algn="bl" rotWithShape="0">
              <a:srgbClr val="000000">
                <a:alpha val="10000"/>
              </a:srgbClr>
            </a:outerShdw>
          </a:effectLst>
        </p:spPr>
      </p:sp>
      <p:sp>
        <p:nvSpPr>
          <p:cNvPr id="8" name="Text 5"/>
          <p:cNvSpPr txBox="1"/>
          <p:nvPr/>
        </p:nvSpPr>
        <p:spPr>
          <a:xfrm>
            <a:off x="640080" y="1417320"/>
            <a:ext cx="3657600" cy="685800"/>
          </a:xfrm>
          <a:prstGeom prst="rect">
            <a:avLst/>
          </a:prstGeom>
          <a:noFill/>
          <a:ln/>
        </p:spPr>
        <p:txBody>
          <a:bodyPr wrap="square" lIns="0" tIns="0" rIns="0" bIns="0" rtlCol="0" anchor="t"/>
          <a:lstStyle/>
          <a:p>
            <a:pPr marL="0" indent="0" algn="l">
              <a:buNone/>
            </a:pPr>
            <a:r>
              <a:rPr lang="en-US" sz="1400" b="1" dirty="0">
                <a:solidFill>
                  <a:srgbClr val="12735B"/>
                </a:solidFill>
                <a:latin typeface="Cambria" pitchFamily="34" charset="0"/>
                <a:ea typeface="Cambria" pitchFamily="34" charset="-122"/>
                <a:cs typeface="Cambria" pitchFamily="34" charset="-120"/>
              </a:rPr>
              <a:t>Ask: </a:t>
            </a:r>
            <a:r>
              <a:rPr lang="en-US" sz="1400" dirty="0">
                <a:solidFill>
                  <a:srgbClr val="0C2622"/>
                </a:solidFill>
                <a:latin typeface="Cambria" pitchFamily="34" charset="0"/>
                <a:ea typeface="Cambria" pitchFamily="34" charset="-122"/>
                <a:cs typeface="Cambria" pitchFamily="34" charset="-120"/>
              </a:rPr>
              <a:t>What actually worked?
</a:t>
            </a:r>
            <a:r>
              <a:rPr lang="en-US" sz="1400" b="1" dirty="0">
                <a:solidFill>
                  <a:srgbClr val="C93B4B"/>
                </a:solidFill>
                <a:latin typeface="Cambria" pitchFamily="34" charset="0"/>
                <a:ea typeface="Cambria" pitchFamily="34" charset="-122"/>
                <a:cs typeface="Cambria" pitchFamily="34" charset="-120"/>
              </a:rPr>
              <a:t>Not: </a:t>
            </a:r>
            <a:r>
              <a:rPr lang="en-US" sz="1400" dirty="0">
                <a:solidFill>
                  <a:srgbClr val="0C2622"/>
                </a:solidFill>
                <a:latin typeface="Cambria" pitchFamily="34" charset="0"/>
                <a:ea typeface="Cambria" pitchFamily="34" charset="-122"/>
                <a:cs typeface="Cambria" pitchFamily="34" charset="-120"/>
              </a:rPr>
              <a:t>What did we think would work?</a:t>
            </a:r>
            <a:endParaRPr lang="en-US" sz="1400" dirty="0"/>
          </a:p>
        </p:txBody>
      </p:sp>
      <p:sp>
        <p:nvSpPr>
          <p:cNvPr id="9" name="Text 6"/>
          <p:cNvSpPr txBox="1"/>
          <p:nvPr/>
        </p:nvSpPr>
        <p:spPr>
          <a:xfrm>
            <a:off x="640080" y="2286000"/>
            <a:ext cx="2743200" cy="182880"/>
          </a:xfrm>
          <a:prstGeom prst="rect">
            <a:avLst/>
          </a:prstGeom>
          <a:noFill/>
          <a:ln/>
        </p:spPr>
        <p:txBody>
          <a:bodyPr wrap="square" lIns="0" tIns="0" rIns="0" bIns="0" rtlCol="0" anchor="t"/>
          <a:lstStyle/>
          <a:p>
            <a:pPr marL="0" indent="0" algn="l">
              <a:buNone/>
            </a:pPr>
            <a:r>
              <a:rPr lang="en-US" sz="950" b="1" kern="0" spc="150" dirty="0">
                <a:solidFill>
                  <a:srgbClr val="587068"/>
                </a:solidFill>
                <a:latin typeface="Calibri" pitchFamily="34" charset="0"/>
                <a:ea typeface="Calibri" pitchFamily="34" charset="-122"/>
                <a:cs typeface="Calibri" pitchFamily="34" charset="-120"/>
              </a:rPr>
              <a:t>MEASURE</a:t>
            </a:r>
            <a:endParaRPr lang="en-US" sz="950" dirty="0"/>
          </a:p>
        </p:txBody>
      </p:sp>
      <p:sp>
        <p:nvSpPr>
          <p:cNvPr id="10" name="Shape 7"/>
          <p:cNvSpPr/>
          <p:nvPr/>
        </p:nvSpPr>
        <p:spPr>
          <a:xfrm>
            <a:off x="640080" y="2560320"/>
            <a:ext cx="689458" cy="329184"/>
          </a:xfrm>
          <a:prstGeom prst="roundRect">
            <a:avLst>
              <a:gd name="adj" fmla="val 50000"/>
            </a:avLst>
          </a:prstGeom>
          <a:solidFill>
            <a:srgbClr val="DFF1EA"/>
          </a:solidFill>
          <a:ln/>
        </p:spPr>
      </p:sp>
      <p:sp>
        <p:nvSpPr>
          <p:cNvPr id="11" name="Text 8"/>
          <p:cNvSpPr txBox="1"/>
          <p:nvPr/>
        </p:nvSpPr>
        <p:spPr>
          <a:xfrm>
            <a:off x="640080" y="2560320"/>
            <a:ext cx="689458"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Leads</a:t>
            </a:r>
            <a:endParaRPr lang="en-US" sz="1150" dirty="0"/>
          </a:p>
        </p:txBody>
      </p:sp>
      <p:sp>
        <p:nvSpPr>
          <p:cNvPr id="12" name="Shape 9"/>
          <p:cNvSpPr/>
          <p:nvPr/>
        </p:nvSpPr>
        <p:spPr>
          <a:xfrm>
            <a:off x="1420978" y="2560320"/>
            <a:ext cx="1295156" cy="329184"/>
          </a:xfrm>
          <a:prstGeom prst="roundRect">
            <a:avLst>
              <a:gd name="adj" fmla="val 50000"/>
            </a:avLst>
          </a:prstGeom>
          <a:solidFill>
            <a:srgbClr val="DFF1EA"/>
          </a:solidFill>
          <a:ln/>
        </p:spPr>
      </p:sp>
      <p:sp>
        <p:nvSpPr>
          <p:cNvPr id="13" name="Text 10"/>
          <p:cNvSpPr txBox="1"/>
          <p:nvPr/>
        </p:nvSpPr>
        <p:spPr>
          <a:xfrm>
            <a:off x="1420978" y="2560320"/>
            <a:ext cx="1295156"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Response rate</a:t>
            </a:r>
            <a:endParaRPr lang="en-US" sz="1150" dirty="0"/>
          </a:p>
        </p:txBody>
      </p:sp>
      <p:sp>
        <p:nvSpPr>
          <p:cNvPr id="14" name="Shape 11"/>
          <p:cNvSpPr/>
          <p:nvPr/>
        </p:nvSpPr>
        <p:spPr>
          <a:xfrm>
            <a:off x="2807574" y="2560320"/>
            <a:ext cx="916595" cy="329184"/>
          </a:xfrm>
          <a:prstGeom prst="roundRect">
            <a:avLst>
              <a:gd name="adj" fmla="val 50000"/>
            </a:avLst>
          </a:prstGeom>
          <a:solidFill>
            <a:srgbClr val="DFF1EA"/>
          </a:solidFill>
          <a:ln/>
        </p:spPr>
      </p:sp>
      <p:sp>
        <p:nvSpPr>
          <p:cNvPr id="15" name="Text 12"/>
          <p:cNvSpPr txBox="1"/>
          <p:nvPr/>
        </p:nvSpPr>
        <p:spPr>
          <a:xfrm>
            <a:off x="2807574" y="2560320"/>
            <a:ext cx="916595"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Meetings</a:t>
            </a:r>
            <a:endParaRPr lang="en-US" sz="1150" dirty="0"/>
          </a:p>
        </p:txBody>
      </p:sp>
      <p:sp>
        <p:nvSpPr>
          <p:cNvPr id="16" name="Shape 13"/>
          <p:cNvSpPr/>
          <p:nvPr/>
        </p:nvSpPr>
        <p:spPr>
          <a:xfrm>
            <a:off x="640080" y="2980944"/>
            <a:ext cx="765170" cy="329184"/>
          </a:xfrm>
          <a:prstGeom prst="roundRect">
            <a:avLst>
              <a:gd name="adj" fmla="val 50000"/>
            </a:avLst>
          </a:prstGeom>
          <a:solidFill>
            <a:srgbClr val="DFF1EA"/>
          </a:solidFill>
          <a:ln/>
        </p:spPr>
      </p:sp>
      <p:sp>
        <p:nvSpPr>
          <p:cNvPr id="17" name="Text 14"/>
          <p:cNvSpPr txBox="1"/>
          <p:nvPr/>
        </p:nvSpPr>
        <p:spPr>
          <a:xfrm>
            <a:off x="640080" y="2980944"/>
            <a:ext cx="765170"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Trials</a:t>
            </a:r>
            <a:endParaRPr lang="en-US" sz="1150" dirty="0"/>
          </a:p>
        </p:txBody>
      </p:sp>
      <p:sp>
        <p:nvSpPr>
          <p:cNvPr id="18" name="Shape 15"/>
          <p:cNvSpPr/>
          <p:nvPr/>
        </p:nvSpPr>
        <p:spPr>
          <a:xfrm>
            <a:off x="1496690" y="2980944"/>
            <a:ext cx="1068019" cy="329184"/>
          </a:xfrm>
          <a:prstGeom prst="roundRect">
            <a:avLst>
              <a:gd name="adj" fmla="val 50000"/>
            </a:avLst>
          </a:prstGeom>
          <a:solidFill>
            <a:srgbClr val="DFF1EA"/>
          </a:solidFill>
          <a:ln/>
        </p:spPr>
      </p:sp>
      <p:sp>
        <p:nvSpPr>
          <p:cNvPr id="19" name="Text 16"/>
          <p:cNvSpPr txBox="1"/>
          <p:nvPr/>
        </p:nvSpPr>
        <p:spPr>
          <a:xfrm>
            <a:off x="1496690" y="2980944"/>
            <a:ext cx="1068019"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Activation</a:t>
            </a:r>
            <a:endParaRPr lang="en-US" sz="1150" dirty="0"/>
          </a:p>
        </p:txBody>
      </p:sp>
      <p:sp>
        <p:nvSpPr>
          <p:cNvPr id="20" name="Shape 17"/>
          <p:cNvSpPr/>
          <p:nvPr/>
        </p:nvSpPr>
        <p:spPr>
          <a:xfrm>
            <a:off x="2656149" y="2980944"/>
            <a:ext cx="1068019" cy="329184"/>
          </a:xfrm>
          <a:prstGeom prst="roundRect">
            <a:avLst>
              <a:gd name="adj" fmla="val 50000"/>
            </a:avLst>
          </a:prstGeom>
          <a:solidFill>
            <a:srgbClr val="DFF1EA"/>
          </a:solidFill>
          <a:ln/>
        </p:spPr>
      </p:sp>
      <p:sp>
        <p:nvSpPr>
          <p:cNvPr id="21" name="Text 18"/>
          <p:cNvSpPr txBox="1"/>
          <p:nvPr/>
        </p:nvSpPr>
        <p:spPr>
          <a:xfrm>
            <a:off x="2656149" y="2980944"/>
            <a:ext cx="1068019"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Conversion</a:t>
            </a:r>
            <a:endParaRPr lang="en-US" sz="1150" dirty="0"/>
          </a:p>
        </p:txBody>
      </p:sp>
      <p:sp>
        <p:nvSpPr>
          <p:cNvPr id="22" name="Shape 19"/>
          <p:cNvSpPr/>
          <p:nvPr/>
        </p:nvSpPr>
        <p:spPr>
          <a:xfrm>
            <a:off x="640080" y="3401568"/>
            <a:ext cx="1522293" cy="329184"/>
          </a:xfrm>
          <a:prstGeom prst="roundRect">
            <a:avLst>
              <a:gd name="adj" fmla="val 50000"/>
            </a:avLst>
          </a:prstGeom>
          <a:solidFill>
            <a:srgbClr val="DFF1EA"/>
          </a:solidFill>
          <a:ln/>
        </p:spPr>
      </p:sp>
      <p:sp>
        <p:nvSpPr>
          <p:cNvPr id="23" name="Text 20"/>
          <p:cNvSpPr txBox="1"/>
          <p:nvPr/>
        </p:nvSpPr>
        <p:spPr>
          <a:xfrm>
            <a:off x="640080" y="3401568"/>
            <a:ext cx="1522293"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Acquisition cost</a:t>
            </a:r>
            <a:endParaRPr lang="en-US" sz="1150" dirty="0"/>
          </a:p>
        </p:txBody>
      </p:sp>
      <p:sp>
        <p:nvSpPr>
          <p:cNvPr id="24" name="Shape 21"/>
          <p:cNvSpPr/>
          <p:nvPr/>
        </p:nvSpPr>
        <p:spPr>
          <a:xfrm>
            <a:off x="2253813" y="3401568"/>
            <a:ext cx="840882" cy="329184"/>
          </a:xfrm>
          <a:prstGeom prst="roundRect">
            <a:avLst>
              <a:gd name="adj" fmla="val 50000"/>
            </a:avLst>
          </a:prstGeom>
          <a:solidFill>
            <a:srgbClr val="DFF1EA"/>
          </a:solidFill>
          <a:ln/>
        </p:spPr>
      </p:sp>
      <p:sp>
        <p:nvSpPr>
          <p:cNvPr id="25" name="Text 22"/>
          <p:cNvSpPr txBox="1"/>
          <p:nvPr/>
        </p:nvSpPr>
        <p:spPr>
          <a:xfrm>
            <a:off x="2253813" y="3401568"/>
            <a:ext cx="840882"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Revenue</a:t>
            </a:r>
            <a:endParaRPr lang="en-US" sz="1150" dirty="0"/>
          </a:p>
        </p:txBody>
      </p:sp>
      <p:sp>
        <p:nvSpPr>
          <p:cNvPr id="26" name="Shape 23"/>
          <p:cNvSpPr/>
          <p:nvPr/>
        </p:nvSpPr>
        <p:spPr>
          <a:xfrm>
            <a:off x="3186135" y="3401568"/>
            <a:ext cx="992307" cy="329184"/>
          </a:xfrm>
          <a:prstGeom prst="roundRect">
            <a:avLst>
              <a:gd name="adj" fmla="val 50000"/>
            </a:avLst>
          </a:prstGeom>
          <a:solidFill>
            <a:srgbClr val="DFF1EA"/>
          </a:solidFill>
          <a:ln/>
        </p:spPr>
      </p:sp>
      <p:sp>
        <p:nvSpPr>
          <p:cNvPr id="27" name="Text 24"/>
          <p:cNvSpPr txBox="1"/>
          <p:nvPr/>
        </p:nvSpPr>
        <p:spPr>
          <a:xfrm>
            <a:off x="3186135" y="3401568"/>
            <a:ext cx="992307"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Retention</a:t>
            </a:r>
            <a:endParaRPr lang="en-US" sz="1150" dirty="0"/>
          </a:p>
        </p:txBody>
      </p:sp>
      <p:sp>
        <p:nvSpPr>
          <p:cNvPr id="28" name="Shape 25"/>
          <p:cNvSpPr/>
          <p:nvPr/>
        </p:nvSpPr>
        <p:spPr>
          <a:xfrm>
            <a:off x="640080" y="3822192"/>
            <a:ext cx="1522293" cy="329184"/>
          </a:xfrm>
          <a:prstGeom prst="roundRect">
            <a:avLst>
              <a:gd name="adj" fmla="val 50000"/>
            </a:avLst>
          </a:prstGeom>
          <a:solidFill>
            <a:srgbClr val="DFF1EA"/>
          </a:solidFill>
          <a:ln/>
        </p:spPr>
      </p:sp>
      <p:sp>
        <p:nvSpPr>
          <p:cNvPr id="29" name="Text 26"/>
          <p:cNvSpPr txBox="1"/>
          <p:nvPr/>
        </p:nvSpPr>
        <p:spPr>
          <a:xfrm>
            <a:off x="640080" y="3822192"/>
            <a:ext cx="1522293"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Repeat purchases</a:t>
            </a:r>
            <a:endParaRPr lang="en-US" sz="1150" dirty="0"/>
          </a:p>
        </p:txBody>
      </p:sp>
      <p:sp>
        <p:nvSpPr>
          <p:cNvPr id="30" name="Shape 27"/>
          <p:cNvSpPr/>
          <p:nvPr/>
        </p:nvSpPr>
        <p:spPr>
          <a:xfrm>
            <a:off x="2253813" y="3822192"/>
            <a:ext cx="992307" cy="329184"/>
          </a:xfrm>
          <a:prstGeom prst="roundRect">
            <a:avLst>
              <a:gd name="adj" fmla="val 50000"/>
            </a:avLst>
          </a:prstGeom>
          <a:solidFill>
            <a:srgbClr val="DFF1EA"/>
          </a:solidFill>
          <a:ln/>
        </p:spPr>
      </p:sp>
      <p:sp>
        <p:nvSpPr>
          <p:cNvPr id="31" name="Text 28"/>
          <p:cNvSpPr txBox="1"/>
          <p:nvPr/>
        </p:nvSpPr>
        <p:spPr>
          <a:xfrm>
            <a:off x="2253813" y="3822192"/>
            <a:ext cx="992307" cy="329184"/>
          </a:xfrm>
          <a:prstGeom prst="rect">
            <a:avLst/>
          </a:prstGeom>
          <a:noFill/>
          <a:ln/>
        </p:spPr>
        <p:txBody>
          <a:bodyPr wrap="square" lIns="0" tIns="0" rIns="0" bIns="0" rtlCol="0" anchor="ctr"/>
          <a:lstStyle/>
          <a:p>
            <a:pPr marL="0" indent="0" algn="ctr">
              <a:buNone/>
            </a:pPr>
            <a:r>
              <a:rPr lang="en-US" sz="1150" dirty="0">
                <a:solidFill>
                  <a:srgbClr val="0C2622"/>
                </a:solidFill>
                <a:latin typeface="Calibri" pitchFamily="34" charset="0"/>
                <a:ea typeface="Calibri" pitchFamily="34" charset="-122"/>
                <a:cs typeface="Calibri" pitchFamily="34" charset="-120"/>
              </a:rPr>
              <a:t>Referrals</a:t>
            </a:r>
            <a:endParaRPr lang="en-US" sz="1150" dirty="0"/>
          </a:p>
        </p:txBody>
      </p:sp>
      <p:sp>
        <p:nvSpPr>
          <p:cNvPr id="32" name="Shape 29"/>
          <p:cNvSpPr/>
          <p:nvPr/>
        </p:nvSpPr>
        <p:spPr>
          <a:xfrm>
            <a:off x="4663440" y="1280160"/>
            <a:ext cx="4023360" cy="3383280"/>
          </a:xfrm>
          <a:prstGeom prst="roundRect">
            <a:avLst>
              <a:gd name="adj" fmla="val 2703"/>
            </a:avLst>
          </a:prstGeom>
          <a:solidFill>
            <a:srgbClr val="0C2622"/>
          </a:solidFill>
          <a:ln/>
          <a:effectLst>
            <a:outerShdw blurRad="101600" dist="25400" dir="5400000" algn="bl" rotWithShape="0">
              <a:srgbClr val="000000">
                <a:alpha val="10000"/>
              </a:srgbClr>
            </a:outerShdw>
          </a:effectLst>
        </p:spPr>
      </p:sp>
      <p:sp>
        <p:nvSpPr>
          <p:cNvPr id="33" name="Text 30"/>
          <p:cNvSpPr txBox="1"/>
          <p:nvPr/>
        </p:nvSpPr>
        <p:spPr>
          <a:xfrm>
            <a:off x="4892040" y="1444752"/>
            <a:ext cx="365760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KILLABLE-ASSUMPTIONS PROMPT</a:t>
            </a:r>
            <a:endParaRPr lang="en-US" sz="950" dirty="0"/>
          </a:p>
        </p:txBody>
      </p:sp>
      <p:sp>
        <p:nvSpPr>
          <p:cNvPr id="34" name="Text 31"/>
          <p:cNvSpPr txBox="1"/>
          <p:nvPr/>
        </p:nvSpPr>
        <p:spPr>
          <a:xfrm>
            <a:off x="4892040" y="1737360"/>
            <a:ext cx="3566160" cy="457200"/>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Identify the five most important assumptions. For each, define:</a:t>
            </a:r>
            <a:endParaRPr lang="en-US" sz="1200" dirty="0"/>
          </a:p>
        </p:txBody>
      </p:sp>
      <p:sp>
        <p:nvSpPr>
          <p:cNvPr id="35" name="Shape 32"/>
          <p:cNvSpPr/>
          <p:nvPr/>
        </p:nvSpPr>
        <p:spPr>
          <a:xfrm>
            <a:off x="4892040" y="2304288"/>
            <a:ext cx="219456" cy="219456"/>
          </a:xfrm>
          <a:prstGeom prst="ellipse">
            <a:avLst/>
          </a:prstGeom>
          <a:solidFill>
            <a:srgbClr val="F4A52A"/>
          </a:solidFill>
          <a:ln/>
        </p:spPr>
      </p:sp>
      <p:sp>
        <p:nvSpPr>
          <p:cNvPr id="36" name="Text 33"/>
          <p:cNvSpPr txBox="1"/>
          <p:nvPr/>
        </p:nvSpPr>
        <p:spPr>
          <a:xfrm>
            <a:off x="4892040" y="2304288"/>
            <a:ext cx="219456" cy="219456"/>
          </a:xfrm>
          <a:prstGeom prst="rect">
            <a:avLst/>
          </a:prstGeom>
          <a:noFill/>
          <a:ln/>
        </p:spPr>
        <p:txBody>
          <a:bodyPr wrap="square" lIns="0" tIns="0" rIns="0" bIns="0" rtlCol="0" anchor="ctr"/>
          <a:lstStyle/>
          <a:p>
            <a:pPr marL="0" indent="0" algn="ctr">
              <a:buNone/>
            </a:pPr>
            <a:r>
              <a:rPr lang="en-US" sz="900" b="1" dirty="0">
                <a:solidFill>
                  <a:srgbClr val="0C2622"/>
                </a:solidFill>
                <a:latin typeface="Calibri" pitchFamily="34" charset="0"/>
                <a:ea typeface="Calibri" pitchFamily="34" charset="-122"/>
                <a:cs typeface="Calibri" pitchFamily="34" charset="-120"/>
              </a:rPr>
              <a:t>1</a:t>
            </a:r>
            <a:endParaRPr lang="en-US" sz="900" dirty="0"/>
          </a:p>
        </p:txBody>
      </p:sp>
      <p:sp>
        <p:nvSpPr>
          <p:cNvPr id="37" name="Text 34"/>
          <p:cNvSpPr txBox="1"/>
          <p:nvPr/>
        </p:nvSpPr>
        <p:spPr>
          <a:xfrm>
            <a:off x="5257800" y="2286000"/>
            <a:ext cx="3200400" cy="256032"/>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ASSUMPTION</a:t>
            </a:r>
            <a:endParaRPr lang="en-US" sz="1100" dirty="0"/>
          </a:p>
        </p:txBody>
      </p:sp>
      <p:sp>
        <p:nvSpPr>
          <p:cNvPr id="38" name="Shape 35"/>
          <p:cNvSpPr/>
          <p:nvPr/>
        </p:nvSpPr>
        <p:spPr>
          <a:xfrm>
            <a:off x="4892040" y="2606040"/>
            <a:ext cx="219456" cy="219456"/>
          </a:xfrm>
          <a:prstGeom prst="ellipse">
            <a:avLst/>
          </a:prstGeom>
          <a:solidFill>
            <a:srgbClr val="F4A52A"/>
          </a:solidFill>
          <a:ln/>
        </p:spPr>
      </p:sp>
      <p:sp>
        <p:nvSpPr>
          <p:cNvPr id="39" name="Text 36"/>
          <p:cNvSpPr txBox="1"/>
          <p:nvPr/>
        </p:nvSpPr>
        <p:spPr>
          <a:xfrm>
            <a:off x="4892040" y="2606040"/>
            <a:ext cx="219456" cy="219456"/>
          </a:xfrm>
          <a:prstGeom prst="rect">
            <a:avLst/>
          </a:prstGeom>
          <a:noFill/>
          <a:ln/>
        </p:spPr>
        <p:txBody>
          <a:bodyPr wrap="square" lIns="0" tIns="0" rIns="0" bIns="0" rtlCol="0" anchor="ctr"/>
          <a:lstStyle/>
          <a:p>
            <a:pPr marL="0" indent="0" algn="ctr">
              <a:buNone/>
            </a:pPr>
            <a:r>
              <a:rPr lang="en-US" sz="900" b="1" dirty="0">
                <a:solidFill>
                  <a:srgbClr val="0C2622"/>
                </a:solidFill>
                <a:latin typeface="Calibri" pitchFamily="34" charset="0"/>
                <a:ea typeface="Calibri" pitchFamily="34" charset="-122"/>
                <a:cs typeface="Calibri" pitchFamily="34" charset="-120"/>
              </a:rPr>
              <a:t>2</a:t>
            </a:r>
            <a:endParaRPr lang="en-US" sz="900" dirty="0"/>
          </a:p>
        </p:txBody>
      </p:sp>
      <p:sp>
        <p:nvSpPr>
          <p:cNvPr id="40" name="Text 37"/>
          <p:cNvSpPr txBox="1"/>
          <p:nvPr/>
        </p:nvSpPr>
        <p:spPr>
          <a:xfrm>
            <a:off x="5257800" y="2587752"/>
            <a:ext cx="3200400" cy="256032"/>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METRIC</a:t>
            </a:r>
            <a:endParaRPr lang="en-US" sz="1100" dirty="0"/>
          </a:p>
        </p:txBody>
      </p:sp>
      <p:sp>
        <p:nvSpPr>
          <p:cNvPr id="41" name="Shape 38"/>
          <p:cNvSpPr/>
          <p:nvPr/>
        </p:nvSpPr>
        <p:spPr>
          <a:xfrm>
            <a:off x="4892040" y="2907792"/>
            <a:ext cx="219456" cy="219456"/>
          </a:xfrm>
          <a:prstGeom prst="ellipse">
            <a:avLst/>
          </a:prstGeom>
          <a:solidFill>
            <a:srgbClr val="F4A52A"/>
          </a:solidFill>
          <a:ln/>
        </p:spPr>
      </p:sp>
      <p:sp>
        <p:nvSpPr>
          <p:cNvPr id="42" name="Text 39"/>
          <p:cNvSpPr txBox="1"/>
          <p:nvPr/>
        </p:nvSpPr>
        <p:spPr>
          <a:xfrm>
            <a:off x="4892040" y="2907792"/>
            <a:ext cx="219456" cy="219456"/>
          </a:xfrm>
          <a:prstGeom prst="rect">
            <a:avLst/>
          </a:prstGeom>
          <a:noFill/>
          <a:ln/>
        </p:spPr>
        <p:txBody>
          <a:bodyPr wrap="square" lIns="0" tIns="0" rIns="0" bIns="0" rtlCol="0" anchor="ctr"/>
          <a:lstStyle/>
          <a:p>
            <a:pPr marL="0" indent="0" algn="ctr">
              <a:buNone/>
            </a:pPr>
            <a:r>
              <a:rPr lang="en-US" sz="900" b="1" dirty="0">
                <a:solidFill>
                  <a:srgbClr val="0C2622"/>
                </a:solidFill>
                <a:latin typeface="Calibri" pitchFamily="34" charset="0"/>
                <a:ea typeface="Calibri" pitchFamily="34" charset="-122"/>
                <a:cs typeface="Calibri" pitchFamily="34" charset="-120"/>
              </a:rPr>
              <a:t>3</a:t>
            </a:r>
            <a:endParaRPr lang="en-US" sz="900" dirty="0"/>
          </a:p>
        </p:txBody>
      </p:sp>
      <p:sp>
        <p:nvSpPr>
          <p:cNvPr id="43" name="Text 40"/>
          <p:cNvSpPr txBox="1"/>
          <p:nvPr/>
        </p:nvSpPr>
        <p:spPr>
          <a:xfrm>
            <a:off x="5257800" y="2889504"/>
            <a:ext cx="3200400" cy="256032"/>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TEST</a:t>
            </a:r>
            <a:endParaRPr lang="en-US" sz="1100" dirty="0"/>
          </a:p>
        </p:txBody>
      </p:sp>
      <p:sp>
        <p:nvSpPr>
          <p:cNvPr id="44" name="Shape 41"/>
          <p:cNvSpPr/>
          <p:nvPr/>
        </p:nvSpPr>
        <p:spPr>
          <a:xfrm>
            <a:off x="4892040" y="3209544"/>
            <a:ext cx="219456" cy="219456"/>
          </a:xfrm>
          <a:prstGeom prst="ellipse">
            <a:avLst/>
          </a:prstGeom>
          <a:solidFill>
            <a:srgbClr val="F4A52A"/>
          </a:solidFill>
          <a:ln/>
        </p:spPr>
      </p:sp>
      <p:sp>
        <p:nvSpPr>
          <p:cNvPr id="45" name="Text 42"/>
          <p:cNvSpPr txBox="1"/>
          <p:nvPr/>
        </p:nvSpPr>
        <p:spPr>
          <a:xfrm>
            <a:off x="4892040" y="3209544"/>
            <a:ext cx="219456" cy="219456"/>
          </a:xfrm>
          <a:prstGeom prst="rect">
            <a:avLst/>
          </a:prstGeom>
          <a:noFill/>
          <a:ln/>
        </p:spPr>
        <p:txBody>
          <a:bodyPr wrap="square" lIns="0" tIns="0" rIns="0" bIns="0" rtlCol="0" anchor="ctr"/>
          <a:lstStyle/>
          <a:p>
            <a:pPr marL="0" indent="0" algn="ctr">
              <a:buNone/>
            </a:pPr>
            <a:r>
              <a:rPr lang="en-US" sz="900" b="1" dirty="0">
                <a:solidFill>
                  <a:srgbClr val="0C2622"/>
                </a:solidFill>
                <a:latin typeface="Calibri" pitchFamily="34" charset="0"/>
                <a:ea typeface="Calibri" pitchFamily="34" charset="-122"/>
                <a:cs typeface="Calibri" pitchFamily="34" charset="-120"/>
              </a:rPr>
              <a:t>4</a:t>
            </a:r>
            <a:endParaRPr lang="en-US" sz="900" dirty="0"/>
          </a:p>
        </p:txBody>
      </p:sp>
      <p:sp>
        <p:nvSpPr>
          <p:cNvPr id="46" name="Text 43"/>
          <p:cNvSpPr txBox="1"/>
          <p:nvPr/>
        </p:nvSpPr>
        <p:spPr>
          <a:xfrm>
            <a:off x="5257800" y="3191256"/>
            <a:ext cx="3200400" cy="256032"/>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DEADLINE</a:t>
            </a:r>
            <a:endParaRPr lang="en-US" sz="1100" dirty="0"/>
          </a:p>
        </p:txBody>
      </p:sp>
      <p:sp>
        <p:nvSpPr>
          <p:cNvPr id="47" name="Shape 44"/>
          <p:cNvSpPr/>
          <p:nvPr/>
        </p:nvSpPr>
        <p:spPr>
          <a:xfrm>
            <a:off x="4892040" y="3511296"/>
            <a:ext cx="219456" cy="219456"/>
          </a:xfrm>
          <a:prstGeom prst="ellipse">
            <a:avLst/>
          </a:prstGeom>
          <a:solidFill>
            <a:srgbClr val="F4A52A"/>
          </a:solidFill>
          <a:ln/>
        </p:spPr>
      </p:sp>
      <p:sp>
        <p:nvSpPr>
          <p:cNvPr id="48" name="Text 45"/>
          <p:cNvSpPr txBox="1"/>
          <p:nvPr/>
        </p:nvSpPr>
        <p:spPr>
          <a:xfrm>
            <a:off x="4892040" y="3511296"/>
            <a:ext cx="219456" cy="219456"/>
          </a:xfrm>
          <a:prstGeom prst="rect">
            <a:avLst/>
          </a:prstGeom>
          <a:noFill/>
          <a:ln/>
        </p:spPr>
        <p:txBody>
          <a:bodyPr wrap="square" lIns="0" tIns="0" rIns="0" bIns="0" rtlCol="0" anchor="ctr"/>
          <a:lstStyle/>
          <a:p>
            <a:pPr marL="0" indent="0" algn="ctr">
              <a:buNone/>
            </a:pPr>
            <a:r>
              <a:rPr lang="en-US" sz="900" b="1" dirty="0">
                <a:solidFill>
                  <a:srgbClr val="0C2622"/>
                </a:solidFill>
                <a:latin typeface="Calibri" pitchFamily="34" charset="0"/>
                <a:ea typeface="Calibri" pitchFamily="34" charset="-122"/>
                <a:cs typeface="Calibri" pitchFamily="34" charset="-120"/>
              </a:rPr>
              <a:t>5</a:t>
            </a:r>
            <a:endParaRPr lang="en-US" sz="900" dirty="0"/>
          </a:p>
        </p:txBody>
      </p:sp>
      <p:sp>
        <p:nvSpPr>
          <p:cNvPr id="49" name="Text 46"/>
          <p:cNvSpPr txBox="1"/>
          <p:nvPr/>
        </p:nvSpPr>
        <p:spPr>
          <a:xfrm>
            <a:off x="5257800" y="3493008"/>
            <a:ext cx="3200400" cy="256032"/>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FAILURE THRESHOLD</a:t>
            </a:r>
            <a:endParaRPr lang="en-US" sz="1100" dirty="0"/>
          </a:p>
        </p:txBody>
      </p:sp>
      <p:sp>
        <p:nvSpPr>
          <p:cNvPr id="50" name="Shape 47"/>
          <p:cNvSpPr/>
          <p:nvPr/>
        </p:nvSpPr>
        <p:spPr>
          <a:xfrm>
            <a:off x="4892040" y="3813048"/>
            <a:ext cx="219456" cy="219456"/>
          </a:xfrm>
          <a:prstGeom prst="ellipse">
            <a:avLst/>
          </a:prstGeom>
          <a:solidFill>
            <a:srgbClr val="F4A52A"/>
          </a:solidFill>
          <a:ln/>
        </p:spPr>
      </p:sp>
      <p:sp>
        <p:nvSpPr>
          <p:cNvPr id="51" name="Text 48"/>
          <p:cNvSpPr txBox="1"/>
          <p:nvPr/>
        </p:nvSpPr>
        <p:spPr>
          <a:xfrm>
            <a:off x="4892040" y="3813048"/>
            <a:ext cx="219456" cy="219456"/>
          </a:xfrm>
          <a:prstGeom prst="rect">
            <a:avLst/>
          </a:prstGeom>
          <a:noFill/>
          <a:ln/>
        </p:spPr>
        <p:txBody>
          <a:bodyPr wrap="square" lIns="0" tIns="0" rIns="0" bIns="0" rtlCol="0" anchor="ctr"/>
          <a:lstStyle/>
          <a:p>
            <a:pPr marL="0" indent="0" algn="ctr">
              <a:buNone/>
            </a:pPr>
            <a:r>
              <a:rPr lang="en-US" sz="900" b="1" dirty="0">
                <a:solidFill>
                  <a:srgbClr val="0C2622"/>
                </a:solidFill>
                <a:latin typeface="Calibri" pitchFamily="34" charset="0"/>
                <a:ea typeface="Calibri" pitchFamily="34" charset="-122"/>
                <a:cs typeface="Calibri" pitchFamily="34" charset="-120"/>
              </a:rPr>
              <a:t>6</a:t>
            </a:r>
            <a:endParaRPr lang="en-US" sz="900" dirty="0"/>
          </a:p>
        </p:txBody>
      </p:sp>
      <p:sp>
        <p:nvSpPr>
          <p:cNvPr id="52" name="Text 49"/>
          <p:cNvSpPr txBox="1"/>
          <p:nvPr/>
        </p:nvSpPr>
        <p:spPr>
          <a:xfrm>
            <a:off x="5257800" y="3794760"/>
            <a:ext cx="3200400" cy="256032"/>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RESPONSE IF WRONG</a:t>
            </a:r>
            <a:endParaRPr lang="en-US" sz="1100" dirty="0"/>
          </a:p>
        </p:txBody>
      </p:sp>
      <p:sp>
        <p:nvSpPr>
          <p:cNvPr id="53" name="Text 50"/>
          <p:cNvSpPr txBox="1"/>
          <p:nvPr/>
        </p:nvSpPr>
        <p:spPr>
          <a:xfrm>
            <a:off x="4892040" y="4160520"/>
            <a:ext cx="3566160" cy="411480"/>
          </a:xfrm>
          <a:prstGeom prst="rect">
            <a:avLst/>
          </a:prstGeom>
          <a:noFill/>
          <a:ln/>
        </p:spPr>
        <p:txBody>
          <a:bodyPr wrap="square" lIns="0" tIns="0" rIns="0" bIns="0" rtlCol="0" anchor="t"/>
          <a:lstStyle/>
          <a:p>
            <a:pPr marL="0" indent="0" algn="l">
              <a:buNone/>
            </a:pPr>
            <a:r>
              <a:rPr lang="en-US" sz="1150" i="1" dirty="0">
                <a:solidFill>
                  <a:srgbClr val="DFF1EA"/>
                </a:solidFill>
                <a:latin typeface="Calibri" pitchFamily="34" charset="0"/>
                <a:ea typeface="Calibri" pitchFamily="34" charset="-122"/>
                <a:cs typeface="Calibri" pitchFamily="34" charset="-120"/>
              </a:rPr>
              <a:t>Learn quickly — don’t defend the original idea.</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6 · GO-TO-MARKET</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Diagnose the bottleneck</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45</a:t>
            </a:r>
            <a:endParaRPr lang="en-US" sz="900" dirty="0"/>
          </a:p>
        </p:txBody>
      </p:sp>
      <p:sp>
        <p:nvSpPr>
          <p:cNvPr id="7" name="Text 4"/>
          <p:cNvSpPr txBox="1"/>
          <p:nvPr/>
        </p:nvSpPr>
        <p:spPr>
          <a:xfrm>
            <a:off x="457200" y="1280160"/>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FEED IT YOUR RESULTS</a:t>
            </a:r>
            <a:endParaRPr lang="en-US" sz="950" dirty="0"/>
          </a:p>
        </p:txBody>
      </p:sp>
      <p:sp>
        <p:nvSpPr>
          <p:cNvPr id="8" name="Shape 5"/>
          <p:cNvSpPr/>
          <p:nvPr/>
        </p:nvSpPr>
        <p:spPr>
          <a:xfrm>
            <a:off x="457200" y="1554480"/>
            <a:ext cx="178308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9" name="Text 6"/>
          <p:cNvSpPr txBox="1"/>
          <p:nvPr/>
        </p:nvSpPr>
        <p:spPr>
          <a:xfrm>
            <a:off x="594360" y="1554480"/>
            <a:ext cx="155448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Traffic</a:t>
            </a:r>
            <a:endParaRPr lang="en-US" sz="1200" dirty="0"/>
          </a:p>
        </p:txBody>
      </p:sp>
      <p:sp>
        <p:nvSpPr>
          <p:cNvPr id="10" name="Shape 7"/>
          <p:cNvSpPr/>
          <p:nvPr/>
        </p:nvSpPr>
        <p:spPr>
          <a:xfrm>
            <a:off x="2331720" y="1554480"/>
            <a:ext cx="178308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11" name="Text 8"/>
          <p:cNvSpPr txBox="1"/>
          <p:nvPr/>
        </p:nvSpPr>
        <p:spPr>
          <a:xfrm>
            <a:off x="2468880" y="1554480"/>
            <a:ext cx="155448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Leads</a:t>
            </a:r>
            <a:endParaRPr lang="en-US" sz="1200" dirty="0"/>
          </a:p>
        </p:txBody>
      </p:sp>
      <p:sp>
        <p:nvSpPr>
          <p:cNvPr id="12" name="Shape 9"/>
          <p:cNvSpPr/>
          <p:nvPr/>
        </p:nvSpPr>
        <p:spPr>
          <a:xfrm>
            <a:off x="457200" y="2212848"/>
            <a:ext cx="178308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13" name="Text 10"/>
          <p:cNvSpPr txBox="1"/>
          <p:nvPr/>
        </p:nvSpPr>
        <p:spPr>
          <a:xfrm>
            <a:off x="594360" y="2212848"/>
            <a:ext cx="155448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Trials</a:t>
            </a:r>
            <a:endParaRPr lang="en-US" sz="1200" dirty="0"/>
          </a:p>
        </p:txBody>
      </p:sp>
      <p:sp>
        <p:nvSpPr>
          <p:cNvPr id="14" name="Shape 11"/>
          <p:cNvSpPr/>
          <p:nvPr/>
        </p:nvSpPr>
        <p:spPr>
          <a:xfrm>
            <a:off x="2331720" y="2212848"/>
            <a:ext cx="178308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15" name="Text 12"/>
          <p:cNvSpPr txBox="1"/>
          <p:nvPr/>
        </p:nvSpPr>
        <p:spPr>
          <a:xfrm>
            <a:off x="2468880" y="2212848"/>
            <a:ext cx="155448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Sales</a:t>
            </a:r>
            <a:endParaRPr lang="en-US" sz="1200" dirty="0"/>
          </a:p>
        </p:txBody>
      </p:sp>
      <p:sp>
        <p:nvSpPr>
          <p:cNvPr id="16" name="Shape 13"/>
          <p:cNvSpPr/>
          <p:nvPr/>
        </p:nvSpPr>
        <p:spPr>
          <a:xfrm>
            <a:off x="457200" y="2871216"/>
            <a:ext cx="178308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17" name="Text 14"/>
          <p:cNvSpPr txBox="1"/>
          <p:nvPr/>
        </p:nvSpPr>
        <p:spPr>
          <a:xfrm>
            <a:off x="594360" y="2871216"/>
            <a:ext cx="155448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Acquisition spending</a:t>
            </a:r>
            <a:endParaRPr lang="en-US" sz="1200" dirty="0"/>
          </a:p>
        </p:txBody>
      </p:sp>
      <p:sp>
        <p:nvSpPr>
          <p:cNvPr id="18" name="Shape 15"/>
          <p:cNvSpPr/>
          <p:nvPr/>
        </p:nvSpPr>
        <p:spPr>
          <a:xfrm>
            <a:off x="2331720" y="2871216"/>
            <a:ext cx="178308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19" name="Text 16"/>
          <p:cNvSpPr txBox="1"/>
          <p:nvPr/>
        </p:nvSpPr>
        <p:spPr>
          <a:xfrm>
            <a:off x="2468880" y="2871216"/>
            <a:ext cx="155448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Customer feedback</a:t>
            </a:r>
            <a:endParaRPr lang="en-US" sz="1200" dirty="0"/>
          </a:p>
        </p:txBody>
      </p:sp>
      <p:sp>
        <p:nvSpPr>
          <p:cNvPr id="20" name="Shape 17"/>
          <p:cNvSpPr/>
          <p:nvPr/>
        </p:nvSpPr>
        <p:spPr>
          <a:xfrm>
            <a:off x="4297680" y="2606040"/>
            <a:ext cx="365760" cy="0"/>
          </a:xfrm>
          <a:prstGeom prst="line">
            <a:avLst/>
          </a:prstGeom>
          <a:noFill/>
          <a:ln w="38100">
            <a:solidFill>
              <a:srgbClr val="12735B"/>
            </a:solidFill>
            <a:prstDash val="solid"/>
            <a:tailEnd type="triangle"/>
          </a:ln>
        </p:spPr>
      </p:sp>
      <p:sp>
        <p:nvSpPr>
          <p:cNvPr id="21" name="Text 18"/>
          <p:cNvSpPr txBox="1"/>
          <p:nvPr/>
        </p:nvSpPr>
        <p:spPr>
          <a:xfrm>
            <a:off x="4846320" y="1280160"/>
            <a:ext cx="36576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IT SEPARATES THE CAUSES</a:t>
            </a:r>
            <a:endParaRPr lang="en-US" sz="950" dirty="0"/>
          </a:p>
        </p:txBody>
      </p:sp>
      <p:sp>
        <p:nvSpPr>
          <p:cNvPr id="22" name="Shape 19"/>
          <p:cNvSpPr/>
          <p:nvPr/>
        </p:nvSpPr>
        <p:spPr>
          <a:xfrm>
            <a:off x="4846320" y="1554480"/>
            <a:ext cx="182880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23" name="Shape 20"/>
          <p:cNvSpPr/>
          <p:nvPr/>
        </p:nvSpPr>
        <p:spPr>
          <a:xfrm>
            <a:off x="4937760" y="1645920"/>
            <a:ext cx="384048" cy="384048"/>
          </a:xfrm>
          <a:prstGeom prst="ellipse">
            <a:avLst/>
          </a:prstGeom>
          <a:solidFill>
            <a:srgbClr val="12735B"/>
          </a:solidFill>
          <a:ln/>
        </p:spPr>
      </p:sp>
      <p:pic>
        <p:nvPicPr>
          <p:cNvPr id="24" name="Image 0" descr="preencoded.png"/>
          <p:cNvPicPr>
            <a:picLocks noChangeAspect="1"/>
          </p:cNvPicPr>
          <p:nvPr/>
        </p:nvPicPr>
        <p:blipFill>
          <a:blip r:embed="rId3"/>
          <a:stretch>
            <a:fillRect/>
          </a:stretch>
        </p:blipFill>
        <p:spPr>
          <a:xfrm>
            <a:off x="5033772" y="1741932"/>
            <a:ext cx="192024" cy="192024"/>
          </a:xfrm>
          <a:prstGeom prst="rect">
            <a:avLst/>
          </a:prstGeom>
        </p:spPr>
      </p:pic>
      <p:sp>
        <p:nvSpPr>
          <p:cNvPr id="25" name="Text 21"/>
          <p:cNvSpPr txBox="1"/>
          <p:nvPr/>
        </p:nvSpPr>
        <p:spPr>
          <a:xfrm>
            <a:off x="5413248" y="1554480"/>
            <a:ext cx="118872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Product</a:t>
            </a:r>
            <a:endParaRPr lang="en-US" sz="1200" dirty="0"/>
          </a:p>
        </p:txBody>
      </p:sp>
      <p:sp>
        <p:nvSpPr>
          <p:cNvPr id="26" name="Shape 22"/>
          <p:cNvSpPr/>
          <p:nvPr/>
        </p:nvSpPr>
        <p:spPr>
          <a:xfrm>
            <a:off x="6766560" y="1554480"/>
            <a:ext cx="182880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27" name="Shape 23"/>
          <p:cNvSpPr/>
          <p:nvPr/>
        </p:nvSpPr>
        <p:spPr>
          <a:xfrm>
            <a:off x="6858000" y="1645920"/>
            <a:ext cx="384048" cy="384048"/>
          </a:xfrm>
          <a:prstGeom prst="ellipse">
            <a:avLst/>
          </a:prstGeom>
          <a:solidFill>
            <a:srgbClr val="12735B"/>
          </a:solidFill>
          <a:ln/>
        </p:spPr>
      </p:sp>
      <p:pic>
        <p:nvPicPr>
          <p:cNvPr id="28" name="Image 1" descr="preencoded.png"/>
          <p:cNvPicPr>
            <a:picLocks noChangeAspect="1"/>
          </p:cNvPicPr>
          <p:nvPr/>
        </p:nvPicPr>
        <p:blipFill>
          <a:blip r:embed="rId4"/>
          <a:stretch>
            <a:fillRect/>
          </a:stretch>
        </p:blipFill>
        <p:spPr>
          <a:xfrm>
            <a:off x="6954012" y="1741932"/>
            <a:ext cx="192024" cy="192024"/>
          </a:xfrm>
          <a:prstGeom prst="rect">
            <a:avLst/>
          </a:prstGeom>
        </p:spPr>
      </p:pic>
      <p:sp>
        <p:nvSpPr>
          <p:cNvPr id="29" name="Text 24"/>
          <p:cNvSpPr txBox="1"/>
          <p:nvPr/>
        </p:nvSpPr>
        <p:spPr>
          <a:xfrm>
            <a:off x="7333488" y="1554480"/>
            <a:ext cx="118872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Offer</a:t>
            </a:r>
            <a:endParaRPr lang="en-US" sz="1200" dirty="0"/>
          </a:p>
        </p:txBody>
      </p:sp>
      <p:sp>
        <p:nvSpPr>
          <p:cNvPr id="30" name="Shape 25"/>
          <p:cNvSpPr/>
          <p:nvPr/>
        </p:nvSpPr>
        <p:spPr>
          <a:xfrm>
            <a:off x="4846320" y="2212848"/>
            <a:ext cx="182880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31" name="Shape 26"/>
          <p:cNvSpPr/>
          <p:nvPr/>
        </p:nvSpPr>
        <p:spPr>
          <a:xfrm>
            <a:off x="4937760" y="2304288"/>
            <a:ext cx="384048" cy="384048"/>
          </a:xfrm>
          <a:prstGeom prst="ellipse">
            <a:avLst/>
          </a:prstGeom>
          <a:solidFill>
            <a:srgbClr val="12735B"/>
          </a:solidFill>
          <a:ln/>
        </p:spPr>
      </p:sp>
      <p:pic>
        <p:nvPicPr>
          <p:cNvPr id="32" name="Image 2" descr="preencoded.png"/>
          <p:cNvPicPr>
            <a:picLocks noChangeAspect="1"/>
          </p:cNvPicPr>
          <p:nvPr/>
        </p:nvPicPr>
        <p:blipFill>
          <a:blip r:embed="rId5"/>
          <a:stretch>
            <a:fillRect/>
          </a:stretch>
        </p:blipFill>
        <p:spPr>
          <a:xfrm>
            <a:off x="5033772" y="2400300"/>
            <a:ext cx="192024" cy="192024"/>
          </a:xfrm>
          <a:prstGeom prst="rect">
            <a:avLst/>
          </a:prstGeom>
        </p:spPr>
      </p:pic>
      <p:sp>
        <p:nvSpPr>
          <p:cNvPr id="33" name="Text 27"/>
          <p:cNvSpPr txBox="1"/>
          <p:nvPr/>
        </p:nvSpPr>
        <p:spPr>
          <a:xfrm>
            <a:off x="5413248" y="2212848"/>
            <a:ext cx="118872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Messaging</a:t>
            </a:r>
            <a:endParaRPr lang="en-US" sz="1200" dirty="0"/>
          </a:p>
        </p:txBody>
      </p:sp>
      <p:sp>
        <p:nvSpPr>
          <p:cNvPr id="34" name="Shape 28"/>
          <p:cNvSpPr/>
          <p:nvPr/>
        </p:nvSpPr>
        <p:spPr>
          <a:xfrm>
            <a:off x="6766560" y="2212848"/>
            <a:ext cx="182880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35" name="Shape 29"/>
          <p:cNvSpPr/>
          <p:nvPr/>
        </p:nvSpPr>
        <p:spPr>
          <a:xfrm>
            <a:off x="6858000" y="2304288"/>
            <a:ext cx="384048" cy="384048"/>
          </a:xfrm>
          <a:prstGeom prst="ellipse">
            <a:avLst/>
          </a:prstGeom>
          <a:solidFill>
            <a:srgbClr val="12735B"/>
          </a:solidFill>
          <a:ln/>
        </p:spPr>
      </p:sp>
      <p:pic>
        <p:nvPicPr>
          <p:cNvPr id="36" name="Image 3" descr="preencoded.png"/>
          <p:cNvPicPr>
            <a:picLocks noChangeAspect="1"/>
          </p:cNvPicPr>
          <p:nvPr/>
        </p:nvPicPr>
        <p:blipFill>
          <a:blip r:embed="rId6"/>
          <a:stretch>
            <a:fillRect/>
          </a:stretch>
        </p:blipFill>
        <p:spPr>
          <a:xfrm>
            <a:off x="6954012" y="2400300"/>
            <a:ext cx="192024" cy="192024"/>
          </a:xfrm>
          <a:prstGeom prst="rect">
            <a:avLst/>
          </a:prstGeom>
        </p:spPr>
      </p:pic>
      <p:sp>
        <p:nvSpPr>
          <p:cNvPr id="37" name="Text 30"/>
          <p:cNvSpPr txBox="1"/>
          <p:nvPr/>
        </p:nvSpPr>
        <p:spPr>
          <a:xfrm>
            <a:off x="7333488" y="2212848"/>
            <a:ext cx="118872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Pricing</a:t>
            </a:r>
            <a:endParaRPr lang="en-US" sz="1200" dirty="0"/>
          </a:p>
        </p:txBody>
      </p:sp>
      <p:sp>
        <p:nvSpPr>
          <p:cNvPr id="38" name="Shape 31"/>
          <p:cNvSpPr/>
          <p:nvPr/>
        </p:nvSpPr>
        <p:spPr>
          <a:xfrm>
            <a:off x="4846320" y="2871216"/>
            <a:ext cx="182880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39" name="Shape 32"/>
          <p:cNvSpPr/>
          <p:nvPr/>
        </p:nvSpPr>
        <p:spPr>
          <a:xfrm>
            <a:off x="4937760" y="2962656"/>
            <a:ext cx="384048" cy="384048"/>
          </a:xfrm>
          <a:prstGeom prst="ellipse">
            <a:avLst/>
          </a:prstGeom>
          <a:solidFill>
            <a:srgbClr val="12735B"/>
          </a:solidFill>
          <a:ln/>
        </p:spPr>
      </p:sp>
      <p:pic>
        <p:nvPicPr>
          <p:cNvPr id="40" name="Image 4" descr="preencoded.png"/>
          <p:cNvPicPr>
            <a:picLocks noChangeAspect="1"/>
          </p:cNvPicPr>
          <p:nvPr/>
        </p:nvPicPr>
        <p:blipFill>
          <a:blip r:embed="rId7"/>
          <a:stretch>
            <a:fillRect/>
          </a:stretch>
        </p:blipFill>
        <p:spPr>
          <a:xfrm>
            <a:off x="5033772" y="3058668"/>
            <a:ext cx="192024" cy="192024"/>
          </a:xfrm>
          <a:prstGeom prst="rect">
            <a:avLst/>
          </a:prstGeom>
        </p:spPr>
      </p:pic>
      <p:sp>
        <p:nvSpPr>
          <p:cNvPr id="41" name="Text 33"/>
          <p:cNvSpPr txBox="1"/>
          <p:nvPr/>
        </p:nvSpPr>
        <p:spPr>
          <a:xfrm>
            <a:off x="5413248" y="2871216"/>
            <a:ext cx="118872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Channel</a:t>
            </a:r>
            <a:endParaRPr lang="en-US" sz="1200" dirty="0"/>
          </a:p>
        </p:txBody>
      </p:sp>
      <p:sp>
        <p:nvSpPr>
          <p:cNvPr id="42" name="Shape 34"/>
          <p:cNvSpPr/>
          <p:nvPr/>
        </p:nvSpPr>
        <p:spPr>
          <a:xfrm>
            <a:off x="6766560" y="2871216"/>
            <a:ext cx="1828800" cy="566928"/>
          </a:xfrm>
          <a:prstGeom prst="roundRect">
            <a:avLst>
              <a:gd name="adj" fmla="val 16129"/>
            </a:avLst>
          </a:prstGeom>
          <a:solidFill>
            <a:srgbClr val="FFFFFF"/>
          </a:solidFill>
          <a:ln/>
          <a:effectLst>
            <a:outerShdw blurRad="101600" dist="25400" dir="5400000" algn="bl" rotWithShape="0">
              <a:srgbClr val="000000">
                <a:alpha val="10000"/>
              </a:srgbClr>
            </a:outerShdw>
          </a:effectLst>
        </p:spPr>
      </p:sp>
      <p:sp>
        <p:nvSpPr>
          <p:cNvPr id="43" name="Shape 35"/>
          <p:cNvSpPr/>
          <p:nvPr/>
        </p:nvSpPr>
        <p:spPr>
          <a:xfrm>
            <a:off x="6858000" y="2962656"/>
            <a:ext cx="384048" cy="384048"/>
          </a:xfrm>
          <a:prstGeom prst="ellipse">
            <a:avLst/>
          </a:prstGeom>
          <a:solidFill>
            <a:srgbClr val="12735B"/>
          </a:solidFill>
          <a:ln/>
        </p:spPr>
      </p:sp>
      <p:pic>
        <p:nvPicPr>
          <p:cNvPr id="44" name="Image 5" descr="preencoded.png"/>
          <p:cNvPicPr>
            <a:picLocks noChangeAspect="1"/>
          </p:cNvPicPr>
          <p:nvPr/>
        </p:nvPicPr>
        <p:blipFill>
          <a:blip r:embed="rId8"/>
          <a:stretch>
            <a:fillRect/>
          </a:stretch>
        </p:blipFill>
        <p:spPr>
          <a:xfrm>
            <a:off x="6954012" y="3058668"/>
            <a:ext cx="192024" cy="192024"/>
          </a:xfrm>
          <a:prstGeom prst="rect">
            <a:avLst/>
          </a:prstGeom>
        </p:spPr>
      </p:pic>
      <p:sp>
        <p:nvSpPr>
          <p:cNvPr id="45" name="Text 36"/>
          <p:cNvSpPr txBox="1"/>
          <p:nvPr/>
        </p:nvSpPr>
        <p:spPr>
          <a:xfrm>
            <a:off x="7333488" y="2871216"/>
            <a:ext cx="1188720" cy="56692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Trust</a:t>
            </a:r>
            <a:endParaRPr lang="en-US" sz="1200" dirty="0"/>
          </a:p>
        </p:txBody>
      </p:sp>
      <p:sp>
        <p:nvSpPr>
          <p:cNvPr id="46" name="Shape 37"/>
          <p:cNvSpPr/>
          <p:nvPr/>
        </p:nvSpPr>
        <p:spPr>
          <a:xfrm>
            <a:off x="457200" y="3794760"/>
            <a:ext cx="8229600" cy="822960"/>
          </a:xfrm>
          <a:prstGeom prst="roundRect">
            <a:avLst>
              <a:gd name="adj" fmla="val 11111"/>
            </a:avLst>
          </a:prstGeom>
          <a:solidFill>
            <a:srgbClr val="0C2622"/>
          </a:solidFill>
          <a:ln/>
        </p:spPr>
      </p:sp>
      <p:sp>
        <p:nvSpPr>
          <p:cNvPr id="47" name="Text 38"/>
          <p:cNvSpPr txBox="1"/>
          <p:nvPr/>
        </p:nvSpPr>
        <p:spPr>
          <a:xfrm>
            <a:off x="685800" y="3794760"/>
            <a:ext cx="7772400" cy="822960"/>
          </a:xfrm>
          <a:prstGeom prst="rect">
            <a:avLst/>
          </a:prstGeom>
          <a:noFill/>
          <a:ln/>
        </p:spPr>
        <p:txBody>
          <a:bodyPr wrap="square" lIns="0" tIns="0" rIns="0" bIns="0" rtlCol="0" anchor="ctr"/>
          <a:lstStyle/>
          <a:p>
            <a:pPr marL="0" indent="0" algn="l">
              <a:buNone/>
            </a:pPr>
            <a:r>
              <a:rPr lang="en-US" sz="1800" b="1" dirty="0">
                <a:solidFill>
                  <a:srgbClr val="F4A52A"/>
                </a:solidFill>
                <a:latin typeface="Cambria" pitchFamily="34" charset="0"/>
                <a:ea typeface="Cambria" pitchFamily="34" charset="-122"/>
                <a:cs typeface="Cambria" pitchFamily="34" charset="-120"/>
              </a:rPr>
              <a:t>Recommend three experiments </a:t>
            </a:r>
            <a:r>
              <a:rPr lang="en-US" sz="1800" dirty="0">
                <a:solidFill>
                  <a:srgbClr val="FFFFFF"/>
                </a:solidFill>
                <a:latin typeface="Cambria" pitchFamily="34" charset="0"/>
                <a:ea typeface="Cambria" pitchFamily="34" charset="-122"/>
                <a:cs typeface="Cambria" pitchFamily="34" charset="-120"/>
              </a:rPr>
              <a:t>— not an immediate change of strategy.</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07</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7</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Operations, Automation &amp; Scale</a:t>
            </a:r>
            <a:endParaRPr lang="en-US" sz="3600" dirty="0"/>
          </a:p>
        </p:txBody>
      </p:sp>
      <p:sp>
        <p:nvSpPr>
          <p:cNvPr id="6" name="Text 3"/>
          <p:cNvSpPr txBox="1"/>
          <p:nvPr/>
        </p:nvSpPr>
        <p:spPr>
          <a:xfrm>
            <a:off x="640080" y="3922776"/>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Once something works: systemize it.</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7 · OPERATIONS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Automation Ladder</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47</a:t>
            </a:r>
            <a:endParaRPr lang="en-US" sz="900" dirty="0"/>
          </a:p>
        </p:txBody>
      </p:sp>
      <p:sp>
        <p:nvSpPr>
          <p:cNvPr id="7" name="Text 4"/>
          <p:cNvSpPr txBox="1"/>
          <p:nvPr/>
        </p:nvSpPr>
        <p:spPr>
          <a:xfrm>
            <a:off x="502920" y="1325880"/>
            <a:ext cx="3840480" cy="1097280"/>
          </a:xfrm>
          <a:prstGeom prst="rect">
            <a:avLst/>
          </a:prstGeom>
          <a:noFill/>
          <a:ln/>
        </p:spPr>
        <p:txBody>
          <a:bodyPr wrap="square" lIns="0" tIns="0" rIns="0" bIns="0" rtlCol="0" anchor="t"/>
          <a:lstStyle/>
          <a:p>
            <a:pPr marL="0" indent="0" algn="l">
              <a:buNone/>
            </a:pPr>
            <a:r>
              <a:rPr lang="en-US" sz="1800" i="1" dirty="0">
                <a:solidFill>
                  <a:srgbClr val="0C2622"/>
                </a:solidFill>
                <a:latin typeface="Cambria" pitchFamily="34" charset="0"/>
                <a:ea typeface="Cambria" pitchFamily="34" charset="-122"/>
                <a:cs typeface="Cambria" pitchFamily="34" charset="-120"/>
              </a:rPr>
              <a:t>Automating a broken process just produces mistakes faster.</a:t>
            </a:r>
            <a:endParaRPr lang="en-US" sz="1800" dirty="0"/>
          </a:p>
        </p:txBody>
      </p:sp>
      <p:sp>
        <p:nvSpPr>
          <p:cNvPr id="8" name="Shape 5"/>
          <p:cNvSpPr/>
          <p:nvPr/>
        </p:nvSpPr>
        <p:spPr>
          <a:xfrm>
            <a:off x="457200" y="3410712"/>
            <a:ext cx="1325880" cy="1234440"/>
          </a:xfrm>
          <a:prstGeom prst="roundRect">
            <a:avLst>
              <a:gd name="adj" fmla="val 5926"/>
            </a:avLst>
          </a:prstGeom>
          <a:solidFill>
            <a:srgbClr val="DFF1EA"/>
          </a:solidFill>
          <a:ln/>
        </p:spPr>
      </p:sp>
      <p:sp>
        <p:nvSpPr>
          <p:cNvPr id="9" name="Text 6"/>
          <p:cNvSpPr txBox="1"/>
          <p:nvPr/>
        </p:nvSpPr>
        <p:spPr>
          <a:xfrm>
            <a:off x="566928" y="3520440"/>
            <a:ext cx="109728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1</a:t>
            </a:r>
            <a:endParaRPr lang="en-US" sz="900" dirty="0"/>
          </a:p>
        </p:txBody>
      </p:sp>
      <p:sp>
        <p:nvSpPr>
          <p:cNvPr id="10" name="Text 7"/>
          <p:cNvSpPr txBox="1"/>
          <p:nvPr/>
        </p:nvSpPr>
        <p:spPr>
          <a:xfrm>
            <a:off x="566928" y="3721608"/>
            <a:ext cx="114300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mbria" pitchFamily="34" charset="0"/>
                <a:ea typeface="Cambria" pitchFamily="34" charset="-122"/>
                <a:cs typeface="Cambria" pitchFamily="34" charset="-120"/>
              </a:rPr>
              <a:t>Manual</a:t>
            </a:r>
            <a:endParaRPr lang="en-US" sz="1200" dirty="0"/>
          </a:p>
        </p:txBody>
      </p:sp>
      <p:sp>
        <p:nvSpPr>
          <p:cNvPr id="11" name="Text 8"/>
          <p:cNvSpPr txBox="1"/>
          <p:nvPr/>
        </p:nvSpPr>
        <p:spPr>
          <a:xfrm>
            <a:off x="566928" y="4187952"/>
            <a:ext cx="1143000" cy="411480"/>
          </a:xfrm>
          <a:prstGeom prst="rect">
            <a:avLst/>
          </a:prstGeom>
          <a:noFill/>
          <a:ln/>
        </p:spPr>
        <p:txBody>
          <a:bodyPr wrap="square" lIns="0" tIns="0" rIns="0" bIns="0" rtlCol="0" anchor="t"/>
          <a:lstStyle/>
          <a:p>
            <a:pPr marL="0" indent="0" algn="l">
              <a:buNone/>
            </a:pPr>
            <a:r>
              <a:rPr lang="en-US" sz="1000" dirty="0">
                <a:solidFill>
                  <a:srgbClr val="0C2622"/>
                </a:solidFill>
                <a:latin typeface="Calibri" pitchFamily="34" charset="0"/>
                <a:ea typeface="Calibri" pitchFamily="34" charset="-122"/>
                <a:cs typeface="Calibri" pitchFamily="34" charset="-120"/>
              </a:rPr>
              <a:t>Human performs everything.</a:t>
            </a:r>
            <a:endParaRPr lang="en-US" sz="1000" dirty="0"/>
          </a:p>
        </p:txBody>
      </p:sp>
      <p:sp>
        <p:nvSpPr>
          <p:cNvPr id="12" name="Shape 9"/>
          <p:cNvSpPr/>
          <p:nvPr/>
        </p:nvSpPr>
        <p:spPr>
          <a:xfrm>
            <a:off x="1837944" y="3044952"/>
            <a:ext cx="1325880" cy="1600200"/>
          </a:xfrm>
          <a:prstGeom prst="roundRect">
            <a:avLst>
              <a:gd name="adj" fmla="val 5517"/>
            </a:avLst>
          </a:prstGeom>
          <a:solidFill>
            <a:srgbClr val="B5DCCE"/>
          </a:solidFill>
          <a:ln/>
        </p:spPr>
      </p:sp>
      <p:sp>
        <p:nvSpPr>
          <p:cNvPr id="13" name="Text 10"/>
          <p:cNvSpPr txBox="1"/>
          <p:nvPr/>
        </p:nvSpPr>
        <p:spPr>
          <a:xfrm>
            <a:off x="1947672" y="3154680"/>
            <a:ext cx="109728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2</a:t>
            </a:r>
            <a:endParaRPr lang="en-US" sz="900" dirty="0"/>
          </a:p>
        </p:txBody>
      </p:sp>
      <p:sp>
        <p:nvSpPr>
          <p:cNvPr id="14" name="Text 11"/>
          <p:cNvSpPr txBox="1"/>
          <p:nvPr/>
        </p:nvSpPr>
        <p:spPr>
          <a:xfrm>
            <a:off x="1947672" y="3355848"/>
            <a:ext cx="114300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mbria" pitchFamily="34" charset="0"/>
                <a:ea typeface="Cambria" pitchFamily="34" charset="-122"/>
                <a:cs typeface="Cambria" pitchFamily="34" charset="-120"/>
              </a:rPr>
              <a:t>AI-assisted</a:t>
            </a:r>
            <a:endParaRPr lang="en-US" sz="1200" dirty="0"/>
          </a:p>
        </p:txBody>
      </p:sp>
      <p:sp>
        <p:nvSpPr>
          <p:cNvPr id="15" name="Text 12"/>
          <p:cNvSpPr txBox="1"/>
          <p:nvPr/>
        </p:nvSpPr>
        <p:spPr>
          <a:xfrm>
            <a:off x="1947672" y="3822192"/>
            <a:ext cx="1143000" cy="777240"/>
          </a:xfrm>
          <a:prstGeom prst="rect">
            <a:avLst/>
          </a:prstGeom>
          <a:noFill/>
          <a:ln/>
        </p:spPr>
        <p:txBody>
          <a:bodyPr wrap="square" lIns="0" tIns="0" rIns="0" bIns="0" rtlCol="0" anchor="t"/>
          <a:lstStyle/>
          <a:p>
            <a:pPr marL="0" indent="0" algn="l">
              <a:buNone/>
            </a:pPr>
            <a:r>
              <a:rPr lang="en-US" sz="1000" dirty="0">
                <a:solidFill>
                  <a:srgbClr val="0C2622"/>
                </a:solidFill>
                <a:latin typeface="Calibri" pitchFamily="34" charset="0"/>
                <a:ea typeface="Calibri" pitchFamily="34" charset="-122"/>
                <a:cs typeface="Calibri" pitchFamily="34" charset="-120"/>
              </a:rPr>
              <a:t>Human uses AI for individual tasks.</a:t>
            </a:r>
            <a:endParaRPr lang="en-US" sz="1000" dirty="0"/>
          </a:p>
        </p:txBody>
      </p:sp>
      <p:sp>
        <p:nvSpPr>
          <p:cNvPr id="16" name="Shape 13"/>
          <p:cNvSpPr/>
          <p:nvPr/>
        </p:nvSpPr>
        <p:spPr>
          <a:xfrm>
            <a:off x="3218688" y="2679192"/>
            <a:ext cx="1325880" cy="1965960"/>
          </a:xfrm>
          <a:prstGeom prst="roundRect">
            <a:avLst>
              <a:gd name="adj" fmla="val 5517"/>
            </a:avLst>
          </a:prstGeom>
          <a:solidFill>
            <a:srgbClr val="6FBFA5"/>
          </a:solidFill>
          <a:ln/>
        </p:spPr>
      </p:sp>
      <p:sp>
        <p:nvSpPr>
          <p:cNvPr id="17" name="Text 14"/>
          <p:cNvSpPr txBox="1"/>
          <p:nvPr/>
        </p:nvSpPr>
        <p:spPr>
          <a:xfrm>
            <a:off x="3328416" y="2788920"/>
            <a:ext cx="109728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3</a:t>
            </a:r>
            <a:endParaRPr lang="en-US" sz="900" dirty="0"/>
          </a:p>
        </p:txBody>
      </p:sp>
      <p:sp>
        <p:nvSpPr>
          <p:cNvPr id="18" name="Text 15"/>
          <p:cNvSpPr txBox="1"/>
          <p:nvPr/>
        </p:nvSpPr>
        <p:spPr>
          <a:xfrm>
            <a:off x="3328416" y="2990088"/>
            <a:ext cx="114300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mbria" pitchFamily="34" charset="0"/>
                <a:ea typeface="Cambria" pitchFamily="34" charset="-122"/>
                <a:cs typeface="Cambria" pitchFamily="34" charset="-120"/>
              </a:rPr>
              <a:t>Workflow automation</a:t>
            </a:r>
            <a:endParaRPr lang="en-US" sz="1200" dirty="0"/>
          </a:p>
        </p:txBody>
      </p:sp>
      <p:sp>
        <p:nvSpPr>
          <p:cNvPr id="19" name="Text 16"/>
          <p:cNvSpPr txBox="1"/>
          <p:nvPr/>
        </p:nvSpPr>
        <p:spPr>
          <a:xfrm>
            <a:off x="3328416" y="3456432"/>
            <a:ext cx="1143000" cy="1143000"/>
          </a:xfrm>
          <a:prstGeom prst="rect">
            <a:avLst/>
          </a:prstGeom>
          <a:noFill/>
          <a:ln/>
        </p:spPr>
        <p:txBody>
          <a:bodyPr wrap="square" lIns="0" tIns="0" rIns="0" bIns="0" rtlCol="0" anchor="t"/>
          <a:lstStyle/>
          <a:p>
            <a:pPr marL="0" indent="0" algn="l">
              <a:buNone/>
            </a:pPr>
            <a:r>
              <a:rPr lang="en-US" sz="1000" dirty="0">
                <a:solidFill>
                  <a:srgbClr val="0C2622"/>
                </a:solidFill>
                <a:latin typeface="Calibri" pitchFamily="34" charset="0"/>
                <a:ea typeface="Calibri" pitchFamily="34" charset="-122"/>
                <a:cs typeface="Calibri" pitchFamily="34" charset="-120"/>
              </a:rPr>
              <a:t>Systems pass information between tools automatically.</a:t>
            </a:r>
            <a:endParaRPr lang="en-US" sz="1000" dirty="0"/>
          </a:p>
        </p:txBody>
      </p:sp>
      <p:sp>
        <p:nvSpPr>
          <p:cNvPr id="20" name="Shape 17"/>
          <p:cNvSpPr/>
          <p:nvPr/>
        </p:nvSpPr>
        <p:spPr>
          <a:xfrm>
            <a:off x="4599432" y="2313432"/>
            <a:ext cx="1325880" cy="2331720"/>
          </a:xfrm>
          <a:prstGeom prst="roundRect">
            <a:avLst>
              <a:gd name="adj" fmla="val 5517"/>
            </a:avLst>
          </a:prstGeom>
          <a:solidFill>
            <a:srgbClr val="1E9A7A"/>
          </a:solidFill>
          <a:ln/>
        </p:spPr>
      </p:sp>
      <p:sp>
        <p:nvSpPr>
          <p:cNvPr id="21" name="Text 18"/>
          <p:cNvSpPr txBox="1"/>
          <p:nvPr/>
        </p:nvSpPr>
        <p:spPr>
          <a:xfrm>
            <a:off x="4709160" y="2423160"/>
            <a:ext cx="1097280" cy="182880"/>
          </a:xfrm>
          <a:prstGeom prst="rect">
            <a:avLst/>
          </a:prstGeom>
          <a:noFill/>
          <a:ln/>
        </p:spPr>
        <p:txBody>
          <a:bodyPr wrap="square" lIns="0" tIns="0" rIns="0" bIns="0" rtlCol="0" anchor="t"/>
          <a:lstStyle/>
          <a:p>
            <a:pPr marL="0" indent="0" algn="l">
              <a:buNone/>
            </a:pPr>
            <a:r>
              <a:rPr lang="en-US" sz="900" b="1" kern="0" spc="150" dirty="0">
                <a:solidFill>
                  <a:srgbClr val="FFFFFF"/>
                </a:solidFill>
                <a:latin typeface="Calibri" pitchFamily="34" charset="0"/>
                <a:ea typeface="Calibri" pitchFamily="34" charset="-122"/>
                <a:cs typeface="Calibri" pitchFamily="34" charset="-120"/>
              </a:rPr>
              <a:t>LEVEL 4</a:t>
            </a:r>
            <a:endParaRPr lang="en-US" sz="900" dirty="0"/>
          </a:p>
        </p:txBody>
      </p:sp>
      <p:sp>
        <p:nvSpPr>
          <p:cNvPr id="22" name="Text 19"/>
          <p:cNvSpPr txBox="1"/>
          <p:nvPr/>
        </p:nvSpPr>
        <p:spPr>
          <a:xfrm>
            <a:off x="4709160" y="2624328"/>
            <a:ext cx="1143000" cy="457200"/>
          </a:xfrm>
          <a:prstGeom prst="rect">
            <a:avLst/>
          </a:prstGeom>
          <a:noFill/>
          <a:ln/>
        </p:spPr>
        <p:txBody>
          <a:bodyPr wrap="square" lIns="0" tIns="0" rIns="0" bIns="0" rtlCol="0" anchor="t"/>
          <a:lstStyle/>
          <a:p>
            <a:pPr marL="0" indent="0" algn="l">
              <a:buNone/>
            </a:pPr>
            <a:r>
              <a:rPr lang="en-US" sz="1200" b="1" dirty="0">
                <a:solidFill>
                  <a:srgbClr val="FFFFFF"/>
                </a:solidFill>
                <a:latin typeface="Cambria" pitchFamily="34" charset="0"/>
                <a:ea typeface="Cambria" pitchFamily="34" charset="-122"/>
                <a:cs typeface="Cambria" pitchFamily="34" charset="-120"/>
              </a:rPr>
              <a:t>AI workflow</a:t>
            </a:r>
            <a:endParaRPr lang="en-US" sz="1200" dirty="0"/>
          </a:p>
        </p:txBody>
      </p:sp>
      <p:sp>
        <p:nvSpPr>
          <p:cNvPr id="23" name="Text 20"/>
          <p:cNvSpPr txBox="1"/>
          <p:nvPr/>
        </p:nvSpPr>
        <p:spPr>
          <a:xfrm>
            <a:off x="4709160" y="3090672"/>
            <a:ext cx="1143000" cy="1508760"/>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AI interprets information inside the automated process.</a:t>
            </a:r>
            <a:endParaRPr lang="en-US" sz="1000" dirty="0"/>
          </a:p>
        </p:txBody>
      </p:sp>
      <p:sp>
        <p:nvSpPr>
          <p:cNvPr id="24" name="Shape 21"/>
          <p:cNvSpPr/>
          <p:nvPr/>
        </p:nvSpPr>
        <p:spPr>
          <a:xfrm>
            <a:off x="5980176" y="1947672"/>
            <a:ext cx="1325880" cy="2697480"/>
          </a:xfrm>
          <a:prstGeom prst="roundRect">
            <a:avLst>
              <a:gd name="adj" fmla="val 5517"/>
            </a:avLst>
          </a:prstGeom>
          <a:solidFill>
            <a:srgbClr val="12735B"/>
          </a:solidFill>
          <a:ln/>
        </p:spPr>
      </p:sp>
      <p:sp>
        <p:nvSpPr>
          <p:cNvPr id="25" name="Text 22"/>
          <p:cNvSpPr txBox="1"/>
          <p:nvPr/>
        </p:nvSpPr>
        <p:spPr>
          <a:xfrm>
            <a:off x="6089904" y="2057400"/>
            <a:ext cx="1097280" cy="182880"/>
          </a:xfrm>
          <a:prstGeom prst="rect">
            <a:avLst/>
          </a:prstGeom>
          <a:noFill/>
          <a:ln/>
        </p:spPr>
        <p:txBody>
          <a:bodyPr wrap="square" lIns="0" tIns="0" rIns="0" bIns="0" rtlCol="0" anchor="t"/>
          <a:lstStyle/>
          <a:p>
            <a:pPr marL="0" indent="0" algn="l">
              <a:buNone/>
            </a:pPr>
            <a:r>
              <a:rPr lang="en-US" sz="900" b="1" kern="0" spc="150" dirty="0">
                <a:solidFill>
                  <a:srgbClr val="FFFFFF"/>
                </a:solidFill>
                <a:latin typeface="Calibri" pitchFamily="34" charset="0"/>
                <a:ea typeface="Calibri" pitchFamily="34" charset="-122"/>
                <a:cs typeface="Calibri" pitchFamily="34" charset="-120"/>
              </a:rPr>
              <a:t>LEVEL 5</a:t>
            </a:r>
            <a:endParaRPr lang="en-US" sz="900" dirty="0"/>
          </a:p>
        </p:txBody>
      </p:sp>
      <p:sp>
        <p:nvSpPr>
          <p:cNvPr id="26" name="Text 23"/>
          <p:cNvSpPr txBox="1"/>
          <p:nvPr/>
        </p:nvSpPr>
        <p:spPr>
          <a:xfrm>
            <a:off x="6089904" y="2258568"/>
            <a:ext cx="1143000" cy="457200"/>
          </a:xfrm>
          <a:prstGeom prst="rect">
            <a:avLst/>
          </a:prstGeom>
          <a:noFill/>
          <a:ln/>
        </p:spPr>
        <p:txBody>
          <a:bodyPr wrap="square" lIns="0" tIns="0" rIns="0" bIns="0" rtlCol="0" anchor="t"/>
          <a:lstStyle/>
          <a:p>
            <a:pPr marL="0" indent="0" algn="l">
              <a:buNone/>
            </a:pPr>
            <a:r>
              <a:rPr lang="en-US" sz="1200" b="1" dirty="0">
                <a:solidFill>
                  <a:srgbClr val="FFFFFF"/>
                </a:solidFill>
                <a:latin typeface="Cambria" pitchFamily="34" charset="0"/>
                <a:ea typeface="Cambria" pitchFamily="34" charset="-122"/>
                <a:cs typeface="Cambria" pitchFamily="34" charset="-120"/>
              </a:rPr>
              <a:t>Agentic workflow</a:t>
            </a:r>
            <a:endParaRPr lang="en-US" sz="1200" dirty="0"/>
          </a:p>
        </p:txBody>
      </p:sp>
      <p:sp>
        <p:nvSpPr>
          <p:cNvPr id="27" name="Text 24"/>
          <p:cNvSpPr txBox="1"/>
          <p:nvPr/>
        </p:nvSpPr>
        <p:spPr>
          <a:xfrm>
            <a:off x="6089904" y="2724912"/>
            <a:ext cx="1143000" cy="1874520"/>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AI can decide among predefined actions.</a:t>
            </a:r>
            <a:endParaRPr lang="en-US" sz="1000" dirty="0"/>
          </a:p>
        </p:txBody>
      </p:sp>
      <p:sp>
        <p:nvSpPr>
          <p:cNvPr id="28" name="Shape 25"/>
          <p:cNvSpPr/>
          <p:nvPr/>
        </p:nvSpPr>
        <p:spPr>
          <a:xfrm>
            <a:off x="7360920" y="1581912"/>
            <a:ext cx="1325880" cy="3063240"/>
          </a:xfrm>
          <a:prstGeom prst="roundRect">
            <a:avLst>
              <a:gd name="adj" fmla="val 5517"/>
            </a:avLst>
          </a:prstGeom>
          <a:solidFill>
            <a:srgbClr val="F4A52A"/>
          </a:solidFill>
          <a:ln/>
        </p:spPr>
      </p:sp>
      <p:sp>
        <p:nvSpPr>
          <p:cNvPr id="29" name="Text 26"/>
          <p:cNvSpPr txBox="1"/>
          <p:nvPr/>
        </p:nvSpPr>
        <p:spPr>
          <a:xfrm>
            <a:off x="7470648" y="1691640"/>
            <a:ext cx="1097280" cy="182880"/>
          </a:xfrm>
          <a:prstGeom prst="rect">
            <a:avLst/>
          </a:prstGeom>
          <a:noFill/>
          <a:ln/>
        </p:spPr>
        <p:txBody>
          <a:bodyPr wrap="square" lIns="0" tIns="0" rIns="0" bIns="0" rtlCol="0" anchor="t"/>
          <a:lstStyle/>
          <a:p>
            <a:pPr marL="0" indent="0" algn="l">
              <a:buNone/>
            </a:pPr>
            <a:r>
              <a:rPr lang="en-US" sz="900" b="1" kern="0" spc="150" dirty="0">
                <a:solidFill>
                  <a:srgbClr val="0C2622"/>
                </a:solidFill>
                <a:latin typeface="Calibri" pitchFamily="34" charset="0"/>
                <a:ea typeface="Calibri" pitchFamily="34" charset="-122"/>
                <a:cs typeface="Calibri" pitchFamily="34" charset="-120"/>
              </a:rPr>
              <a:t>LEVEL 6</a:t>
            </a:r>
            <a:endParaRPr lang="en-US" sz="900" dirty="0"/>
          </a:p>
        </p:txBody>
      </p:sp>
      <p:sp>
        <p:nvSpPr>
          <p:cNvPr id="30" name="Text 27"/>
          <p:cNvSpPr txBox="1"/>
          <p:nvPr/>
        </p:nvSpPr>
        <p:spPr>
          <a:xfrm>
            <a:off x="7470648" y="1892808"/>
            <a:ext cx="1143000" cy="457200"/>
          </a:xfrm>
          <a:prstGeom prst="rect">
            <a:avLst/>
          </a:prstGeom>
          <a:noFill/>
          <a:ln/>
        </p:spPr>
        <p:txBody>
          <a:bodyPr wrap="square" lIns="0" tIns="0" rIns="0" bIns="0" rtlCol="0" anchor="t"/>
          <a:lstStyle/>
          <a:p>
            <a:pPr marL="0" indent="0" algn="l">
              <a:buNone/>
            </a:pPr>
            <a:r>
              <a:rPr lang="en-US" sz="1200" b="1" dirty="0">
                <a:solidFill>
                  <a:srgbClr val="0C2622"/>
                </a:solidFill>
                <a:latin typeface="Cambria" pitchFamily="34" charset="0"/>
                <a:ea typeface="Cambria" pitchFamily="34" charset="-122"/>
                <a:cs typeface="Cambria" pitchFamily="34" charset="-120"/>
              </a:rPr>
              <a:t>Human-by-exception</a:t>
            </a:r>
            <a:endParaRPr lang="en-US" sz="1200" dirty="0"/>
          </a:p>
        </p:txBody>
      </p:sp>
      <p:sp>
        <p:nvSpPr>
          <p:cNvPr id="31" name="Text 28"/>
          <p:cNvSpPr txBox="1"/>
          <p:nvPr/>
        </p:nvSpPr>
        <p:spPr>
          <a:xfrm>
            <a:off x="7470648" y="2359152"/>
            <a:ext cx="1143000" cy="2240280"/>
          </a:xfrm>
          <a:prstGeom prst="rect">
            <a:avLst/>
          </a:prstGeom>
          <a:noFill/>
          <a:ln/>
        </p:spPr>
        <p:txBody>
          <a:bodyPr wrap="square" lIns="0" tIns="0" rIns="0" bIns="0" rtlCol="0" anchor="t"/>
          <a:lstStyle/>
          <a:p>
            <a:pPr marL="0" indent="0" algn="l">
              <a:buNone/>
            </a:pPr>
            <a:r>
              <a:rPr lang="en-US" sz="1000" dirty="0">
                <a:solidFill>
                  <a:srgbClr val="0C2622"/>
                </a:solidFill>
                <a:latin typeface="Calibri" pitchFamily="34" charset="0"/>
                <a:ea typeface="Calibri" pitchFamily="34" charset="-122"/>
                <a:cs typeface="Calibri" pitchFamily="34" charset="-120"/>
              </a:rPr>
              <a:t>Routine tasks run automatically; humans step in when needed.</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7 · OPERATIONS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Level 6: humans by exception</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48</a:t>
            </a:r>
            <a:endParaRPr lang="en-US" sz="900" dirty="0"/>
          </a:p>
        </p:txBody>
      </p:sp>
      <p:sp>
        <p:nvSpPr>
          <p:cNvPr id="7" name="Text 4"/>
          <p:cNvSpPr txBox="1"/>
          <p:nvPr/>
        </p:nvSpPr>
        <p:spPr>
          <a:xfrm>
            <a:off x="457200" y="1280160"/>
            <a:ext cx="8229600" cy="274320"/>
          </a:xfrm>
          <a:prstGeom prst="rect">
            <a:avLst/>
          </a:prstGeom>
          <a:noFill/>
          <a:ln/>
        </p:spPr>
        <p:txBody>
          <a:bodyPr wrap="square" lIns="0" tIns="0" rIns="0" bIns="0" rtlCol="0" anchor="t"/>
          <a:lstStyle/>
          <a:p>
            <a:pPr marL="0" indent="0" algn="l">
              <a:buNone/>
            </a:pPr>
            <a:r>
              <a:rPr lang="en-US" sz="1400" dirty="0">
                <a:solidFill>
                  <a:srgbClr val="587068"/>
                </a:solidFill>
                <a:latin typeface="Calibri" pitchFamily="34" charset="0"/>
                <a:ea typeface="Calibri" pitchFamily="34" charset="-122"/>
                <a:cs typeface="Calibri" pitchFamily="34" charset="-120"/>
              </a:rPr>
              <a:t>Routine work runs on its own. A human steps in when:</a:t>
            </a:r>
            <a:endParaRPr lang="en-US" sz="1400" dirty="0"/>
          </a:p>
        </p:txBody>
      </p:sp>
      <p:sp>
        <p:nvSpPr>
          <p:cNvPr id="8" name="Shape 5"/>
          <p:cNvSpPr/>
          <p:nvPr/>
        </p:nvSpPr>
        <p:spPr>
          <a:xfrm>
            <a:off x="457200" y="1691640"/>
            <a:ext cx="2651760" cy="1444752"/>
          </a:xfrm>
          <a:prstGeom prst="roundRect">
            <a:avLst>
              <a:gd name="adj" fmla="val 6329"/>
            </a:avLst>
          </a:prstGeom>
          <a:solidFill>
            <a:srgbClr val="FFFFFF"/>
          </a:solidFill>
          <a:ln/>
          <a:effectLst>
            <a:outerShdw blurRad="101600" dist="25400" dir="5400000" algn="bl" rotWithShape="0">
              <a:srgbClr val="000000">
                <a:alpha val="10000"/>
              </a:srgbClr>
            </a:outerShdw>
          </a:effectLst>
        </p:spPr>
      </p:sp>
      <p:sp>
        <p:nvSpPr>
          <p:cNvPr id="9" name="Shape 6"/>
          <p:cNvSpPr/>
          <p:nvPr/>
        </p:nvSpPr>
        <p:spPr>
          <a:xfrm>
            <a:off x="640080" y="1874520"/>
            <a:ext cx="502920" cy="502920"/>
          </a:xfrm>
          <a:prstGeom prst="ellipse">
            <a:avLst/>
          </a:prstGeom>
          <a:solidFill>
            <a:srgbClr val="12735B"/>
          </a:solidFill>
          <a:ln/>
        </p:spPr>
      </p:sp>
      <p:pic>
        <p:nvPicPr>
          <p:cNvPr id="10" name="Image 0" descr="preencoded.png"/>
          <p:cNvPicPr>
            <a:picLocks noChangeAspect="1"/>
          </p:cNvPicPr>
          <p:nvPr/>
        </p:nvPicPr>
        <p:blipFill>
          <a:blip r:embed="rId3"/>
          <a:stretch>
            <a:fillRect/>
          </a:stretch>
        </p:blipFill>
        <p:spPr>
          <a:xfrm>
            <a:off x="765810" y="2000250"/>
            <a:ext cx="251460" cy="251460"/>
          </a:xfrm>
          <a:prstGeom prst="rect">
            <a:avLst/>
          </a:prstGeom>
        </p:spPr>
      </p:pic>
      <p:sp>
        <p:nvSpPr>
          <p:cNvPr id="11" name="Text 7"/>
          <p:cNvSpPr txBox="1"/>
          <p:nvPr/>
        </p:nvSpPr>
        <p:spPr>
          <a:xfrm>
            <a:off x="640080" y="2496312"/>
            <a:ext cx="2331720" cy="5486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Confidence is low</a:t>
            </a:r>
            <a:endParaRPr lang="en-US" sz="1400" dirty="0"/>
          </a:p>
        </p:txBody>
      </p:sp>
      <p:sp>
        <p:nvSpPr>
          <p:cNvPr id="12" name="Shape 8"/>
          <p:cNvSpPr/>
          <p:nvPr/>
        </p:nvSpPr>
        <p:spPr>
          <a:xfrm>
            <a:off x="3246120" y="1691640"/>
            <a:ext cx="2651760" cy="1444752"/>
          </a:xfrm>
          <a:prstGeom prst="roundRect">
            <a:avLst>
              <a:gd name="adj" fmla="val 6329"/>
            </a:avLst>
          </a:prstGeom>
          <a:solidFill>
            <a:srgbClr val="FFFFFF"/>
          </a:solidFill>
          <a:ln/>
          <a:effectLst>
            <a:outerShdw blurRad="101600" dist="25400" dir="5400000" algn="bl" rotWithShape="0">
              <a:srgbClr val="000000">
                <a:alpha val="10000"/>
              </a:srgbClr>
            </a:outerShdw>
          </a:effectLst>
        </p:spPr>
      </p:sp>
      <p:sp>
        <p:nvSpPr>
          <p:cNvPr id="13" name="Shape 9"/>
          <p:cNvSpPr/>
          <p:nvPr/>
        </p:nvSpPr>
        <p:spPr>
          <a:xfrm>
            <a:off x="3429000" y="1874520"/>
            <a:ext cx="502920" cy="502920"/>
          </a:xfrm>
          <a:prstGeom prst="ellipse">
            <a:avLst/>
          </a:prstGeom>
          <a:solidFill>
            <a:srgbClr val="12735B"/>
          </a:solidFill>
          <a:ln/>
        </p:spPr>
      </p:sp>
      <p:pic>
        <p:nvPicPr>
          <p:cNvPr id="14" name="Image 1" descr="preencoded.png"/>
          <p:cNvPicPr>
            <a:picLocks noChangeAspect="1"/>
          </p:cNvPicPr>
          <p:nvPr/>
        </p:nvPicPr>
        <p:blipFill>
          <a:blip r:embed="rId4"/>
          <a:stretch>
            <a:fillRect/>
          </a:stretch>
        </p:blipFill>
        <p:spPr>
          <a:xfrm>
            <a:off x="3554730" y="2000250"/>
            <a:ext cx="251460" cy="251460"/>
          </a:xfrm>
          <a:prstGeom prst="rect">
            <a:avLst/>
          </a:prstGeom>
        </p:spPr>
      </p:pic>
      <p:sp>
        <p:nvSpPr>
          <p:cNvPr id="15" name="Text 10"/>
          <p:cNvSpPr txBox="1"/>
          <p:nvPr/>
        </p:nvSpPr>
        <p:spPr>
          <a:xfrm>
            <a:off x="3429000" y="2496312"/>
            <a:ext cx="2331720" cy="5486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Financial approval is needed</a:t>
            </a:r>
            <a:endParaRPr lang="en-US" sz="1400" dirty="0"/>
          </a:p>
        </p:txBody>
      </p:sp>
      <p:sp>
        <p:nvSpPr>
          <p:cNvPr id="16" name="Shape 11"/>
          <p:cNvSpPr/>
          <p:nvPr/>
        </p:nvSpPr>
        <p:spPr>
          <a:xfrm>
            <a:off x="6035040" y="1691640"/>
            <a:ext cx="2651760" cy="1444752"/>
          </a:xfrm>
          <a:prstGeom prst="roundRect">
            <a:avLst>
              <a:gd name="adj" fmla="val 6329"/>
            </a:avLst>
          </a:prstGeom>
          <a:solidFill>
            <a:srgbClr val="FFFFFF"/>
          </a:solidFill>
          <a:ln/>
          <a:effectLst>
            <a:outerShdw blurRad="101600" dist="25400" dir="5400000" algn="bl" rotWithShape="0">
              <a:srgbClr val="000000">
                <a:alpha val="10000"/>
              </a:srgbClr>
            </a:outerShdw>
          </a:effectLst>
        </p:spPr>
      </p:sp>
      <p:sp>
        <p:nvSpPr>
          <p:cNvPr id="17" name="Shape 12"/>
          <p:cNvSpPr/>
          <p:nvPr/>
        </p:nvSpPr>
        <p:spPr>
          <a:xfrm>
            <a:off x="6217920" y="1874520"/>
            <a:ext cx="502920" cy="502920"/>
          </a:xfrm>
          <a:prstGeom prst="ellipse">
            <a:avLst/>
          </a:prstGeom>
          <a:solidFill>
            <a:srgbClr val="12735B"/>
          </a:solidFill>
          <a:ln/>
        </p:spPr>
      </p:sp>
      <p:pic>
        <p:nvPicPr>
          <p:cNvPr id="18" name="Image 2" descr="preencoded.png"/>
          <p:cNvPicPr>
            <a:picLocks noChangeAspect="1"/>
          </p:cNvPicPr>
          <p:nvPr/>
        </p:nvPicPr>
        <p:blipFill>
          <a:blip r:embed="rId5"/>
          <a:stretch>
            <a:fillRect/>
          </a:stretch>
        </p:blipFill>
        <p:spPr>
          <a:xfrm>
            <a:off x="6343650" y="2000250"/>
            <a:ext cx="251460" cy="251460"/>
          </a:xfrm>
          <a:prstGeom prst="rect">
            <a:avLst/>
          </a:prstGeom>
        </p:spPr>
      </p:pic>
      <p:sp>
        <p:nvSpPr>
          <p:cNvPr id="19" name="Text 13"/>
          <p:cNvSpPr txBox="1"/>
          <p:nvPr/>
        </p:nvSpPr>
        <p:spPr>
          <a:xfrm>
            <a:off x="6217920" y="2496312"/>
            <a:ext cx="2331720" cy="5486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Legal issues arise</a:t>
            </a:r>
            <a:endParaRPr lang="en-US" sz="1400" dirty="0"/>
          </a:p>
        </p:txBody>
      </p:sp>
      <p:sp>
        <p:nvSpPr>
          <p:cNvPr id="20" name="Shape 14"/>
          <p:cNvSpPr/>
          <p:nvPr/>
        </p:nvSpPr>
        <p:spPr>
          <a:xfrm>
            <a:off x="457200" y="3227832"/>
            <a:ext cx="2651760" cy="1444752"/>
          </a:xfrm>
          <a:prstGeom prst="roundRect">
            <a:avLst>
              <a:gd name="adj" fmla="val 6329"/>
            </a:avLst>
          </a:prstGeom>
          <a:solidFill>
            <a:srgbClr val="FFFFFF"/>
          </a:solidFill>
          <a:ln/>
          <a:effectLst>
            <a:outerShdw blurRad="101600" dist="25400" dir="5400000" algn="bl" rotWithShape="0">
              <a:srgbClr val="000000">
                <a:alpha val="10000"/>
              </a:srgbClr>
            </a:outerShdw>
          </a:effectLst>
        </p:spPr>
      </p:sp>
      <p:sp>
        <p:nvSpPr>
          <p:cNvPr id="21" name="Shape 15"/>
          <p:cNvSpPr/>
          <p:nvPr/>
        </p:nvSpPr>
        <p:spPr>
          <a:xfrm>
            <a:off x="640080" y="3410712"/>
            <a:ext cx="502920" cy="502920"/>
          </a:xfrm>
          <a:prstGeom prst="ellipse">
            <a:avLst/>
          </a:prstGeom>
          <a:solidFill>
            <a:srgbClr val="12735B"/>
          </a:solidFill>
          <a:ln/>
        </p:spPr>
      </p:sp>
      <p:pic>
        <p:nvPicPr>
          <p:cNvPr id="22" name="Image 3" descr="preencoded.png"/>
          <p:cNvPicPr>
            <a:picLocks noChangeAspect="1"/>
          </p:cNvPicPr>
          <p:nvPr/>
        </p:nvPicPr>
        <p:blipFill>
          <a:blip r:embed="rId6"/>
          <a:stretch>
            <a:fillRect/>
          </a:stretch>
        </p:blipFill>
        <p:spPr>
          <a:xfrm>
            <a:off x="765810" y="3536442"/>
            <a:ext cx="251460" cy="251460"/>
          </a:xfrm>
          <a:prstGeom prst="rect">
            <a:avLst/>
          </a:prstGeom>
        </p:spPr>
      </p:pic>
      <p:sp>
        <p:nvSpPr>
          <p:cNvPr id="23" name="Text 16"/>
          <p:cNvSpPr txBox="1"/>
          <p:nvPr/>
        </p:nvSpPr>
        <p:spPr>
          <a:xfrm>
            <a:off x="640080" y="4032504"/>
            <a:ext cx="2331720" cy="5486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Sensitive data is involved</a:t>
            </a:r>
            <a:endParaRPr lang="en-US" sz="1400" dirty="0"/>
          </a:p>
        </p:txBody>
      </p:sp>
      <p:sp>
        <p:nvSpPr>
          <p:cNvPr id="24" name="Shape 17"/>
          <p:cNvSpPr/>
          <p:nvPr/>
        </p:nvSpPr>
        <p:spPr>
          <a:xfrm>
            <a:off x="3246120" y="3227832"/>
            <a:ext cx="2651760" cy="1444752"/>
          </a:xfrm>
          <a:prstGeom prst="roundRect">
            <a:avLst>
              <a:gd name="adj" fmla="val 6329"/>
            </a:avLst>
          </a:prstGeom>
          <a:solidFill>
            <a:srgbClr val="FFFFFF"/>
          </a:solidFill>
          <a:ln/>
          <a:effectLst>
            <a:outerShdw blurRad="101600" dist="25400" dir="5400000" algn="bl" rotWithShape="0">
              <a:srgbClr val="000000">
                <a:alpha val="10000"/>
              </a:srgbClr>
            </a:outerShdw>
          </a:effectLst>
        </p:spPr>
      </p:sp>
      <p:sp>
        <p:nvSpPr>
          <p:cNvPr id="25" name="Shape 18"/>
          <p:cNvSpPr/>
          <p:nvPr/>
        </p:nvSpPr>
        <p:spPr>
          <a:xfrm>
            <a:off x="3429000" y="3410712"/>
            <a:ext cx="502920" cy="502920"/>
          </a:xfrm>
          <a:prstGeom prst="ellipse">
            <a:avLst/>
          </a:prstGeom>
          <a:solidFill>
            <a:srgbClr val="12735B"/>
          </a:solidFill>
          <a:ln/>
        </p:spPr>
      </p:sp>
      <p:pic>
        <p:nvPicPr>
          <p:cNvPr id="26" name="Image 4" descr="preencoded.png"/>
          <p:cNvPicPr>
            <a:picLocks noChangeAspect="1"/>
          </p:cNvPicPr>
          <p:nvPr/>
        </p:nvPicPr>
        <p:blipFill>
          <a:blip r:embed="rId7"/>
          <a:stretch>
            <a:fillRect/>
          </a:stretch>
        </p:blipFill>
        <p:spPr>
          <a:xfrm>
            <a:off x="3554730" y="3536442"/>
            <a:ext cx="251460" cy="251460"/>
          </a:xfrm>
          <a:prstGeom prst="rect">
            <a:avLst/>
          </a:prstGeom>
        </p:spPr>
      </p:pic>
      <p:sp>
        <p:nvSpPr>
          <p:cNvPr id="27" name="Text 19"/>
          <p:cNvSpPr txBox="1"/>
          <p:nvPr/>
        </p:nvSpPr>
        <p:spPr>
          <a:xfrm>
            <a:off x="3429000" y="4032504"/>
            <a:ext cx="2331720" cy="5486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Customers escalate</a:t>
            </a:r>
            <a:endParaRPr lang="en-US" sz="1400" dirty="0"/>
          </a:p>
        </p:txBody>
      </p:sp>
      <p:sp>
        <p:nvSpPr>
          <p:cNvPr id="28" name="Shape 20"/>
          <p:cNvSpPr/>
          <p:nvPr/>
        </p:nvSpPr>
        <p:spPr>
          <a:xfrm>
            <a:off x="6035040" y="3227832"/>
            <a:ext cx="2651760" cy="1444752"/>
          </a:xfrm>
          <a:prstGeom prst="roundRect">
            <a:avLst>
              <a:gd name="adj" fmla="val 6329"/>
            </a:avLst>
          </a:prstGeom>
          <a:solidFill>
            <a:srgbClr val="FFFFFF"/>
          </a:solidFill>
          <a:ln/>
          <a:effectLst>
            <a:outerShdw blurRad="101600" dist="25400" dir="5400000" algn="bl" rotWithShape="0">
              <a:srgbClr val="000000">
                <a:alpha val="10000"/>
              </a:srgbClr>
            </a:outerShdw>
          </a:effectLst>
        </p:spPr>
      </p:sp>
      <p:sp>
        <p:nvSpPr>
          <p:cNvPr id="29" name="Shape 21"/>
          <p:cNvSpPr/>
          <p:nvPr/>
        </p:nvSpPr>
        <p:spPr>
          <a:xfrm>
            <a:off x="6217920" y="3410712"/>
            <a:ext cx="502920" cy="502920"/>
          </a:xfrm>
          <a:prstGeom prst="ellipse">
            <a:avLst/>
          </a:prstGeom>
          <a:solidFill>
            <a:srgbClr val="F4A52A"/>
          </a:solidFill>
          <a:ln/>
        </p:spPr>
      </p:sp>
      <p:pic>
        <p:nvPicPr>
          <p:cNvPr id="30" name="Image 5" descr="preencoded.png"/>
          <p:cNvPicPr>
            <a:picLocks noChangeAspect="1"/>
          </p:cNvPicPr>
          <p:nvPr/>
        </p:nvPicPr>
        <p:blipFill>
          <a:blip r:embed="rId8"/>
          <a:stretch>
            <a:fillRect/>
          </a:stretch>
        </p:blipFill>
        <p:spPr>
          <a:xfrm>
            <a:off x="6343650" y="3536442"/>
            <a:ext cx="251460" cy="251460"/>
          </a:xfrm>
          <a:prstGeom prst="rect">
            <a:avLst/>
          </a:prstGeom>
        </p:spPr>
      </p:pic>
      <p:sp>
        <p:nvSpPr>
          <p:cNvPr id="31" name="Text 22"/>
          <p:cNvSpPr txBox="1"/>
          <p:nvPr/>
        </p:nvSpPr>
        <p:spPr>
          <a:xfrm>
            <a:off x="6217920" y="4032504"/>
            <a:ext cx="2331720" cy="548640"/>
          </a:xfrm>
          <a:prstGeom prst="rect">
            <a:avLst/>
          </a:prstGeom>
          <a:noFill/>
          <a:ln/>
        </p:spPr>
        <p:txBody>
          <a:bodyPr wrap="square" lIns="0" tIns="0" rIns="0" bIns="0" rtlCol="0" anchor="t"/>
          <a:lstStyle/>
          <a:p>
            <a:pPr marL="0" indent="0" algn="l">
              <a:buNone/>
            </a:pPr>
            <a:r>
              <a:rPr lang="en-US" sz="1400" b="1" dirty="0">
                <a:solidFill>
                  <a:srgbClr val="0C2622"/>
                </a:solidFill>
                <a:latin typeface="Cambria" pitchFamily="34" charset="0"/>
                <a:ea typeface="Cambria" pitchFamily="34" charset="-122"/>
                <a:cs typeface="Cambria" pitchFamily="34" charset="-120"/>
              </a:rPr>
              <a:t>Strategic judgment is required</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7 · OPERATIONS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The AI business operating system</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49</a:t>
            </a:r>
            <a:endParaRPr lang="en-US" sz="900" dirty="0"/>
          </a:p>
        </p:txBody>
      </p:sp>
      <p:sp>
        <p:nvSpPr>
          <p:cNvPr id="7" name="Shape 4"/>
          <p:cNvSpPr/>
          <p:nvPr/>
        </p:nvSpPr>
        <p:spPr>
          <a:xfrm>
            <a:off x="457200" y="1280160"/>
            <a:ext cx="8229600" cy="960120"/>
          </a:xfrm>
          <a:prstGeom prst="roundRect">
            <a:avLst>
              <a:gd name="adj" fmla="val 9524"/>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685800" y="1280160"/>
            <a:ext cx="1463040" cy="960120"/>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FOUNDER</a:t>
            </a:r>
            <a:endParaRPr lang="en-US" sz="2000" dirty="0"/>
          </a:p>
        </p:txBody>
      </p:sp>
      <p:sp>
        <p:nvSpPr>
          <p:cNvPr id="9" name="Shape 6"/>
          <p:cNvSpPr/>
          <p:nvPr/>
        </p:nvSpPr>
        <p:spPr>
          <a:xfrm>
            <a:off x="2148840" y="1600200"/>
            <a:ext cx="1278697" cy="329184"/>
          </a:xfrm>
          <a:prstGeom prst="roundRect">
            <a:avLst>
              <a:gd name="adj" fmla="val 50000"/>
            </a:avLst>
          </a:prstGeom>
          <a:solidFill>
            <a:srgbClr val="1E4D44"/>
          </a:solidFill>
          <a:ln/>
        </p:spPr>
      </p:sp>
      <p:sp>
        <p:nvSpPr>
          <p:cNvPr id="10" name="Text 7"/>
          <p:cNvSpPr txBox="1"/>
          <p:nvPr/>
        </p:nvSpPr>
        <p:spPr>
          <a:xfrm>
            <a:off x="2148840" y="1600200"/>
            <a:ext cx="1278697" cy="32918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Sets direction</a:t>
            </a:r>
            <a:endParaRPr lang="en-US" sz="1050" dirty="0"/>
          </a:p>
        </p:txBody>
      </p:sp>
      <p:sp>
        <p:nvSpPr>
          <p:cNvPr id="11" name="Shape 8"/>
          <p:cNvSpPr/>
          <p:nvPr/>
        </p:nvSpPr>
        <p:spPr>
          <a:xfrm>
            <a:off x="3500689" y="1600200"/>
            <a:ext cx="2039112" cy="329184"/>
          </a:xfrm>
          <a:prstGeom prst="roundRect">
            <a:avLst>
              <a:gd name="adj" fmla="val 50000"/>
            </a:avLst>
          </a:prstGeom>
          <a:solidFill>
            <a:srgbClr val="1E4D44"/>
          </a:solidFill>
          <a:ln/>
        </p:spPr>
      </p:sp>
      <p:sp>
        <p:nvSpPr>
          <p:cNvPr id="12" name="Text 9"/>
          <p:cNvSpPr txBox="1"/>
          <p:nvPr/>
        </p:nvSpPr>
        <p:spPr>
          <a:xfrm>
            <a:off x="3500689" y="1600200"/>
            <a:ext cx="2039112" cy="32918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Approves critical actions</a:t>
            </a:r>
            <a:endParaRPr lang="en-US" sz="1050" dirty="0"/>
          </a:p>
        </p:txBody>
      </p:sp>
      <p:sp>
        <p:nvSpPr>
          <p:cNvPr id="13" name="Shape 10"/>
          <p:cNvSpPr/>
          <p:nvPr/>
        </p:nvSpPr>
        <p:spPr>
          <a:xfrm>
            <a:off x="5612953" y="1600200"/>
            <a:ext cx="1347826" cy="329184"/>
          </a:xfrm>
          <a:prstGeom prst="roundRect">
            <a:avLst>
              <a:gd name="adj" fmla="val 50000"/>
            </a:avLst>
          </a:prstGeom>
          <a:solidFill>
            <a:srgbClr val="1E4D44"/>
          </a:solidFill>
          <a:ln/>
        </p:spPr>
      </p:sp>
      <p:sp>
        <p:nvSpPr>
          <p:cNvPr id="14" name="Text 11"/>
          <p:cNvSpPr txBox="1"/>
          <p:nvPr/>
        </p:nvSpPr>
        <p:spPr>
          <a:xfrm>
            <a:off x="5612953" y="1600200"/>
            <a:ext cx="1347826" cy="32918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Reviews quality</a:t>
            </a:r>
            <a:endParaRPr lang="en-US" sz="1050" dirty="0"/>
          </a:p>
        </p:txBody>
      </p:sp>
      <p:sp>
        <p:nvSpPr>
          <p:cNvPr id="15" name="Shape 12"/>
          <p:cNvSpPr/>
          <p:nvPr/>
        </p:nvSpPr>
        <p:spPr>
          <a:xfrm>
            <a:off x="7033931" y="1600200"/>
            <a:ext cx="1347826" cy="329184"/>
          </a:xfrm>
          <a:prstGeom prst="roundRect">
            <a:avLst>
              <a:gd name="adj" fmla="val 50000"/>
            </a:avLst>
          </a:prstGeom>
          <a:solidFill>
            <a:srgbClr val="1E4D44"/>
          </a:solidFill>
          <a:ln/>
        </p:spPr>
      </p:sp>
      <p:sp>
        <p:nvSpPr>
          <p:cNvPr id="16" name="Text 13"/>
          <p:cNvSpPr txBox="1"/>
          <p:nvPr/>
        </p:nvSpPr>
        <p:spPr>
          <a:xfrm>
            <a:off x="7033931" y="1600200"/>
            <a:ext cx="1347826" cy="32918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Makes decisions</a:t>
            </a:r>
            <a:endParaRPr lang="en-US" sz="1050" dirty="0"/>
          </a:p>
        </p:txBody>
      </p:sp>
      <p:sp>
        <p:nvSpPr>
          <p:cNvPr id="17" name="Shape 14"/>
          <p:cNvSpPr/>
          <p:nvPr/>
        </p:nvSpPr>
        <p:spPr>
          <a:xfrm>
            <a:off x="1234440" y="2240280"/>
            <a:ext cx="0" cy="365760"/>
          </a:xfrm>
          <a:prstGeom prst="line">
            <a:avLst/>
          </a:prstGeom>
          <a:noFill/>
          <a:ln w="25400">
            <a:solidFill>
              <a:srgbClr val="6FBFA5"/>
            </a:solidFill>
            <a:prstDash val="solid"/>
          </a:ln>
        </p:spPr>
      </p:sp>
      <p:sp>
        <p:nvSpPr>
          <p:cNvPr id="18" name="Shape 15"/>
          <p:cNvSpPr/>
          <p:nvPr/>
        </p:nvSpPr>
        <p:spPr>
          <a:xfrm>
            <a:off x="457200" y="260604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19" name="Shape 16"/>
          <p:cNvSpPr/>
          <p:nvPr/>
        </p:nvSpPr>
        <p:spPr>
          <a:xfrm>
            <a:off x="594360" y="2743200"/>
            <a:ext cx="457200" cy="457200"/>
          </a:xfrm>
          <a:prstGeom prst="ellipse">
            <a:avLst/>
          </a:prstGeom>
          <a:solidFill>
            <a:srgbClr val="12735B"/>
          </a:solidFill>
          <a:ln/>
        </p:spPr>
      </p:sp>
      <p:pic>
        <p:nvPicPr>
          <p:cNvPr id="20" name="Image 0" descr="preencoded.png"/>
          <p:cNvPicPr>
            <a:picLocks noChangeAspect="1"/>
          </p:cNvPicPr>
          <p:nvPr/>
        </p:nvPicPr>
        <p:blipFill>
          <a:blip r:embed="rId3"/>
          <a:stretch>
            <a:fillRect/>
          </a:stretch>
        </p:blipFill>
        <p:spPr>
          <a:xfrm>
            <a:off x="708660" y="2857500"/>
            <a:ext cx="228600" cy="228600"/>
          </a:xfrm>
          <a:prstGeom prst="rect">
            <a:avLst/>
          </a:prstGeom>
        </p:spPr>
      </p:pic>
      <p:sp>
        <p:nvSpPr>
          <p:cNvPr id="21" name="Text 17"/>
          <p:cNvSpPr txBox="1"/>
          <p:nvPr/>
        </p:nvSpPr>
        <p:spPr>
          <a:xfrm>
            <a:off x="594360" y="3337560"/>
            <a:ext cx="1325880" cy="566928"/>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Research Agent</a:t>
            </a:r>
            <a:endParaRPr lang="en-US" sz="1200" dirty="0"/>
          </a:p>
        </p:txBody>
      </p:sp>
      <p:sp>
        <p:nvSpPr>
          <p:cNvPr id="22" name="Text 18"/>
          <p:cNvSpPr txBox="1"/>
          <p:nvPr/>
        </p:nvSpPr>
        <p:spPr>
          <a:xfrm>
            <a:off x="594360" y="3931920"/>
            <a:ext cx="1325880" cy="68580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Tracks market information.</a:t>
            </a:r>
            <a:endParaRPr lang="en-US" sz="1050" dirty="0"/>
          </a:p>
        </p:txBody>
      </p:sp>
      <p:sp>
        <p:nvSpPr>
          <p:cNvPr id="23" name="Shape 19"/>
          <p:cNvSpPr/>
          <p:nvPr/>
        </p:nvSpPr>
        <p:spPr>
          <a:xfrm>
            <a:off x="2903220" y="2240280"/>
            <a:ext cx="0" cy="365760"/>
          </a:xfrm>
          <a:prstGeom prst="line">
            <a:avLst/>
          </a:prstGeom>
          <a:noFill/>
          <a:ln w="25400">
            <a:solidFill>
              <a:srgbClr val="6FBFA5"/>
            </a:solidFill>
            <a:prstDash val="solid"/>
          </a:ln>
        </p:spPr>
      </p:sp>
      <p:sp>
        <p:nvSpPr>
          <p:cNvPr id="24" name="Shape 20"/>
          <p:cNvSpPr/>
          <p:nvPr/>
        </p:nvSpPr>
        <p:spPr>
          <a:xfrm>
            <a:off x="2125980" y="260604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25" name="Shape 21"/>
          <p:cNvSpPr/>
          <p:nvPr/>
        </p:nvSpPr>
        <p:spPr>
          <a:xfrm>
            <a:off x="2263140" y="2743200"/>
            <a:ext cx="457200" cy="457200"/>
          </a:xfrm>
          <a:prstGeom prst="ellipse">
            <a:avLst/>
          </a:prstGeom>
          <a:solidFill>
            <a:srgbClr val="12735B"/>
          </a:solidFill>
          <a:ln/>
        </p:spPr>
      </p:sp>
      <p:pic>
        <p:nvPicPr>
          <p:cNvPr id="26" name="Image 1" descr="preencoded.png"/>
          <p:cNvPicPr>
            <a:picLocks noChangeAspect="1"/>
          </p:cNvPicPr>
          <p:nvPr/>
        </p:nvPicPr>
        <p:blipFill>
          <a:blip r:embed="rId4"/>
          <a:stretch>
            <a:fillRect/>
          </a:stretch>
        </p:blipFill>
        <p:spPr>
          <a:xfrm>
            <a:off x="2377440" y="2857500"/>
            <a:ext cx="228600" cy="228600"/>
          </a:xfrm>
          <a:prstGeom prst="rect">
            <a:avLst/>
          </a:prstGeom>
        </p:spPr>
      </p:pic>
      <p:sp>
        <p:nvSpPr>
          <p:cNvPr id="27" name="Text 22"/>
          <p:cNvSpPr txBox="1"/>
          <p:nvPr/>
        </p:nvSpPr>
        <p:spPr>
          <a:xfrm>
            <a:off x="2263140" y="3337560"/>
            <a:ext cx="1325880" cy="566928"/>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Sales Agent</a:t>
            </a:r>
            <a:endParaRPr lang="en-US" sz="1200" dirty="0"/>
          </a:p>
        </p:txBody>
      </p:sp>
      <p:sp>
        <p:nvSpPr>
          <p:cNvPr id="28" name="Text 23"/>
          <p:cNvSpPr txBox="1"/>
          <p:nvPr/>
        </p:nvSpPr>
        <p:spPr>
          <a:xfrm>
            <a:off x="2263140" y="3931920"/>
            <a:ext cx="1325880" cy="68580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Researches prospects and prepares outreach.</a:t>
            </a:r>
            <a:endParaRPr lang="en-US" sz="1050" dirty="0"/>
          </a:p>
        </p:txBody>
      </p:sp>
      <p:sp>
        <p:nvSpPr>
          <p:cNvPr id="29" name="Shape 24"/>
          <p:cNvSpPr/>
          <p:nvPr/>
        </p:nvSpPr>
        <p:spPr>
          <a:xfrm>
            <a:off x="4572000" y="2240280"/>
            <a:ext cx="0" cy="365760"/>
          </a:xfrm>
          <a:prstGeom prst="line">
            <a:avLst/>
          </a:prstGeom>
          <a:noFill/>
          <a:ln w="25400">
            <a:solidFill>
              <a:srgbClr val="6FBFA5"/>
            </a:solidFill>
            <a:prstDash val="solid"/>
          </a:ln>
        </p:spPr>
      </p:sp>
      <p:sp>
        <p:nvSpPr>
          <p:cNvPr id="30" name="Shape 25"/>
          <p:cNvSpPr/>
          <p:nvPr/>
        </p:nvSpPr>
        <p:spPr>
          <a:xfrm>
            <a:off x="3794760" y="260604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31" name="Shape 26"/>
          <p:cNvSpPr/>
          <p:nvPr/>
        </p:nvSpPr>
        <p:spPr>
          <a:xfrm>
            <a:off x="3931920" y="2743200"/>
            <a:ext cx="457200" cy="457200"/>
          </a:xfrm>
          <a:prstGeom prst="ellipse">
            <a:avLst/>
          </a:prstGeom>
          <a:solidFill>
            <a:srgbClr val="12735B"/>
          </a:solidFill>
          <a:ln/>
        </p:spPr>
      </p:sp>
      <p:pic>
        <p:nvPicPr>
          <p:cNvPr id="32" name="Image 2" descr="preencoded.png"/>
          <p:cNvPicPr>
            <a:picLocks noChangeAspect="1"/>
          </p:cNvPicPr>
          <p:nvPr/>
        </p:nvPicPr>
        <p:blipFill>
          <a:blip r:embed="rId5"/>
          <a:stretch>
            <a:fillRect/>
          </a:stretch>
        </p:blipFill>
        <p:spPr>
          <a:xfrm>
            <a:off x="4046220" y="2857500"/>
            <a:ext cx="228600" cy="228600"/>
          </a:xfrm>
          <a:prstGeom prst="rect">
            <a:avLst/>
          </a:prstGeom>
        </p:spPr>
      </p:pic>
      <p:sp>
        <p:nvSpPr>
          <p:cNvPr id="33" name="Text 27"/>
          <p:cNvSpPr txBox="1"/>
          <p:nvPr/>
        </p:nvSpPr>
        <p:spPr>
          <a:xfrm>
            <a:off x="3931920" y="3337560"/>
            <a:ext cx="1325880" cy="566928"/>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Marketing Agent</a:t>
            </a:r>
            <a:endParaRPr lang="en-US" sz="1200" dirty="0"/>
          </a:p>
        </p:txBody>
      </p:sp>
      <p:sp>
        <p:nvSpPr>
          <p:cNvPr id="34" name="Text 28"/>
          <p:cNvSpPr txBox="1"/>
          <p:nvPr/>
        </p:nvSpPr>
        <p:spPr>
          <a:xfrm>
            <a:off x="3931920" y="3931920"/>
            <a:ext cx="1325880" cy="68580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Helps create and repurpose content.</a:t>
            </a:r>
            <a:endParaRPr lang="en-US" sz="1050" dirty="0"/>
          </a:p>
        </p:txBody>
      </p:sp>
      <p:sp>
        <p:nvSpPr>
          <p:cNvPr id="35" name="Shape 29"/>
          <p:cNvSpPr/>
          <p:nvPr/>
        </p:nvSpPr>
        <p:spPr>
          <a:xfrm>
            <a:off x="6240780" y="2240280"/>
            <a:ext cx="0" cy="365760"/>
          </a:xfrm>
          <a:prstGeom prst="line">
            <a:avLst/>
          </a:prstGeom>
          <a:noFill/>
          <a:ln w="25400">
            <a:solidFill>
              <a:srgbClr val="6FBFA5"/>
            </a:solidFill>
            <a:prstDash val="solid"/>
          </a:ln>
        </p:spPr>
      </p:sp>
      <p:sp>
        <p:nvSpPr>
          <p:cNvPr id="36" name="Shape 30"/>
          <p:cNvSpPr/>
          <p:nvPr/>
        </p:nvSpPr>
        <p:spPr>
          <a:xfrm>
            <a:off x="5463540" y="260604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37" name="Shape 31"/>
          <p:cNvSpPr/>
          <p:nvPr/>
        </p:nvSpPr>
        <p:spPr>
          <a:xfrm>
            <a:off x="5600700" y="2743200"/>
            <a:ext cx="457200" cy="457200"/>
          </a:xfrm>
          <a:prstGeom prst="ellipse">
            <a:avLst/>
          </a:prstGeom>
          <a:solidFill>
            <a:srgbClr val="12735B"/>
          </a:solidFill>
          <a:ln/>
        </p:spPr>
      </p:sp>
      <p:pic>
        <p:nvPicPr>
          <p:cNvPr id="38" name="Image 3" descr="preencoded.png"/>
          <p:cNvPicPr>
            <a:picLocks noChangeAspect="1"/>
          </p:cNvPicPr>
          <p:nvPr/>
        </p:nvPicPr>
        <p:blipFill>
          <a:blip r:embed="rId6"/>
          <a:stretch>
            <a:fillRect/>
          </a:stretch>
        </p:blipFill>
        <p:spPr>
          <a:xfrm>
            <a:off x="5715000" y="2857500"/>
            <a:ext cx="228600" cy="228600"/>
          </a:xfrm>
          <a:prstGeom prst="rect">
            <a:avLst/>
          </a:prstGeom>
        </p:spPr>
      </p:pic>
      <p:sp>
        <p:nvSpPr>
          <p:cNvPr id="39" name="Text 32"/>
          <p:cNvSpPr txBox="1"/>
          <p:nvPr/>
        </p:nvSpPr>
        <p:spPr>
          <a:xfrm>
            <a:off x="5600700" y="3337560"/>
            <a:ext cx="1325880" cy="566928"/>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Customer Operations Agent</a:t>
            </a:r>
            <a:endParaRPr lang="en-US" sz="1200" dirty="0"/>
          </a:p>
        </p:txBody>
      </p:sp>
      <p:sp>
        <p:nvSpPr>
          <p:cNvPr id="40" name="Text 33"/>
          <p:cNvSpPr txBox="1"/>
          <p:nvPr/>
        </p:nvSpPr>
        <p:spPr>
          <a:xfrm>
            <a:off x="5600700" y="3931920"/>
            <a:ext cx="1325880" cy="68580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Classifies enquiries and drafts responses.</a:t>
            </a:r>
            <a:endParaRPr lang="en-US" sz="1050" dirty="0"/>
          </a:p>
        </p:txBody>
      </p:sp>
      <p:sp>
        <p:nvSpPr>
          <p:cNvPr id="41" name="Shape 34"/>
          <p:cNvSpPr/>
          <p:nvPr/>
        </p:nvSpPr>
        <p:spPr>
          <a:xfrm>
            <a:off x="7909560" y="2240280"/>
            <a:ext cx="0" cy="365760"/>
          </a:xfrm>
          <a:prstGeom prst="line">
            <a:avLst/>
          </a:prstGeom>
          <a:noFill/>
          <a:ln w="25400">
            <a:solidFill>
              <a:srgbClr val="6FBFA5"/>
            </a:solidFill>
            <a:prstDash val="solid"/>
          </a:ln>
        </p:spPr>
      </p:sp>
      <p:sp>
        <p:nvSpPr>
          <p:cNvPr id="42" name="Shape 35"/>
          <p:cNvSpPr/>
          <p:nvPr/>
        </p:nvSpPr>
        <p:spPr>
          <a:xfrm>
            <a:off x="7132320" y="2606040"/>
            <a:ext cx="1554480" cy="2057400"/>
          </a:xfrm>
          <a:prstGeom prst="roundRect">
            <a:avLst>
              <a:gd name="adj" fmla="val 5882"/>
            </a:avLst>
          </a:prstGeom>
          <a:solidFill>
            <a:srgbClr val="FFFFFF"/>
          </a:solidFill>
          <a:ln/>
          <a:effectLst>
            <a:outerShdw blurRad="101600" dist="25400" dir="5400000" algn="bl" rotWithShape="0">
              <a:srgbClr val="000000">
                <a:alpha val="10000"/>
              </a:srgbClr>
            </a:outerShdw>
          </a:effectLst>
        </p:spPr>
      </p:sp>
      <p:sp>
        <p:nvSpPr>
          <p:cNvPr id="43" name="Shape 36"/>
          <p:cNvSpPr/>
          <p:nvPr/>
        </p:nvSpPr>
        <p:spPr>
          <a:xfrm>
            <a:off x="7269480" y="2743200"/>
            <a:ext cx="457200" cy="457200"/>
          </a:xfrm>
          <a:prstGeom prst="ellipse">
            <a:avLst/>
          </a:prstGeom>
          <a:solidFill>
            <a:srgbClr val="12735B"/>
          </a:solidFill>
          <a:ln/>
        </p:spPr>
      </p:sp>
      <p:pic>
        <p:nvPicPr>
          <p:cNvPr id="44" name="Image 4" descr="preencoded.png"/>
          <p:cNvPicPr>
            <a:picLocks noChangeAspect="1"/>
          </p:cNvPicPr>
          <p:nvPr/>
        </p:nvPicPr>
        <p:blipFill>
          <a:blip r:embed="rId7"/>
          <a:stretch>
            <a:fillRect/>
          </a:stretch>
        </p:blipFill>
        <p:spPr>
          <a:xfrm>
            <a:off x="7383780" y="2857500"/>
            <a:ext cx="228600" cy="228600"/>
          </a:xfrm>
          <a:prstGeom prst="rect">
            <a:avLst/>
          </a:prstGeom>
        </p:spPr>
      </p:pic>
      <p:sp>
        <p:nvSpPr>
          <p:cNvPr id="45" name="Text 37"/>
          <p:cNvSpPr txBox="1"/>
          <p:nvPr/>
        </p:nvSpPr>
        <p:spPr>
          <a:xfrm>
            <a:off x="7269480" y="3337560"/>
            <a:ext cx="1325880" cy="566928"/>
          </a:xfrm>
          <a:prstGeom prst="rect">
            <a:avLst/>
          </a:prstGeom>
          <a:noFill/>
          <a:ln/>
        </p:spPr>
        <p:txBody>
          <a:bodyPr wrap="square" lIns="0" tIns="0" rIns="0" bIns="0" rtlCol="0" anchor="t"/>
          <a:lstStyle/>
          <a:p>
            <a:pPr marL="0" indent="0" algn="l">
              <a:buNone/>
            </a:pPr>
            <a:r>
              <a:rPr lang="en-US" sz="1200" b="1" dirty="0">
                <a:solidFill>
                  <a:srgbClr val="0C2622"/>
                </a:solidFill>
                <a:latin typeface="Calibri" pitchFamily="34" charset="0"/>
                <a:ea typeface="Calibri" pitchFamily="34" charset="-122"/>
                <a:cs typeface="Calibri" pitchFamily="34" charset="-120"/>
              </a:rPr>
              <a:t>Analytics Agent</a:t>
            </a:r>
            <a:endParaRPr lang="en-US" sz="1200" dirty="0"/>
          </a:p>
        </p:txBody>
      </p:sp>
      <p:sp>
        <p:nvSpPr>
          <p:cNvPr id="46" name="Text 38"/>
          <p:cNvSpPr txBox="1"/>
          <p:nvPr/>
        </p:nvSpPr>
        <p:spPr>
          <a:xfrm>
            <a:off x="7269480" y="3931920"/>
            <a:ext cx="1325880" cy="685800"/>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Summarizes performance.</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7 · OPERATIONS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Sort the work, then write the SOP</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50</a:t>
            </a:r>
            <a:endParaRPr lang="en-US" sz="900" dirty="0"/>
          </a:p>
        </p:txBody>
      </p:sp>
      <p:sp>
        <p:nvSpPr>
          <p:cNvPr id="7" name="Text 4"/>
          <p:cNvSpPr txBox="1"/>
          <p:nvPr/>
        </p:nvSpPr>
        <p:spPr>
          <a:xfrm>
            <a:off x="457200" y="1280160"/>
            <a:ext cx="411480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CLASSIFY EVERY RECURRING TASK</a:t>
            </a:r>
            <a:endParaRPr lang="en-US" sz="950" dirty="0"/>
          </a:p>
        </p:txBody>
      </p:sp>
      <p:sp>
        <p:nvSpPr>
          <p:cNvPr id="8" name="Shape 5"/>
          <p:cNvSpPr/>
          <p:nvPr/>
        </p:nvSpPr>
        <p:spPr>
          <a:xfrm>
            <a:off x="457200" y="1554480"/>
            <a:ext cx="4114800" cy="621792"/>
          </a:xfrm>
          <a:prstGeom prst="roundRect">
            <a:avLst>
              <a:gd name="adj" fmla="val 14706"/>
            </a:avLst>
          </a:prstGeom>
          <a:solidFill>
            <a:srgbClr val="FFFFFF"/>
          </a:solidFill>
          <a:ln/>
          <a:effectLst>
            <a:outerShdw blurRad="101600" dist="25400" dir="5400000" algn="bl" rotWithShape="0">
              <a:srgbClr val="000000">
                <a:alpha val="10000"/>
              </a:srgbClr>
            </a:outerShdw>
          </a:effectLst>
        </p:spPr>
      </p:sp>
      <p:sp>
        <p:nvSpPr>
          <p:cNvPr id="9" name="Shape 6"/>
          <p:cNvSpPr/>
          <p:nvPr/>
        </p:nvSpPr>
        <p:spPr>
          <a:xfrm>
            <a:off x="530352" y="1627632"/>
            <a:ext cx="475488" cy="475488"/>
          </a:xfrm>
          <a:prstGeom prst="roundRect">
            <a:avLst>
              <a:gd name="adj" fmla="val 15385"/>
            </a:avLst>
          </a:prstGeom>
          <a:solidFill>
            <a:srgbClr val="DFF1EA"/>
          </a:solidFill>
          <a:ln/>
        </p:spPr>
      </p:sp>
      <p:sp>
        <p:nvSpPr>
          <p:cNvPr id="10" name="Text 7"/>
          <p:cNvSpPr txBox="1"/>
          <p:nvPr/>
        </p:nvSpPr>
        <p:spPr>
          <a:xfrm>
            <a:off x="530352" y="1627632"/>
            <a:ext cx="475488" cy="475488"/>
          </a:xfrm>
          <a:prstGeom prst="rect">
            <a:avLst/>
          </a:prstGeom>
          <a:noFill/>
          <a:ln/>
        </p:spPr>
        <p:txBody>
          <a:bodyPr wrap="square" lIns="0" tIns="0" rIns="0" bIns="0" rtlCol="0" anchor="ctr"/>
          <a:lstStyle/>
          <a:p>
            <a:pPr marL="0" indent="0" algn="ctr">
              <a:buNone/>
            </a:pPr>
            <a:r>
              <a:rPr lang="en-US" sz="2000" b="1" dirty="0">
                <a:solidFill>
                  <a:srgbClr val="0C2622"/>
                </a:solidFill>
                <a:latin typeface="Cambria" pitchFamily="34" charset="0"/>
                <a:ea typeface="Cambria" pitchFamily="34" charset="-122"/>
                <a:cs typeface="Cambria" pitchFamily="34" charset="-120"/>
              </a:rPr>
              <a:t>A</a:t>
            </a:r>
            <a:endParaRPr lang="en-US" sz="2000" dirty="0"/>
          </a:p>
        </p:txBody>
      </p:sp>
      <p:sp>
        <p:nvSpPr>
          <p:cNvPr id="11" name="Text 8"/>
          <p:cNvSpPr txBox="1"/>
          <p:nvPr/>
        </p:nvSpPr>
        <p:spPr>
          <a:xfrm>
            <a:off x="1143000" y="1618488"/>
            <a:ext cx="3291840" cy="256032"/>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Human only</a:t>
            </a:r>
            <a:endParaRPr lang="en-US" sz="1300" dirty="0"/>
          </a:p>
        </p:txBody>
      </p:sp>
      <p:sp>
        <p:nvSpPr>
          <p:cNvPr id="12" name="Text 9"/>
          <p:cNvSpPr txBox="1"/>
          <p:nvPr/>
        </p:nvSpPr>
        <p:spPr>
          <a:xfrm>
            <a:off x="1143000" y="1883664"/>
            <a:ext cx="3291840" cy="256032"/>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Judgment-heavy or high-stakes.</a:t>
            </a:r>
            <a:endParaRPr lang="en-US" sz="1050" dirty="0"/>
          </a:p>
        </p:txBody>
      </p:sp>
      <p:sp>
        <p:nvSpPr>
          <p:cNvPr id="13" name="Shape 10"/>
          <p:cNvSpPr/>
          <p:nvPr/>
        </p:nvSpPr>
        <p:spPr>
          <a:xfrm>
            <a:off x="457200" y="2267712"/>
            <a:ext cx="4114800" cy="621792"/>
          </a:xfrm>
          <a:prstGeom prst="roundRect">
            <a:avLst>
              <a:gd name="adj" fmla="val 14706"/>
            </a:avLst>
          </a:prstGeom>
          <a:solidFill>
            <a:srgbClr val="FFFFFF"/>
          </a:solidFill>
          <a:ln/>
          <a:effectLst>
            <a:outerShdw blurRad="101600" dist="25400" dir="5400000" algn="bl" rotWithShape="0">
              <a:srgbClr val="000000">
                <a:alpha val="10000"/>
              </a:srgbClr>
            </a:outerShdw>
          </a:effectLst>
        </p:spPr>
      </p:sp>
      <p:sp>
        <p:nvSpPr>
          <p:cNvPr id="14" name="Shape 11"/>
          <p:cNvSpPr/>
          <p:nvPr/>
        </p:nvSpPr>
        <p:spPr>
          <a:xfrm>
            <a:off x="530352" y="2340864"/>
            <a:ext cx="475488" cy="475488"/>
          </a:xfrm>
          <a:prstGeom prst="roundRect">
            <a:avLst>
              <a:gd name="adj" fmla="val 15385"/>
            </a:avLst>
          </a:prstGeom>
          <a:solidFill>
            <a:srgbClr val="B5DCCE"/>
          </a:solidFill>
          <a:ln/>
        </p:spPr>
      </p:sp>
      <p:sp>
        <p:nvSpPr>
          <p:cNvPr id="15" name="Text 12"/>
          <p:cNvSpPr txBox="1"/>
          <p:nvPr/>
        </p:nvSpPr>
        <p:spPr>
          <a:xfrm>
            <a:off x="530352" y="2340864"/>
            <a:ext cx="475488" cy="475488"/>
          </a:xfrm>
          <a:prstGeom prst="rect">
            <a:avLst/>
          </a:prstGeom>
          <a:noFill/>
          <a:ln/>
        </p:spPr>
        <p:txBody>
          <a:bodyPr wrap="square" lIns="0" tIns="0" rIns="0" bIns="0" rtlCol="0" anchor="ctr"/>
          <a:lstStyle/>
          <a:p>
            <a:pPr marL="0" indent="0" algn="ctr">
              <a:buNone/>
            </a:pPr>
            <a:r>
              <a:rPr lang="en-US" sz="2000" b="1" dirty="0">
                <a:solidFill>
                  <a:srgbClr val="0C2622"/>
                </a:solidFill>
                <a:latin typeface="Cambria" pitchFamily="34" charset="0"/>
                <a:ea typeface="Cambria" pitchFamily="34" charset="-122"/>
                <a:cs typeface="Cambria" pitchFamily="34" charset="-120"/>
              </a:rPr>
              <a:t>B</a:t>
            </a:r>
            <a:endParaRPr lang="en-US" sz="2000" dirty="0"/>
          </a:p>
        </p:txBody>
      </p:sp>
      <p:sp>
        <p:nvSpPr>
          <p:cNvPr id="16" name="Text 13"/>
          <p:cNvSpPr txBox="1"/>
          <p:nvPr/>
        </p:nvSpPr>
        <p:spPr>
          <a:xfrm>
            <a:off x="1143000" y="2331720"/>
            <a:ext cx="3291840" cy="256032"/>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AI assisted</a:t>
            </a:r>
            <a:endParaRPr lang="en-US" sz="1300" dirty="0"/>
          </a:p>
        </p:txBody>
      </p:sp>
      <p:sp>
        <p:nvSpPr>
          <p:cNvPr id="17" name="Text 14"/>
          <p:cNvSpPr txBox="1"/>
          <p:nvPr/>
        </p:nvSpPr>
        <p:spPr>
          <a:xfrm>
            <a:off x="1143000" y="2596896"/>
            <a:ext cx="3291840" cy="256032"/>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Human does it; AI speeds it up.</a:t>
            </a:r>
            <a:endParaRPr lang="en-US" sz="1050" dirty="0"/>
          </a:p>
        </p:txBody>
      </p:sp>
      <p:sp>
        <p:nvSpPr>
          <p:cNvPr id="18" name="Shape 15"/>
          <p:cNvSpPr/>
          <p:nvPr/>
        </p:nvSpPr>
        <p:spPr>
          <a:xfrm>
            <a:off x="457200" y="2980944"/>
            <a:ext cx="4114800" cy="621792"/>
          </a:xfrm>
          <a:prstGeom prst="roundRect">
            <a:avLst>
              <a:gd name="adj" fmla="val 14706"/>
            </a:avLst>
          </a:prstGeom>
          <a:solidFill>
            <a:srgbClr val="FFFFFF"/>
          </a:solidFill>
          <a:ln/>
          <a:effectLst>
            <a:outerShdw blurRad="101600" dist="25400" dir="5400000" algn="bl" rotWithShape="0">
              <a:srgbClr val="000000">
                <a:alpha val="10000"/>
              </a:srgbClr>
            </a:outerShdw>
          </a:effectLst>
        </p:spPr>
      </p:sp>
      <p:sp>
        <p:nvSpPr>
          <p:cNvPr id="19" name="Shape 16"/>
          <p:cNvSpPr/>
          <p:nvPr/>
        </p:nvSpPr>
        <p:spPr>
          <a:xfrm>
            <a:off x="530352" y="3054096"/>
            <a:ext cx="475488" cy="475488"/>
          </a:xfrm>
          <a:prstGeom prst="roundRect">
            <a:avLst>
              <a:gd name="adj" fmla="val 15385"/>
            </a:avLst>
          </a:prstGeom>
          <a:solidFill>
            <a:srgbClr val="1E9A7A"/>
          </a:solidFill>
          <a:ln/>
        </p:spPr>
      </p:sp>
      <p:sp>
        <p:nvSpPr>
          <p:cNvPr id="20" name="Text 17"/>
          <p:cNvSpPr txBox="1"/>
          <p:nvPr/>
        </p:nvSpPr>
        <p:spPr>
          <a:xfrm>
            <a:off x="530352" y="305409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21" name="Text 18"/>
          <p:cNvSpPr txBox="1"/>
          <p:nvPr/>
        </p:nvSpPr>
        <p:spPr>
          <a:xfrm>
            <a:off x="1143000" y="3044952"/>
            <a:ext cx="3291840" cy="256032"/>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Automatable</a:t>
            </a:r>
            <a:endParaRPr lang="en-US" sz="1300" dirty="0"/>
          </a:p>
        </p:txBody>
      </p:sp>
      <p:sp>
        <p:nvSpPr>
          <p:cNvPr id="22" name="Text 19"/>
          <p:cNvSpPr txBox="1"/>
          <p:nvPr/>
        </p:nvSpPr>
        <p:spPr>
          <a:xfrm>
            <a:off x="1143000" y="3310128"/>
            <a:ext cx="3291840" cy="256032"/>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Predictable steps tools can pass along.</a:t>
            </a:r>
            <a:endParaRPr lang="en-US" sz="1050" dirty="0"/>
          </a:p>
        </p:txBody>
      </p:sp>
      <p:sp>
        <p:nvSpPr>
          <p:cNvPr id="23" name="Shape 20"/>
          <p:cNvSpPr/>
          <p:nvPr/>
        </p:nvSpPr>
        <p:spPr>
          <a:xfrm>
            <a:off x="457200" y="3694176"/>
            <a:ext cx="4114800" cy="621792"/>
          </a:xfrm>
          <a:prstGeom prst="roundRect">
            <a:avLst>
              <a:gd name="adj" fmla="val 14706"/>
            </a:avLst>
          </a:prstGeom>
          <a:solidFill>
            <a:srgbClr val="FFFFFF"/>
          </a:solidFill>
          <a:ln/>
          <a:effectLst>
            <a:outerShdw blurRad="101600" dist="25400" dir="5400000" algn="bl" rotWithShape="0">
              <a:srgbClr val="000000">
                <a:alpha val="10000"/>
              </a:srgbClr>
            </a:outerShdw>
          </a:effectLst>
        </p:spPr>
      </p:sp>
      <p:sp>
        <p:nvSpPr>
          <p:cNvPr id="24" name="Shape 21"/>
          <p:cNvSpPr/>
          <p:nvPr/>
        </p:nvSpPr>
        <p:spPr>
          <a:xfrm>
            <a:off x="530352" y="3767328"/>
            <a:ext cx="475488" cy="475488"/>
          </a:xfrm>
          <a:prstGeom prst="roundRect">
            <a:avLst>
              <a:gd name="adj" fmla="val 15385"/>
            </a:avLst>
          </a:prstGeom>
          <a:solidFill>
            <a:srgbClr val="12735B"/>
          </a:solidFill>
          <a:ln/>
        </p:spPr>
      </p:sp>
      <p:sp>
        <p:nvSpPr>
          <p:cNvPr id="25" name="Text 22"/>
          <p:cNvSpPr txBox="1"/>
          <p:nvPr/>
        </p:nvSpPr>
        <p:spPr>
          <a:xfrm>
            <a:off x="530352" y="376732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26" name="Text 23"/>
          <p:cNvSpPr txBox="1"/>
          <p:nvPr/>
        </p:nvSpPr>
        <p:spPr>
          <a:xfrm>
            <a:off x="1143000" y="3758184"/>
            <a:ext cx="3291840" cy="256032"/>
          </a:xfrm>
          <a:prstGeom prst="rect">
            <a:avLst/>
          </a:prstGeom>
          <a:noFill/>
          <a:ln/>
        </p:spPr>
        <p:txBody>
          <a:bodyPr wrap="square" lIns="0" tIns="0" rIns="0" bIns="0" rtlCol="0" anchor="t"/>
          <a:lstStyle/>
          <a:p>
            <a:pPr marL="0" indent="0" algn="l">
              <a:buNone/>
            </a:pPr>
            <a:r>
              <a:rPr lang="en-US" sz="1300" b="1" dirty="0">
                <a:solidFill>
                  <a:srgbClr val="0C2622"/>
                </a:solidFill>
                <a:latin typeface="Calibri" pitchFamily="34" charset="0"/>
                <a:ea typeface="Calibri" pitchFamily="34" charset="-122"/>
                <a:cs typeface="Calibri" pitchFamily="34" charset="-120"/>
              </a:rPr>
              <a:t>Potentially agentic</a:t>
            </a:r>
            <a:endParaRPr lang="en-US" sz="1300" dirty="0"/>
          </a:p>
        </p:txBody>
      </p:sp>
      <p:sp>
        <p:nvSpPr>
          <p:cNvPr id="27" name="Text 24"/>
          <p:cNvSpPr txBox="1"/>
          <p:nvPr/>
        </p:nvSpPr>
        <p:spPr>
          <a:xfrm>
            <a:off x="1143000" y="4023360"/>
            <a:ext cx="3291840" cy="256032"/>
          </a:xfrm>
          <a:prstGeom prst="rect">
            <a:avLst/>
          </a:prstGeom>
          <a:noFill/>
          <a:ln/>
        </p:spPr>
        <p:txBody>
          <a:bodyPr wrap="square" lIns="0" tIns="0" rIns="0" bIns="0" rtlCol="0" anchor="t"/>
          <a:lstStyle/>
          <a:p>
            <a:pPr marL="0" indent="0" algn="l">
              <a:buNone/>
            </a:pPr>
            <a:r>
              <a:rPr lang="en-US" sz="1050" dirty="0">
                <a:solidFill>
                  <a:srgbClr val="587068"/>
                </a:solidFill>
                <a:latin typeface="Calibri" pitchFamily="34" charset="0"/>
                <a:ea typeface="Calibri" pitchFamily="34" charset="-122"/>
                <a:cs typeface="Calibri" pitchFamily="34" charset="-120"/>
              </a:rPr>
              <a:t>AI chooses among predefined actions.</a:t>
            </a:r>
            <a:endParaRPr lang="en-US" sz="1050" dirty="0"/>
          </a:p>
        </p:txBody>
      </p:sp>
      <p:sp>
        <p:nvSpPr>
          <p:cNvPr id="28" name="Text 25"/>
          <p:cNvSpPr txBox="1"/>
          <p:nvPr/>
        </p:nvSpPr>
        <p:spPr>
          <a:xfrm>
            <a:off x="457200" y="4370832"/>
            <a:ext cx="4114800" cy="365760"/>
          </a:xfrm>
          <a:prstGeom prst="rect">
            <a:avLst/>
          </a:prstGeom>
          <a:noFill/>
          <a:ln/>
        </p:spPr>
        <p:txBody>
          <a:bodyPr wrap="square" lIns="0" tIns="0" rIns="0" bIns="0" rtlCol="0" anchor="t"/>
          <a:lstStyle/>
          <a:p>
            <a:pPr marL="0" indent="0" algn="l">
              <a:buNone/>
            </a:pPr>
            <a:r>
              <a:rPr lang="en-US" sz="1050" i="1" dirty="0">
                <a:solidFill>
                  <a:srgbClr val="587068"/>
                </a:solidFill>
                <a:latin typeface="Calibri" pitchFamily="34" charset="0"/>
                <a:ea typeface="Calibri" pitchFamily="34" charset="-122"/>
                <a:cs typeface="Calibri" pitchFamily="34" charset="-120"/>
              </a:rPr>
              <a:t>For automated or agentic tasks, define what human approval or monitoring remains.</a:t>
            </a:r>
            <a:endParaRPr lang="en-US" sz="1050" dirty="0"/>
          </a:p>
        </p:txBody>
      </p:sp>
      <p:sp>
        <p:nvSpPr>
          <p:cNvPr id="29" name="Shape 26"/>
          <p:cNvSpPr/>
          <p:nvPr/>
        </p:nvSpPr>
        <p:spPr>
          <a:xfrm>
            <a:off x="4846320" y="1280160"/>
            <a:ext cx="3840480" cy="3383280"/>
          </a:xfrm>
          <a:prstGeom prst="roundRect">
            <a:avLst>
              <a:gd name="adj" fmla="val 2703"/>
            </a:avLst>
          </a:prstGeom>
          <a:solidFill>
            <a:srgbClr val="0C2622"/>
          </a:solidFill>
          <a:ln/>
          <a:effectLst>
            <a:outerShdw blurRad="101600" dist="25400" dir="5400000" algn="bl" rotWithShape="0">
              <a:srgbClr val="000000">
                <a:alpha val="10000"/>
              </a:srgbClr>
            </a:outerShdw>
          </a:effectLst>
        </p:spPr>
      </p:sp>
      <p:sp>
        <p:nvSpPr>
          <p:cNvPr id="30" name="Text 27"/>
          <p:cNvSpPr txBox="1"/>
          <p:nvPr/>
        </p:nvSpPr>
        <p:spPr>
          <a:xfrm>
            <a:off x="5074920" y="1444752"/>
            <a:ext cx="2743200" cy="182880"/>
          </a:xfrm>
          <a:prstGeom prst="rect">
            <a:avLst/>
          </a:prstGeom>
          <a:noFill/>
          <a:ln/>
        </p:spPr>
        <p:txBody>
          <a:bodyPr wrap="square" lIns="0" tIns="0" rIns="0" bIns="0" rtlCol="0" anchor="t"/>
          <a:lstStyle/>
          <a:p>
            <a:pPr marL="0" indent="0" algn="l">
              <a:buNone/>
            </a:pPr>
            <a:r>
              <a:rPr lang="en-US" sz="950" b="1" kern="0" spc="150" dirty="0">
                <a:solidFill>
                  <a:srgbClr val="F4A52A"/>
                </a:solidFill>
                <a:latin typeface="Calibri" pitchFamily="34" charset="0"/>
                <a:ea typeface="Calibri" pitchFamily="34" charset="-122"/>
                <a:cs typeface="Calibri" pitchFamily="34" charset="-120"/>
              </a:rPr>
              <a:t>SOP PROMPT</a:t>
            </a:r>
            <a:endParaRPr lang="en-US" sz="950" dirty="0"/>
          </a:p>
        </p:txBody>
      </p:sp>
      <p:sp>
        <p:nvSpPr>
          <p:cNvPr id="31" name="Text 28"/>
          <p:cNvSpPr txBox="1"/>
          <p:nvPr/>
        </p:nvSpPr>
        <p:spPr>
          <a:xfrm>
            <a:off x="5074920" y="1737360"/>
            <a:ext cx="3429000" cy="457200"/>
          </a:xfrm>
          <a:prstGeom prst="rect">
            <a:avLst/>
          </a:prstGeom>
          <a:noFill/>
          <a:ln/>
        </p:spPr>
        <p:txBody>
          <a:bodyPr wrap="square" lIns="0" tIns="0" rIns="0" bIns="0" rtlCol="0" anchor="t"/>
          <a:lstStyle/>
          <a:p>
            <a:pPr marL="0" indent="0" algn="l">
              <a:buNone/>
            </a:pPr>
            <a:r>
              <a:rPr lang="en-US" sz="1250" dirty="0">
                <a:solidFill>
                  <a:srgbClr val="FFFFFF"/>
                </a:solidFill>
                <a:latin typeface="Calibri" pitchFamily="34" charset="0"/>
                <a:ea typeface="Calibri" pitchFamily="34" charset="-122"/>
                <a:cs typeface="Calibri" pitchFamily="34" charset="-120"/>
              </a:rPr>
              <a:t>Turn this business process into an SOP with:</a:t>
            </a:r>
            <a:endParaRPr lang="en-US" sz="1250" dirty="0"/>
          </a:p>
        </p:txBody>
      </p:sp>
      <p:sp>
        <p:nvSpPr>
          <p:cNvPr id="32" name="Shape 29"/>
          <p:cNvSpPr/>
          <p:nvPr/>
        </p:nvSpPr>
        <p:spPr>
          <a:xfrm>
            <a:off x="5074920" y="2377440"/>
            <a:ext cx="863925" cy="384048"/>
          </a:xfrm>
          <a:prstGeom prst="roundRect">
            <a:avLst>
              <a:gd name="adj" fmla="val 50000"/>
            </a:avLst>
          </a:prstGeom>
          <a:solidFill>
            <a:srgbClr val="1E4D44"/>
          </a:solidFill>
          <a:ln/>
        </p:spPr>
      </p:sp>
      <p:sp>
        <p:nvSpPr>
          <p:cNvPr id="33" name="Text 30"/>
          <p:cNvSpPr txBox="1"/>
          <p:nvPr/>
        </p:nvSpPr>
        <p:spPr>
          <a:xfrm>
            <a:off x="5074920" y="2377440"/>
            <a:ext cx="863925"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Purpose</a:t>
            </a:r>
            <a:endParaRPr lang="en-US" sz="1200" dirty="0"/>
          </a:p>
        </p:txBody>
      </p:sp>
      <p:sp>
        <p:nvSpPr>
          <p:cNvPr id="34" name="Shape 31"/>
          <p:cNvSpPr/>
          <p:nvPr/>
        </p:nvSpPr>
        <p:spPr>
          <a:xfrm>
            <a:off x="6048573" y="2377440"/>
            <a:ext cx="863925" cy="384048"/>
          </a:xfrm>
          <a:prstGeom prst="roundRect">
            <a:avLst>
              <a:gd name="adj" fmla="val 50000"/>
            </a:avLst>
          </a:prstGeom>
          <a:solidFill>
            <a:srgbClr val="1E4D44"/>
          </a:solidFill>
          <a:ln/>
        </p:spPr>
      </p:sp>
      <p:sp>
        <p:nvSpPr>
          <p:cNvPr id="35" name="Text 32"/>
          <p:cNvSpPr txBox="1"/>
          <p:nvPr/>
        </p:nvSpPr>
        <p:spPr>
          <a:xfrm>
            <a:off x="6048573" y="2377440"/>
            <a:ext cx="863925"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Trigger</a:t>
            </a:r>
            <a:endParaRPr lang="en-US" sz="1200" dirty="0"/>
          </a:p>
        </p:txBody>
      </p:sp>
      <p:sp>
        <p:nvSpPr>
          <p:cNvPr id="36" name="Shape 33"/>
          <p:cNvSpPr/>
          <p:nvPr/>
        </p:nvSpPr>
        <p:spPr>
          <a:xfrm>
            <a:off x="7022226" y="2377440"/>
            <a:ext cx="705917" cy="384048"/>
          </a:xfrm>
          <a:prstGeom prst="roundRect">
            <a:avLst>
              <a:gd name="adj" fmla="val 50000"/>
            </a:avLst>
          </a:prstGeom>
          <a:solidFill>
            <a:srgbClr val="1E4D44"/>
          </a:solidFill>
          <a:ln/>
        </p:spPr>
      </p:sp>
      <p:sp>
        <p:nvSpPr>
          <p:cNvPr id="37" name="Text 34"/>
          <p:cNvSpPr txBox="1"/>
          <p:nvPr/>
        </p:nvSpPr>
        <p:spPr>
          <a:xfrm>
            <a:off x="7022226" y="2377440"/>
            <a:ext cx="705917"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Input</a:t>
            </a:r>
            <a:endParaRPr lang="en-US" sz="1200" dirty="0"/>
          </a:p>
        </p:txBody>
      </p:sp>
      <p:sp>
        <p:nvSpPr>
          <p:cNvPr id="38" name="Shape 35"/>
          <p:cNvSpPr/>
          <p:nvPr/>
        </p:nvSpPr>
        <p:spPr>
          <a:xfrm>
            <a:off x="5074920" y="2871216"/>
            <a:ext cx="705917" cy="384048"/>
          </a:xfrm>
          <a:prstGeom prst="roundRect">
            <a:avLst>
              <a:gd name="adj" fmla="val 50000"/>
            </a:avLst>
          </a:prstGeom>
          <a:solidFill>
            <a:srgbClr val="1E4D44"/>
          </a:solidFill>
          <a:ln/>
        </p:spPr>
      </p:sp>
      <p:sp>
        <p:nvSpPr>
          <p:cNvPr id="39" name="Text 36"/>
          <p:cNvSpPr txBox="1"/>
          <p:nvPr/>
        </p:nvSpPr>
        <p:spPr>
          <a:xfrm>
            <a:off x="5074920" y="2871216"/>
            <a:ext cx="705917"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Steps</a:t>
            </a:r>
            <a:endParaRPr lang="en-US" sz="1200" dirty="0"/>
          </a:p>
        </p:txBody>
      </p:sp>
      <p:sp>
        <p:nvSpPr>
          <p:cNvPr id="40" name="Shape 37"/>
          <p:cNvSpPr/>
          <p:nvPr/>
        </p:nvSpPr>
        <p:spPr>
          <a:xfrm>
            <a:off x="5890565" y="2871216"/>
            <a:ext cx="863925" cy="384048"/>
          </a:xfrm>
          <a:prstGeom prst="roundRect">
            <a:avLst>
              <a:gd name="adj" fmla="val 50000"/>
            </a:avLst>
          </a:prstGeom>
          <a:solidFill>
            <a:srgbClr val="1E4D44"/>
          </a:solidFill>
          <a:ln/>
        </p:spPr>
      </p:sp>
      <p:sp>
        <p:nvSpPr>
          <p:cNvPr id="41" name="Text 38"/>
          <p:cNvSpPr txBox="1"/>
          <p:nvPr/>
        </p:nvSpPr>
        <p:spPr>
          <a:xfrm>
            <a:off x="5890565" y="2871216"/>
            <a:ext cx="863925"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AI role</a:t>
            </a:r>
            <a:endParaRPr lang="en-US" sz="1200" dirty="0"/>
          </a:p>
        </p:txBody>
      </p:sp>
      <p:sp>
        <p:nvSpPr>
          <p:cNvPr id="42" name="Shape 39"/>
          <p:cNvSpPr/>
          <p:nvPr/>
        </p:nvSpPr>
        <p:spPr>
          <a:xfrm>
            <a:off x="6864218" y="2871216"/>
            <a:ext cx="1100938" cy="384048"/>
          </a:xfrm>
          <a:prstGeom prst="roundRect">
            <a:avLst>
              <a:gd name="adj" fmla="val 50000"/>
            </a:avLst>
          </a:prstGeom>
          <a:solidFill>
            <a:srgbClr val="1E4D44"/>
          </a:solidFill>
          <a:ln/>
        </p:spPr>
      </p:sp>
      <p:sp>
        <p:nvSpPr>
          <p:cNvPr id="43" name="Text 40"/>
          <p:cNvSpPr txBox="1"/>
          <p:nvPr/>
        </p:nvSpPr>
        <p:spPr>
          <a:xfrm>
            <a:off x="6864218" y="2871216"/>
            <a:ext cx="1100938"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Human role</a:t>
            </a:r>
            <a:endParaRPr lang="en-US" sz="1200" dirty="0"/>
          </a:p>
        </p:txBody>
      </p:sp>
      <p:sp>
        <p:nvSpPr>
          <p:cNvPr id="44" name="Shape 41"/>
          <p:cNvSpPr/>
          <p:nvPr/>
        </p:nvSpPr>
        <p:spPr>
          <a:xfrm>
            <a:off x="5074920" y="3364992"/>
            <a:ext cx="1337950" cy="384048"/>
          </a:xfrm>
          <a:prstGeom prst="roundRect">
            <a:avLst>
              <a:gd name="adj" fmla="val 50000"/>
            </a:avLst>
          </a:prstGeom>
          <a:solidFill>
            <a:srgbClr val="1E4D44"/>
          </a:solidFill>
          <a:ln/>
        </p:spPr>
      </p:sp>
      <p:sp>
        <p:nvSpPr>
          <p:cNvPr id="45" name="Text 42"/>
          <p:cNvSpPr txBox="1"/>
          <p:nvPr/>
        </p:nvSpPr>
        <p:spPr>
          <a:xfrm>
            <a:off x="5074920" y="3364992"/>
            <a:ext cx="133795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Quality check</a:t>
            </a:r>
            <a:endParaRPr lang="en-US" sz="1200" dirty="0"/>
          </a:p>
        </p:txBody>
      </p:sp>
      <p:sp>
        <p:nvSpPr>
          <p:cNvPr id="46" name="Shape 43"/>
          <p:cNvSpPr/>
          <p:nvPr/>
        </p:nvSpPr>
        <p:spPr>
          <a:xfrm>
            <a:off x="6522598" y="3364992"/>
            <a:ext cx="1732971" cy="384048"/>
          </a:xfrm>
          <a:prstGeom prst="roundRect">
            <a:avLst>
              <a:gd name="adj" fmla="val 50000"/>
            </a:avLst>
          </a:prstGeom>
          <a:solidFill>
            <a:srgbClr val="1E4D44"/>
          </a:solidFill>
          <a:ln/>
        </p:spPr>
      </p:sp>
      <p:sp>
        <p:nvSpPr>
          <p:cNvPr id="47" name="Text 44"/>
          <p:cNvSpPr txBox="1"/>
          <p:nvPr/>
        </p:nvSpPr>
        <p:spPr>
          <a:xfrm>
            <a:off x="6522598" y="3364992"/>
            <a:ext cx="1732971"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Failure conditions</a:t>
            </a:r>
            <a:endParaRPr lang="en-US" sz="1200" dirty="0"/>
          </a:p>
        </p:txBody>
      </p:sp>
      <p:sp>
        <p:nvSpPr>
          <p:cNvPr id="48" name="Shape 45"/>
          <p:cNvSpPr/>
          <p:nvPr/>
        </p:nvSpPr>
        <p:spPr>
          <a:xfrm>
            <a:off x="5074920" y="3858768"/>
            <a:ext cx="1100938" cy="384048"/>
          </a:xfrm>
          <a:prstGeom prst="roundRect">
            <a:avLst>
              <a:gd name="adj" fmla="val 50000"/>
            </a:avLst>
          </a:prstGeom>
          <a:solidFill>
            <a:srgbClr val="1E4D44"/>
          </a:solidFill>
          <a:ln/>
        </p:spPr>
      </p:sp>
      <p:sp>
        <p:nvSpPr>
          <p:cNvPr id="49" name="Text 46"/>
          <p:cNvSpPr txBox="1"/>
          <p:nvPr/>
        </p:nvSpPr>
        <p:spPr>
          <a:xfrm>
            <a:off x="5074920" y="3858768"/>
            <a:ext cx="1100938"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Escalation</a:t>
            </a:r>
            <a:endParaRPr lang="en-US" sz="1200" dirty="0"/>
          </a:p>
        </p:txBody>
      </p:sp>
      <p:sp>
        <p:nvSpPr>
          <p:cNvPr id="50" name="Shape 47"/>
          <p:cNvSpPr/>
          <p:nvPr/>
        </p:nvSpPr>
        <p:spPr>
          <a:xfrm>
            <a:off x="6285586" y="3858768"/>
            <a:ext cx="784921" cy="384048"/>
          </a:xfrm>
          <a:prstGeom prst="roundRect">
            <a:avLst>
              <a:gd name="adj" fmla="val 50000"/>
            </a:avLst>
          </a:prstGeom>
          <a:solidFill>
            <a:srgbClr val="1E4D44"/>
          </a:solidFill>
          <a:ln/>
        </p:spPr>
      </p:sp>
      <p:sp>
        <p:nvSpPr>
          <p:cNvPr id="51" name="Text 48"/>
          <p:cNvSpPr txBox="1"/>
          <p:nvPr/>
        </p:nvSpPr>
        <p:spPr>
          <a:xfrm>
            <a:off x="6285586" y="3858768"/>
            <a:ext cx="784921"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Output</a:t>
            </a:r>
            <a:endParaRPr lang="en-US" sz="1200" dirty="0"/>
          </a:p>
        </p:txBody>
      </p:sp>
      <p:sp>
        <p:nvSpPr>
          <p:cNvPr id="52" name="Shape 49"/>
          <p:cNvSpPr/>
          <p:nvPr/>
        </p:nvSpPr>
        <p:spPr>
          <a:xfrm>
            <a:off x="7180235" y="3858768"/>
            <a:ext cx="547908" cy="384048"/>
          </a:xfrm>
          <a:prstGeom prst="roundRect">
            <a:avLst>
              <a:gd name="adj" fmla="val 50000"/>
            </a:avLst>
          </a:prstGeom>
          <a:solidFill>
            <a:srgbClr val="1E4D44"/>
          </a:solidFill>
          <a:ln/>
        </p:spPr>
      </p:sp>
      <p:sp>
        <p:nvSpPr>
          <p:cNvPr id="53" name="Text 50"/>
          <p:cNvSpPr txBox="1"/>
          <p:nvPr/>
        </p:nvSpPr>
        <p:spPr>
          <a:xfrm>
            <a:off x="7180235" y="3858768"/>
            <a:ext cx="547908"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KPI</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7 · OPERATIONS</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MCP system design exercise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51</a:t>
            </a:r>
            <a:endParaRPr lang="en-US" sz="900" dirty="0"/>
          </a:p>
        </p:txBody>
      </p:sp>
      <p:sp>
        <p:nvSpPr>
          <p:cNvPr id="7" name="Shape 4"/>
          <p:cNvSpPr/>
          <p:nvPr/>
        </p:nvSpPr>
        <p:spPr>
          <a:xfrm>
            <a:off x="457200" y="1280160"/>
            <a:ext cx="3474720" cy="457200"/>
          </a:xfrm>
          <a:prstGeom prst="roundRect">
            <a:avLst>
              <a:gd name="adj" fmla="val 20000"/>
            </a:avLst>
          </a:prstGeom>
          <a:solidFill>
            <a:srgbClr val="0C2622"/>
          </a:solidFill>
          <a:ln/>
        </p:spPr>
      </p:sp>
      <p:sp>
        <p:nvSpPr>
          <p:cNvPr id="8" name="Text 5"/>
          <p:cNvSpPr txBox="1"/>
          <p:nvPr/>
        </p:nvSpPr>
        <p:spPr>
          <a:xfrm>
            <a:off x="457200" y="1280160"/>
            <a:ext cx="34747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 host</a:t>
            </a:r>
            <a:endParaRPr lang="en-US" sz="1400" dirty="0"/>
          </a:p>
        </p:txBody>
      </p:sp>
      <p:sp>
        <p:nvSpPr>
          <p:cNvPr id="9" name="Shape 6"/>
          <p:cNvSpPr/>
          <p:nvPr/>
        </p:nvSpPr>
        <p:spPr>
          <a:xfrm>
            <a:off x="2194560" y="1764792"/>
            <a:ext cx="0" cy="292608"/>
          </a:xfrm>
          <a:prstGeom prst="line">
            <a:avLst/>
          </a:prstGeom>
          <a:noFill/>
          <a:ln w="31750">
            <a:solidFill>
              <a:srgbClr val="12735B"/>
            </a:solidFill>
            <a:prstDash val="solid"/>
            <a:tailEnd type="triangle"/>
          </a:ln>
        </p:spPr>
      </p:sp>
      <p:sp>
        <p:nvSpPr>
          <p:cNvPr id="10" name="Shape 7"/>
          <p:cNvSpPr/>
          <p:nvPr/>
        </p:nvSpPr>
        <p:spPr>
          <a:xfrm>
            <a:off x="457200" y="2103120"/>
            <a:ext cx="1691640" cy="384048"/>
          </a:xfrm>
          <a:prstGeom prst="roundRect">
            <a:avLst>
              <a:gd name="adj" fmla="val 19048"/>
            </a:avLst>
          </a:prstGeom>
          <a:solidFill>
            <a:srgbClr val="DFF1EA"/>
          </a:solidFill>
          <a:ln/>
        </p:spPr>
      </p:sp>
      <p:sp>
        <p:nvSpPr>
          <p:cNvPr id="11" name="Text 8"/>
          <p:cNvSpPr txBox="1"/>
          <p:nvPr/>
        </p:nvSpPr>
        <p:spPr>
          <a:xfrm>
            <a:off x="457200" y="21031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Email</a:t>
            </a:r>
            <a:endParaRPr lang="en-US" sz="1100" dirty="0"/>
          </a:p>
        </p:txBody>
      </p:sp>
      <p:sp>
        <p:nvSpPr>
          <p:cNvPr id="12" name="Shape 9"/>
          <p:cNvSpPr/>
          <p:nvPr/>
        </p:nvSpPr>
        <p:spPr>
          <a:xfrm>
            <a:off x="2240280" y="2103120"/>
            <a:ext cx="1691640" cy="384048"/>
          </a:xfrm>
          <a:prstGeom prst="roundRect">
            <a:avLst>
              <a:gd name="adj" fmla="val 19048"/>
            </a:avLst>
          </a:prstGeom>
          <a:solidFill>
            <a:srgbClr val="DFF1EA"/>
          </a:solidFill>
          <a:ln/>
        </p:spPr>
      </p:sp>
      <p:sp>
        <p:nvSpPr>
          <p:cNvPr id="13" name="Text 10"/>
          <p:cNvSpPr txBox="1"/>
          <p:nvPr/>
        </p:nvSpPr>
        <p:spPr>
          <a:xfrm>
            <a:off x="2240280" y="21031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Calendar</a:t>
            </a:r>
            <a:endParaRPr lang="en-US" sz="1100" dirty="0"/>
          </a:p>
        </p:txBody>
      </p:sp>
      <p:sp>
        <p:nvSpPr>
          <p:cNvPr id="14" name="Shape 11"/>
          <p:cNvSpPr/>
          <p:nvPr/>
        </p:nvSpPr>
        <p:spPr>
          <a:xfrm>
            <a:off x="457200" y="2560320"/>
            <a:ext cx="1691640" cy="384048"/>
          </a:xfrm>
          <a:prstGeom prst="roundRect">
            <a:avLst>
              <a:gd name="adj" fmla="val 19048"/>
            </a:avLst>
          </a:prstGeom>
          <a:solidFill>
            <a:srgbClr val="DFF1EA"/>
          </a:solidFill>
          <a:ln/>
        </p:spPr>
      </p:sp>
      <p:sp>
        <p:nvSpPr>
          <p:cNvPr id="15" name="Text 12"/>
          <p:cNvSpPr txBox="1"/>
          <p:nvPr/>
        </p:nvSpPr>
        <p:spPr>
          <a:xfrm>
            <a:off x="457200" y="25603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CRM</a:t>
            </a:r>
            <a:endParaRPr lang="en-US" sz="1100" dirty="0"/>
          </a:p>
        </p:txBody>
      </p:sp>
      <p:sp>
        <p:nvSpPr>
          <p:cNvPr id="16" name="Shape 13"/>
          <p:cNvSpPr/>
          <p:nvPr/>
        </p:nvSpPr>
        <p:spPr>
          <a:xfrm>
            <a:off x="2240280" y="2560320"/>
            <a:ext cx="1691640" cy="384048"/>
          </a:xfrm>
          <a:prstGeom prst="roundRect">
            <a:avLst>
              <a:gd name="adj" fmla="val 19048"/>
            </a:avLst>
          </a:prstGeom>
          <a:solidFill>
            <a:srgbClr val="DFF1EA"/>
          </a:solidFill>
          <a:ln/>
        </p:spPr>
      </p:sp>
      <p:sp>
        <p:nvSpPr>
          <p:cNvPr id="17" name="Text 14"/>
          <p:cNvSpPr txBox="1"/>
          <p:nvPr/>
        </p:nvSpPr>
        <p:spPr>
          <a:xfrm>
            <a:off x="2240280" y="25603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Drive</a:t>
            </a:r>
            <a:endParaRPr lang="en-US" sz="1100" dirty="0"/>
          </a:p>
        </p:txBody>
      </p:sp>
      <p:sp>
        <p:nvSpPr>
          <p:cNvPr id="18" name="Shape 15"/>
          <p:cNvSpPr/>
          <p:nvPr/>
        </p:nvSpPr>
        <p:spPr>
          <a:xfrm>
            <a:off x="457200" y="3017520"/>
            <a:ext cx="1691640" cy="384048"/>
          </a:xfrm>
          <a:prstGeom prst="roundRect">
            <a:avLst>
              <a:gd name="adj" fmla="val 19048"/>
            </a:avLst>
          </a:prstGeom>
          <a:solidFill>
            <a:srgbClr val="DFF1EA"/>
          </a:solidFill>
          <a:ln/>
        </p:spPr>
      </p:sp>
      <p:sp>
        <p:nvSpPr>
          <p:cNvPr id="19" name="Text 16"/>
          <p:cNvSpPr txBox="1"/>
          <p:nvPr/>
        </p:nvSpPr>
        <p:spPr>
          <a:xfrm>
            <a:off x="457200" y="30175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Database</a:t>
            </a:r>
            <a:endParaRPr lang="en-US" sz="1100" dirty="0"/>
          </a:p>
        </p:txBody>
      </p:sp>
      <p:sp>
        <p:nvSpPr>
          <p:cNvPr id="20" name="Shape 17"/>
          <p:cNvSpPr/>
          <p:nvPr/>
        </p:nvSpPr>
        <p:spPr>
          <a:xfrm>
            <a:off x="2240280" y="3017520"/>
            <a:ext cx="1691640" cy="384048"/>
          </a:xfrm>
          <a:prstGeom prst="roundRect">
            <a:avLst>
              <a:gd name="adj" fmla="val 19048"/>
            </a:avLst>
          </a:prstGeom>
          <a:solidFill>
            <a:srgbClr val="DFF1EA"/>
          </a:solidFill>
          <a:ln/>
        </p:spPr>
      </p:sp>
      <p:sp>
        <p:nvSpPr>
          <p:cNvPr id="21" name="Text 18"/>
          <p:cNvSpPr txBox="1"/>
          <p:nvPr/>
        </p:nvSpPr>
        <p:spPr>
          <a:xfrm>
            <a:off x="2240280" y="30175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Analytics</a:t>
            </a:r>
            <a:endParaRPr lang="en-US" sz="1100" dirty="0"/>
          </a:p>
        </p:txBody>
      </p:sp>
      <p:sp>
        <p:nvSpPr>
          <p:cNvPr id="22" name="Shape 19"/>
          <p:cNvSpPr/>
          <p:nvPr/>
        </p:nvSpPr>
        <p:spPr>
          <a:xfrm>
            <a:off x="457200" y="3474720"/>
            <a:ext cx="1691640" cy="384048"/>
          </a:xfrm>
          <a:prstGeom prst="roundRect">
            <a:avLst>
              <a:gd name="adj" fmla="val 19048"/>
            </a:avLst>
          </a:prstGeom>
          <a:solidFill>
            <a:srgbClr val="DFF1EA"/>
          </a:solidFill>
          <a:ln/>
        </p:spPr>
      </p:sp>
      <p:sp>
        <p:nvSpPr>
          <p:cNvPr id="23" name="Text 20"/>
          <p:cNvSpPr txBox="1"/>
          <p:nvPr/>
        </p:nvSpPr>
        <p:spPr>
          <a:xfrm>
            <a:off x="457200" y="34747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Customer support</a:t>
            </a:r>
            <a:endParaRPr lang="en-US" sz="1100" dirty="0"/>
          </a:p>
        </p:txBody>
      </p:sp>
      <p:sp>
        <p:nvSpPr>
          <p:cNvPr id="24" name="Shape 21"/>
          <p:cNvSpPr/>
          <p:nvPr/>
        </p:nvSpPr>
        <p:spPr>
          <a:xfrm>
            <a:off x="2240280" y="3474720"/>
            <a:ext cx="1691640" cy="384048"/>
          </a:xfrm>
          <a:prstGeom prst="roundRect">
            <a:avLst>
              <a:gd name="adj" fmla="val 19048"/>
            </a:avLst>
          </a:prstGeom>
          <a:solidFill>
            <a:srgbClr val="DFF1EA"/>
          </a:solidFill>
          <a:ln/>
        </p:spPr>
      </p:sp>
      <p:sp>
        <p:nvSpPr>
          <p:cNvPr id="25" name="Text 22"/>
          <p:cNvSpPr txBox="1"/>
          <p:nvPr/>
        </p:nvSpPr>
        <p:spPr>
          <a:xfrm>
            <a:off x="2240280" y="3474720"/>
            <a:ext cx="1691640" cy="384048"/>
          </a:xfrm>
          <a:prstGeom prst="rect">
            <a:avLst/>
          </a:prstGeom>
          <a:noFill/>
          <a:ln/>
        </p:spPr>
        <p:txBody>
          <a:bodyPr wrap="square" lIns="0" tIns="0" rIns="0" bIns="0" rtlCol="0" anchor="ctr"/>
          <a:lstStyle/>
          <a:p>
            <a:pPr marL="0" indent="0" algn="ctr">
              <a:buNone/>
            </a:pPr>
            <a:r>
              <a:rPr lang="en-US" sz="1100" b="1" dirty="0">
                <a:solidFill>
                  <a:srgbClr val="0C2622"/>
                </a:solidFill>
                <a:latin typeface="Calibri" pitchFamily="34" charset="0"/>
                <a:ea typeface="Calibri" pitchFamily="34" charset="-122"/>
                <a:cs typeface="Calibri" pitchFamily="34" charset="-120"/>
              </a:rPr>
              <a:t>Financial data</a:t>
            </a:r>
            <a:endParaRPr lang="en-US" sz="1100" dirty="0"/>
          </a:p>
        </p:txBody>
      </p:sp>
      <p:sp>
        <p:nvSpPr>
          <p:cNvPr id="26" name="Shape 23"/>
          <p:cNvSpPr/>
          <p:nvPr/>
        </p:nvSpPr>
        <p:spPr>
          <a:xfrm>
            <a:off x="4206240" y="1280160"/>
            <a:ext cx="219456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27" name="Shape 24"/>
          <p:cNvSpPr/>
          <p:nvPr/>
        </p:nvSpPr>
        <p:spPr>
          <a:xfrm>
            <a:off x="4343400" y="1417320"/>
            <a:ext cx="411480" cy="411480"/>
          </a:xfrm>
          <a:prstGeom prst="ellipse">
            <a:avLst/>
          </a:prstGeom>
          <a:solidFill>
            <a:srgbClr val="12735B"/>
          </a:solidFill>
          <a:ln/>
        </p:spPr>
      </p:sp>
      <p:pic>
        <p:nvPicPr>
          <p:cNvPr id="28" name="Image 0" descr="preencoded.png"/>
          <p:cNvPicPr>
            <a:picLocks noChangeAspect="1"/>
          </p:cNvPicPr>
          <p:nvPr/>
        </p:nvPicPr>
        <p:blipFill>
          <a:blip r:embed="rId3"/>
          <a:stretch>
            <a:fillRect/>
          </a:stretch>
        </p:blipFill>
        <p:spPr>
          <a:xfrm>
            <a:off x="4446270" y="1520190"/>
            <a:ext cx="205740" cy="205740"/>
          </a:xfrm>
          <a:prstGeom prst="rect">
            <a:avLst/>
          </a:prstGeom>
        </p:spPr>
      </p:pic>
      <p:sp>
        <p:nvSpPr>
          <p:cNvPr id="29" name="Text 25"/>
          <p:cNvSpPr txBox="1"/>
          <p:nvPr/>
        </p:nvSpPr>
        <p:spPr>
          <a:xfrm>
            <a:off x="4846320" y="1417320"/>
            <a:ext cx="1508760" cy="41148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READ</a:t>
            </a:r>
            <a:endParaRPr lang="en-US" sz="1300" dirty="0"/>
          </a:p>
        </p:txBody>
      </p:sp>
      <p:sp>
        <p:nvSpPr>
          <p:cNvPr id="30" name="Text 26"/>
          <p:cNvSpPr txBox="1"/>
          <p:nvPr/>
        </p:nvSpPr>
        <p:spPr>
          <a:xfrm>
            <a:off x="4343400" y="1965960"/>
            <a:ext cx="192024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What can the AI see?</a:t>
            </a:r>
            <a:endParaRPr lang="en-US" sz="1150" dirty="0"/>
          </a:p>
        </p:txBody>
      </p:sp>
      <p:sp>
        <p:nvSpPr>
          <p:cNvPr id="31" name="Shape 27"/>
          <p:cNvSpPr/>
          <p:nvPr/>
        </p:nvSpPr>
        <p:spPr>
          <a:xfrm>
            <a:off x="6492240" y="1280160"/>
            <a:ext cx="219456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32" name="Shape 28"/>
          <p:cNvSpPr/>
          <p:nvPr/>
        </p:nvSpPr>
        <p:spPr>
          <a:xfrm>
            <a:off x="6629400" y="1417320"/>
            <a:ext cx="411480" cy="411480"/>
          </a:xfrm>
          <a:prstGeom prst="ellipse">
            <a:avLst/>
          </a:prstGeom>
          <a:solidFill>
            <a:srgbClr val="1E9A7A"/>
          </a:solidFill>
          <a:ln/>
        </p:spPr>
      </p:sp>
      <p:pic>
        <p:nvPicPr>
          <p:cNvPr id="33" name="Image 1" descr="preencoded.png"/>
          <p:cNvPicPr>
            <a:picLocks noChangeAspect="1"/>
          </p:cNvPicPr>
          <p:nvPr/>
        </p:nvPicPr>
        <p:blipFill>
          <a:blip r:embed="rId4"/>
          <a:stretch>
            <a:fillRect/>
          </a:stretch>
        </p:blipFill>
        <p:spPr>
          <a:xfrm>
            <a:off x="6732270" y="1520190"/>
            <a:ext cx="205740" cy="205740"/>
          </a:xfrm>
          <a:prstGeom prst="rect">
            <a:avLst/>
          </a:prstGeom>
        </p:spPr>
      </p:pic>
      <p:sp>
        <p:nvSpPr>
          <p:cNvPr id="34" name="Text 29"/>
          <p:cNvSpPr txBox="1"/>
          <p:nvPr/>
        </p:nvSpPr>
        <p:spPr>
          <a:xfrm>
            <a:off x="7132320" y="1417320"/>
            <a:ext cx="1508760" cy="41148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WRITE</a:t>
            </a:r>
            <a:endParaRPr lang="en-US" sz="1300" dirty="0"/>
          </a:p>
        </p:txBody>
      </p:sp>
      <p:sp>
        <p:nvSpPr>
          <p:cNvPr id="35" name="Text 30"/>
          <p:cNvSpPr txBox="1"/>
          <p:nvPr/>
        </p:nvSpPr>
        <p:spPr>
          <a:xfrm>
            <a:off x="6629400" y="1965960"/>
            <a:ext cx="192024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What can the AI change?</a:t>
            </a:r>
            <a:endParaRPr lang="en-US" sz="1150" dirty="0"/>
          </a:p>
        </p:txBody>
      </p:sp>
      <p:sp>
        <p:nvSpPr>
          <p:cNvPr id="36" name="Shape 31"/>
          <p:cNvSpPr/>
          <p:nvPr/>
        </p:nvSpPr>
        <p:spPr>
          <a:xfrm>
            <a:off x="4206240" y="2651760"/>
            <a:ext cx="219456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37" name="Shape 32"/>
          <p:cNvSpPr/>
          <p:nvPr/>
        </p:nvSpPr>
        <p:spPr>
          <a:xfrm>
            <a:off x="4343400" y="2788920"/>
            <a:ext cx="411480" cy="411480"/>
          </a:xfrm>
          <a:prstGeom prst="ellipse">
            <a:avLst/>
          </a:prstGeom>
          <a:solidFill>
            <a:srgbClr val="F4A52A"/>
          </a:solidFill>
          <a:ln/>
        </p:spPr>
      </p:sp>
      <p:pic>
        <p:nvPicPr>
          <p:cNvPr id="38" name="Image 2" descr="preencoded.png"/>
          <p:cNvPicPr>
            <a:picLocks noChangeAspect="1"/>
          </p:cNvPicPr>
          <p:nvPr/>
        </p:nvPicPr>
        <p:blipFill>
          <a:blip r:embed="rId5"/>
          <a:stretch>
            <a:fillRect/>
          </a:stretch>
        </p:blipFill>
        <p:spPr>
          <a:xfrm>
            <a:off x="4446270" y="2891790"/>
            <a:ext cx="205740" cy="205740"/>
          </a:xfrm>
          <a:prstGeom prst="rect">
            <a:avLst/>
          </a:prstGeom>
        </p:spPr>
      </p:pic>
      <p:sp>
        <p:nvSpPr>
          <p:cNvPr id="39" name="Text 33"/>
          <p:cNvSpPr txBox="1"/>
          <p:nvPr/>
        </p:nvSpPr>
        <p:spPr>
          <a:xfrm>
            <a:off x="4846320" y="2788920"/>
            <a:ext cx="1508760" cy="41148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APPROVAL</a:t>
            </a:r>
            <a:endParaRPr lang="en-US" sz="1300" dirty="0"/>
          </a:p>
        </p:txBody>
      </p:sp>
      <p:sp>
        <p:nvSpPr>
          <p:cNvPr id="40" name="Text 34"/>
          <p:cNvSpPr txBox="1"/>
          <p:nvPr/>
        </p:nvSpPr>
        <p:spPr>
          <a:xfrm>
            <a:off x="4343400" y="3337560"/>
            <a:ext cx="192024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What requires a human?</a:t>
            </a:r>
            <a:endParaRPr lang="en-US" sz="1150" dirty="0"/>
          </a:p>
        </p:txBody>
      </p:sp>
      <p:sp>
        <p:nvSpPr>
          <p:cNvPr id="41" name="Shape 35"/>
          <p:cNvSpPr/>
          <p:nvPr/>
        </p:nvSpPr>
        <p:spPr>
          <a:xfrm>
            <a:off x="6492240" y="2651760"/>
            <a:ext cx="2194560" cy="1261872"/>
          </a:xfrm>
          <a:prstGeom prst="roundRect">
            <a:avLst>
              <a:gd name="adj" fmla="val 7246"/>
            </a:avLst>
          </a:prstGeom>
          <a:solidFill>
            <a:srgbClr val="FFFFFF"/>
          </a:solidFill>
          <a:ln/>
          <a:effectLst>
            <a:outerShdw blurRad="101600" dist="25400" dir="5400000" algn="bl" rotWithShape="0">
              <a:srgbClr val="000000">
                <a:alpha val="10000"/>
              </a:srgbClr>
            </a:outerShdw>
          </a:effectLst>
        </p:spPr>
      </p:sp>
      <p:sp>
        <p:nvSpPr>
          <p:cNvPr id="42" name="Shape 36"/>
          <p:cNvSpPr/>
          <p:nvPr/>
        </p:nvSpPr>
        <p:spPr>
          <a:xfrm>
            <a:off x="6629400" y="2788920"/>
            <a:ext cx="411480" cy="411480"/>
          </a:xfrm>
          <a:prstGeom prst="ellipse">
            <a:avLst/>
          </a:prstGeom>
          <a:solidFill>
            <a:srgbClr val="C93B4B"/>
          </a:solidFill>
          <a:ln/>
        </p:spPr>
      </p:sp>
      <p:pic>
        <p:nvPicPr>
          <p:cNvPr id="43" name="Image 3" descr="preencoded.png"/>
          <p:cNvPicPr>
            <a:picLocks noChangeAspect="1"/>
          </p:cNvPicPr>
          <p:nvPr/>
        </p:nvPicPr>
        <p:blipFill>
          <a:blip r:embed="rId6"/>
          <a:stretch>
            <a:fillRect/>
          </a:stretch>
        </p:blipFill>
        <p:spPr>
          <a:xfrm>
            <a:off x="6732270" y="2891790"/>
            <a:ext cx="205740" cy="205740"/>
          </a:xfrm>
          <a:prstGeom prst="rect">
            <a:avLst/>
          </a:prstGeom>
        </p:spPr>
      </p:pic>
      <p:sp>
        <p:nvSpPr>
          <p:cNvPr id="44" name="Text 37"/>
          <p:cNvSpPr txBox="1"/>
          <p:nvPr/>
        </p:nvSpPr>
        <p:spPr>
          <a:xfrm>
            <a:off x="7132320" y="2788920"/>
            <a:ext cx="1508760" cy="41148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PROHIBITED</a:t>
            </a:r>
            <a:endParaRPr lang="en-US" sz="1300" dirty="0"/>
          </a:p>
        </p:txBody>
      </p:sp>
      <p:sp>
        <p:nvSpPr>
          <p:cNvPr id="45" name="Text 38"/>
          <p:cNvSpPr txBox="1"/>
          <p:nvPr/>
        </p:nvSpPr>
        <p:spPr>
          <a:xfrm>
            <a:off x="6629400" y="3337560"/>
            <a:ext cx="1920240" cy="502920"/>
          </a:xfrm>
          <a:prstGeom prst="rect">
            <a:avLst/>
          </a:prstGeom>
          <a:noFill/>
          <a:ln/>
        </p:spPr>
        <p:txBody>
          <a:bodyPr wrap="square" lIns="0" tIns="0" rIns="0" bIns="0" rtlCol="0" anchor="t"/>
          <a:lstStyle/>
          <a:p>
            <a:pPr marL="0" indent="0" algn="l">
              <a:buNone/>
            </a:pPr>
            <a:r>
              <a:rPr lang="en-US" sz="1150" dirty="0">
                <a:solidFill>
                  <a:srgbClr val="587068"/>
                </a:solidFill>
                <a:latin typeface="Calibri" pitchFamily="34" charset="0"/>
                <a:ea typeface="Calibri" pitchFamily="34" charset="-122"/>
                <a:cs typeface="Calibri" pitchFamily="34" charset="-120"/>
              </a:rPr>
              <a:t>What must AI never do automatically?</a:t>
            </a:r>
            <a:endParaRPr lang="en-US" sz="1150" dirty="0"/>
          </a:p>
        </p:txBody>
      </p:sp>
      <p:sp>
        <p:nvSpPr>
          <p:cNvPr id="46" name="Shape 39"/>
          <p:cNvSpPr/>
          <p:nvPr/>
        </p:nvSpPr>
        <p:spPr>
          <a:xfrm>
            <a:off x="457200" y="4114800"/>
            <a:ext cx="8229600" cy="548640"/>
          </a:xfrm>
          <a:prstGeom prst="roundRect">
            <a:avLst>
              <a:gd name="adj" fmla="val 16667"/>
            </a:avLst>
          </a:prstGeom>
          <a:solidFill>
            <a:srgbClr val="0C2622"/>
          </a:solidFill>
          <a:ln/>
        </p:spPr>
      </p:sp>
      <p:sp>
        <p:nvSpPr>
          <p:cNvPr id="47" name="Text 40"/>
          <p:cNvSpPr txBox="1"/>
          <p:nvPr/>
        </p:nvSpPr>
        <p:spPr>
          <a:xfrm>
            <a:off x="685800" y="4114800"/>
            <a:ext cx="7772400" cy="548640"/>
          </a:xfrm>
          <a:prstGeom prst="rect">
            <a:avLst/>
          </a:prstGeom>
          <a:noFill/>
          <a:ln/>
        </p:spPr>
        <p:txBody>
          <a:bodyPr wrap="square" lIns="0" tIns="0" rIns="0" bIns="0" rtlCol="0" anchor="ctr"/>
          <a:lstStyle/>
          <a:p>
            <a:pPr marL="0" indent="0" algn="l">
              <a:buNone/>
            </a:pPr>
            <a:r>
              <a:rPr lang="en-US" sz="1500" i="1" dirty="0">
                <a:solidFill>
                  <a:srgbClr val="FFFFFF"/>
                </a:solidFill>
                <a:latin typeface="Cambria" pitchFamily="34" charset="0"/>
                <a:ea typeface="Cambria" pitchFamily="34" charset="-122"/>
                <a:cs typeface="Cambria" pitchFamily="34" charset="-120"/>
              </a:rPr>
              <a:t>This turns MCP from a technical concept into a business-system-design concept.</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08</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MODULE 8</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Building in Bangladesh</a:t>
            </a:r>
            <a:endParaRPr lang="en-US" sz="3600" dirty="0"/>
          </a:p>
        </p:txBody>
      </p:sp>
      <p:sp>
        <p:nvSpPr>
          <p:cNvPr id="6" name="Text 3"/>
          <p:cNvSpPr txBox="1"/>
          <p:nvPr/>
        </p:nvSpPr>
        <p:spPr>
          <a:xfrm>
            <a:off x="640080" y="3355848"/>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Don’t blindly copy US startup playbooks. Think locally.</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8 · BANGLADESH</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Four opportunity areas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53</a:t>
            </a:r>
            <a:endParaRPr lang="en-US" sz="900" dirty="0"/>
          </a:p>
        </p:txBody>
      </p:sp>
      <p:sp>
        <p:nvSpPr>
          <p:cNvPr id="7" name="Shape 4"/>
          <p:cNvSpPr/>
          <p:nvPr/>
        </p:nvSpPr>
        <p:spPr>
          <a:xfrm>
            <a:off x="457200" y="128016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44752"/>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59052"/>
            <a:ext cx="228600" cy="228600"/>
          </a:xfrm>
          <a:prstGeom prst="rect">
            <a:avLst/>
          </a:prstGeom>
        </p:spPr>
      </p:pic>
      <p:sp>
        <p:nvSpPr>
          <p:cNvPr id="10" name="Text 6"/>
          <p:cNvSpPr txBox="1"/>
          <p:nvPr/>
        </p:nvSpPr>
        <p:spPr>
          <a:xfrm>
            <a:off x="1234440" y="1444752"/>
            <a:ext cx="310896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SME digital transformation</a:t>
            </a:r>
            <a:endParaRPr lang="en-US" sz="1400" dirty="0"/>
          </a:p>
        </p:txBody>
      </p:sp>
      <p:sp>
        <p:nvSpPr>
          <p:cNvPr id="11" name="Text 7"/>
          <p:cNvSpPr txBox="1"/>
          <p:nvPr/>
        </p:nvSpPr>
        <p:spPr>
          <a:xfrm>
            <a:off x="640080" y="1993392"/>
            <a:ext cx="3657600" cy="320040"/>
          </a:xfrm>
          <a:prstGeom prst="rect">
            <a:avLst/>
          </a:prstGeom>
          <a:noFill/>
          <a:ln/>
        </p:spPr>
        <p:txBody>
          <a:bodyPr wrap="square" lIns="0" tIns="0" rIns="0" bIns="0" rtlCol="0" anchor="t"/>
          <a:lstStyle/>
          <a:p>
            <a:pPr marL="0" indent="0" algn="l">
              <a:buNone/>
            </a:pPr>
            <a:r>
              <a:rPr lang="en-US" sz="1050" i="1" dirty="0">
                <a:solidFill>
                  <a:srgbClr val="587068"/>
                </a:solidFill>
                <a:latin typeface="Calibri" pitchFamily="34" charset="0"/>
                <a:ea typeface="Calibri" pitchFamily="34" charset="-122"/>
                <a:cs typeface="Calibri" pitchFamily="34" charset="-120"/>
              </a:rPr>
              <a:t>Run on Facebook, Messenger, WhatsApp, calls, Excel and paper.</a:t>
            </a:r>
            <a:endParaRPr lang="en-US" sz="1050" dirty="0"/>
          </a:p>
        </p:txBody>
      </p:sp>
      <p:sp>
        <p:nvSpPr>
          <p:cNvPr id="12" name="Text 8"/>
          <p:cNvSpPr txBox="1"/>
          <p:nvPr/>
        </p:nvSpPr>
        <p:spPr>
          <a:xfrm>
            <a:off x="640080" y="2304288"/>
            <a:ext cx="3657600" cy="566928"/>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AI customer-response systems · lead management · automated reporting · inventory support · sales assistants</a:t>
            </a:r>
            <a:endParaRPr lang="en-US" sz="1050" dirty="0"/>
          </a:p>
        </p:txBody>
      </p:sp>
      <p:sp>
        <p:nvSpPr>
          <p:cNvPr id="13" name="Shape 9"/>
          <p:cNvSpPr/>
          <p:nvPr/>
        </p:nvSpPr>
        <p:spPr>
          <a:xfrm>
            <a:off x="4663440" y="128016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14" name="Shape 10"/>
          <p:cNvSpPr/>
          <p:nvPr/>
        </p:nvSpPr>
        <p:spPr>
          <a:xfrm>
            <a:off x="4846320" y="1444752"/>
            <a:ext cx="457200" cy="457200"/>
          </a:xfrm>
          <a:prstGeom prst="ellipse">
            <a:avLst/>
          </a:prstGeom>
          <a:solidFill>
            <a:srgbClr val="12735B"/>
          </a:solidFill>
          <a:ln/>
        </p:spPr>
      </p:sp>
      <p:pic>
        <p:nvPicPr>
          <p:cNvPr id="15" name="Image 1" descr="preencoded.png"/>
          <p:cNvPicPr>
            <a:picLocks noChangeAspect="1"/>
          </p:cNvPicPr>
          <p:nvPr/>
        </p:nvPicPr>
        <p:blipFill>
          <a:blip r:embed="rId4"/>
          <a:stretch>
            <a:fillRect/>
          </a:stretch>
        </p:blipFill>
        <p:spPr>
          <a:xfrm>
            <a:off x="4960620" y="1559052"/>
            <a:ext cx="228600" cy="228600"/>
          </a:xfrm>
          <a:prstGeom prst="rect">
            <a:avLst/>
          </a:prstGeom>
        </p:spPr>
      </p:pic>
      <p:sp>
        <p:nvSpPr>
          <p:cNvPr id="16" name="Text 11"/>
          <p:cNvSpPr txBox="1"/>
          <p:nvPr/>
        </p:nvSpPr>
        <p:spPr>
          <a:xfrm>
            <a:off x="5440680" y="1444752"/>
            <a:ext cx="310896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Education</a:t>
            </a:r>
            <a:endParaRPr lang="en-US" sz="1400" dirty="0"/>
          </a:p>
        </p:txBody>
      </p:sp>
      <p:sp>
        <p:nvSpPr>
          <p:cNvPr id="17" name="Text 12"/>
          <p:cNvSpPr txBox="1"/>
          <p:nvPr/>
        </p:nvSpPr>
        <p:spPr>
          <a:xfrm>
            <a:off x="4846320" y="1993392"/>
            <a:ext cx="3657600" cy="320040"/>
          </a:xfrm>
          <a:prstGeom prst="rect">
            <a:avLst/>
          </a:prstGeom>
          <a:noFill/>
          <a:ln/>
        </p:spPr>
        <p:txBody>
          <a:bodyPr wrap="square" lIns="0" tIns="0" rIns="0" bIns="0" rtlCol="0" anchor="t"/>
          <a:lstStyle/>
          <a:p>
            <a:pPr marL="0" indent="0" algn="l">
              <a:buNone/>
            </a:pPr>
            <a:r>
              <a:rPr lang="en-US" sz="1050" i="1" dirty="0">
                <a:solidFill>
                  <a:srgbClr val="587068"/>
                </a:solidFill>
                <a:latin typeface="Calibri" pitchFamily="34" charset="0"/>
                <a:ea typeface="Calibri" pitchFamily="34" charset="-122"/>
                <a:cs typeface="Calibri" pitchFamily="34" charset="-120"/>
              </a:rPr>
              <a:t>Learners, teachers and institutions.</a:t>
            </a:r>
            <a:endParaRPr lang="en-US" sz="1050" dirty="0"/>
          </a:p>
        </p:txBody>
      </p:sp>
      <p:sp>
        <p:nvSpPr>
          <p:cNvPr id="18" name="Text 13"/>
          <p:cNvSpPr txBox="1"/>
          <p:nvPr/>
        </p:nvSpPr>
        <p:spPr>
          <a:xfrm>
            <a:off x="4846320" y="2304288"/>
            <a:ext cx="3657600" cy="566928"/>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AI tutoring · exam preparation · teacher assistants · career preparation · admission guidance · corporate training · Bangla/English content</a:t>
            </a:r>
            <a:endParaRPr lang="en-US" sz="1050" dirty="0"/>
          </a:p>
        </p:txBody>
      </p:sp>
      <p:sp>
        <p:nvSpPr>
          <p:cNvPr id="19" name="Shape 14"/>
          <p:cNvSpPr/>
          <p:nvPr/>
        </p:nvSpPr>
        <p:spPr>
          <a:xfrm>
            <a:off x="457200" y="301752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0" name="Shape 15"/>
          <p:cNvSpPr/>
          <p:nvPr/>
        </p:nvSpPr>
        <p:spPr>
          <a:xfrm>
            <a:off x="640080" y="3182112"/>
            <a:ext cx="457200" cy="457200"/>
          </a:xfrm>
          <a:prstGeom prst="ellipse">
            <a:avLst/>
          </a:prstGeom>
          <a:solidFill>
            <a:srgbClr val="12735B"/>
          </a:solidFill>
          <a:ln/>
        </p:spPr>
      </p:sp>
      <p:pic>
        <p:nvPicPr>
          <p:cNvPr id="21" name="Image 2" descr="preencoded.png"/>
          <p:cNvPicPr>
            <a:picLocks noChangeAspect="1"/>
          </p:cNvPicPr>
          <p:nvPr/>
        </p:nvPicPr>
        <p:blipFill>
          <a:blip r:embed="rId5"/>
          <a:stretch>
            <a:fillRect/>
          </a:stretch>
        </p:blipFill>
        <p:spPr>
          <a:xfrm>
            <a:off x="754380" y="3296412"/>
            <a:ext cx="228600" cy="228600"/>
          </a:xfrm>
          <a:prstGeom prst="rect">
            <a:avLst/>
          </a:prstGeom>
        </p:spPr>
      </p:pic>
      <p:sp>
        <p:nvSpPr>
          <p:cNvPr id="22" name="Text 16"/>
          <p:cNvSpPr txBox="1"/>
          <p:nvPr/>
        </p:nvSpPr>
        <p:spPr>
          <a:xfrm>
            <a:off x="1234440" y="3182112"/>
            <a:ext cx="310896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Commerce</a:t>
            </a:r>
            <a:endParaRPr lang="en-US" sz="1400" dirty="0"/>
          </a:p>
        </p:txBody>
      </p:sp>
      <p:sp>
        <p:nvSpPr>
          <p:cNvPr id="23" name="Text 17"/>
          <p:cNvSpPr txBox="1"/>
          <p:nvPr/>
        </p:nvSpPr>
        <p:spPr>
          <a:xfrm>
            <a:off x="640080" y="3730752"/>
            <a:ext cx="3657600" cy="320040"/>
          </a:xfrm>
          <a:prstGeom prst="rect">
            <a:avLst/>
          </a:prstGeom>
          <a:noFill/>
          <a:ln/>
        </p:spPr>
        <p:txBody>
          <a:bodyPr wrap="square" lIns="0" tIns="0" rIns="0" bIns="0" rtlCol="0" anchor="t"/>
          <a:lstStyle/>
          <a:p>
            <a:pPr marL="0" indent="0" algn="l">
              <a:buNone/>
            </a:pPr>
            <a:r>
              <a:rPr lang="en-US" sz="1050" i="1" dirty="0">
                <a:solidFill>
                  <a:srgbClr val="587068"/>
                </a:solidFill>
                <a:latin typeface="Calibri" pitchFamily="34" charset="0"/>
                <a:ea typeface="Calibri" pitchFamily="34" charset="-122"/>
                <a:cs typeface="Calibri" pitchFamily="34" charset="-120"/>
              </a:rPr>
              <a:t>Sellers and social-commerce shops.</a:t>
            </a:r>
            <a:endParaRPr lang="en-US" sz="1050" dirty="0"/>
          </a:p>
        </p:txBody>
      </p:sp>
      <p:sp>
        <p:nvSpPr>
          <p:cNvPr id="24" name="Text 18"/>
          <p:cNvSpPr txBox="1"/>
          <p:nvPr/>
        </p:nvSpPr>
        <p:spPr>
          <a:xfrm>
            <a:off x="640080" y="4041648"/>
            <a:ext cx="3657600" cy="566928"/>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Seller analytics · product descriptions · customer service · recommendations · returns · demand forecasting</a:t>
            </a:r>
            <a:endParaRPr lang="en-US" sz="1050" dirty="0"/>
          </a:p>
        </p:txBody>
      </p:sp>
      <p:sp>
        <p:nvSpPr>
          <p:cNvPr id="25" name="Shape 19"/>
          <p:cNvSpPr/>
          <p:nvPr/>
        </p:nvSpPr>
        <p:spPr>
          <a:xfrm>
            <a:off x="4663440" y="3017520"/>
            <a:ext cx="4023360" cy="1627632"/>
          </a:xfrm>
          <a:prstGeom prst="roundRect">
            <a:avLst>
              <a:gd name="adj" fmla="val 5618"/>
            </a:avLst>
          </a:prstGeom>
          <a:solidFill>
            <a:srgbClr val="FFFFFF"/>
          </a:solidFill>
          <a:ln/>
          <a:effectLst>
            <a:outerShdw blurRad="101600" dist="25400" dir="5400000" algn="bl" rotWithShape="0">
              <a:srgbClr val="000000">
                <a:alpha val="10000"/>
              </a:srgbClr>
            </a:outerShdw>
          </a:effectLst>
        </p:spPr>
      </p:sp>
      <p:sp>
        <p:nvSpPr>
          <p:cNvPr id="26" name="Shape 20"/>
          <p:cNvSpPr/>
          <p:nvPr/>
        </p:nvSpPr>
        <p:spPr>
          <a:xfrm>
            <a:off x="4846320" y="3182112"/>
            <a:ext cx="457200" cy="457200"/>
          </a:xfrm>
          <a:prstGeom prst="ellipse">
            <a:avLst/>
          </a:prstGeom>
          <a:solidFill>
            <a:srgbClr val="12735B"/>
          </a:solidFill>
          <a:ln/>
        </p:spPr>
      </p:sp>
      <p:pic>
        <p:nvPicPr>
          <p:cNvPr id="27" name="Image 3" descr="preencoded.png"/>
          <p:cNvPicPr>
            <a:picLocks noChangeAspect="1"/>
          </p:cNvPicPr>
          <p:nvPr/>
        </p:nvPicPr>
        <p:blipFill>
          <a:blip r:embed="rId6"/>
          <a:stretch>
            <a:fillRect/>
          </a:stretch>
        </p:blipFill>
        <p:spPr>
          <a:xfrm>
            <a:off x="4960620" y="3296412"/>
            <a:ext cx="228600" cy="228600"/>
          </a:xfrm>
          <a:prstGeom prst="rect">
            <a:avLst/>
          </a:prstGeom>
        </p:spPr>
      </p:pic>
      <p:sp>
        <p:nvSpPr>
          <p:cNvPr id="28" name="Text 21"/>
          <p:cNvSpPr txBox="1"/>
          <p:nvPr/>
        </p:nvSpPr>
        <p:spPr>
          <a:xfrm>
            <a:off x="5440680" y="3182112"/>
            <a:ext cx="3108960" cy="457200"/>
          </a:xfrm>
          <a:prstGeom prst="rect">
            <a:avLst/>
          </a:prstGeom>
          <a:noFill/>
          <a:ln/>
        </p:spPr>
        <p:txBody>
          <a:bodyPr wrap="square" lIns="0" tIns="0" rIns="0" bIns="0" rtlCol="0" anchor="ctr"/>
          <a:lstStyle/>
          <a:p>
            <a:pPr marL="0" indent="0" algn="l">
              <a:buNone/>
            </a:pPr>
            <a:r>
              <a:rPr lang="en-US" sz="1400" b="1" dirty="0">
                <a:solidFill>
                  <a:srgbClr val="0C2622"/>
                </a:solidFill>
                <a:latin typeface="Cambria" pitchFamily="34" charset="0"/>
                <a:ea typeface="Cambria" pitchFamily="34" charset="-122"/>
                <a:cs typeface="Cambria" pitchFamily="34" charset="-120"/>
              </a:rPr>
              <a:t>Local professional services</a:t>
            </a:r>
            <a:endParaRPr lang="en-US" sz="1400" dirty="0"/>
          </a:p>
        </p:txBody>
      </p:sp>
      <p:sp>
        <p:nvSpPr>
          <p:cNvPr id="29" name="Text 22"/>
          <p:cNvSpPr txBox="1"/>
          <p:nvPr/>
        </p:nvSpPr>
        <p:spPr>
          <a:xfrm>
            <a:off x="4846320" y="3730752"/>
            <a:ext cx="3657600" cy="320040"/>
          </a:xfrm>
          <a:prstGeom prst="rect">
            <a:avLst/>
          </a:prstGeom>
          <a:noFill/>
          <a:ln/>
        </p:spPr>
        <p:txBody>
          <a:bodyPr wrap="square" lIns="0" tIns="0" rIns="0" bIns="0" rtlCol="0" anchor="t"/>
          <a:lstStyle/>
          <a:p>
            <a:pPr marL="0" indent="0" algn="l">
              <a:buNone/>
            </a:pPr>
            <a:r>
              <a:rPr lang="en-US" sz="1050" i="1" dirty="0">
                <a:solidFill>
                  <a:srgbClr val="587068"/>
                </a:solidFill>
                <a:latin typeface="Calibri" pitchFamily="34" charset="0"/>
                <a:ea typeface="Calibri" pitchFamily="34" charset="-122"/>
                <a:cs typeface="Calibri" pitchFamily="34" charset="-120"/>
              </a:rPr>
              <a:t>Accountants, lawyers, architects, clinics, agencies and more.</a:t>
            </a:r>
            <a:endParaRPr lang="en-US" sz="1050" dirty="0"/>
          </a:p>
        </p:txBody>
      </p:sp>
      <p:sp>
        <p:nvSpPr>
          <p:cNvPr id="30" name="Text 23"/>
          <p:cNvSpPr txBox="1"/>
          <p:nvPr/>
        </p:nvSpPr>
        <p:spPr>
          <a:xfrm>
            <a:off x="4846320" y="4041648"/>
            <a:ext cx="3657600" cy="566928"/>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Repetitive information-processing tasks. Regulated areas need much greater human oversight.</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8 · BANGLADESH</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Bangla + English as an advantage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54</a:t>
            </a:r>
            <a:endParaRPr lang="en-US" sz="900" dirty="0"/>
          </a:p>
        </p:txBody>
      </p:sp>
      <p:sp>
        <p:nvSpPr>
          <p:cNvPr id="7" name="Shape 4"/>
          <p:cNvSpPr/>
          <p:nvPr/>
        </p:nvSpPr>
        <p:spPr>
          <a:xfrm>
            <a:off x="548640" y="1371600"/>
            <a:ext cx="1828800" cy="1828800"/>
          </a:xfrm>
          <a:prstGeom prst="ellipse">
            <a:avLst/>
          </a:prstGeom>
          <a:solidFill>
            <a:srgbClr val="12735B">
              <a:alpha val="85000"/>
            </a:srgbClr>
          </a:solidFill>
          <a:ln/>
        </p:spPr>
      </p:sp>
      <p:sp>
        <p:nvSpPr>
          <p:cNvPr id="8" name="Shape 5"/>
          <p:cNvSpPr/>
          <p:nvPr/>
        </p:nvSpPr>
        <p:spPr>
          <a:xfrm>
            <a:off x="2011680" y="1371600"/>
            <a:ext cx="1828800" cy="1828800"/>
          </a:xfrm>
          <a:prstGeom prst="ellipse">
            <a:avLst/>
          </a:prstGeom>
          <a:solidFill>
            <a:srgbClr val="0C2622">
              <a:alpha val="85000"/>
            </a:srgbClr>
          </a:solidFill>
          <a:ln/>
        </p:spPr>
      </p:sp>
      <p:sp>
        <p:nvSpPr>
          <p:cNvPr id="9" name="Shape 6"/>
          <p:cNvSpPr/>
          <p:nvPr/>
        </p:nvSpPr>
        <p:spPr>
          <a:xfrm>
            <a:off x="1280160" y="2651760"/>
            <a:ext cx="1828800" cy="1828800"/>
          </a:xfrm>
          <a:prstGeom prst="ellipse">
            <a:avLst/>
          </a:prstGeom>
          <a:solidFill>
            <a:srgbClr val="C77D0A">
              <a:alpha val="85000"/>
            </a:srgbClr>
          </a:solidFill>
          <a:ln/>
        </p:spPr>
      </p:sp>
      <p:sp>
        <p:nvSpPr>
          <p:cNvPr id="10" name="Text 7"/>
          <p:cNvSpPr txBox="1"/>
          <p:nvPr/>
        </p:nvSpPr>
        <p:spPr>
          <a:xfrm>
            <a:off x="685800" y="1920240"/>
            <a:ext cx="109728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Cambria" pitchFamily="34" charset="0"/>
                <a:ea typeface="Cambria" pitchFamily="34" charset="-122"/>
                <a:cs typeface="Cambria" pitchFamily="34" charset="-120"/>
              </a:rPr>
              <a:t>Bangla</a:t>
            </a:r>
            <a:endParaRPr lang="en-US" sz="1500" dirty="0"/>
          </a:p>
        </p:txBody>
      </p:sp>
      <p:sp>
        <p:nvSpPr>
          <p:cNvPr id="11" name="Text 8"/>
          <p:cNvSpPr txBox="1"/>
          <p:nvPr/>
        </p:nvSpPr>
        <p:spPr>
          <a:xfrm>
            <a:off x="2606040" y="1920240"/>
            <a:ext cx="109728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Cambria" pitchFamily="34" charset="0"/>
                <a:ea typeface="Cambria" pitchFamily="34" charset="-122"/>
                <a:cs typeface="Cambria" pitchFamily="34" charset="-120"/>
              </a:rPr>
              <a:t>English</a:t>
            </a:r>
            <a:endParaRPr lang="en-US" sz="1500" dirty="0"/>
          </a:p>
        </p:txBody>
      </p:sp>
      <p:sp>
        <p:nvSpPr>
          <p:cNvPr id="12" name="Text 9"/>
          <p:cNvSpPr txBox="1"/>
          <p:nvPr/>
        </p:nvSpPr>
        <p:spPr>
          <a:xfrm>
            <a:off x="1645920" y="3611880"/>
            <a:ext cx="109728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Cambria" pitchFamily="34" charset="0"/>
                <a:ea typeface="Cambria" pitchFamily="34" charset="-122"/>
                <a:cs typeface="Cambria" pitchFamily="34" charset="-120"/>
              </a:rPr>
              <a:t>Banglish</a:t>
            </a:r>
            <a:endParaRPr lang="en-US" sz="1500" dirty="0"/>
          </a:p>
        </p:txBody>
      </p:sp>
      <p:sp>
        <p:nvSpPr>
          <p:cNvPr id="13" name="Text 10"/>
          <p:cNvSpPr txBox="1"/>
          <p:nvPr/>
        </p:nvSpPr>
        <p:spPr>
          <a:xfrm>
            <a:off x="4572000" y="1280160"/>
            <a:ext cx="4114800" cy="594360"/>
          </a:xfrm>
          <a:prstGeom prst="rect">
            <a:avLst/>
          </a:prstGeom>
          <a:noFill/>
          <a:ln/>
        </p:spPr>
        <p:txBody>
          <a:bodyPr wrap="square" lIns="0" tIns="0" rIns="0" bIns="0" rtlCol="0" anchor="t"/>
          <a:lstStyle/>
          <a:p>
            <a:pPr marL="0" indent="0" algn="l">
              <a:buNone/>
            </a:pPr>
            <a:r>
              <a:rPr lang="en-US" sz="1300" dirty="0">
                <a:solidFill>
                  <a:srgbClr val="15302B"/>
                </a:solidFill>
                <a:latin typeface="Calibri" pitchFamily="34" charset="0"/>
                <a:ea typeface="Calibri" pitchFamily="34" charset="-122"/>
                <a:cs typeface="Calibri" pitchFamily="34" charset="-120"/>
              </a:rPr>
              <a:t>Businesses often work across all three. A locally adapted product can compete on:</a:t>
            </a:r>
            <a:endParaRPr lang="en-US" sz="1300" dirty="0"/>
          </a:p>
        </p:txBody>
      </p:sp>
      <p:sp>
        <p:nvSpPr>
          <p:cNvPr id="14" name="Shape 11"/>
          <p:cNvSpPr/>
          <p:nvPr/>
        </p:nvSpPr>
        <p:spPr>
          <a:xfrm>
            <a:off x="4572000" y="2011680"/>
            <a:ext cx="2011680" cy="804672"/>
          </a:xfrm>
          <a:prstGeom prst="roundRect">
            <a:avLst>
              <a:gd name="adj" fmla="val 11364"/>
            </a:avLst>
          </a:prstGeom>
          <a:solidFill>
            <a:srgbClr val="FFFFFF"/>
          </a:solidFill>
          <a:ln/>
          <a:effectLst>
            <a:outerShdw blurRad="101600" dist="25400" dir="5400000" algn="bl" rotWithShape="0">
              <a:srgbClr val="000000">
                <a:alpha val="10000"/>
              </a:srgbClr>
            </a:outerShdw>
          </a:effectLst>
        </p:spPr>
      </p:sp>
      <p:sp>
        <p:nvSpPr>
          <p:cNvPr id="15" name="Shape 12"/>
          <p:cNvSpPr/>
          <p:nvPr/>
        </p:nvSpPr>
        <p:spPr>
          <a:xfrm>
            <a:off x="4681728" y="2185416"/>
            <a:ext cx="457200" cy="457200"/>
          </a:xfrm>
          <a:prstGeom prst="ellipse">
            <a:avLst/>
          </a:prstGeom>
          <a:solidFill>
            <a:srgbClr val="12735B"/>
          </a:solidFill>
          <a:ln/>
        </p:spPr>
      </p:sp>
      <p:pic>
        <p:nvPicPr>
          <p:cNvPr id="16" name="Image 0" descr="preencoded.png"/>
          <p:cNvPicPr>
            <a:picLocks noChangeAspect="1"/>
          </p:cNvPicPr>
          <p:nvPr/>
        </p:nvPicPr>
        <p:blipFill>
          <a:blip r:embed="rId3"/>
          <a:stretch>
            <a:fillRect/>
          </a:stretch>
        </p:blipFill>
        <p:spPr>
          <a:xfrm>
            <a:off x="4796028" y="2299716"/>
            <a:ext cx="228600" cy="228600"/>
          </a:xfrm>
          <a:prstGeom prst="rect">
            <a:avLst/>
          </a:prstGeom>
        </p:spPr>
      </p:pic>
      <p:sp>
        <p:nvSpPr>
          <p:cNvPr id="17" name="Text 13"/>
          <p:cNvSpPr txBox="1"/>
          <p:nvPr/>
        </p:nvSpPr>
        <p:spPr>
          <a:xfrm>
            <a:off x="5230368" y="2011680"/>
            <a:ext cx="1280160" cy="804672"/>
          </a:xfrm>
          <a:prstGeom prst="rect">
            <a:avLst/>
          </a:prstGeom>
          <a:noFill/>
          <a:ln/>
        </p:spPr>
        <p:txBody>
          <a:bodyPr wrap="square" lIns="0" tIns="0" rIns="0" bIns="0" rtlCol="0" anchor="ctr"/>
          <a:lstStyle/>
          <a:p>
            <a:pPr marL="0" indent="0" algn="l">
              <a:buNone/>
            </a:pPr>
            <a:r>
              <a:rPr lang="en-US" sz="1150" b="1" dirty="0">
                <a:solidFill>
                  <a:srgbClr val="0C2622"/>
                </a:solidFill>
                <a:latin typeface="Calibri" pitchFamily="34" charset="0"/>
                <a:ea typeface="Calibri" pitchFamily="34" charset="-122"/>
                <a:cs typeface="Calibri" pitchFamily="34" charset="-120"/>
              </a:rPr>
              <a:t>Language</a:t>
            </a:r>
            <a:endParaRPr lang="en-US" sz="1150" dirty="0"/>
          </a:p>
        </p:txBody>
      </p:sp>
      <p:sp>
        <p:nvSpPr>
          <p:cNvPr id="18" name="Shape 14"/>
          <p:cNvSpPr/>
          <p:nvPr/>
        </p:nvSpPr>
        <p:spPr>
          <a:xfrm>
            <a:off x="6675120" y="2011680"/>
            <a:ext cx="2011680" cy="804672"/>
          </a:xfrm>
          <a:prstGeom prst="roundRect">
            <a:avLst>
              <a:gd name="adj" fmla="val 11364"/>
            </a:avLst>
          </a:prstGeom>
          <a:solidFill>
            <a:srgbClr val="FFFFFF"/>
          </a:solidFill>
          <a:ln/>
          <a:effectLst>
            <a:outerShdw blurRad="101600" dist="25400" dir="5400000" algn="bl" rotWithShape="0">
              <a:srgbClr val="000000">
                <a:alpha val="10000"/>
              </a:srgbClr>
            </a:outerShdw>
          </a:effectLst>
        </p:spPr>
      </p:sp>
      <p:sp>
        <p:nvSpPr>
          <p:cNvPr id="19" name="Shape 15"/>
          <p:cNvSpPr/>
          <p:nvPr/>
        </p:nvSpPr>
        <p:spPr>
          <a:xfrm>
            <a:off x="6784848" y="2185416"/>
            <a:ext cx="457200" cy="457200"/>
          </a:xfrm>
          <a:prstGeom prst="ellipse">
            <a:avLst/>
          </a:prstGeom>
          <a:solidFill>
            <a:srgbClr val="12735B"/>
          </a:solidFill>
          <a:ln/>
        </p:spPr>
      </p:sp>
      <p:pic>
        <p:nvPicPr>
          <p:cNvPr id="20" name="Image 1" descr="preencoded.png"/>
          <p:cNvPicPr>
            <a:picLocks noChangeAspect="1"/>
          </p:cNvPicPr>
          <p:nvPr/>
        </p:nvPicPr>
        <p:blipFill>
          <a:blip r:embed="rId4"/>
          <a:stretch>
            <a:fillRect/>
          </a:stretch>
        </p:blipFill>
        <p:spPr>
          <a:xfrm>
            <a:off x="6899148" y="2299716"/>
            <a:ext cx="228600" cy="228600"/>
          </a:xfrm>
          <a:prstGeom prst="rect">
            <a:avLst/>
          </a:prstGeom>
        </p:spPr>
      </p:pic>
      <p:sp>
        <p:nvSpPr>
          <p:cNvPr id="21" name="Text 16"/>
          <p:cNvSpPr txBox="1"/>
          <p:nvPr/>
        </p:nvSpPr>
        <p:spPr>
          <a:xfrm>
            <a:off x="7333488" y="2011680"/>
            <a:ext cx="1280160" cy="804672"/>
          </a:xfrm>
          <a:prstGeom prst="rect">
            <a:avLst/>
          </a:prstGeom>
          <a:noFill/>
          <a:ln/>
        </p:spPr>
        <p:txBody>
          <a:bodyPr wrap="square" lIns="0" tIns="0" rIns="0" bIns="0" rtlCol="0" anchor="ctr"/>
          <a:lstStyle/>
          <a:p>
            <a:pPr marL="0" indent="0" algn="l">
              <a:buNone/>
            </a:pPr>
            <a:r>
              <a:rPr lang="en-US" sz="1150" b="1" dirty="0">
                <a:solidFill>
                  <a:srgbClr val="0C2622"/>
                </a:solidFill>
                <a:latin typeface="Calibri" pitchFamily="34" charset="0"/>
                <a:ea typeface="Calibri" pitchFamily="34" charset="-122"/>
                <a:cs typeface="Calibri" pitchFamily="34" charset="-120"/>
              </a:rPr>
              <a:t>Local workflows</a:t>
            </a:r>
            <a:endParaRPr lang="en-US" sz="1150" dirty="0"/>
          </a:p>
        </p:txBody>
      </p:sp>
      <p:sp>
        <p:nvSpPr>
          <p:cNvPr id="22" name="Shape 17"/>
          <p:cNvSpPr/>
          <p:nvPr/>
        </p:nvSpPr>
        <p:spPr>
          <a:xfrm>
            <a:off x="4572000" y="2907792"/>
            <a:ext cx="2011680" cy="804672"/>
          </a:xfrm>
          <a:prstGeom prst="roundRect">
            <a:avLst>
              <a:gd name="adj" fmla="val 11364"/>
            </a:avLst>
          </a:prstGeom>
          <a:solidFill>
            <a:srgbClr val="FFFFFF"/>
          </a:solidFill>
          <a:ln/>
          <a:effectLst>
            <a:outerShdw blurRad="101600" dist="25400" dir="5400000" algn="bl" rotWithShape="0">
              <a:srgbClr val="000000">
                <a:alpha val="10000"/>
              </a:srgbClr>
            </a:outerShdw>
          </a:effectLst>
        </p:spPr>
      </p:sp>
      <p:sp>
        <p:nvSpPr>
          <p:cNvPr id="23" name="Shape 18"/>
          <p:cNvSpPr/>
          <p:nvPr/>
        </p:nvSpPr>
        <p:spPr>
          <a:xfrm>
            <a:off x="4681728" y="3081528"/>
            <a:ext cx="457200" cy="457200"/>
          </a:xfrm>
          <a:prstGeom prst="ellipse">
            <a:avLst/>
          </a:prstGeom>
          <a:solidFill>
            <a:srgbClr val="12735B"/>
          </a:solidFill>
          <a:ln/>
        </p:spPr>
      </p:sp>
      <p:pic>
        <p:nvPicPr>
          <p:cNvPr id="24" name="Image 2" descr="preencoded.png"/>
          <p:cNvPicPr>
            <a:picLocks noChangeAspect="1"/>
          </p:cNvPicPr>
          <p:nvPr/>
        </p:nvPicPr>
        <p:blipFill>
          <a:blip r:embed="rId5"/>
          <a:stretch>
            <a:fillRect/>
          </a:stretch>
        </p:blipFill>
        <p:spPr>
          <a:xfrm>
            <a:off x="4796028" y="3195828"/>
            <a:ext cx="228600" cy="228600"/>
          </a:xfrm>
          <a:prstGeom prst="rect">
            <a:avLst/>
          </a:prstGeom>
        </p:spPr>
      </p:pic>
      <p:sp>
        <p:nvSpPr>
          <p:cNvPr id="25" name="Text 19"/>
          <p:cNvSpPr txBox="1"/>
          <p:nvPr/>
        </p:nvSpPr>
        <p:spPr>
          <a:xfrm>
            <a:off x="5230368" y="2907792"/>
            <a:ext cx="1280160" cy="804672"/>
          </a:xfrm>
          <a:prstGeom prst="rect">
            <a:avLst/>
          </a:prstGeom>
          <a:noFill/>
          <a:ln/>
        </p:spPr>
        <p:txBody>
          <a:bodyPr wrap="square" lIns="0" tIns="0" rIns="0" bIns="0" rtlCol="0" anchor="ctr"/>
          <a:lstStyle/>
          <a:p>
            <a:pPr marL="0" indent="0" algn="l">
              <a:buNone/>
            </a:pPr>
            <a:r>
              <a:rPr lang="en-US" sz="1150" b="1" dirty="0">
                <a:solidFill>
                  <a:srgbClr val="0C2622"/>
                </a:solidFill>
                <a:latin typeface="Calibri" pitchFamily="34" charset="0"/>
                <a:ea typeface="Calibri" pitchFamily="34" charset="-122"/>
                <a:cs typeface="Calibri" pitchFamily="34" charset="-120"/>
              </a:rPr>
              <a:t>Local payment systems</a:t>
            </a:r>
            <a:endParaRPr lang="en-US" sz="1150" dirty="0"/>
          </a:p>
        </p:txBody>
      </p:sp>
      <p:sp>
        <p:nvSpPr>
          <p:cNvPr id="26" name="Shape 20"/>
          <p:cNvSpPr/>
          <p:nvPr/>
        </p:nvSpPr>
        <p:spPr>
          <a:xfrm>
            <a:off x="6675120" y="2907792"/>
            <a:ext cx="2011680" cy="804672"/>
          </a:xfrm>
          <a:prstGeom prst="roundRect">
            <a:avLst>
              <a:gd name="adj" fmla="val 11364"/>
            </a:avLst>
          </a:prstGeom>
          <a:solidFill>
            <a:srgbClr val="FFFFFF"/>
          </a:solidFill>
          <a:ln/>
          <a:effectLst>
            <a:outerShdw blurRad="101600" dist="25400" dir="5400000" algn="bl" rotWithShape="0">
              <a:srgbClr val="000000">
                <a:alpha val="10000"/>
              </a:srgbClr>
            </a:outerShdw>
          </a:effectLst>
        </p:spPr>
      </p:sp>
      <p:sp>
        <p:nvSpPr>
          <p:cNvPr id="27" name="Shape 21"/>
          <p:cNvSpPr/>
          <p:nvPr/>
        </p:nvSpPr>
        <p:spPr>
          <a:xfrm>
            <a:off x="6784848" y="3081528"/>
            <a:ext cx="457200" cy="457200"/>
          </a:xfrm>
          <a:prstGeom prst="ellipse">
            <a:avLst/>
          </a:prstGeom>
          <a:solidFill>
            <a:srgbClr val="12735B"/>
          </a:solidFill>
          <a:ln/>
        </p:spPr>
      </p:sp>
      <p:pic>
        <p:nvPicPr>
          <p:cNvPr id="28" name="Image 3" descr="preencoded.png"/>
          <p:cNvPicPr>
            <a:picLocks noChangeAspect="1"/>
          </p:cNvPicPr>
          <p:nvPr/>
        </p:nvPicPr>
        <p:blipFill>
          <a:blip r:embed="rId6"/>
          <a:stretch>
            <a:fillRect/>
          </a:stretch>
        </p:blipFill>
        <p:spPr>
          <a:xfrm>
            <a:off x="6899148" y="3195828"/>
            <a:ext cx="228600" cy="228600"/>
          </a:xfrm>
          <a:prstGeom prst="rect">
            <a:avLst/>
          </a:prstGeom>
        </p:spPr>
      </p:pic>
      <p:sp>
        <p:nvSpPr>
          <p:cNvPr id="29" name="Text 22"/>
          <p:cNvSpPr txBox="1"/>
          <p:nvPr/>
        </p:nvSpPr>
        <p:spPr>
          <a:xfrm>
            <a:off x="7333488" y="2907792"/>
            <a:ext cx="1280160" cy="804672"/>
          </a:xfrm>
          <a:prstGeom prst="rect">
            <a:avLst/>
          </a:prstGeom>
          <a:noFill/>
          <a:ln/>
        </p:spPr>
        <p:txBody>
          <a:bodyPr wrap="square" lIns="0" tIns="0" rIns="0" bIns="0" rtlCol="0" anchor="ctr"/>
          <a:lstStyle/>
          <a:p>
            <a:pPr marL="0" indent="0" algn="l">
              <a:buNone/>
            </a:pPr>
            <a:r>
              <a:rPr lang="en-US" sz="1150" b="1" dirty="0">
                <a:solidFill>
                  <a:srgbClr val="0C2622"/>
                </a:solidFill>
                <a:latin typeface="Calibri" pitchFamily="34" charset="0"/>
                <a:ea typeface="Calibri" pitchFamily="34" charset="-122"/>
                <a:cs typeface="Calibri" pitchFamily="34" charset="-120"/>
              </a:rPr>
              <a:t>Local support</a:t>
            </a:r>
            <a:endParaRPr lang="en-US" sz="1150" dirty="0"/>
          </a:p>
        </p:txBody>
      </p:sp>
      <p:sp>
        <p:nvSpPr>
          <p:cNvPr id="30" name="Shape 23"/>
          <p:cNvSpPr/>
          <p:nvPr/>
        </p:nvSpPr>
        <p:spPr>
          <a:xfrm>
            <a:off x="4572000" y="3803904"/>
            <a:ext cx="2011680" cy="804672"/>
          </a:xfrm>
          <a:prstGeom prst="roundRect">
            <a:avLst>
              <a:gd name="adj" fmla="val 11364"/>
            </a:avLst>
          </a:prstGeom>
          <a:solidFill>
            <a:srgbClr val="FFFFFF"/>
          </a:solidFill>
          <a:ln/>
          <a:effectLst>
            <a:outerShdw blurRad="101600" dist="25400" dir="5400000" algn="bl" rotWithShape="0">
              <a:srgbClr val="000000">
                <a:alpha val="10000"/>
              </a:srgbClr>
            </a:outerShdw>
          </a:effectLst>
        </p:spPr>
      </p:sp>
      <p:sp>
        <p:nvSpPr>
          <p:cNvPr id="31" name="Shape 24"/>
          <p:cNvSpPr/>
          <p:nvPr/>
        </p:nvSpPr>
        <p:spPr>
          <a:xfrm>
            <a:off x="4681728" y="3977640"/>
            <a:ext cx="457200" cy="457200"/>
          </a:xfrm>
          <a:prstGeom prst="ellipse">
            <a:avLst/>
          </a:prstGeom>
          <a:solidFill>
            <a:srgbClr val="12735B"/>
          </a:solidFill>
          <a:ln/>
        </p:spPr>
      </p:sp>
      <p:pic>
        <p:nvPicPr>
          <p:cNvPr id="32" name="Image 4" descr="preencoded.png"/>
          <p:cNvPicPr>
            <a:picLocks noChangeAspect="1"/>
          </p:cNvPicPr>
          <p:nvPr/>
        </p:nvPicPr>
        <p:blipFill>
          <a:blip r:embed="rId7"/>
          <a:stretch>
            <a:fillRect/>
          </a:stretch>
        </p:blipFill>
        <p:spPr>
          <a:xfrm>
            <a:off x="4796028" y="4091940"/>
            <a:ext cx="228600" cy="228600"/>
          </a:xfrm>
          <a:prstGeom prst="rect">
            <a:avLst/>
          </a:prstGeom>
        </p:spPr>
      </p:pic>
      <p:sp>
        <p:nvSpPr>
          <p:cNvPr id="33" name="Text 25"/>
          <p:cNvSpPr txBox="1"/>
          <p:nvPr/>
        </p:nvSpPr>
        <p:spPr>
          <a:xfrm>
            <a:off x="5230368" y="3803904"/>
            <a:ext cx="1280160" cy="804672"/>
          </a:xfrm>
          <a:prstGeom prst="rect">
            <a:avLst/>
          </a:prstGeom>
          <a:noFill/>
          <a:ln/>
        </p:spPr>
        <p:txBody>
          <a:bodyPr wrap="square" lIns="0" tIns="0" rIns="0" bIns="0" rtlCol="0" anchor="ctr"/>
          <a:lstStyle/>
          <a:p>
            <a:pPr marL="0" indent="0" algn="l">
              <a:buNone/>
            </a:pPr>
            <a:r>
              <a:rPr lang="en-US" sz="1150" b="1" dirty="0">
                <a:solidFill>
                  <a:srgbClr val="0C2622"/>
                </a:solidFill>
                <a:latin typeface="Calibri" pitchFamily="34" charset="0"/>
                <a:ea typeface="Calibri" pitchFamily="34" charset="-122"/>
                <a:cs typeface="Calibri" pitchFamily="34" charset="-120"/>
              </a:rPr>
              <a:t>Local pricing</a:t>
            </a:r>
            <a:endParaRPr lang="en-US" sz="1150" dirty="0"/>
          </a:p>
        </p:txBody>
      </p:sp>
      <p:sp>
        <p:nvSpPr>
          <p:cNvPr id="34" name="Shape 26"/>
          <p:cNvSpPr/>
          <p:nvPr/>
        </p:nvSpPr>
        <p:spPr>
          <a:xfrm>
            <a:off x="6675120" y="3803904"/>
            <a:ext cx="2011680" cy="804672"/>
          </a:xfrm>
          <a:prstGeom prst="roundRect">
            <a:avLst>
              <a:gd name="adj" fmla="val 11364"/>
            </a:avLst>
          </a:prstGeom>
          <a:solidFill>
            <a:srgbClr val="FFFFFF"/>
          </a:solidFill>
          <a:ln/>
          <a:effectLst>
            <a:outerShdw blurRad="101600" dist="25400" dir="5400000" algn="bl" rotWithShape="0">
              <a:srgbClr val="000000">
                <a:alpha val="10000"/>
              </a:srgbClr>
            </a:outerShdw>
          </a:effectLst>
        </p:spPr>
      </p:sp>
      <p:sp>
        <p:nvSpPr>
          <p:cNvPr id="35" name="Shape 27"/>
          <p:cNvSpPr/>
          <p:nvPr/>
        </p:nvSpPr>
        <p:spPr>
          <a:xfrm>
            <a:off x="6784848" y="3977640"/>
            <a:ext cx="457200" cy="457200"/>
          </a:xfrm>
          <a:prstGeom prst="ellipse">
            <a:avLst/>
          </a:prstGeom>
          <a:solidFill>
            <a:srgbClr val="12735B"/>
          </a:solidFill>
          <a:ln/>
        </p:spPr>
      </p:sp>
      <p:pic>
        <p:nvPicPr>
          <p:cNvPr id="36" name="Image 5" descr="preencoded.png"/>
          <p:cNvPicPr>
            <a:picLocks noChangeAspect="1"/>
          </p:cNvPicPr>
          <p:nvPr/>
        </p:nvPicPr>
        <p:blipFill>
          <a:blip r:embed="rId8"/>
          <a:stretch>
            <a:fillRect/>
          </a:stretch>
        </p:blipFill>
        <p:spPr>
          <a:xfrm>
            <a:off x="6899148" y="4091940"/>
            <a:ext cx="228600" cy="228600"/>
          </a:xfrm>
          <a:prstGeom prst="rect">
            <a:avLst/>
          </a:prstGeom>
        </p:spPr>
      </p:pic>
      <p:sp>
        <p:nvSpPr>
          <p:cNvPr id="37" name="Text 28"/>
          <p:cNvSpPr txBox="1"/>
          <p:nvPr/>
        </p:nvSpPr>
        <p:spPr>
          <a:xfrm>
            <a:off x="7333488" y="3803904"/>
            <a:ext cx="1280160" cy="804672"/>
          </a:xfrm>
          <a:prstGeom prst="rect">
            <a:avLst/>
          </a:prstGeom>
          <a:noFill/>
          <a:ln/>
        </p:spPr>
        <p:txBody>
          <a:bodyPr wrap="square" lIns="0" tIns="0" rIns="0" bIns="0" rtlCol="0" anchor="ctr"/>
          <a:lstStyle/>
          <a:p>
            <a:pPr marL="0" indent="0" algn="l">
              <a:buNone/>
            </a:pPr>
            <a:r>
              <a:rPr lang="en-US" sz="1150" b="1" dirty="0">
                <a:solidFill>
                  <a:srgbClr val="0C2622"/>
                </a:solidFill>
                <a:latin typeface="Calibri" pitchFamily="34" charset="0"/>
                <a:ea typeface="Calibri" pitchFamily="34" charset="-122"/>
                <a:cs typeface="Calibri" pitchFamily="34" charset="-120"/>
              </a:rPr>
              <a:t>Cultural understanding</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8 · BANGLADESH</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Payments: use what customers use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Per course notes, September 2026. Verify current availability with each provider before relying on it.</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55</a:t>
            </a:r>
            <a:endParaRPr lang="en-US" sz="900" dirty="0"/>
          </a:p>
        </p:txBody>
      </p:sp>
      <p:sp>
        <p:nvSpPr>
          <p:cNvPr id="7" name="Shape 4"/>
          <p:cNvSpPr/>
          <p:nvPr/>
        </p:nvSpPr>
        <p:spPr>
          <a:xfrm>
            <a:off x="457200" y="1280160"/>
            <a:ext cx="2834640" cy="2606040"/>
          </a:xfrm>
          <a:prstGeom prst="roundRect">
            <a:avLst>
              <a:gd name="adj" fmla="val 3509"/>
            </a:avLst>
          </a:prstGeom>
          <a:solidFill>
            <a:srgbClr val="FBE7E9"/>
          </a:solidFill>
          <a:ln/>
        </p:spPr>
      </p:sp>
      <p:sp>
        <p:nvSpPr>
          <p:cNvPr id="8" name="Shape 5"/>
          <p:cNvSpPr/>
          <p:nvPr/>
        </p:nvSpPr>
        <p:spPr>
          <a:xfrm>
            <a:off x="640080" y="1463040"/>
            <a:ext cx="457200" cy="457200"/>
          </a:xfrm>
          <a:prstGeom prst="ellipse">
            <a:avLst/>
          </a:prstGeom>
          <a:solidFill>
            <a:srgbClr val="C93B4B"/>
          </a:solidFill>
          <a:ln/>
        </p:spPr>
      </p:sp>
      <p:pic>
        <p:nvPicPr>
          <p:cNvPr id="9" name="Image 0" descr="preencoded.png"/>
          <p:cNvPicPr>
            <a:picLocks noChangeAspect="1"/>
          </p:cNvPicPr>
          <p:nvPr/>
        </p:nvPicPr>
        <p:blipFill>
          <a:blip r:embed="rId3"/>
          <a:stretch>
            <a:fillRect/>
          </a:stretch>
        </p:blipFill>
        <p:spPr>
          <a:xfrm>
            <a:off x="754380" y="1577340"/>
            <a:ext cx="228600" cy="228600"/>
          </a:xfrm>
          <a:prstGeom prst="rect">
            <a:avLst/>
          </a:prstGeom>
        </p:spPr>
      </p:pic>
      <p:sp>
        <p:nvSpPr>
          <p:cNvPr id="10" name="Text 6"/>
          <p:cNvSpPr txBox="1"/>
          <p:nvPr/>
        </p:nvSpPr>
        <p:spPr>
          <a:xfrm>
            <a:off x="1234440" y="1463040"/>
            <a:ext cx="1828800" cy="457200"/>
          </a:xfrm>
          <a:prstGeom prst="rect">
            <a:avLst/>
          </a:prstGeom>
          <a:noFill/>
          <a:ln/>
        </p:spPr>
        <p:txBody>
          <a:bodyPr wrap="square" lIns="0" tIns="0" rIns="0" bIns="0" rtlCol="0" anchor="ctr"/>
          <a:lstStyle/>
          <a:p>
            <a:pPr marL="0" indent="0" algn="l">
              <a:buNone/>
            </a:pPr>
            <a:r>
              <a:rPr lang="en-US" sz="1800" b="1" dirty="0">
                <a:solidFill>
                  <a:srgbClr val="0C2622"/>
                </a:solidFill>
                <a:latin typeface="Cambria" pitchFamily="34" charset="0"/>
                <a:ea typeface="Cambria" pitchFamily="34" charset="-122"/>
                <a:cs typeface="Cambria" pitchFamily="34" charset="-120"/>
              </a:rPr>
              <a:t>Stripe</a:t>
            </a:r>
            <a:endParaRPr lang="en-US" sz="1800" dirty="0"/>
          </a:p>
        </p:txBody>
      </p:sp>
      <p:sp>
        <p:nvSpPr>
          <p:cNvPr id="11" name="Text 7"/>
          <p:cNvSpPr txBox="1"/>
          <p:nvPr/>
        </p:nvSpPr>
        <p:spPr>
          <a:xfrm>
            <a:off x="640080" y="2103120"/>
            <a:ext cx="2468880" cy="1280160"/>
          </a:xfrm>
          <a:prstGeom prst="rect">
            <a:avLst/>
          </a:prstGeom>
          <a:noFill/>
          <a:ln/>
        </p:spPr>
        <p:txBody>
          <a:bodyPr wrap="square" lIns="0" tIns="0" rIns="0" bIns="0" rtlCol="0" anchor="t"/>
          <a:lstStyle/>
          <a:p>
            <a:pPr marL="0" indent="0" algn="l">
              <a:buNone/>
            </a:pPr>
            <a:r>
              <a:rPr lang="en-US" sz="1200" dirty="0">
                <a:solidFill>
                  <a:srgbClr val="15302B"/>
                </a:solidFill>
                <a:latin typeface="Calibri" pitchFamily="34" charset="0"/>
                <a:ea typeface="Calibri" pitchFamily="34" charset="-122"/>
                <a:cs typeface="Calibri" pitchFamily="34" charset="-120"/>
              </a:rPr>
              <a:t>Bangladesh does not appear on Stripe’s standard supported-country list for locally based businesses.</a:t>
            </a:r>
            <a:endParaRPr lang="en-US" sz="1200" dirty="0"/>
          </a:p>
        </p:txBody>
      </p:sp>
      <p:sp>
        <p:nvSpPr>
          <p:cNvPr id="12" name="Text 8"/>
          <p:cNvSpPr txBox="1"/>
          <p:nvPr/>
        </p:nvSpPr>
        <p:spPr>
          <a:xfrm>
            <a:off x="640080" y="3246120"/>
            <a:ext cx="2468880" cy="548640"/>
          </a:xfrm>
          <a:prstGeom prst="rect">
            <a:avLst/>
          </a:prstGeom>
          <a:noFill/>
          <a:ln/>
        </p:spPr>
        <p:txBody>
          <a:bodyPr wrap="square" lIns="0" tIns="0" rIns="0" bIns="0" rtlCol="0" anchor="t"/>
          <a:lstStyle/>
          <a:p>
            <a:pPr marL="0" indent="0" algn="l">
              <a:buNone/>
            </a:pPr>
            <a:r>
              <a:rPr lang="en-US" sz="1200" b="1" dirty="0">
                <a:solidFill>
                  <a:srgbClr val="C93B4B"/>
                </a:solidFill>
                <a:latin typeface="Calibri" pitchFamily="34" charset="0"/>
                <a:ea typeface="Calibri" pitchFamily="34" charset="-122"/>
                <a:cs typeface="Calibri" pitchFamily="34" charset="-120"/>
              </a:rPr>
              <a:t>Don’t copy US startup playbooks.</a:t>
            </a:r>
            <a:endParaRPr lang="en-US" sz="1200" dirty="0"/>
          </a:p>
        </p:txBody>
      </p:sp>
      <p:sp>
        <p:nvSpPr>
          <p:cNvPr id="13" name="Shape 9"/>
          <p:cNvSpPr/>
          <p:nvPr/>
        </p:nvSpPr>
        <p:spPr>
          <a:xfrm>
            <a:off x="3520440" y="1280160"/>
            <a:ext cx="2468880" cy="1234440"/>
          </a:xfrm>
          <a:prstGeom prst="roundRect">
            <a:avLst>
              <a:gd name="adj" fmla="val 7407"/>
            </a:avLst>
          </a:prstGeom>
          <a:solidFill>
            <a:srgbClr val="FFFFFF"/>
          </a:solidFill>
          <a:ln/>
          <a:effectLst>
            <a:outerShdw blurRad="101600" dist="25400" dir="5400000" algn="bl" rotWithShape="0">
              <a:srgbClr val="000000">
                <a:alpha val="10000"/>
              </a:srgbClr>
            </a:outerShdw>
          </a:effectLst>
        </p:spPr>
      </p:sp>
      <p:sp>
        <p:nvSpPr>
          <p:cNvPr id="14" name="Text 10"/>
          <p:cNvSpPr txBox="1"/>
          <p:nvPr/>
        </p:nvSpPr>
        <p:spPr>
          <a:xfrm>
            <a:off x="3703320" y="1417320"/>
            <a:ext cx="2103120" cy="320040"/>
          </a:xfrm>
          <a:prstGeom prst="rect">
            <a:avLst/>
          </a:prstGeom>
          <a:noFill/>
          <a:ln/>
        </p:spPr>
        <p:txBody>
          <a:bodyPr wrap="square" lIns="0" tIns="0" rIns="0" bIns="0" rtlCol="0" anchor="t"/>
          <a:lstStyle/>
          <a:p>
            <a:pPr marL="0" indent="0" algn="l">
              <a:buNone/>
            </a:pPr>
            <a:r>
              <a:rPr lang="en-US" sz="1500" b="1" dirty="0">
                <a:solidFill>
                  <a:srgbClr val="12735B"/>
                </a:solidFill>
                <a:latin typeface="Cambria" pitchFamily="34" charset="0"/>
                <a:ea typeface="Cambria" pitchFamily="34" charset="-122"/>
                <a:cs typeface="Cambria" pitchFamily="34" charset="-120"/>
              </a:rPr>
              <a:t>bKash</a:t>
            </a:r>
            <a:endParaRPr lang="en-US" sz="1500" dirty="0"/>
          </a:p>
        </p:txBody>
      </p:sp>
      <p:sp>
        <p:nvSpPr>
          <p:cNvPr id="15" name="Text 11"/>
          <p:cNvSpPr txBox="1"/>
          <p:nvPr/>
        </p:nvSpPr>
        <p:spPr>
          <a:xfrm>
            <a:off x="3703320" y="1783080"/>
            <a:ext cx="2148840" cy="777240"/>
          </a:xfrm>
          <a:prstGeom prst="rect">
            <a:avLst/>
          </a:prstGeom>
          <a:noFill/>
          <a:ln/>
        </p:spPr>
        <p:txBody>
          <a:bodyPr wrap="square" lIns="0" tIns="0" rIns="0" bIns="0" rtlCol="0" anchor="t"/>
          <a:lstStyle/>
          <a:p>
            <a:pPr marL="0" indent="0" algn="l">
              <a:buNone/>
            </a:pPr>
            <a:r>
              <a:rPr lang="en-US" sz="1150" dirty="0">
                <a:solidFill>
                  <a:srgbClr val="15302B"/>
                </a:solidFill>
                <a:latin typeface="Calibri" pitchFamily="34" charset="0"/>
                <a:ea typeface="Calibri" pitchFamily="34" charset="-122"/>
                <a:cs typeface="Calibri" pitchFamily="34" charset="-120"/>
              </a:rPr>
              <a:t>Merchant accounts, merchant QR, online-business solutions, payment gateway, APIs.</a:t>
            </a:r>
            <a:endParaRPr lang="en-US" sz="1150" dirty="0"/>
          </a:p>
        </p:txBody>
      </p:sp>
      <p:sp>
        <p:nvSpPr>
          <p:cNvPr id="16" name="Shape 12"/>
          <p:cNvSpPr/>
          <p:nvPr/>
        </p:nvSpPr>
        <p:spPr>
          <a:xfrm>
            <a:off x="6126480" y="1280160"/>
            <a:ext cx="2468880" cy="1234440"/>
          </a:xfrm>
          <a:prstGeom prst="roundRect">
            <a:avLst>
              <a:gd name="adj" fmla="val 7407"/>
            </a:avLst>
          </a:prstGeom>
          <a:solidFill>
            <a:srgbClr val="FFFFFF"/>
          </a:solidFill>
          <a:ln/>
          <a:effectLst>
            <a:outerShdw blurRad="101600" dist="25400" dir="5400000" algn="bl" rotWithShape="0">
              <a:srgbClr val="000000">
                <a:alpha val="10000"/>
              </a:srgbClr>
            </a:outerShdw>
          </a:effectLst>
        </p:spPr>
      </p:sp>
      <p:sp>
        <p:nvSpPr>
          <p:cNvPr id="17" name="Text 13"/>
          <p:cNvSpPr txBox="1"/>
          <p:nvPr/>
        </p:nvSpPr>
        <p:spPr>
          <a:xfrm>
            <a:off x="6309360" y="1417320"/>
            <a:ext cx="2103120" cy="320040"/>
          </a:xfrm>
          <a:prstGeom prst="rect">
            <a:avLst/>
          </a:prstGeom>
          <a:noFill/>
          <a:ln/>
        </p:spPr>
        <p:txBody>
          <a:bodyPr wrap="square" lIns="0" tIns="0" rIns="0" bIns="0" rtlCol="0" anchor="t"/>
          <a:lstStyle/>
          <a:p>
            <a:pPr marL="0" indent="0" algn="l">
              <a:buNone/>
            </a:pPr>
            <a:r>
              <a:rPr lang="en-US" sz="1500" b="1" dirty="0">
                <a:solidFill>
                  <a:srgbClr val="12735B"/>
                </a:solidFill>
                <a:latin typeface="Cambria" pitchFamily="34" charset="0"/>
                <a:ea typeface="Cambria" pitchFamily="34" charset="-122"/>
                <a:cs typeface="Cambria" pitchFamily="34" charset="-120"/>
              </a:rPr>
              <a:t>Nagad</a:t>
            </a:r>
            <a:endParaRPr lang="en-US" sz="1500" dirty="0"/>
          </a:p>
        </p:txBody>
      </p:sp>
      <p:sp>
        <p:nvSpPr>
          <p:cNvPr id="18" name="Text 14"/>
          <p:cNvSpPr txBox="1"/>
          <p:nvPr/>
        </p:nvSpPr>
        <p:spPr>
          <a:xfrm>
            <a:off x="6309360" y="1783080"/>
            <a:ext cx="2148840" cy="777240"/>
          </a:xfrm>
          <a:prstGeom prst="rect">
            <a:avLst/>
          </a:prstGeom>
          <a:noFill/>
          <a:ln/>
        </p:spPr>
        <p:txBody>
          <a:bodyPr wrap="square" lIns="0" tIns="0" rIns="0" bIns="0" rtlCol="0" anchor="t"/>
          <a:lstStyle/>
          <a:p>
            <a:pPr marL="0" indent="0" algn="l">
              <a:buNone/>
            </a:pPr>
            <a:r>
              <a:rPr lang="en-US" sz="1150" dirty="0">
                <a:solidFill>
                  <a:srgbClr val="15302B"/>
                </a:solidFill>
                <a:latin typeface="Calibri" pitchFamily="34" charset="0"/>
                <a:ea typeface="Calibri" pitchFamily="34" charset="-122"/>
                <a:cs typeface="Calibri" pitchFamily="34" charset="-120"/>
              </a:rPr>
              <a:t>Merchant onboarding.</a:t>
            </a:r>
            <a:endParaRPr lang="en-US" sz="1150" dirty="0"/>
          </a:p>
        </p:txBody>
      </p:sp>
      <p:sp>
        <p:nvSpPr>
          <p:cNvPr id="19" name="Shape 15"/>
          <p:cNvSpPr/>
          <p:nvPr/>
        </p:nvSpPr>
        <p:spPr>
          <a:xfrm>
            <a:off x="3520440" y="2651760"/>
            <a:ext cx="2468880" cy="1234440"/>
          </a:xfrm>
          <a:prstGeom prst="roundRect">
            <a:avLst>
              <a:gd name="adj" fmla="val 7407"/>
            </a:avLst>
          </a:prstGeom>
          <a:solidFill>
            <a:srgbClr val="FFFFFF"/>
          </a:solidFill>
          <a:ln/>
          <a:effectLst>
            <a:outerShdw blurRad="101600" dist="25400" dir="5400000" algn="bl" rotWithShape="0">
              <a:srgbClr val="000000">
                <a:alpha val="10000"/>
              </a:srgbClr>
            </a:outerShdw>
          </a:effectLst>
        </p:spPr>
      </p:sp>
      <p:sp>
        <p:nvSpPr>
          <p:cNvPr id="20" name="Text 16"/>
          <p:cNvSpPr txBox="1"/>
          <p:nvPr/>
        </p:nvSpPr>
        <p:spPr>
          <a:xfrm>
            <a:off x="3703320" y="2788920"/>
            <a:ext cx="2103120" cy="320040"/>
          </a:xfrm>
          <a:prstGeom prst="rect">
            <a:avLst/>
          </a:prstGeom>
          <a:noFill/>
          <a:ln/>
        </p:spPr>
        <p:txBody>
          <a:bodyPr wrap="square" lIns="0" tIns="0" rIns="0" bIns="0" rtlCol="0" anchor="t"/>
          <a:lstStyle/>
          <a:p>
            <a:pPr marL="0" indent="0" algn="l">
              <a:buNone/>
            </a:pPr>
            <a:r>
              <a:rPr lang="en-US" sz="1500" b="1" dirty="0">
                <a:solidFill>
                  <a:srgbClr val="12735B"/>
                </a:solidFill>
                <a:latin typeface="Cambria" pitchFamily="34" charset="0"/>
                <a:ea typeface="Cambria" pitchFamily="34" charset="-122"/>
                <a:cs typeface="Cambria" pitchFamily="34" charset="-120"/>
              </a:rPr>
              <a:t>SSLCOMMERZ</a:t>
            </a:r>
            <a:endParaRPr lang="en-US" sz="1500" dirty="0"/>
          </a:p>
        </p:txBody>
      </p:sp>
      <p:sp>
        <p:nvSpPr>
          <p:cNvPr id="21" name="Text 17"/>
          <p:cNvSpPr txBox="1"/>
          <p:nvPr/>
        </p:nvSpPr>
        <p:spPr>
          <a:xfrm>
            <a:off x="3703320" y="3154680"/>
            <a:ext cx="2148840" cy="777240"/>
          </a:xfrm>
          <a:prstGeom prst="rect">
            <a:avLst/>
          </a:prstGeom>
          <a:noFill/>
          <a:ln/>
        </p:spPr>
        <p:txBody>
          <a:bodyPr wrap="square" lIns="0" tIns="0" rIns="0" bIns="0" rtlCol="0" anchor="t"/>
          <a:lstStyle/>
          <a:p>
            <a:pPr marL="0" indent="0" algn="l">
              <a:buNone/>
            </a:pPr>
            <a:r>
              <a:rPr lang="en-US" sz="1150" dirty="0">
                <a:solidFill>
                  <a:srgbClr val="15302B"/>
                </a:solidFill>
                <a:latin typeface="Calibri" pitchFamily="34" charset="0"/>
                <a:ea typeface="Calibri" pitchFamily="34" charset="-122"/>
                <a:cs typeface="Calibri" pitchFamily="34" charset="-120"/>
              </a:rPr>
              <a:t>Cards alongside bKash, Nagad, Rocket and other channels.</a:t>
            </a:r>
            <a:endParaRPr lang="en-US" sz="1150" dirty="0"/>
          </a:p>
        </p:txBody>
      </p:sp>
      <p:sp>
        <p:nvSpPr>
          <p:cNvPr id="22" name="Shape 18"/>
          <p:cNvSpPr/>
          <p:nvPr/>
        </p:nvSpPr>
        <p:spPr>
          <a:xfrm>
            <a:off x="6126480" y="2651760"/>
            <a:ext cx="2468880" cy="1234440"/>
          </a:xfrm>
          <a:prstGeom prst="roundRect">
            <a:avLst>
              <a:gd name="adj" fmla="val 7407"/>
            </a:avLst>
          </a:prstGeom>
          <a:solidFill>
            <a:srgbClr val="FFFFFF"/>
          </a:solidFill>
          <a:ln/>
          <a:effectLst>
            <a:outerShdw blurRad="101600" dist="25400" dir="5400000" algn="bl" rotWithShape="0">
              <a:srgbClr val="000000">
                <a:alpha val="10000"/>
              </a:srgbClr>
            </a:outerShdw>
          </a:effectLst>
        </p:spPr>
      </p:sp>
      <p:sp>
        <p:nvSpPr>
          <p:cNvPr id="23" name="Text 19"/>
          <p:cNvSpPr txBox="1"/>
          <p:nvPr/>
        </p:nvSpPr>
        <p:spPr>
          <a:xfrm>
            <a:off x="6309360" y="2788920"/>
            <a:ext cx="2103120" cy="320040"/>
          </a:xfrm>
          <a:prstGeom prst="rect">
            <a:avLst/>
          </a:prstGeom>
          <a:noFill/>
          <a:ln/>
        </p:spPr>
        <p:txBody>
          <a:bodyPr wrap="square" lIns="0" tIns="0" rIns="0" bIns="0" rtlCol="0" anchor="t"/>
          <a:lstStyle/>
          <a:p>
            <a:pPr marL="0" indent="0" algn="l">
              <a:buNone/>
            </a:pPr>
            <a:r>
              <a:rPr lang="en-US" sz="1500" b="1" dirty="0">
                <a:solidFill>
                  <a:srgbClr val="12735B"/>
                </a:solidFill>
                <a:latin typeface="Cambria" pitchFamily="34" charset="0"/>
                <a:ea typeface="Cambria" pitchFamily="34" charset="-122"/>
                <a:cs typeface="Cambria" pitchFamily="34" charset="-120"/>
              </a:rPr>
              <a:t>aamarPay</a:t>
            </a:r>
            <a:endParaRPr lang="en-US" sz="1500" dirty="0"/>
          </a:p>
        </p:txBody>
      </p:sp>
      <p:sp>
        <p:nvSpPr>
          <p:cNvPr id="24" name="Text 20"/>
          <p:cNvSpPr txBox="1"/>
          <p:nvPr/>
        </p:nvSpPr>
        <p:spPr>
          <a:xfrm>
            <a:off x="6309360" y="3154680"/>
            <a:ext cx="2148840" cy="777240"/>
          </a:xfrm>
          <a:prstGeom prst="rect">
            <a:avLst/>
          </a:prstGeom>
          <a:noFill/>
          <a:ln/>
        </p:spPr>
        <p:txBody>
          <a:bodyPr wrap="square" lIns="0" tIns="0" rIns="0" bIns="0" rtlCol="0" anchor="t"/>
          <a:lstStyle/>
          <a:p>
            <a:pPr marL="0" indent="0" algn="l">
              <a:buNone/>
            </a:pPr>
            <a:r>
              <a:rPr lang="en-US" sz="1150" dirty="0">
                <a:solidFill>
                  <a:srgbClr val="15302B"/>
                </a:solidFill>
                <a:latin typeface="Calibri" pitchFamily="34" charset="0"/>
                <a:ea typeface="Calibri" pitchFamily="34" charset="-122"/>
                <a:cs typeface="Calibri" pitchFamily="34" charset="-120"/>
              </a:rPr>
              <a:t>Major card networks and multiple Bangladeshi wallets.</a:t>
            </a:r>
            <a:endParaRPr lang="en-US" sz="1150" dirty="0"/>
          </a:p>
        </p:txBody>
      </p:sp>
      <p:sp>
        <p:nvSpPr>
          <p:cNvPr id="25" name="Shape 21"/>
          <p:cNvSpPr/>
          <p:nvPr/>
        </p:nvSpPr>
        <p:spPr>
          <a:xfrm>
            <a:off x="457200" y="4114800"/>
            <a:ext cx="8229600" cy="548640"/>
          </a:xfrm>
          <a:prstGeom prst="roundRect">
            <a:avLst>
              <a:gd name="adj" fmla="val 16667"/>
            </a:avLst>
          </a:prstGeom>
          <a:solidFill>
            <a:srgbClr val="0C2622"/>
          </a:solidFill>
          <a:ln/>
        </p:spPr>
      </p:sp>
      <p:sp>
        <p:nvSpPr>
          <p:cNvPr id="26" name="Text 22"/>
          <p:cNvSpPr txBox="1"/>
          <p:nvPr/>
        </p:nvSpPr>
        <p:spPr>
          <a:xfrm>
            <a:off x="685800" y="4114800"/>
            <a:ext cx="7772400" cy="548640"/>
          </a:xfrm>
          <a:prstGeom prst="rect">
            <a:avLst/>
          </a:prstGeom>
          <a:noFill/>
          <a:ln/>
        </p:spPr>
        <p:txBody>
          <a:bodyPr wrap="square" lIns="0" tIns="0" rIns="0" bIns="0" rtlCol="0" anchor="ctr"/>
          <a:lstStyle/>
          <a:p>
            <a:pPr marL="0" indent="0" algn="l">
              <a:buNone/>
            </a:pPr>
            <a:r>
              <a:rPr lang="en-US" sz="1500" i="1" dirty="0">
                <a:solidFill>
                  <a:srgbClr val="FFFFFF"/>
                </a:solidFill>
                <a:latin typeface="Cambria" pitchFamily="34" charset="0"/>
                <a:ea typeface="Cambria" pitchFamily="34" charset="-122"/>
                <a:cs typeface="Cambria" pitchFamily="34" charset="-120"/>
              </a:rPr>
              <a:t>Design the business around the infrastructure customers actually use.</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MODULE 8 · BANGLADESH</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Three Bangladesh business examples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56</a:t>
            </a:r>
            <a:endParaRPr lang="en-US" sz="900" dirty="0"/>
          </a:p>
        </p:txBody>
      </p:sp>
      <p:sp>
        <p:nvSpPr>
          <p:cNvPr id="7" name="Shape 4"/>
          <p:cNvSpPr/>
          <p:nvPr/>
        </p:nvSpPr>
        <p:spPr>
          <a:xfrm>
            <a:off x="457200" y="1280160"/>
            <a:ext cx="2651760" cy="338328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640080" y="1417320"/>
            <a:ext cx="457200" cy="457200"/>
          </a:xfrm>
          <a:prstGeom prst="ellipse">
            <a:avLst/>
          </a:prstGeom>
          <a:solidFill>
            <a:srgbClr val="12735B"/>
          </a:solidFill>
          <a:ln/>
        </p:spPr>
      </p:sp>
      <p:pic>
        <p:nvPicPr>
          <p:cNvPr id="9" name="Image 0" descr="preencoded.png"/>
          <p:cNvPicPr>
            <a:picLocks noChangeAspect="1"/>
          </p:cNvPicPr>
          <p:nvPr/>
        </p:nvPicPr>
        <p:blipFill>
          <a:blip r:embed="rId3"/>
          <a:stretch>
            <a:fillRect/>
          </a:stretch>
        </p:blipFill>
        <p:spPr>
          <a:xfrm>
            <a:off x="754380" y="1531620"/>
            <a:ext cx="228600" cy="228600"/>
          </a:xfrm>
          <a:prstGeom prst="rect">
            <a:avLst/>
          </a:prstGeom>
        </p:spPr>
      </p:pic>
      <p:sp>
        <p:nvSpPr>
          <p:cNvPr id="10" name="Text 6"/>
          <p:cNvSpPr txBox="1"/>
          <p:nvPr/>
        </p:nvSpPr>
        <p:spPr>
          <a:xfrm>
            <a:off x="1234440" y="1417320"/>
            <a:ext cx="1783080" cy="45720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SME AI sales assistant</a:t>
            </a:r>
            <a:endParaRPr lang="en-US" sz="1300" dirty="0"/>
          </a:p>
        </p:txBody>
      </p:sp>
      <p:sp>
        <p:nvSpPr>
          <p:cNvPr id="11" name="Text 7"/>
          <p:cNvSpPr txBox="1"/>
          <p:nvPr/>
        </p:nvSpPr>
        <p:spPr>
          <a:xfrm>
            <a:off x="640080" y="205740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CUSTOMER</a:t>
            </a:r>
            <a:endParaRPr lang="en-US" sz="950" dirty="0"/>
          </a:p>
        </p:txBody>
      </p:sp>
      <p:sp>
        <p:nvSpPr>
          <p:cNvPr id="12" name="Text 8"/>
          <p:cNvSpPr txBox="1"/>
          <p:nvPr/>
        </p:nvSpPr>
        <p:spPr>
          <a:xfrm>
            <a:off x="640080" y="225856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Facebook-dependent SMEs with hundreds of repetitive enquiries.</a:t>
            </a:r>
            <a:endParaRPr lang="en-US" sz="1050" dirty="0"/>
          </a:p>
        </p:txBody>
      </p:sp>
      <p:sp>
        <p:nvSpPr>
          <p:cNvPr id="13" name="Text 9"/>
          <p:cNvSpPr txBox="1"/>
          <p:nvPr/>
        </p:nvSpPr>
        <p:spPr>
          <a:xfrm>
            <a:off x="640080" y="292608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MVP</a:t>
            </a:r>
            <a:endParaRPr lang="en-US" sz="950" dirty="0"/>
          </a:p>
        </p:txBody>
      </p:sp>
      <p:sp>
        <p:nvSpPr>
          <p:cNvPr id="14" name="Text 10"/>
          <p:cNvSpPr txBox="1"/>
          <p:nvPr/>
        </p:nvSpPr>
        <p:spPr>
          <a:xfrm>
            <a:off x="640080" y="312724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Enquiry in → identify → fetch product info → draft reply → capture lead → alert a human when needed.</a:t>
            </a:r>
            <a:endParaRPr lang="en-US" sz="1050" dirty="0"/>
          </a:p>
        </p:txBody>
      </p:sp>
      <p:sp>
        <p:nvSpPr>
          <p:cNvPr id="15" name="Text 11"/>
          <p:cNvSpPr txBox="1"/>
          <p:nvPr/>
        </p:nvSpPr>
        <p:spPr>
          <a:xfrm>
            <a:off x="640080" y="379476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REVENUE</a:t>
            </a:r>
            <a:endParaRPr lang="en-US" sz="950" dirty="0"/>
          </a:p>
        </p:txBody>
      </p:sp>
      <p:sp>
        <p:nvSpPr>
          <p:cNvPr id="16" name="Text 12"/>
          <p:cNvSpPr txBox="1"/>
          <p:nvPr/>
        </p:nvSpPr>
        <p:spPr>
          <a:xfrm>
            <a:off x="640080" y="399592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Monthly subscription or managed-service fee.</a:t>
            </a:r>
            <a:endParaRPr lang="en-US" sz="1050" dirty="0"/>
          </a:p>
        </p:txBody>
      </p:sp>
      <p:sp>
        <p:nvSpPr>
          <p:cNvPr id="17" name="Shape 13"/>
          <p:cNvSpPr/>
          <p:nvPr/>
        </p:nvSpPr>
        <p:spPr>
          <a:xfrm>
            <a:off x="3246120" y="1280160"/>
            <a:ext cx="2651760" cy="338328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18" name="Shape 14"/>
          <p:cNvSpPr/>
          <p:nvPr/>
        </p:nvSpPr>
        <p:spPr>
          <a:xfrm>
            <a:off x="3429000" y="1417320"/>
            <a:ext cx="457200" cy="457200"/>
          </a:xfrm>
          <a:prstGeom prst="ellipse">
            <a:avLst/>
          </a:prstGeom>
          <a:solidFill>
            <a:srgbClr val="12735B"/>
          </a:solidFill>
          <a:ln/>
        </p:spPr>
      </p:sp>
      <p:pic>
        <p:nvPicPr>
          <p:cNvPr id="19" name="Image 1" descr="preencoded.png"/>
          <p:cNvPicPr>
            <a:picLocks noChangeAspect="1"/>
          </p:cNvPicPr>
          <p:nvPr/>
        </p:nvPicPr>
        <p:blipFill>
          <a:blip r:embed="rId4"/>
          <a:stretch>
            <a:fillRect/>
          </a:stretch>
        </p:blipFill>
        <p:spPr>
          <a:xfrm>
            <a:off x="3543300" y="1531620"/>
            <a:ext cx="228600" cy="228600"/>
          </a:xfrm>
          <a:prstGeom prst="rect">
            <a:avLst/>
          </a:prstGeom>
        </p:spPr>
      </p:pic>
      <p:sp>
        <p:nvSpPr>
          <p:cNvPr id="20" name="Text 15"/>
          <p:cNvSpPr txBox="1"/>
          <p:nvPr/>
        </p:nvSpPr>
        <p:spPr>
          <a:xfrm>
            <a:off x="4023360" y="1417320"/>
            <a:ext cx="1783080" cy="45720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AI career preparation</a:t>
            </a:r>
            <a:endParaRPr lang="en-US" sz="1300" dirty="0"/>
          </a:p>
        </p:txBody>
      </p:sp>
      <p:sp>
        <p:nvSpPr>
          <p:cNvPr id="21" name="Text 16"/>
          <p:cNvSpPr txBox="1"/>
          <p:nvPr/>
        </p:nvSpPr>
        <p:spPr>
          <a:xfrm>
            <a:off x="3429000" y="205740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CUSTOMER</a:t>
            </a:r>
            <a:endParaRPr lang="en-US" sz="950" dirty="0"/>
          </a:p>
        </p:txBody>
      </p:sp>
      <p:sp>
        <p:nvSpPr>
          <p:cNvPr id="22" name="Text 17"/>
          <p:cNvSpPr txBox="1"/>
          <p:nvPr/>
        </p:nvSpPr>
        <p:spPr>
          <a:xfrm>
            <a:off x="3429000" y="225856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University students and fresh graduates.</a:t>
            </a:r>
            <a:endParaRPr lang="en-US" sz="1050" dirty="0"/>
          </a:p>
        </p:txBody>
      </p:sp>
      <p:sp>
        <p:nvSpPr>
          <p:cNvPr id="23" name="Text 18"/>
          <p:cNvSpPr txBox="1"/>
          <p:nvPr/>
        </p:nvSpPr>
        <p:spPr>
          <a:xfrm>
            <a:off x="3429000" y="292608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MVP</a:t>
            </a:r>
            <a:endParaRPr lang="en-US" sz="950" dirty="0"/>
          </a:p>
        </p:txBody>
      </p:sp>
      <p:sp>
        <p:nvSpPr>
          <p:cNvPr id="24" name="Text 19"/>
          <p:cNvSpPr txBox="1"/>
          <p:nvPr/>
        </p:nvSpPr>
        <p:spPr>
          <a:xfrm>
            <a:off x="3429000" y="312724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Upload CV + job description → gap analysis, CV suggestions, mock interview, improvement plan.</a:t>
            </a:r>
            <a:endParaRPr lang="en-US" sz="1050" dirty="0"/>
          </a:p>
        </p:txBody>
      </p:sp>
      <p:sp>
        <p:nvSpPr>
          <p:cNvPr id="25" name="Text 20"/>
          <p:cNvSpPr txBox="1"/>
          <p:nvPr/>
        </p:nvSpPr>
        <p:spPr>
          <a:xfrm>
            <a:off x="3429000" y="379476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LATER</a:t>
            </a:r>
            <a:endParaRPr lang="en-US" sz="950" dirty="0"/>
          </a:p>
        </p:txBody>
      </p:sp>
      <p:sp>
        <p:nvSpPr>
          <p:cNvPr id="26" name="Text 21"/>
          <p:cNvSpPr txBox="1"/>
          <p:nvPr/>
        </p:nvSpPr>
        <p:spPr>
          <a:xfrm>
            <a:off x="3429000" y="399592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Job matching, skill-gap analysis, personalized learning plans.</a:t>
            </a:r>
            <a:endParaRPr lang="en-US" sz="1050" dirty="0"/>
          </a:p>
        </p:txBody>
      </p:sp>
      <p:sp>
        <p:nvSpPr>
          <p:cNvPr id="27" name="Shape 22"/>
          <p:cNvSpPr/>
          <p:nvPr/>
        </p:nvSpPr>
        <p:spPr>
          <a:xfrm>
            <a:off x="6035040" y="1280160"/>
            <a:ext cx="2651760" cy="3383280"/>
          </a:xfrm>
          <a:prstGeom prst="roundRect">
            <a:avLst>
              <a:gd name="adj" fmla="val 3448"/>
            </a:avLst>
          </a:prstGeom>
          <a:solidFill>
            <a:srgbClr val="FFFFFF"/>
          </a:solidFill>
          <a:ln/>
          <a:effectLst>
            <a:outerShdw blurRad="101600" dist="25400" dir="5400000" algn="bl" rotWithShape="0">
              <a:srgbClr val="000000">
                <a:alpha val="10000"/>
              </a:srgbClr>
            </a:outerShdw>
          </a:effectLst>
        </p:spPr>
      </p:sp>
      <p:sp>
        <p:nvSpPr>
          <p:cNvPr id="28" name="Shape 23"/>
          <p:cNvSpPr/>
          <p:nvPr/>
        </p:nvSpPr>
        <p:spPr>
          <a:xfrm>
            <a:off x="6217920" y="1417320"/>
            <a:ext cx="457200" cy="457200"/>
          </a:xfrm>
          <a:prstGeom prst="ellipse">
            <a:avLst/>
          </a:prstGeom>
          <a:solidFill>
            <a:srgbClr val="12735B"/>
          </a:solidFill>
          <a:ln/>
        </p:spPr>
      </p:sp>
      <p:pic>
        <p:nvPicPr>
          <p:cNvPr id="29" name="Image 2" descr="preencoded.png"/>
          <p:cNvPicPr>
            <a:picLocks noChangeAspect="1"/>
          </p:cNvPicPr>
          <p:nvPr/>
        </p:nvPicPr>
        <p:blipFill>
          <a:blip r:embed="rId5"/>
          <a:stretch>
            <a:fillRect/>
          </a:stretch>
        </p:blipFill>
        <p:spPr>
          <a:xfrm>
            <a:off x="6332220" y="1531620"/>
            <a:ext cx="228600" cy="228600"/>
          </a:xfrm>
          <a:prstGeom prst="rect">
            <a:avLst/>
          </a:prstGeom>
        </p:spPr>
      </p:pic>
      <p:sp>
        <p:nvSpPr>
          <p:cNvPr id="30" name="Text 24"/>
          <p:cNvSpPr txBox="1"/>
          <p:nvPr/>
        </p:nvSpPr>
        <p:spPr>
          <a:xfrm>
            <a:off x="6812280" y="1417320"/>
            <a:ext cx="1783080" cy="457200"/>
          </a:xfrm>
          <a:prstGeom prst="rect">
            <a:avLst/>
          </a:prstGeom>
          <a:noFill/>
          <a:ln/>
        </p:spPr>
        <p:txBody>
          <a:bodyPr wrap="square" lIns="0" tIns="0" rIns="0" bIns="0" rtlCol="0" anchor="ctr"/>
          <a:lstStyle/>
          <a:p>
            <a:pPr marL="0" indent="0" algn="l">
              <a:buNone/>
            </a:pPr>
            <a:r>
              <a:rPr lang="en-US" sz="1300" b="1" dirty="0">
                <a:solidFill>
                  <a:srgbClr val="0C2622"/>
                </a:solidFill>
                <a:latin typeface="Cambria" pitchFamily="34" charset="0"/>
                <a:ea typeface="Cambria" pitchFamily="34" charset="-122"/>
                <a:cs typeface="Cambria" pitchFamily="34" charset="-120"/>
              </a:rPr>
              <a:t>BI for small retailers</a:t>
            </a:r>
            <a:endParaRPr lang="en-US" sz="1300" dirty="0"/>
          </a:p>
        </p:txBody>
      </p:sp>
      <p:sp>
        <p:nvSpPr>
          <p:cNvPr id="31" name="Text 25"/>
          <p:cNvSpPr txBox="1"/>
          <p:nvPr/>
        </p:nvSpPr>
        <p:spPr>
          <a:xfrm>
            <a:off x="6217920" y="205740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CUSTOMER</a:t>
            </a:r>
            <a:endParaRPr lang="en-US" sz="950" dirty="0"/>
          </a:p>
        </p:txBody>
      </p:sp>
      <p:sp>
        <p:nvSpPr>
          <p:cNvPr id="32" name="Text 26"/>
          <p:cNvSpPr txBox="1"/>
          <p:nvPr/>
        </p:nvSpPr>
        <p:spPr>
          <a:xfrm>
            <a:off x="6217920" y="225856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Retail shops and distributors.</a:t>
            </a:r>
            <a:endParaRPr lang="en-US" sz="1050" dirty="0"/>
          </a:p>
        </p:txBody>
      </p:sp>
      <p:sp>
        <p:nvSpPr>
          <p:cNvPr id="33" name="Text 27"/>
          <p:cNvSpPr txBox="1"/>
          <p:nvPr/>
        </p:nvSpPr>
        <p:spPr>
          <a:xfrm>
            <a:off x="6217920" y="292608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INPUT</a:t>
            </a:r>
            <a:endParaRPr lang="en-US" sz="950" dirty="0"/>
          </a:p>
        </p:txBody>
      </p:sp>
      <p:sp>
        <p:nvSpPr>
          <p:cNvPr id="34" name="Text 28"/>
          <p:cNvSpPr txBox="1"/>
          <p:nvPr/>
        </p:nvSpPr>
        <p:spPr>
          <a:xfrm>
            <a:off x="6217920" y="312724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Daily sales, inventory and expenses.</a:t>
            </a:r>
            <a:endParaRPr lang="en-US" sz="1050" dirty="0"/>
          </a:p>
        </p:txBody>
      </p:sp>
      <p:sp>
        <p:nvSpPr>
          <p:cNvPr id="35" name="Text 29"/>
          <p:cNvSpPr txBox="1"/>
          <p:nvPr/>
        </p:nvSpPr>
        <p:spPr>
          <a:xfrm>
            <a:off x="6217920" y="3794760"/>
            <a:ext cx="2194560" cy="182880"/>
          </a:xfrm>
          <a:prstGeom prst="rect">
            <a:avLst/>
          </a:prstGeom>
          <a:noFill/>
          <a:ln/>
        </p:spPr>
        <p:txBody>
          <a:bodyPr wrap="square" lIns="0" tIns="0" rIns="0" bIns="0" rtlCol="0" anchor="t"/>
          <a:lstStyle/>
          <a:p>
            <a:pPr marL="0" indent="0" algn="l">
              <a:buNone/>
            </a:pPr>
            <a:r>
              <a:rPr lang="en-US" sz="950" b="1" kern="0" spc="150" dirty="0">
                <a:solidFill>
                  <a:srgbClr val="12735B"/>
                </a:solidFill>
                <a:latin typeface="Calibri" pitchFamily="34" charset="0"/>
                <a:ea typeface="Calibri" pitchFamily="34" charset="-122"/>
                <a:cs typeface="Calibri" pitchFamily="34" charset="-120"/>
              </a:rPr>
              <a:t>OUTPUT</a:t>
            </a:r>
            <a:endParaRPr lang="en-US" sz="950" dirty="0"/>
          </a:p>
        </p:txBody>
      </p:sp>
      <p:sp>
        <p:nvSpPr>
          <p:cNvPr id="36" name="Text 30"/>
          <p:cNvSpPr txBox="1"/>
          <p:nvPr/>
        </p:nvSpPr>
        <p:spPr>
          <a:xfrm>
            <a:off x="6217920" y="3995928"/>
            <a:ext cx="2331720" cy="6400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Daily summary, alerts, inventory warnings, weekly owner report — starting from spreadsheets.</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02920" y="411480"/>
            <a:ext cx="4572000" cy="1737360"/>
          </a:xfrm>
          <a:prstGeom prst="rect">
            <a:avLst/>
          </a:prstGeom>
          <a:noFill/>
          <a:ln/>
        </p:spPr>
        <p:txBody>
          <a:bodyPr wrap="square" lIns="0" tIns="0" rIns="0" bIns="0" rtlCol="0" anchor="t"/>
          <a:lstStyle/>
          <a:p>
            <a:pPr marL="0" indent="0" algn="l">
              <a:buNone/>
            </a:pPr>
            <a:r>
              <a:rPr lang="en-US" sz="11000" b="1" dirty="0">
                <a:solidFill>
                  <a:srgbClr val="17443B"/>
                </a:solidFill>
                <a:latin typeface="Cambria" pitchFamily="34" charset="0"/>
                <a:ea typeface="Cambria" pitchFamily="34" charset="-122"/>
                <a:cs typeface="Cambria" pitchFamily="34" charset="-120"/>
              </a:rPr>
              <a:t>★</a:t>
            </a:r>
            <a:endParaRPr lang="en-US" sz="11000" dirty="0"/>
          </a:p>
        </p:txBody>
      </p:sp>
      <p:sp>
        <p:nvSpPr>
          <p:cNvPr id="4" name="Text 1"/>
          <p:cNvSpPr txBox="1"/>
          <p:nvPr/>
        </p:nvSpPr>
        <p:spPr>
          <a:xfrm>
            <a:off x="640080" y="2286000"/>
            <a:ext cx="54864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THE FINAL CAPSTONE</a:t>
            </a:r>
            <a:endParaRPr lang="en-US" sz="1100" dirty="0"/>
          </a:p>
        </p:txBody>
      </p:sp>
      <p:sp>
        <p:nvSpPr>
          <p:cNvPr id="5" name="Text 2"/>
          <p:cNvSpPr txBox="1"/>
          <p:nvPr/>
        </p:nvSpPr>
        <p:spPr>
          <a:xfrm>
            <a:off x="640080" y="2606040"/>
            <a:ext cx="6035040" cy="11430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The AI Venture Challenge</a:t>
            </a:r>
            <a:endParaRPr lang="en-US" sz="3600" dirty="0"/>
          </a:p>
        </p:txBody>
      </p:sp>
      <p:sp>
        <p:nvSpPr>
          <p:cNvPr id="6" name="Text 3"/>
          <p:cNvSpPr txBox="1"/>
          <p:nvPr/>
        </p:nvSpPr>
        <p:spPr>
          <a:xfrm>
            <a:off x="640080" y="3355848"/>
            <a:ext cx="6035040" cy="914400"/>
          </a:xfrm>
          <a:prstGeom prst="rect">
            <a:avLst/>
          </a:prstGeom>
          <a:noFill/>
          <a:ln/>
        </p:spPr>
        <p:txBody>
          <a:bodyPr wrap="square" lIns="0" tIns="0" rIns="0" bIns="0" rtlCol="0" anchor="t"/>
          <a:lstStyle/>
          <a:p>
            <a:pPr marL="0" indent="0" algn="l">
              <a:buNone/>
            </a:pPr>
            <a:r>
              <a:rPr lang="en-US" sz="1700" i="1" dirty="0">
                <a:solidFill>
                  <a:srgbClr val="DFF1EA"/>
                </a:solidFill>
                <a:latin typeface="Calibri" pitchFamily="34" charset="0"/>
                <a:ea typeface="Calibri" pitchFamily="34" charset="-122"/>
                <a:cs typeface="Calibri" pitchFamily="34" charset="-120"/>
              </a:rPr>
              <a:t>Students must launch — not merely pitch.</a:t>
            </a:r>
            <a:endParaRPr lang="en-US" sz="1700" dirty="0"/>
          </a:p>
        </p:txBody>
      </p:sp>
      <p:sp>
        <p:nvSpPr>
          <p:cNvPr id="7" name="Shape 4"/>
          <p:cNvSpPr/>
          <p:nvPr/>
        </p:nvSpPr>
        <p:spPr>
          <a:xfrm>
            <a:off x="6720840" y="868680"/>
            <a:ext cx="1828800" cy="182880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7223760" y="1371600"/>
            <a:ext cx="822960" cy="822960"/>
          </a:xfrm>
          <a:prstGeom prst="rect">
            <a:avLst/>
          </a:prstGeom>
        </p:spPr>
      </p:pic>
      <p:sp>
        <p:nvSpPr>
          <p:cNvPr id="9" name="Text 5"/>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CAPSTONE</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Fifteen deliverables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58</a:t>
            </a:r>
            <a:endParaRPr lang="en-US" sz="900" dirty="0"/>
          </a:p>
        </p:txBody>
      </p:sp>
      <p:sp>
        <p:nvSpPr>
          <p:cNvPr id="7" name="Shape 4"/>
          <p:cNvSpPr/>
          <p:nvPr/>
        </p:nvSpPr>
        <p:spPr>
          <a:xfrm>
            <a:off x="457200" y="1280160"/>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548640" y="1399032"/>
            <a:ext cx="365760" cy="365760"/>
          </a:xfrm>
          <a:prstGeom prst="ellipse">
            <a:avLst/>
          </a:prstGeom>
          <a:solidFill>
            <a:srgbClr val="1E9A7A"/>
          </a:solidFill>
          <a:ln/>
        </p:spPr>
      </p:sp>
      <p:sp>
        <p:nvSpPr>
          <p:cNvPr id="9" name="Text 6"/>
          <p:cNvSpPr txBox="1"/>
          <p:nvPr/>
        </p:nvSpPr>
        <p:spPr>
          <a:xfrm>
            <a:off x="548640" y="139903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1024128" y="1335024"/>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Customer definition</a:t>
            </a:r>
            <a:endParaRPr lang="en-US" sz="1150" dirty="0"/>
          </a:p>
        </p:txBody>
      </p:sp>
      <p:sp>
        <p:nvSpPr>
          <p:cNvPr id="11" name="Text 8"/>
          <p:cNvSpPr txBox="1"/>
          <p:nvPr/>
        </p:nvSpPr>
        <p:spPr>
          <a:xfrm>
            <a:off x="1024128" y="1591056"/>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A clear ICP</a:t>
            </a:r>
            <a:endParaRPr lang="en-US" sz="950" dirty="0"/>
          </a:p>
        </p:txBody>
      </p:sp>
      <p:sp>
        <p:nvSpPr>
          <p:cNvPr id="12" name="Shape 9"/>
          <p:cNvSpPr/>
          <p:nvPr/>
        </p:nvSpPr>
        <p:spPr>
          <a:xfrm>
            <a:off x="457200" y="1956816"/>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13" name="Shape 10"/>
          <p:cNvSpPr/>
          <p:nvPr/>
        </p:nvSpPr>
        <p:spPr>
          <a:xfrm>
            <a:off x="548640" y="2075688"/>
            <a:ext cx="365760" cy="365760"/>
          </a:xfrm>
          <a:prstGeom prst="ellipse">
            <a:avLst/>
          </a:prstGeom>
          <a:solidFill>
            <a:srgbClr val="1E9A7A"/>
          </a:solidFill>
          <a:ln/>
        </p:spPr>
      </p:sp>
      <p:sp>
        <p:nvSpPr>
          <p:cNvPr id="14" name="Text 11"/>
          <p:cNvSpPr txBox="1"/>
          <p:nvPr/>
        </p:nvSpPr>
        <p:spPr>
          <a:xfrm>
            <a:off x="548640" y="20756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1024128" y="2011680"/>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Problem evidence</a:t>
            </a:r>
            <a:endParaRPr lang="en-US" sz="1150" dirty="0"/>
          </a:p>
        </p:txBody>
      </p:sp>
      <p:sp>
        <p:nvSpPr>
          <p:cNvPr id="16" name="Text 13"/>
          <p:cNvSpPr txBox="1"/>
          <p:nvPr/>
        </p:nvSpPr>
        <p:spPr>
          <a:xfrm>
            <a:off x="1024128" y="2267712"/>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Genuine primary research</a:t>
            </a:r>
            <a:endParaRPr lang="en-US" sz="950" dirty="0"/>
          </a:p>
        </p:txBody>
      </p:sp>
      <p:sp>
        <p:nvSpPr>
          <p:cNvPr id="17" name="Shape 14"/>
          <p:cNvSpPr/>
          <p:nvPr/>
        </p:nvSpPr>
        <p:spPr>
          <a:xfrm>
            <a:off x="457200" y="2633472"/>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18" name="Shape 15"/>
          <p:cNvSpPr/>
          <p:nvPr/>
        </p:nvSpPr>
        <p:spPr>
          <a:xfrm>
            <a:off x="548640" y="2752344"/>
            <a:ext cx="365760" cy="365760"/>
          </a:xfrm>
          <a:prstGeom prst="ellipse">
            <a:avLst/>
          </a:prstGeom>
          <a:solidFill>
            <a:srgbClr val="1E9A7A"/>
          </a:solidFill>
          <a:ln/>
        </p:spPr>
      </p:sp>
      <p:sp>
        <p:nvSpPr>
          <p:cNvPr id="19" name="Text 16"/>
          <p:cNvSpPr txBox="1"/>
          <p:nvPr/>
        </p:nvSpPr>
        <p:spPr>
          <a:xfrm>
            <a:off x="548640" y="275234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1024128" y="2688336"/>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Market evidence</a:t>
            </a:r>
            <a:endParaRPr lang="en-US" sz="1150" dirty="0"/>
          </a:p>
        </p:txBody>
      </p:sp>
      <p:sp>
        <p:nvSpPr>
          <p:cNvPr id="21" name="Text 18"/>
          <p:cNvSpPr txBox="1"/>
          <p:nvPr/>
        </p:nvSpPr>
        <p:spPr>
          <a:xfrm>
            <a:off x="1024128" y="2944368"/>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Competitors, alternatives, pricing</a:t>
            </a:r>
            <a:endParaRPr lang="en-US" sz="950" dirty="0"/>
          </a:p>
        </p:txBody>
      </p:sp>
      <p:sp>
        <p:nvSpPr>
          <p:cNvPr id="22" name="Shape 19"/>
          <p:cNvSpPr/>
          <p:nvPr/>
        </p:nvSpPr>
        <p:spPr>
          <a:xfrm>
            <a:off x="457200" y="3310128"/>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23" name="Shape 20"/>
          <p:cNvSpPr/>
          <p:nvPr/>
        </p:nvSpPr>
        <p:spPr>
          <a:xfrm>
            <a:off x="548640" y="3429000"/>
            <a:ext cx="365760" cy="365760"/>
          </a:xfrm>
          <a:prstGeom prst="ellipse">
            <a:avLst/>
          </a:prstGeom>
          <a:solidFill>
            <a:srgbClr val="1E9A7A"/>
          </a:solidFill>
          <a:ln/>
        </p:spPr>
      </p:sp>
      <p:sp>
        <p:nvSpPr>
          <p:cNvPr id="24" name="Text 21"/>
          <p:cNvSpPr txBox="1"/>
          <p:nvPr/>
        </p:nvSpPr>
        <p:spPr>
          <a:xfrm>
            <a:off x="548640" y="34290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1024128" y="3364992"/>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Validation record</a:t>
            </a:r>
            <a:endParaRPr lang="en-US" sz="1150" dirty="0"/>
          </a:p>
        </p:txBody>
      </p:sp>
      <p:sp>
        <p:nvSpPr>
          <p:cNvPr id="26" name="Text 23"/>
          <p:cNvSpPr txBox="1"/>
          <p:nvPr/>
        </p:nvSpPr>
        <p:spPr>
          <a:xfrm>
            <a:off x="1024128" y="3621024"/>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What assumptions were tested?</a:t>
            </a:r>
            <a:endParaRPr lang="en-US" sz="950" dirty="0"/>
          </a:p>
        </p:txBody>
      </p:sp>
      <p:sp>
        <p:nvSpPr>
          <p:cNvPr id="27" name="Shape 24"/>
          <p:cNvSpPr/>
          <p:nvPr/>
        </p:nvSpPr>
        <p:spPr>
          <a:xfrm>
            <a:off x="457200" y="3986784"/>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28" name="Shape 25"/>
          <p:cNvSpPr/>
          <p:nvPr/>
        </p:nvSpPr>
        <p:spPr>
          <a:xfrm>
            <a:off x="548640" y="4105656"/>
            <a:ext cx="365760" cy="365760"/>
          </a:xfrm>
          <a:prstGeom prst="ellipse">
            <a:avLst/>
          </a:prstGeom>
          <a:solidFill>
            <a:srgbClr val="1E9A7A"/>
          </a:solidFill>
          <a:ln/>
        </p:spPr>
      </p:sp>
      <p:sp>
        <p:nvSpPr>
          <p:cNvPr id="29" name="Text 26"/>
          <p:cNvSpPr txBox="1"/>
          <p:nvPr/>
        </p:nvSpPr>
        <p:spPr>
          <a:xfrm>
            <a:off x="548640" y="41056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1024128" y="4041648"/>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MVP</a:t>
            </a:r>
            <a:endParaRPr lang="en-US" sz="1150" dirty="0"/>
          </a:p>
        </p:txBody>
      </p:sp>
      <p:sp>
        <p:nvSpPr>
          <p:cNvPr id="31" name="Text 28"/>
          <p:cNvSpPr txBox="1"/>
          <p:nvPr/>
        </p:nvSpPr>
        <p:spPr>
          <a:xfrm>
            <a:off x="1024128" y="4297680"/>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Something the instructor can experience</a:t>
            </a:r>
            <a:endParaRPr lang="en-US" sz="950" dirty="0"/>
          </a:p>
        </p:txBody>
      </p:sp>
      <p:sp>
        <p:nvSpPr>
          <p:cNvPr id="32" name="Shape 29"/>
          <p:cNvSpPr/>
          <p:nvPr/>
        </p:nvSpPr>
        <p:spPr>
          <a:xfrm>
            <a:off x="3246120" y="1280160"/>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33" name="Shape 30"/>
          <p:cNvSpPr/>
          <p:nvPr/>
        </p:nvSpPr>
        <p:spPr>
          <a:xfrm>
            <a:off x="3337560" y="1399032"/>
            <a:ext cx="365760" cy="365760"/>
          </a:xfrm>
          <a:prstGeom prst="ellipse">
            <a:avLst/>
          </a:prstGeom>
          <a:solidFill>
            <a:srgbClr val="12735B"/>
          </a:solidFill>
          <a:ln/>
        </p:spPr>
      </p:sp>
      <p:sp>
        <p:nvSpPr>
          <p:cNvPr id="34" name="Text 31"/>
          <p:cNvSpPr txBox="1"/>
          <p:nvPr/>
        </p:nvSpPr>
        <p:spPr>
          <a:xfrm>
            <a:off x="3337560" y="139903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3813048" y="1335024"/>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Business model</a:t>
            </a:r>
            <a:endParaRPr lang="en-US" sz="1150" dirty="0"/>
          </a:p>
        </p:txBody>
      </p:sp>
      <p:sp>
        <p:nvSpPr>
          <p:cNvPr id="36" name="Text 33"/>
          <p:cNvSpPr txBox="1"/>
          <p:nvPr/>
        </p:nvSpPr>
        <p:spPr>
          <a:xfrm>
            <a:off x="3813048" y="1591056"/>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How will money be made?</a:t>
            </a:r>
            <a:endParaRPr lang="en-US" sz="950" dirty="0"/>
          </a:p>
        </p:txBody>
      </p:sp>
      <p:sp>
        <p:nvSpPr>
          <p:cNvPr id="37" name="Shape 34"/>
          <p:cNvSpPr/>
          <p:nvPr/>
        </p:nvSpPr>
        <p:spPr>
          <a:xfrm>
            <a:off x="3246120" y="1956816"/>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38" name="Shape 35"/>
          <p:cNvSpPr/>
          <p:nvPr/>
        </p:nvSpPr>
        <p:spPr>
          <a:xfrm>
            <a:off x="3337560" y="2075688"/>
            <a:ext cx="365760" cy="365760"/>
          </a:xfrm>
          <a:prstGeom prst="ellipse">
            <a:avLst/>
          </a:prstGeom>
          <a:solidFill>
            <a:srgbClr val="12735B"/>
          </a:solidFill>
          <a:ln/>
        </p:spPr>
      </p:sp>
      <p:sp>
        <p:nvSpPr>
          <p:cNvPr id="39" name="Text 36"/>
          <p:cNvSpPr txBox="1"/>
          <p:nvPr/>
        </p:nvSpPr>
        <p:spPr>
          <a:xfrm>
            <a:off x="3337560" y="20756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Text 37"/>
          <p:cNvSpPr txBox="1"/>
          <p:nvPr/>
        </p:nvSpPr>
        <p:spPr>
          <a:xfrm>
            <a:off x="3813048" y="2011680"/>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Pricing</a:t>
            </a:r>
            <a:endParaRPr lang="en-US" sz="1150" dirty="0"/>
          </a:p>
        </p:txBody>
      </p:sp>
      <p:sp>
        <p:nvSpPr>
          <p:cNvPr id="41" name="Text 38"/>
          <p:cNvSpPr txBox="1"/>
          <p:nvPr/>
        </p:nvSpPr>
        <p:spPr>
          <a:xfrm>
            <a:off x="3813048" y="2267712"/>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A price or pricing hypothesis</a:t>
            </a:r>
            <a:endParaRPr lang="en-US" sz="950" dirty="0"/>
          </a:p>
        </p:txBody>
      </p:sp>
      <p:sp>
        <p:nvSpPr>
          <p:cNvPr id="42" name="Shape 39"/>
          <p:cNvSpPr/>
          <p:nvPr/>
        </p:nvSpPr>
        <p:spPr>
          <a:xfrm>
            <a:off x="3246120" y="2633472"/>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43" name="Shape 40"/>
          <p:cNvSpPr/>
          <p:nvPr/>
        </p:nvSpPr>
        <p:spPr>
          <a:xfrm>
            <a:off x="3337560" y="2752344"/>
            <a:ext cx="365760" cy="365760"/>
          </a:xfrm>
          <a:prstGeom prst="ellipse">
            <a:avLst/>
          </a:prstGeom>
          <a:solidFill>
            <a:srgbClr val="12735B"/>
          </a:solidFill>
          <a:ln/>
        </p:spPr>
      </p:sp>
      <p:sp>
        <p:nvSpPr>
          <p:cNvPr id="44" name="Text 41"/>
          <p:cNvSpPr txBox="1"/>
          <p:nvPr/>
        </p:nvSpPr>
        <p:spPr>
          <a:xfrm>
            <a:off x="3337560" y="275234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5" name="Text 42"/>
          <p:cNvSpPr txBox="1"/>
          <p:nvPr/>
        </p:nvSpPr>
        <p:spPr>
          <a:xfrm>
            <a:off x="3813048" y="2688336"/>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Value proposition</a:t>
            </a:r>
            <a:endParaRPr lang="en-US" sz="1150" dirty="0"/>
          </a:p>
        </p:txBody>
      </p:sp>
      <p:sp>
        <p:nvSpPr>
          <p:cNvPr id="46" name="Text 43"/>
          <p:cNvSpPr txBox="1"/>
          <p:nvPr/>
        </p:nvSpPr>
        <p:spPr>
          <a:xfrm>
            <a:off x="3813048" y="2944368"/>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Clear customer-facing message</a:t>
            </a:r>
            <a:endParaRPr lang="en-US" sz="950" dirty="0"/>
          </a:p>
        </p:txBody>
      </p:sp>
      <p:sp>
        <p:nvSpPr>
          <p:cNvPr id="47" name="Shape 44"/>
          <p:cNvSpPr/>
          <p:nvPr/>
        </p:nvSpPr>
        <p:spPr>
          <a:xfrm>
            <a:off x="3246120" y="3310128"/>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48" name="Shape 45"/>
          <p:cNvSpPr/>
          <p:nvPr/>
        </p:nvSpPr>
        <p:spPr>
          <a:xfrm>
            <a:off x="3337560" y="3429000"/>
            <a:ext cx="365760" cy="365760"/>
          </a:xfrm>
          <a:prstGeom prst="ellipse">
            <a:avLst/>
          </a:prstGeom>
          <a:solidFill>
            <a:srgbClr val="12735B"/>
          </a:solidFill>
          <a:ln/>
        </p:spPr>
      </p:sp>
      <p:sp>
        <p:nvSpPr>
          <p:cNvPr id="49" name="Text 46"/>
          <p:cNvSpPr txBox="1"/>
          <p:nvPr/>
        </p:nvSpPr>
        <p:spPr>
          <a:xfrm>
            <a:off x="3337560" y="34290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0" name="Text 47"/>
          <p:cNvSpPr txBox="1"/>
          <p:nvPr/>
        </p:nvSpPr>
        <p:spPr>
          <a:xfrm>
            <a:off x="3813048" y="3364992"/>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Landing page</a:t>
            </a:r>
            <a:endParaRPr lang="en-US" sz="1150" dirty="0"/>
          </a:p>
        </p:txBody>
      </p:sp>
      <p:sp>
        <p:nvSpPr>
          <p:cNvPr id="51" name="Text 48"/>
          <p:cNvSpPr txBox="1"/>
          <p:nvPr/>
        </p:nvSpPr>
        <p:spPr>
          <a:xfrm>
            <a:off x="3813048" y="3621024"/>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Working or realistic prototype</a:t>
            </a:r>
            <a:endParaRPr lang="en-US" sz="950" dirty="0"/>
          </a:p>
        </p:txBody>
      </p:sp>
      <p:sp>
        <p:nvSpPr>
          <p:cNvPr id="52" name="Shape 49"/>
          <p:cNvSpPr/>
          <p:nvPr/>
        </p:nvSpPr>
        <p:spPr>
          <a:xfrm>
            <a:off x="3246120" y="3986784"/>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53" name="Shape 50"/>
          <p:cNvSpPr/>
          <p:nvPr/>
        </p:nvSpPr>
        <p:spPr>
          <a:xfrm>
            <a:off x="3337560" y="4105656"/>
            <a:ext cx="365760" cy="365760"/>
          </a:xfrm>
          <a:prstGeom prst="ellipse">
            <a:avLst/>
          </a:prstGeom>
          <a:solidFill>
            <a:srgbClr val="12735B"/>
          </a:solidFill>
          <a:ln/>
        </p:spPr>
      </p:sp>
      <p:sp>
        <p:nvSpPr>
          <p:cNvPr id="54" name="Text 51"/>
          <p:cNvSpPr txBox="1"/>
          <p:nvPr/>
        </p:nvSpPr>
        <p:spPr>
          <a:xfrm>
            <a:off x="3337560" y="41056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5" name="Text 52"/>
          <p:cNvSpPr txBox="1"/>
          <p:nvPr/>
        </p:nvSpPr>
        <p:spPr>
          <a:xfrm>
            <a:off x="3813048" y="4041648"/>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GTM strategy</a:t>
            </a:r>
            <a:endParaRPr lang="en-US" sz="1150" dirty="0"/>
          </a:p>
        </p:txBody>
      </p:sp>
      <p:sp>
        <p:nvSpPr>
          <p:cNvPr id="56" name="Text 53"/>
          <p:cNvSpPr txBox="1"/>
          <p:nvPr/>
        </p:nvSpPr>
        <p:spPr>
          <a:xfrm>
            <a:off x="3813048" y="4297680"/>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The first 90 days</a:t>
            </a:r>
            <a:endParaRPr lang="en-US" sz="950" dirty="0"/>
          </a:p>
        </p:txBody>
      </p:sp>
      <p:sp>
        <p:nvSpPr>
          <p:cNvPr id="57" name="Shape 54"/>
          <p:cNvSpPr/>
          <p:nvPr/>
        </p:nvSpPr>
        <p:spPr>
          <a:xfrm>
            <a:off x="6035040" y="1280160"/>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58" name="Shape 55"/>
          <p:cNvSpPr/>
          <p:nvPr/>
        </p:nvSpPr>
        <p:spPr>
          <a:xfrm>
            <a:off x="6126480" y="1399032"/>
            <a:ext cx="365760" cy="365760"/>
          </a:xfrm>
          <a:prstGeom prst="ellipse">
            <a:avLst/>
          </a:prstGeom>
          <a:solidFill>
            <a:srgbClr val="0C2622"/>
          </a:solidFill>
          <a:ln/>
        </p:spPr>
      </p:sp>
      <p:sp>
        <p:nvSpPr>
          <p:cNvPr id="59" name="Text 56"/>
          <p:cNvSpPr txBox="1"/>
          <p:nvPr/>
        </p:nvSpPr>
        <p:spPr>
          <a:xfrm>
            <a:off x="6126480" y="139903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0" name="Text 57"/>
          <p:cNvSpPr txBox="1"/>
          <p:nvPr/>
        </p:nvSpPr>
        <p:spPr>
          <a:xfrm>
            <a:off x="6601968" y="1335024"/>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First-10-customers plan</a:t>
            </a:r>
            <a:endParaRPr lang="en-US" sz="1150" dirty="0"/>
          </a:p>
        </p:txBody>
      </p:sp>
      <p:sp>
        <p:nvSpPr>
          <p:cNvPr id="61" name="Text 58"/>
          <p:cNvSpPr txBox="1"/>
          <p:nvPr/>
        </p:nvSpPr>
        <p:spPr>
          <a:xfrm>
            <a:off x="6601968" y="1591056"/>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Exactly where they come from</a:t>
            </a:r>
            <a:endParaRPr lang="en-US" sz="950" dirty="0"/>
          </a:p>
        </p:txBody>
      </p:sp>
      <p:sp>
        <p:nvSpPr>
          <p:cNvPr id="62" name="Shape 59"/>
          <p:cNvSpPr/>
          <p:nvPr/>
        </p:nvSpPr>
        <p:spPr>
          <a:xfrm>
            <a:off x="6035040" y="1956816"/>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63" name="Shape 60"/>
          <p:cNvSpPr/>
          <p:nvPr/>
        </p:nvSpPr>
        <p:spPr>
          <a:xfrm>
            <a:off x="6126480" y="2075688"/>
            <a:ext cx="365760" cy="365760"/>
          </a:xfrm>
          <a:prstGeom prst="ellipse">
            <a:avLst/>
          </a:prstGeom>
          <a:solidFill>
            <a:srgbClr val="0C2622"/>
          </a:solidFill>
          <a:ln/>
        </p:spPr>
      </p:sp>
      <p:sp>
        <p:nvSpPr>
          <p:cNvPr id="64" name="Text 61"/>
          <p:cNvSpPr txBox="1"/>
          <p:nvPr/>
        </p:nvSpPr>
        <p:spPr>
          <a:xfrm>
            <a:off x="6126480" y="20756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65" name="Text 62"/>
          <p:cNvSpPr txBox="1"/>
          <p:nvPr/>
        </p:nvSpPr>
        <p:spPr>
          <a:xfrm>
            <a:off x="6601968" y="2011680"/>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AI work stack</a:t>
            </a:r>
            <a:endParaRPr lang="en-US" sz="1150" dirty="0"/>
          </a:p>
        </p:txBody>
      </p:sp>
      <p:sp>
        <p:nvSpPr>
          <p:cNvPr id="66" name="Text 63"/>
          <p:cNvSpPr txBox="1"/>
          <p:nvPr/>
        </p:nvSpPr>
        <p:spPr>
          <a:xfrm>
            <a:off x="6601968" y="2267712"/>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Which tools do which jobs?</a:t>
            </a:r>
            <a:endParaRPr lang="en-US" sz="950" dirty="0"/>
          </a:p>
        </p:txBody>
      </p:sp>
      <p:sp>
        <p:nvSpPr>
          <p:cNvPr id="67" name="Shape 64"/>
          <p:cNvSpPr/>
          <p:nvPr/>
        </p:nvSpPr>
        <p:spPr>
          <a:xfrm>
            <a:off x="6035040" y="2633472"/>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68" name="Shape 65"/>
          <p:cNvSpPr/>
          <p:nvPr/>
        </p:nvSpPr>
        <p:spPr>
          <a:xfrm>
            <a:off x="6126480" y="2752344"/>
            <a:ext cx="365760" cy="365760"/>
          </a:xfrm>
          <a:prstGeom prst="ellipse">
            <a:avLst/>
          </a:prstGeom>
          <a:solidFill>
            <a:srgbClr val="0C2622"/>
          </a:solidFill>
          <a:ln/>
        </p:spPr>
      </p:sp>
      <p:sp>
        <p:nvSpPr>
          <p:cNvPr id="69" name="Text 66"/>
          <p:cNvSpPr txBox="1"/>
          <p:nvPr/>
        </p:nvSpPr>
        <p:spPr>
          <a:xfrm>
            <a:off x="6126480" y="275234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70" name="Text 67"/>
          <p:cNvSpPr txBox="1"/>
          <p:nvPr/>
        </p:nvSpPr>
        <p:spPr>
          <a:xfrm>
            <a:off x="6601968" y="2688336"/>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MCP / integration architecture</a:t>
            </a:r>
            <a:endParaRPr lang="en-US" sz="1150" dirty="0"/>
          </a:p>
        </p:txBody>
      </p:sp>
      <p:sp>
        <p:nvSpPr>
          <p:cNvPr id="71" name="Text 68"/>
          <p:cNvSpPr txBox="1"/>
          <p:nvPr/>
        </p:nvSpPr>
        <p:spPr>
          <a:xfrm>
            <a:off x="6601968" y="2944368"/>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How AI connects to systems</a:t>
            </a:r>
            <a:endParaRPr lang="en-US" sz="950" dirty="0"/>
          </a:p>
        </p:txBody>
      </p:sp>
      <p:sp>
        <p:nvSpPr>
          <p:cNvPr id="72" name="Shape 69"/>
          <p:cNvSpPr/>
          <p:nvPr/>
        </p:nvSpPr>
        <p:spPr>
          <a:xfrm>
            <a:off x="6035040" y="3310128"/>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73" name="Shape 70"/>
          <p:cNvSpPr/>
          <p:nvPr/>
        </p:nvSpPr>
        <p:spPr>
          <a:xfrm>
            <a:off x="6126480" y="3429000"/>
            <a:ext cx="365760" cy="365760"/>
          </a:xfrm>
          <a:prstGeom prst="ellipse">
            <a:avLst/>
          </a:prstGeom>
          <a:solidFill>
            <a:srgbClr val="0C2622"/>
          </a:solidFill>
          <a:ln/>
        </p:spPr>
      </p:sp>
      <p:sp>
        <p:nvSpPr>
          <p:cNvPr id="74" name="Text 71"/>
          <p:cNvSpPr txBox="1"/>
          <p:nvPr/>
        </p:nvSpPr>
        <p:spPr>
          <a:xfrm>
            <a:off x="6126480" y="34290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75" name="Text 72"/>
          <p:cNvSpPr txBox="1"/>
          <p:nvPr/>
        </p:nvSpPr>
        <p:spPr>
          <a:xfrm>
            <a:off x="6601968" y="3364992"/>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Automation roadmap</a:t>
            </a:r>
            <a:endParaRPr lang="en-US" sz="1150" dirty="0"/>
          </a:p>
        </p:txBody>
      </p:sp>
      <p:sp>
        <p:nvSpPr>
          <p:cNvPr id="76" name="Text 73"/>
          <p:cNvSpPr txBox="1"/>
          <p:nvPr/>
        </p:nvSpPr>
        <p:spPr>
          <a:xfrm>
            <a:off x="6601968" y="3621024"/>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What is automated after validation?</a:t>
            </a:r>
            <a:endParaRPr lang="en-US" sz="950" dirty="0"/>
          </a:p>
        </p:txBody>
      </p:sp>
      <p:sp>
        <p:nvSpPr>
          <p:cNvPr id="77" name="Shape 74"/>
          <p:cNvSpPr/>
          <p:nvPr/>
        </p:nvSpPr>
        <p:spPr>
          <a:xfrm>
            <a:off x="6035040" y="3986784"/>
            <a:ext cx="2651760" cy="594360"/>
          </a:xfrm>
          <a:prstGeom prst="roundRect">
            <a:avLst>
              <a:gd name="adj" fmla="val 15385"/>
            </a:avLst>
          </a:prstGeom>
          <a:solidFill>
            <a:srgbClr val="FFFFFF"/>
          </a:solidFill>
          <a:ln/>
          <a:effectLst>
            <a:outerShdw blurRad="101600" dist="25400" dir="5400000" algn="bl" rotWithShape="0">
              <a:srgbClr val="000000">
                <a:alpha val="10000"/>
              </a:srgbClr>
            </a:outerShdw>
          </a:effectLst>
        </p:spPr>
      </p:sp>
      <p:sp>
        <p:nvSpPr>
          <p:cNvPr id="78" name="Shape 75"/>
          <p:cNvSpPr/>
          <p:nvPr/>
        </p:nvSpPr>
        <p:spPr>
          <a:xfrm>
            <a:off x="6126480" y="4105656"/>
            <a:ext cx="365760" cy="365760"/>
          </a:xfrm>
          <a:prstGeom prst="ellipse">
            <a:avLst/>
          </a:prstGeom>
          <a:solidFill>
            <a:srgbClr val="0C2622"/>
          </a:solidFill>
          <a:ln/>
        </p:spPr>
      </p:sp>
      <p:sp>
        <p:nvSpPr>
          <p:cNvPr id="79" name="Text 76"/>
          <p:cNvSpPr txBox="1"/>
          <p:nvPr/>
        </p:nvSpPr>
        <p:spPr>
          <a:xfrm>
            <a:off x="6126480" y="41056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80" name="Text 77"/>
          <p:cNvSpPr txBox="1"/>
          <p:nvPr/>
        </p:nvSpPr>
        <p:spPr>
          <a:xfrm>
            <a:off x="6601968" y="4041648"/>
            <a:ext cx="2029968" cy="274320"/>
          </a:xfrm>
          <a:prstGeom prst="rect">
            <a:avLst/>
          </a:prstGeom>
          <a:noFill/>
          <a:ln/>
        </p:spPr>
        <p:txBody>
          <a:bodyPr wrap="square" lIns="0" tIns="0" rIns="0" bIns="0" rtlCol="0" anchor="t"/>
          <a:lstStyle/>
          <a:p>
            <a:pPr marL="0" indent="0" algn="l">
              <a:buNone/>
            </a:pPr>
            <a:r>
              <a:rPr lang="en-US" sz="1150" b="1" dirty="0">
                <a:solidFill>
                  <a:srgbClr val="0C2622"/>
                </a:solidFill>
                <a:latin typeface="Calibri" pitchFamily="34" charset="0"/>
                <a:ea typeface="Calibri" pitchFamily="34" charset="-122"/>
                <a:cs typeface="Calibri" pitchFamily="34" charset="-120"/>
              </a:rPr>
              <a:t>Metrics dashboard</a:t>
            </a:r>
            <a:endParaRPr lang="en-US" sz="1150" dirty="0"/>
          </a:p>
        </p:txBody>
      </p:sp>
      <p:sp>
        <p:nvSpPr>
          <p:cNvPr id="81" name="Text 78"/>
          <p:cNvSpPr txBox="1"/>
          <p:nvPr/>
        </p:nvSpPr>
        <p:spPr>
          <a:xfrm>
            <a:off x="6601968" y="4297680"/>
            <a:ext cx="2029968" cy="256032"/>
          </a:xfrm>
          <a:prstGeom prst="rect">
            <a:avLst/>
          </a:prstGeom>
          <a:noFill/>
          <a:ln/>
        </p:spPr>
        <p:txBody>
          <a:bodyPr wrap="square" lIns="0" tIns="0" rIns="0" bIns="0" rtlCol="0" anchor="t"/>
          <a:lstStyle/>
          <a:p>
            <a:pPr marL="0" indent="0" algn="l">
              <a:buNone/>
            </a:pPr>
            <a:r>
              <a:rPr lang="en-US" sz="950" dirty="0">
                <a:solidFill>
                  <a:srgbClr val="587068"/>
                </a:solidFill>
                <a:latin typeface="Calibri" pitchFamily="34" charset="0"/>
                <a:ea typeface="Calibri" pitchFamily="34" charset="-122"/>
                <a:cs typeface="Calibri" pitchFamily="34" charset="-120"/>
              </a:rPr>
              <a:t>What shows it’s working?</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CAPSTONE</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Capstone presentation</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59</a:t>
            </a:r>
            <a:endParaRPr lang="en-US" sz="900" dirty="0"/>
          </a:p>
        </p:txBody>
      </p:sp>
      <p:sp>
        <p:nvSpPr>
          <p:cNvPr id="7" name="Shape 4"/>
          <p:cNvSpPr/>
          <p:nvPr/>
        </p:nvSpPr>
        <p:spPr>
          <a:xfrm>
            <a:off x="457200" y="1280160"/>
            <a:ext cx="2651760" cy="1508760"/>
          </a:xfrm>
          <a:prstGeom prst="roundRect">
            <a:avLst>
              <a:gd name="adj" fmla="val 6061"/>
            </a:avLst>
          </a:prstGeom>
          <a:solidFill>
            <a:srgbClr val="0C2622"/>
          </a:solidFill>
          <a:ln/>
          <a:effectLst>
            <a:outerShdw blurRad="101600" dist="25400" dir="5400000" algn="bl" rotWithShape="0">
              <a:srgbClr val="000000">
                <a:alpha val="10000"/>
              </a:srgbClr>
            </a:outerShdw>
          </a:effectLst>
        </p:spPr>
      </p:sp>
      <p:sp>
        <p:nvSpPr>
          <p:cNvPr id="8" name="Text 5"/>
          <p:cNvSpPr txBox="1"/>
          <p:nvPr/>
        </p:nvSpPr>
        <p:spPr>
          <a:xfrm>
            <a:off x="640080" y="1325880"/>
            <a:ext cx="1097280" cy="1005840"/>
          </a:xfrm>
          <a:prstGeom prst="rect">
            <a:avLst/>
          </a:prstGeom>
          <a:noFill/>
          <a:ln/>
        </p:spPr>
        <p:txBody>
          <a:bodyPr wrap="square" lIns="0" tIns="0" rIns="0" bIns="0" rtlCol="0" anchor="t"/>
          <a:lstStyle/>
          <a:p>
            <a:pPr marL="0" indent="0" algn="l">
              <a:buNone/>
            </a:pPr>
            <a:r>
              <a:rPr lang="en-US" sz="6000" b="1" dirty="0">
                <a:solidFill>
                  <a:srgbClr val="F4A52A"/>
                </a:solidFill>
                <a:latin typeface="Cambria" pitchFamily="34" charset="0"/>
                <a:ea typeface="Cambria" pitchFamily="34" charset="-122"/>
                <a:cs typeface="Cambria" pitchFamily="34" charset="-120"/>
              </a:rPr>
              <a:t>7</a:t>
            </a:r>
            <a:endParaRPr lang="en-US" sz="6000" dirty="0"/>
          </a:p>
        </p:txBody>
      </p:sp>
      <p:sp>
        <p:nvSpPr>
          <p:cNvPr id="9" name="Text 6"/>
          <p:cNvSpPr txBox="1"/>
          <p:nvPr/>
        </p:nvSpPr>
        <p:spPr>
          <a:xfrm>
            <a:off x="640080" y="2286000"/>
            <a:ext cx="2286000" cy="365760"/>
          </a:xfrm>
          <a:prstGeom prst="rect">
            <a:avLst/>
          </a:prstGeom>
          <a:noFill/>
          <a:ln/>
        </p:spPr>
        <p:txBody>
          <a:bodyPr wrap="square" lIns="0" tIns="0" rIns="0" bIns="0" rtlCol="0" anchor="t"/>
          <a:lstStyle/>
          <a:p>
            <a:pPr marL="0" indent="0" algn="l">
              <a:buNone/>
            </a:pPr>
            <a:r>
              <a:rPr lang="en-US" sz="1400" dirty="0">
                <a:solidFill>
                  <a:srgbClr val="FFFFFF"/>
                </a:solidFill>
                <a:latin typeface="Calibri" pitchFamily="34" charset="0"/>
                <a:ea typeface="Calibri" pitchFamily="34" charset="-122"/>
                <a:cs typeface="Calibri" pitchFamily="34" charset="-120"/>
              </a:rPr>
              <a:t>minutes presenting</a:t>
            </a:r>
            <a:endParaRPr lang="en-US" sz="1400" dirty="0"/>
          </a:p>
        </p:txBody>
      </p:sp>
      <p:sp>
        <p:nvSpPr>
          <p:cNvPr id="10" name="Shape 7"/>
          <p:cNvSpPr/>
          <p:nvPr/>
        </p:nvSpPr>
        <p:spPr>
          <a:xfrm>
            <a:off x="457200" y="2971800"/>
            <a:ext cx="2651760" cy="1508760"/>
          </a:xfrm>
          <a:prstGeom prst="roundRect">
            <a:avLst>
              <a:gd name="adj" fmla="val 6061"/>
            </a:avLst>
          </a:prstGeom>
          <a:solidFill>
            <a:srgbClr val="12735B"/>
          </a:solidFill>
          <a:ln/>
          <a:effectLst>
            <a:outerShdw blurRad="101600" dist="25400" dir="5400000" algn="bl" rotWithShape="0">
              <a:srgbClr val="000000">
                <a:alpha val="10000"/>
              </a:srgbClr>
            </a:outerShdw>
          </a:effectLst>
        </p:spPr>
      </p:sp>
      <p:sp>
        <p:nvSpPr>
          <p:cNvPr id="11" name="Text 8"/>
          <p:cNvSpPr txBox="1"/>
          <p:nvPr/>
        </p:nvSpPr>
        <p:spPr>
          <a:xfrm>
            <a:off x="640080" y="3017520"/>
            <a:ext cx="1097280" cy="1005840"/>
          </a:xfrm>
          <a:prstGeom prst="rect">
            <a:avLst/>
          </a:prstGeom>
          <a:noFill/>
          <a:ln/>
        </p:spPr>
        <p:txBody>
          <a:bodyPr wrap="square" lIns="0" tIns="0" rIns="0" bIns="0" rtlCol="0" anchor="t"/>
          <a:lstStyle/>
          <a:p>
            <a:pPr marL="0" indent="0" algn="l">
              <a:buNone/>
            </a:pPr>
            <a:r>
              <a:rPr lang="en-US" sz="6000" b="1" dirty="0">
                <a:solidFill>
                  <a:srgbClr val="FFFFFF"/>
                </a:solidFill>
                <a:latin typeface="Cambria" pitchFamily="34" charset="0"/>
                <a:ea typeface="Cambria" pitchFamily="34" charset="-122"/>
                <a:cs typeface="Cambria" pitchFamily="34" charset="-120"/>
              </a:rPr>
              <a:t>5</a:t>
            </a:r>
            <a:endParaRPr lang="en-US" sz="6000" dirty="0"/>
          </a:p>
        </p:txBody>
      </p:sp>
      <p:sp>
        <p:nvSpPr>
          <p:cNvPr id="12" name="Text 9"/>
          <p:cNvSpPr txBox="1"/>
          <p:nvPr/>
        </p:nvSpPr>
        <p:spPr>
          <a:xfrm>
            <a:off x="640080" y="3977640"/>
            <a:ext cx="2286000" cy="365760"/>
          </a:xfrm>
          <a:prstGeom prst="rect">
            <a:avLst/>
          </a:prstGeom>
          <a:noFill/>
          <a:ln/>
        </p:spPr>
        <p:txBody>
          <a:bodyPr wrap="square" lIns="0" tIns="0" rIns="0" bIns="0" rtlCol="0" anchor="t"/>
          <a:lstStyle/>
          <a:p>
            <a:pPr marL="0" indent="0" algn="l">
              <a:buNone/>
            </a:pPr>
            <a:r>
              <a:rPr lang="en-US" sz="1400" dirty="0">
                <a:solidFill>
                  <a:srgbClr val="FFFFFF"/>
                </a:solidFill>
                <a:latin typeface="Calibri" pitchFamily="34" charset="0"/>
                <a:ea typeface="Calibri" pitchFamily="34" charset="-122"/>
                <a:cs typeface="Calibri" pitchFamily="34" charset="-120"/>
              </a:rPr>
              <a:t>minutes of questions</a:t>
            </a:r>
            <a:endParaRPr lang="en-US" sz="1400" dirty="0"/>
          </a:p>
        </p:txBody>
      </p:sp>
      <p:sp>
        <p:nvSpPr>
          <p:cNvPr id="13" name="Shape 10"/>
          <p:cNvSpPr/>
          <p:nvPr/>
        </p:nvSpPr>
        <p:spPr>
          <a:xfrm>
            <a:off x="3383280" y="1280160"/>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14" name="Text 11"/>
          <p:cNvSpPr txBox="1"/>
          <p:nvPr/>
        </p:nvSpPr>
        <p:spPr>
          <a:xfrm>
            <a:off x="3566160" y="1280160"/>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1</a:t>
            </a:r>
            <a:endParaRPr lang="en-US" sz="950" dirty="0"/>
          </a:p>
        </p:txBody>
      </p:sp>
      <p:sp>
        <p:nvSpPr>
          <p:cNvPr id="15" name="Text 12"/>
          <p:cNvSpPr txBox="1"/>
          <p:nvPr/>
        </p:nvSpPr>
        <p:spPr>
          <a:xfrm>
            <a:off x="4434840" y="1280160"/>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The customer &amp; problem</a:t>
            </a:r>
            <a:endParaRPr lang="en-US" sz="1300" dirty="0"/>
          </a:p>
        </p:txBody>
      </p:sp>
      <p:sp>
        <p:nvSpPr>
          <p:cNvPr id="16" name="Shape 13"/>
          <p:cNvSpPr/>
          <p:nvPr/>
        </p:nvSpPr>
        <p:spPr>
          <a:xfrm>
            <a:off x="3383280" y="1764792"/>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17" name="Text 14"/>
          <p:cNvSpPr txBox="1"/>
          <p:nvPr/>
        </p:nvSpPr>
        <p:spPr>
          <a:xfrm>
            <a:off x="3566160" y="1764792"/>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2</a:t>
            </a:r>
            <a:endParaRPr lang="en-US" sz="950" dirty="0"/>
          </a:p>
        </p:txBody>
      </p:sp>
      <p:sp>
        <p:nvSpPr>
          <p:cNvPr id="18" name="Text 15"/>
          <p:cNvSpPr txBox="1"/>
          <p:nvPr/>
        </p:nvSpPr>
        <p:spPr>
          <a:xfrm>
            <a:off x="4434840" y="1764792"/>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Evidence</a:t>
            </a:r>
            <a:endParaRPr lang="en-US" sz="1300" dirty="0"/>
          </a:p>
        </p:txBody>
      </p:sp>
      <p:sp>
        <p:nvSpPr>
          <p:cNvPr id="19" name="Shape 16"/>
          <p:cNvSpPr/>
          <p:nvPr/>
        </p:nvSpPr>
        <p:spPr>
          <a:xfrm>
            <a:off x="3383280" y="2249424"/>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20" name="Text 17"/>
          <p:cNvSpPr txBox="1"/>
          <p:nvPr/>
        </p:nvSpPr>
        <p:spPr>
          <a:xfrm>
            <a:off x="3566160" y="2249424"/>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3</a:t>
            </a:r>
            <a:endParaRPr lang="en-US" sz="950" dirty="0"/>
          </a:p>
        </p:txBody>
      </p:sp>
      <p:sp>
        <p:nvSpPr>
          <p:cNvPr id="21" name="Text 18"/>
          <p:cNvSpPr txBox="1"/>
          <p:nvPr/>
        </p:nvSpPr>
        <p:spPr>
          <a:xfrm>
            <a:off x="4434840" y="2249424"/>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Solution + MVP demo</a:t>
            </a:r>
            <a:endParaRPr lang="en-US" sz="1300" dirty="0"/>
          </a:p>
        </p:txBody>
      </p:sp>
      <p:sp>
        <p:nvSpPr>
          <p:cNvPr id="22" name="Shape 19"/>
          <p:cNvSpPr/>
          <p:nvPr/>
        </p:nvSpPr>
        <p:spPr>
          <a:xfrm>
            <a:off x="3383280" y="2734056"/>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23" name="Text 20"/>
          <p:cNvSpPr txBox="1"/>
          <p:nvPr/>
        </p:nvSpPr>
        <p:spPr>
          <a:xfrm>
            <a:off x="3566160" y="2734056"/>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4</a:t>
            </a:r>
            <a:endParaRPr lang="en-US" sz="950" dirty="0"/>
          </a:p>
        </p:txBody>
      </p:sp>
      <p:sp>
        <p:nvSpPr>
          <p:cNvPr id="24" name="Text 21"/>
          <p:cNvSpPr txBox="1"/>
          <p:nvPr/>
        </p:nvSpPr>
        <p:spPr>
          <a:xfrm>
            <a:off x="4434840" y="2734056"/>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Business model &amp; economics</a:t>
            </a:r>
            <a:endParaRPr lang="en-US" sz="1300" dirty="0"/>
          </a:p>
        </p:txBody>
      </p:sp>
      <p:sp>
        <p:nvSpPr>
          <p:cNvPr id="25" name="Shape 22"/>
          <p:cNvSpPr/>
          <p:nvPr/>
        </p:nvSpPr>
        <p:spPr>
          <a:xfrm>
            <a:off x="3383280" y="3218688"/>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26" name="Text 23"/>
          <p:cNvSpPr txBox="1"/>
          <p:nvPr/>
        </p:nvSpPr>
        <p:spPr>
          <a:xfrm>
            <a:off x="3566160" y="3218688"/>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5</a:t>
            </a:r>
            <a:endParaRPr lang="en-US" sz="950" dirty="0"/>
          </a:p>
        </p:txBody>
      </p:sp>
      <p:sp>
        <p:nvSpPr>
          <p:cNvPr id="27" name="Text 24"/>
          <p:cNvSpPr txBox="1"/>
          <p:nvPr/>
        </p:nvSpPr>
        <p:spPr>
          <a:xfrm>
            <a:off x="4434840" y="3218688"/>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GTM</a:t>
            </a:r>
            <a:endParaRPr lang="en-US" sz="1300" dirty="0"/>
          </a:p>
        </p:txBody>
      </p:sp>
      <p:sp>
        <p:nvSpPr>
          <p:cNvPr id="28" name="Shape 25"/>
          <p:cNvSpPr/>
          <p:nvPr/>
        </p:nvSpPr>
        <p:spPr>
          <a:xfrm>
            <a:off x="3383280" y="3703320"/>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29" name="Text 26"/>
          <p:cNvSpPr txBox="1"/>
          <p:nvPr/>
        </p:nvSpPr>
        <p:spPr>
          <a:xfrm>
            <a:off x="3566160" y="3703320"/>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6</a:t>
            </a:r>
            <a:endParaRPr lang="en-US" sz="950" dirty="0"/>
          </a:p>
        </p:txBody>
      </p:sp>
      <p:sp>
        <p:nvSpPr>
          <p:cNvPr id="30" name="Text 27"/>
          <p:cNvSpPr txBox="1"/>
          <p:nvPr/>
        </p:nvSpPr>
        <p:spPr>
          <a:xfrm>
            <a:off x="4434840" y="3703320"/>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AI + MCP architecture</a:t>
            </a:r>
            <a:endParaRPr lang="en-US" sz="1300" dirty="0"/>
          </a:p>
        </p:txBody>
      </p:sp>
      <p:sp>
        <p:nvSpPr>
          <p:cNvPr id="31" name="Shape 28"/>
          <p:cNvSpPr/>
          <p:nvPr/>
        </p:nvSpPr>
        <p:spPr>
          <a:xfrm>
            <a:off x="3383280" y="4187952"/>
            <a:ext cx="5303520" cy="420624"/>
          </a:xfrm>
          <a:prstGeom prst="roundRect">
            <a:avLst>
              <a:gd name="adj" fmla="val 21739"/>
            </a:avLst>
          </a:prstGeom>
          <a:solidFill>
            <a:srgbClr val="FFFFFF"/>
          </a:solidFill>
          <a:ln/>
          <a:effectLst>
            <a:outerShdw blurRad="101600" dist="25400" dir="5400000" algn="bl" rotWithShape="0">
              <a:srgbClr val="000000">
                <a:alpha val="10000"/>
              </a:srgbClr>
            </a:outerShdw>
          </a:effectLst>
        </p:spPr>
      </p:sp>
      <p:sp>
        <p:nvSpPr>
          <p:cNvPr id="32" name="Text 29"/>
          <p:cNvSpPr txBox="1"/>
          <p:nvPr/>
        </p:nvSpPr>
        <p:spPr>
          <a:xfrm>
            <a:off x="3566160" y="4187952"/>
            <a:ext cx="822960" cy="420624"/>
          </a:xfrm>
          <a:prstGeom prst="rect">
            <a:avLst/>
          </a:prstGeom>
          <a:noFill/>
          <a:ln/>
        </p:spPr>
        <p:txBody>
          <a:bodyPr wrap="square" lIns="0" tIns="0" rIns="0" bIns="0" rtlCol="0" anchor="ctr"/>
          <a:lstStyle/>
          <a:p>
            <a:pPr marL="0" indent="0" algn="l">
              <a:buNone/>
            </a:pPr>
            <a:r>
              <a:rPr lang="en-US" sz="950" b="1" kern="0" spc="100" dirty="0">
                <a:solidFill>
                  <a:srgbClr val="12735B"/>
                </a:solidFill>
                <a:latin typeface="Calibri" pitchFamily="34" charset="0"/>
                <a:ea typeface="Calibri" pitchFamily="34" charset="-122"/>
                <a:cs typeface="Calibri" pitchFamily="34" charset="-120"/>
              </a:rPr>
              <a:t>SLIDE 7</a:t>
            </a:r>
            <a:endParaRPr lang="en-US" sz="950" dirty="0"/>
          </a:p>
        </p:txBody>
      </p:sp>
      <p:sp>
        <p:nvSpPr>
          <p:cNvPr id="33" name="Text 30"/>
          <p:cNvSpPr txBox="1"/>
          <p:nvPr/>
        </p:nvSpPr>
        <p:spPr>
          <a:xfrm>
            <a:off x="4434840" y="4187952"/>
            <a:ext cx="4114800" cy="420624"/>
          </a:xfrm>
          <a:prstGeom prst="rect">
            <a:avLst/>
          </a:prstGeom>
          <a:noFill/>
          <a:ln/>
        </p:spPr>
        <p:txBody>
          <a:bodyPr wrap="square" lIns="0" tIns="0" rIns="0" bIns="0" rtlCol="0" anchor="ctr"/>
          <a:lstStyle/>
          <a:p>
            <a:pPr marL="0" indent="0" algn="l">
              <a:buNone/>
            </a:pPr>
            <a:r>
              <a:rPr lang="en-US" sz="1300" b="1" dirty="0">
                <a:solidFill>
                  <a:srgbClr val="0C2622"/>
                </a:solidFill>
                <a:latin typeface="Calibri" pitchFamily="34" charset="0"/>
                <a:ea typeface="Calibri" pitchFamily="34" charset="-122"/>
                <a:cs typeface="Calibri" pitchFamily="34" charset="-120"/>
              </a:rPr>
              <a:t>What we tested &amp; what happens next</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CAPSTONE</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Assessment rubric</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60</a:t>
            </a:r>
            <a:endParaRPr lang="en-US" sz="900" dirty="0"/>
          </a:p>
        </p:txBody>
      </p:sp>
      <p:sp>
        <p:nvSpPr>
          <p:cNvPr id="7" name="Shape 4"/>
          <p:cNvSpPr/>
          <p:nvPr/>
        </p:nvSpPr>
        <p:spPr>
          <a:xfrm>
            <a:off x="457200" y="1280160"/>
            <a:ext cx="5212080" cy="3383280"/>
          </a:xfrm>
          <a:prstGeom prst="roundRect">
            <a:avLst>
              <a:gd name="adj" fmla="val 2703"/>
            </a:avLst>
          </a:prstGeom>
          <a:solidFill>
            <a:srgbClr val="FFFFFF"/>
          </a:solidFill>
          <a:ln/>
          <a:effectLst>
            <a:outerShdw blurRad="101600" dist="25400" dir="5400000" algn="bl" rotWithShape="0">
              <a:srgbClr val="000000">
                <a:alpha val="10000"/>
              </a:srgbClr>
            </a:outerShdw>
          </a:effectLst>
        </p:spPr>
      </p:sp>
      <p:graphicFrame>
        <p:nvGraphicFramePr>
          <p:cNvPr id="8" name="Chart 0"/>
          <p:cNvGraphicFramePr/>
          <p:nvPr/>
        </p:nvGraphicFramePr>
        <p:xfrm>
          <a:off x="548640" y="137160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5852160" y="1280160"/>
            <a:ext cx="2834640" cy="2011680"/>
          </a:xfrm>
          <a:prstGeom prst="roundRect">
            <a:avLst>
              <a:gd name="adj" fmla="val 4545"/>
            </a:avLst>
          </a:prstGeom>
          <a:solidFill>
            <a:srgbClr val="0C2622"/>
          </a:solidFill>
          <a:ln/>
          <a:effectLst>
            <a:outerShdw blurRad="101600" dist="25400" dir="5400000" algn="bl" rotWithShape="0">
              <a:srgbClr val="000000">
                <a:alpha val="10000"/>
              </a:srgbClr>
            </a:outerShdw>
          </a:effectLst>
        </p:spPr>
      </p:sp>
      <p:sp>
        <p:nvSpPr>
          <p:cNvPr id="10" name="Text 6"/>
          <p:cNvSpPr txBox="1"/>
          <p:nvPr/>
        </p:nvSpPr>
        <p:spPr>
          <a:xfrm>
            <a:off x="6035040" y="1280160"/>
            <a:ext cx="2468880" cy="118872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Students do not lose marks because an idea fails.</a:t>
            </a:r>
            <a:endParaRPr lang="en-US" sz="1600" dirty="0"/>
          </a:p>
        </p:txBody>
      </p:sp>
      <p:sp>
        <p:nvSpPr>
          <p:cNvPr id="11" name="Text 7"/>
          <p:cNvSpPr txBox="1"/>
          <p:nvPr/>
        </p:nvSpPr>
        <p:spPr>
          <a:xfrm>
            <a:off x="6035040" y="2423160"/>
            <a:ext cx="2468880" cy="777240"/>
          </a:xfrm>
          <a:prstGeom prst="rect">
            <a:avLst/>
          </a:prstGeom>
          <a:noFill/>
          <a:ln/>
        </p:spPr>
        <p:txBody>
          <a:bodyPr wrap="square" lIns="0" tIns="0" rIns="0" bIns="0" rtlCol="0" anchor="t"/>
          <a:lstStyle/>
          <a:p>
            <a:pPr marL="0" indent="0" algn="l">
              <a:buNone/>
            </a:pPr>
            <a:r>
              <a:rPr lang="en-US" sz="1400" i="1" dirty="0">
                <a:solidFill>
                  <a:srgbClr val="F4A52A"/>
                </a:solidFill>
                <a:latin typeface="Cambria" pitchFamily="34" charset="0"/>
                <a:ea typeface="Cambria" pitchFamily="34" charset="-122"/>
                <a:cs typeface="Cambria" pitchFamily="34" charset="-120"/>
              </a:rPr>
              <a:t>They lose marks if they fail to learn why.</a:t>
            </a:r>
            <a:endParaRPr lang="en-US" sz="1400" dirty="0"/>
          </a:p>
        </p:txBody>
      </p:sp>
      <p:sp>
        <p:nvSpPr>
          <p:cNvPr id="12" name="Shape 8"/>
          <p:cNvSpPr/>
          <p:nvPr/>
        </p:nvSpPr>
        <p:spPr>
          <a:xfrm>
            <a:off x="5852160" y="3474720"/>
            <a:ext cx="2834640" cy="1188720"/>
          </a:xfrm>
          <a:prstGeom prst="roundRect">
            <a:avLst>
              <a:gd name="adj" fmla="val 7692"/>
            </a:avLst>
          </a:prstGeom>
          <a:solidFill>
            <a:srgbClr val="DFF1EA"/>
          </a:solidFill>
          <a:ln/>
        </p:spPr>
      </p:sp>
      <p:sp>
        <p:nvSpPr>
          <p:cNvPr id="13" name="Text 9"/>
          <p:cNvSpPr txBox="1"/>
          <p:nvPr/>
        </p:nvSpPr>
        <p:spPr>
          <a:xfrm>
            <a:off x="6035040" y="3474720"/>
            <a:ext cx="2468880" cy="1188720"/>
          </a:xfrm>
          <a:prstGeom prst="rect">
            <a:avLst/>
          </a:prstGeom>
          <a:noFill/>
          <a:ln/>
        </p:spPr>
        <p:txBody>
          <a:bodyPr wrap="square" lIns="0" tIns="0" rIns="0" bIns="0" rtlCol="0" anchor="ctr"/>
          <a:lstStyle/>
          <a:p>
            <a:pPr marL="0" indent="0" algn="l">
              <a:buNone/>
            </a:pPr>
            <a:r>
              <a:rPr lang="en-US" sz="1200" dirty="0">
                <a:solidFill>
                  <a:srgbClr val="0C2622"/>
                </a:solidFill>
                <a:latin typeface="Calibri" pitchFamily="34" charset="0"/>
                <a:ea typeface="Calibri" pitchFamily="34" charset="-122"/>
                <a:cs typeface="Calibri" pitchFamily="34" charset="-120"/>
              </a:rPr>
              <a:t>A student discovering that customers do not want the product has run a successful experiment.</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MASTER PROMPT LIBRARY</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Prompts 1–7: find, research, build</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61</a:t>
            </a:r>
            <a:endParaRPr lang="en-US" sz="900" dirty="0"/>
          </a:p>
        </p:txBody>
      </p:sp>
      <p:sp>
        <p:nvSpPr>
          <p:cNvPr id="7" name="Shape 4"/>
          <p:cNvSpPr/>
          <p:nvPr/>
        </p:nvSpPr>
        <p:spPr>
          <a:xfrm>
            <a:off x="457200" y="1280160"/>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548640" y="1335024"/>
            <a:ext cx="320040" cy="320040"/>
          </a:xfrm>
          <a:prstGeom prst="ellipse">
            <a:avLst/>
          </a:prstGeom>
          <a:solidFill>
            <a:srgbClr val="12735B"/>
          </a:solidFill>
          <a:ln/>
        </p:spPr>
      </p:sp>
      <p:sp>
        <p:nvSpPr>
          <p:cNvPr id="9" name="Text 6"/>
          <p:cNvSpPr txBox="1"/>
          <p:nvPr/>
        </p:nvSpPr>
        <p:spPr>
          <a:xfrm>
            <a:off x="548640" y="133502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1005840" y="1280160"/>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Opportunity Finder</a:t>
            </a:r>
            <a:endParaRPr lang="en-US" sz="1200" dirty="0"/>
          </a:p>
        </p:txBody>
      </p:sp>
      <p:sp>
        <p:nvSpPr>
          <p:cNvPr id="11" name="Text 8"/>
          <p:cNvSpPr txBox="1"/>
          <p:nvPr/>
        </p:nvSpPr>
        <p:spPr>
          <a:xfrm>
            <a:off x="3154680" y="1280160"/>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Find repeated, expensive, frustrating problems among people you can reach. Start with problems, not technology.</a:t>
            </a:r>
            <a:endParaRPr lang="en-US" sz="1050" dirty="0"/>
          </a:p>
        </p:txBody>
      </p:sp>
      <p:sp>
        <p:nvSpPr>
          <p:cNvPr id="12" name="Shape 9"/>
          <p:cNvSpPr/>
          <p:nvPr/>
        </p:nvSpPr>
        <p:spPr>
          <a:xfrm>
            <a:off x="457200" y="1764792"/>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13" name="Shape 10"/>
          <p:cNvSpPr/>
          <p:nvPr/>
        </p:nvSpPr>
        <p:spPr>
          <a:xfrm>
            <a:off x="548640" y="1819656"/>
            <a:ext cx="320040" cy="320040"/>
          </a:xfrm>
          <a:prstGeom prst="ellipse">
            <a:avLst/>
          </a:prstGeom>
          <a:solidFill>
            <a:srgbClr val="12735B"/>
          </a:solidFill>
          <a:ln/>
        </p:spPr>
      </p:sp>
      <p:sp>
        <p:nvSpPr>
          <p:cNvPr id="14" name="Text 11"/>
          <p:cNvSpPr txBox="1"/>
          <p:nvPr/>
        </p:nvSpPr>
        <p:spPr>
          <a:xfrm>
            <a:off x="548640" y="181965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1005840" y="1764792"/>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Business Idea Generator</a:t>
            </a:r>
            <a:endParaRPr lang="en-US" sz="1200" dirty="0"/>
          </a:p>
        </p:txBody>
      </p:sp>
      <p:sp>
        <p:nvSpPr>
          <p:cNvPr id="16" name="Text 13"/>
          <p:cNvSpPr txBox="1"/>
          <p:nvPr/>
        </p:nvSpPr>
        <p:spPr>
          <a:xfrm>
            <a:off x="3154680" y="1764792"/>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Five ways to solve one problem: software, service, marketplace, education/product, AI automation.</a:t>
            </a:r>
            <a:endParaRPr lang="en-US" sz="1050" dirty="0"/>
          </a:p>
        </p:txBody>
      </p:sp>
      <p:sp>
        <p:nvSpPr>
          <p:cNvPr id="17" name="Shape 14"/>
          <p:cNvSpPr/>
          <p:nvPr/>
        </p:nvSpPr>
        <p:spPr>
          <a:xfrm>
            <a:off x="457200" y="2249424"/>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18" name="Shape 15"/>
          <p:cNvSpPr/>
          <p:nvPr/>
        </p:nvSpPr>
        <p:spPr>
          <a:xfrm>
            <a:off x="548640" y="2304288"/>
            <a:ext cx="320040" cy="320040"/>
          </a:xfrm>
          <a:prstGeom prst="ellipse">
            <a:avLst/>
          </a:prstGeom>
          <a:solidFill>
            <a:srgbClr val="12735B"/>
          </a:solidFill>
          <a:ln/>
        </p:spPr>
      </p:sp>
      <p:sp>
        <p:nvSpPr>
          <p:cNvPr id="19" name="Text 16"/>
          <p:cNvSpPr txBox="1"/>
          <p:nvPr/>
        </p:nvSpPr>
        <p:spPr>
          <a:xfrm>
            <a:off x="548640" y="230428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1005840" y="2249424"/>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Assumption Destroyer</a:t>
            </a:r>
            <a:endParaRPr lang="en-US" sz="1200" dirty="0"/>
          </a:p>
        </p:txBody>
      </p:sp>
      <p:sp>
        <p:nvSpPr>
          <p:cNvPr id="21" name="Text 18"/>
          <p:cNvSpPr txBox="1"/>
          <p:nvPr/>
        </p:nvSpPr>
        <p:spPr>
          <a:xfrm>
            <a:off x="3154680" y="2249424"/>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A skeptical investor tries to prove the business should not exist — then you design cheap tests.</a:t>
            </a:r>
            <a:endParaRPr lang="en-US" sz="1050" dirty="0"/>
          </a:p>
        </p:txBody>
      </p:sp>
      <p:sp>
        <p:nvSpPr>
          <p:cNvPr id="22" name="Shape 19"/>
          <p:cNvSpPr/>
          <p:nvPr/>
        </p:nvSpPr>
        <p:spPr>
          <a:xfrm>
            <a:off x="457200" y="2734056"/>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23" name="Shape 20"/>
          <p:cNvSpPr/>
          <p:nvPr/>
        </p:nvSpPr>
        <p:spPr>
          <a:xfrm>
            <a:off x="548640" y="2788920"/>
            <a:ext cx="320040" cy="320040"/>
          </a:xfrm>
          <a:prstGeom prst="ellipse">
            <a:avLst/>
          </a:prstGeom>
          <a:solidFill>
            <a:srgbClr val="12735B"/>
          </a:solidFill>
          <a:ln/>
        </p:spPr>
      </p:sp>
      <p:sp>
        <p:nvSpPr>
          <p:cNvPr id="24" name="Text 21"/>
          <p:cNvSpPr txBox="1"/>
          <p:nvPr/>
        </p:nvSpPr>
        <p:spPr>
          <a:xfrm>
            <a:off x="548640" y="278892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1005840" y="2734056"/>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Deep Research</a:t>
            </a:r>
            <a:endParaRPr lang="en-US" sz="1200" dirty="0"/>
          </a:p>
        </p:txBody>
      </p:sp>
      <p:sp>
        <p:nvSpPr>
          <p:cNvPr id="26" name="Text 23"/>
          <p:cNvSpPr txBox="1"/>
          <p:nvPr/>
        </p:nvSpPr>
        <p:spPr>
          <a:xfrm>
            <a:off x="3154680" y="2734056"/>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Verified facts, estimates, assumptions and open questions — cited, with calculations shown.</a:t>
            </a:r>
            <a:endParaRPr lang="en-US" sz="1050" dirty="0"/>
          </a:p>
        </p:txBody>
      </p:sp>
      <p:sp>
        <p:nvSpPr>
          <p:cNvPr id="27" name="Shape 24"/>
          <p:cNvSpPr/>
          <p:nvPr/>
        </p:nvSpPr>
        <p:spPr>
          <a:xfrm>
            <a:off x="457200" y="3218688"/>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28" name="Shape 25"/>
          <p:cNvSpPr/>
          <p:nvPr/>
        </p:nvSpPr>
        <p:spPr>
          <a:xfrm>
            <a:off x="548640" y="3273552"/>
            <a:ext cx="320040" cy="320040"/>
          </a:xfrm>
          <a:prstGeom prst="ellipse">
            <a:avLst/>
          </a:prstGeom>
          <a:solidFill>
            <a:srgbClr val="12735B"/>
          </a:solidFill>
          <a:ln/>
        </p:spPr>
      </p:sp>
      <p:sp>
        <p:nvSpPr>
          <p:cNvPr id="29" name="Text 26"/>
          <p:cNvSpPr txBox="1"/>
          <p:nvPr/>
        </p:nvSpPr>
        <p:spPr>
          <a:xfrm>
            <a:off x="548640" y="327355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1005840" y="3218688"/>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Customer Interview Designer</a:t>
            </a:r>
            <a:endParaRPr lang="en-US" sz="1200" dirty="0"/>
          </a:p>
        </p:txBody>
      </p:sp>
      <p:sp>
        <p:nvSpPr>
          <p:cNvPr id="31" name="Text 28"/>
          <p:cNvSpPr txBox="1"/>
          <p:nvPr/>
        </p:nvSpPr>
        <p:spPr>
          <a:xfrm>
            <a:off x="3154680" y="3218688"/>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A 20-minute discovery interview built on actual past behaviour, not hypotheticals.</a:t>
            </a:r>
            <a:endParaRPr lang="en-US" sz="1050" dirty="0"/>
          </a:p>
        </p:txBody>
      </p:sp>
      <p:sp>
        <p:nvSpPr>
          <p:cNvPr id="32" name="Shape 29"/>
          <p:cNvSpPr/>
          <p:nvPr/>
        </p:nvSpPr>
        <p:spPr>
          <a:xfrm>
            <a:off x="457200" y="3703320"/>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33" name="Shape 30"/>
          <p:cNvSpPr/>
          <p:nvPr/>
        </p:nvSpPr>
        <p:spPr>
          <a:xfrm>
            <a:off x="548640" y="3758184"/>
            <a:ext cx="320040" cy="320040"/>
          </a:xfrm>
          <a:prstGeom prst="ellipse">
            <a:avLst/>
          </a:prstGeom>
          <a:solidFill>
            <a:srgbClr val="12735B"/>
          </a:solidFill>
          <a:ln/>
        </p:spPr>
      </p:sp>
      <p:sp>
        <p:nvSpPr>
          <p:cNvPr id="34" name="Text 31"/>
          <p:cNvSpPr txBox="1"/>
          <p:nvPr/>
        </p:nvSpPr>
        <p:spPr>
          <a:xfrm>
            <a:off x="548640" y="37581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1005840" y="3703320"/>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MVP Architect</a:t>
            </a:r>
            <a:endParaRPr lang="en-US" sz="1200" dirty="0"/>
          </a:p>
        </p:txBody>
      </p:sp>
      <p:sp>
        <p:nvSpPr>
          <p:cNvPr id="36" name="Text 33"/>
          <p:cNvSpPr txBox="1"/>
          <p:nvPr/>
        </p:nvSpPr>
        <p:spPr>
          <a:xfrm>
            <a:off x="3154680" y="3703320"/>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The smallest solution that proves value in 14 days: MUST, SHOULD, LATER, NEVER-FOR-MVP.</a:t>
            </a:r>
            <a:endParaRPr lang="en-US" sz="1050" dirty="0"/>
          </a:p>
        </p:txBody>
      </p:sp>
      <p:sp>
        <p:nvSpPr>
          <p:cNvPr id="37" name="Shape 34"/>
          <p:cNvSpPr/>
          <p:nvPr/>
        </p:nvSpPr>
        <p:spPr>
          <a:xfrm>
            <a:off x="457200" y="4187952"/>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38" name="Shape 35"/>
          <p:cNvSpPr/>
          <p:nvPr/>
        </p:nvSpPr>
        <p:spPr>
          <a:xfrm>
            <a:off x="548640" y="4242816"/>
            <a:ext cx="320040" cy="320040"/>
          </a:xfrm>
          <a:prstGeom prst="ellipse">
            <a:avLst/>
          </a:prstGeom>
          <a:solidFill>
            <a:srgbClr val="12735B"/>
          </a:solidFill>
          <a:ln/>
        </p:spPr>
      </p:sp>
      <p:sp>
        <p:nvSpPr>
          <p:cNvPr id="39" name="Text 36"/>
          <p:cNvSpPr txBox="1"/>
          <p:nvPr/>
        </p:nvSpPr>
        <p:spPr>
          <a:xfrm>
            <a:off x="548640" y="424281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Text 37"/>
          <p:cNvSpPr txBox="1"/>
          <p:nvPr/>
        </p:nvSpPr>
        <p:spPr>
          <a:xfrm>
            <a:off x="1005840" y="4187952"/>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AI Stack Architect</a:t>
            </a:r>
            <a:endParaRPr lang="en-US" sz="1200" dirty="0"/>
          </a:p>
        </p:txBody>
      </p:sp>
      <p:sp>
        <p:nvSpPr>
          <p:cNvPr id="41" name="Text 38"/>
          <p:cNvSpPr txBox="1"/>
          <p:nvPr/>
        </p:nvSpPr>
        <p:spPr>
          <a:xfrm>
            <a:off x="3154680" y="4187952"/>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For every workflow: tool, data, AI role, human role, automation and quality check.</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MASTER PROMPT LIBRARY</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Prompts 8–14: position, sell, operate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62</a:t>
            </a:r>
            <a:endParaRPr lang="en-US" sz="900" dirty="0"/>
          </a:p>
        </p:txBody>
      </p:sp>
      <p:sp>
        <p:nvSpPr>
          <p:cNvPr id="7" name="Shape 4"/>
          <p:cNvSpPr/>
          <p:nvPr/>
        </p:nvSpPr>
        <p:spPr>
          <a:xfrm>
            <a:off x="457200" y="1280160"/>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8" name="Shape 5"/>
          <p:cNvSpPr/>
          <p:nvPr/>
        </p:nvSpPr>
        <p:spPr>
          <a:xfrm>
            <a:off x="548640" y="1335024"/>
            <a:ext cx="320040" cy="320040"/>
          </a:xfrm>
          <a:prstGeom prst="ellipse">
            <a:avLst/>
          </a:prstGeom>
          <a:solidFill>
            <a:srgbClr val="0C2622"/>
          </a:solidFill>
          <a:ln/>
        </p:spPr>
      </p:sp>
      <p:sp>
        <p:nvSpPr>
          <p:cNvPr id="9" name="Text 6"/>
          <p:cNvSpPr txBox="1"/>
          <p:nvPr/>
        </p:nvSpPr>
        <p:spPr>
          <a:xfrm>
            <a:off x="548640" y="133502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0" name="Text 7"/>
          <p:cNvSpPr txBox="1"/>
          <p:nvPr/>
        </p:nvSpPr>
        <p:spPr>
          <a:xfrm>
            <a:off x="1005840" y="1280160"/>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Value Proposition</a:t>
            </a:r>
            <a:endParaRPr lang="en-US" sz="1200" dirty="0"/>
          </a:p>
        </p:txBody>
      </p:sp>
      <p:sp>
        <p:nvSpPr>
          <p:cNvPr id="11" name="Text 8"/>
          <p:cNvSpPr txBox="1"/>
          <p:nvPr/>
        </p:nvSpPr>
        <p:spPr>
          <a:xfrm>
            <a:off x="3154680" y="1280160"/>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Five simple value propositions with no jargon and no unsupported claims.</a:t>
            </a:r>
            <a:endParaRPr lang="en-US" sz="1050" dirty="0"/>
          </a:p>
        </p:txBody>
      </p:sp>
      <p:sp>
        <p:nvSpPr>
          <p:cNvPr id="12" name="Shape 9"/>
          <p:cNvSpPr/>
          <p:nvPr/>
        </p:nvSpPr>
        <p:spPr>
          <a:xfrm>
            <a:off x="457200" y="1764792"/>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13" name="Shape 10"/>
          <p:cNvSpPr/>
          <p:nvPr/>
        </p:nvSpPr>
        <p:spPr>
          <a:xfrm>
            <a:off x="548640" y="1819656"/>
            <a:ext cx="320040" cy="320040"/>
          </a:xfrm>
          <a:prstGeom prst="ellipse">
            <a:avLst/>
          </a:prstGeom>
          <a:solidFill>
            <a:srgbClr val="0C2622"/>
          </a:solidFill>
          <a:ln/>
        </p:spPr>
      </p:sp>
      <p:sp>
        <p:nvSpPr>
          <p:cNvPr id="14" name="Text 11"/>
          <p:cNvSpPr txBox="1"/>
          <p:nvPr/>
        </p:nvSpPr>
        <p:spPr>
          <a:xfrm>
            <a:off x="548640" y="181965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15" name="Text 12"/>
          <p:cNvSpPr txBox="1"/>
          <p:nvPr/>
        </p:nvSpPr>
        <p:spPr>
          <a:xfrm>
            <a:off x="1005840" y="1764792"/>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Landing Page</a:t>
            </a:r>
            <a:endParaRPr lang="en-US" sz="1200" dirty="0"/>
          </a:p>
        </p:txBody>
      </p:sp>
      <p:sp>
        <p:nvSpPr>
          <p:cNvPr id="16" name="Text 13"/>
          <p:cNvSpPr txBox="1"/>
          <p:nvPr/>
        </p:nvSpPr>
        <p:spPr>
          <a:xfrm>
            <a:off x="3154680" y="1764792"/>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Headline, problem, outcome, solution, how it works, benefits, proof, objections, FAQ, CTA.</a:t>
            </a:r>
            <a:endParaRPr lang="en-US" sz="1050" dirty="0"/>
          </a:p>
        </p:txBody>
      </p:sp>
      <p:sp>
        <p:nvSpPr>
          <p:cNvPr id="17" name="Shape 14"/>
          <p:cNvSpPr/>
          <p:nvPr/>
        </p:nvSpPr>
        <p:spPr>
          <a:xfrm>
            <a:off x="457200" y="2249424"/>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18" name="Shape 15"/>
          <p:cNvSpPr/>
          <p:nvPr/>
        </p:nvSpPr>
        <p:spPr>
          <a:xfrm>
            <a:off x="548640" y="2304288"/>
            <a:ext cx="320040" cy="320040"/>
          </a:xfrm>
          <a:prstGeom prst="ellipse">
            <a:avLst/>
          </a:prstGeom>
          <a:solidFill>
            <a:srgbClr val="0C2622"/>
          </a:solidFill>
          <a:ln/>
        </p:spPr>
      </p:sp>
      <p:sp>
        <p:nvSpPr>
          <p:cNvPr id="19" name="Text 16"/>
          <p:cNvSpPr txBox="1"/>
          <p:nvPr/>
        </p:nvSpPr>
        <p:spPr>
          <a:xfrm>
            <a:off x="548640" y="230428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20" name="Text 17"/>
          <p:cNvSpPr txBox="1"/>
          <p:nvPr/>
        </p:nvSpPr>
        <p:spPr>
          <a:xfrm>
            <a:off x="1005840" y="2249424"/>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Pricing</a:t>
            </a:r>
            <a:endParaRPr lang="en-US" sz="1200" dirty="0"/>
          </a:p>
        </p:txBody>
      </p:sp>
      <p:sp>
        <p:nvSpPr>
          <p:cNvPr id="21" name="Text 18"/>
          <p:cNvSpPr txBox="1"/>
          <p:nvPr/>
        </p:nvSpPr>
        <p:spPr>
          <a:xfrm>
            <a:off x="3154680" y="2249424"/>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Three pricing hypotheses: customer value, delivery cost, margin, risks and how to test each.</a:t>
            </a:r>
            <a:endParaRPr lang="en-US" sz="1050" dirty="0"/>
          </a:p>
        </p:txBody>
      </p:sp>
      <p:sp>
        <p:nvSpPr>
          <p:cNvPr id="22" name="Shape 19"/>
          <p:cNvSpPr/>
          <p:nvPr/>
        </p:nvSpPr>
        <p:spPr>
          <a:xfrm>
            <a:off x="457200" y="2734056"/>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23" name="Shape 20"/>
          <p:cNvSpPr/>
          <p:nvPr/>
        </p:nvSpPr>
        <p:spPr>
          <a:xfrm>
            <a:off x="548640" y="2788920"/>
            <a:ext cx="320040" cy="320040"/>
          </a:xfrm>
          <a:prstGeom prst="ellipse">
            <a:avLst/>
          </a:prstGeom>
          <a:solidFill>
            <a:srgbClr val="0C2622"/>
          </a:solidFill>
          <a:ln/>
        </p:spPr>
      </p:sp>
      <p:sp>
        <p:nvSpPr>
          <p:cNvPr id="24" name="Text 21"/>
          <p:cNvSpPr txBox="1"/>
          <p:nvPr/>
        </p:nvSpPr>
        <p:spPr>
          <a:xfrm>
            <a:off x="548640" y="278892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25" name="Text 22"/>
          <p:cNvSpPr txBox="1"/>
          <p:nvPr/>
        </p:nvSpPr>
        <p:spPr>
          <a:xfrm>
            <a:off x="1005840" y="2734056"/>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GTM</a:t>
            </a:r>
            <a:endParaRPr lang="en-US" sz="1200" dirty="0"/>
          </a:p>
        </p:txBody>
      </p:sp>
      <p:sp>
        <p:nvSpPr>
          <p:cNvPr id="26" name="Text 23"/>
          <p:cNvSpPr txBox="1"/>
          <p:nvPr/>
        </p:nvSpPr>
        <p:spPr>
          <a:xfrm>
            <a:off x="3154680" y="2734056"/>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A 90-day experiment plan: at most three channels, with KPIs and success/failure thresholds.</a:t>
            </a:r>
            <a:endParaRPr lang="en-US" sz="1050" dirty="0"/>
          </a:p>
        </p:txBody>
      </p:sp>
      <p:sp>
        <p:nvSpPr>
          <p:cNvPr id="27" name="Shape 24"/>
          <p:cNvSpPr/>
          <p:nvPr/>
        </p:nvSpPr>
        <p:spPr>
          <a:xfrm>
            <a:off x="457200" y="3218688"/>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28" name="Shape 25"/>
          <p:cNvSpPr/>
          <p:nvPr/>
        </p:nvSpPr>
        <p:spPr>
          <a:xfrm>
            <a:off x="548640" y="3273552"/>
            <a:ext cx="320040" cy="320040"/>
          </a:xfrm>
          <a:prstGeom prst="ellipse">
            <a:avLst/>
          </a:prstGeom>
          <a:solidFill>
            <a:srgbClr val="0C2622"/>
          </a:solidFill>
          <a:ln/>
        </p:spPr>
      </p:sp>
      <p:sp>
        <p:nvSpPr>
          <p:cNvPr id="29" name="Text 26"/>
          <p:cNvSpPr txBox="1"/>
          <p:nvPr/>
        </p:nvSpPr>
        <p:spPr>
          <a:xfrm>
            <a:off x="548640" y="327355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30" name="Text 27"/>
          <p:cNvSpPr txBox="1"/>
          <p:nvPr/>
        </p:nvSpPr>
        <p:spPr>
          <a:xfrm>
            <a:off x="1005840" y="3218688"/>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First 10 Customers</a:t>
            </a:r>
            <a:endParaRPr lang="en-US" sz="1200" dirty="0"/>
          </a:p>
        </p:txBody>
      </p:sp>
      <p:sp>
        <p:nvSpPr>
          <p:cNvPr id="31" name="Text 28"/>
          <p:cNvSpPr txBox="1"/>
          <p:nvPr/>
        </p:nvSpPr>
        <p:spPr>
          <a:xfrm>
            <a:off x="3154680" y="3218688"/>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From zero followers and zero customers: direct, founder-led activity over expensive ads.</a:t>
            </a:r>
            <a:endParaRPr lang="en-US" sz="1050" dirty="0"/>
          </a:p>
        </p:txBody>
      </p:sp>
      <p:sp>
        <p:nvSpPr>
          <p:cNvPr id="32" name="Shape 29"/>
          <p:cNvSpPr/>
          <p:nvPr/>
        </p:nvSpPr>
        <p:spPr>
          <a:xfrm>
            <a:off x="457200" y="3703320"/>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33" name="Shape 30"/>
          <p:cNvSpPr/>
          <p:nvPr/>
        </p:nvSpPr>
        <p:spPr>
          <a:xfrm>
            <a:off x="548640" y="3758184"/>
            <a:ext cx="320040" cy="320040"/>
          </a:xfrm>
          <a:prstGeom prst="ellipse">
            <a:avLst/>
          </a:prstGeom>
          <a:solidFill>
            <a:srgbClr val="0C2622"/>
          </a:solidFill>
          <a:ln/>
        </p:spPr>
      </p:sp>
      <p:sp>
        <p:nvSpPr>
          <p:cNvPr id="34" name="Text 31"/>
          <p:cNvSpPr txBox="1"/>
          <p:nvPr/>
        </p:nvSpPr>
        <p:spPr>
          <a:xfrm>
            <a:off x="548640" y="37581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35" name="Text 32"/>
          <p:cNvSpPr txBox="1"/>
          <p:nvPr/>
        </p:nvSpPr>
        <p:spPr>
          <a:xfrm>
            <a:off x="1005840" y="3703320"/>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Business Automation</a:t>
            </a:r>
            <a:endParaRPr lang="en-US" sz="1200" dirty="0"/>
          </a:p>
        </p:txBody>
      </p:sp>
      <p:sp>
        <p:nvSpPr>
          <p:cNvPr id="36" name="Text 33"/>
          <p:cNvSpPr txBox="1"/>
          <p:nvPr/>
        </p:nvSpPr>
        <p:spPr>
          <a:xfrm>
            <a:off x="3154680" y="3703320"/>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Classify processes as human-only, AI-assisted, automated or agentic — with safeguards.</a:t>
            </a:r>
            <a:endParaRPr lang="en-US" sz="1050" dirty="0"/>
          </a:p>
        </p:txBody>
      </p:sp>
      <p:sp>
        <p:nvSpPr>
          <p:cNvPr id="37" name="Shape 34"/>
          <p:cNvSpPr/>
          <p:nvPr/>
        </p:nvSpPr>
        <p:spPr>
          <a:xfrm>
            <a:off x="457200" y="4187952"/>
            <a:ext cx="8229600" cy="429768"/>
          </a:xfrm>
          <a:prstGeom prst="roundRect">
            <a:avLst>
              <a:gd name="adj" fmla="val 21277"/>
            </a:avLst>
          </a:prstGeom>
          <a:solidFill>
            <a:srgbClr val="FFFFFF"/>
          </a:solidFill>
          <a:ln/>
          <a:effectLst>
            <a:outerShdw blurRad="101600" dist="25400" dir="5400000" algn="bl" rotWithShape="0">
              <a:srgbClr val="000000">
                <a:alpha val="10000"/>
              </a:srgbClr>
            </a:outerShdw>
          </a:effectLst>
        </p:spPr>
      </p:sp>
      <p:sp>
        <p:nvSpPr>
          <p:cNvPr id="38" name="Shape 35"/>
          <p:cNvSpPr/>
          <p:nvPr/>
        </p:nvSpPr>
        <p:spPr>
          <a:xfrm>
            <a:off x="548640" y="4242816"/>
            <a:ext cx="320040" cy="320040"/>
          </a:xfrm>
          <a:prstGeom prst="ellipse">
            <a:avLst/>
          </a:prstGeom>
          <a:solidFill>
            <a:srgbClr val="0C2622"/>
          </a:solidFill>
          <a:ln/>
        </p:spPr>
      </p:sp>
      <p:sp>
        <p:nvSpPr>
          <p:cNvPr id="39" name="Text 36"/>
          <p:cNvSpPr txBox="1"/>
          <p:nvPr/>
        </p:nvSpPr>
        <p:spPr>
          <a:xfrm>
            <a:off x="548640" y="424281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40" name="Text 37"/>
          <p:cNvSpPr txBox="1"/>
          <p:nvPr/>
        </p:nvSpPr>
        <p:spPr>
          <a:xfrm>
            <a:off x="1005840" y="4187952"/>
            <a:ext cx="2103120" cy="429768"/>
          </a:xfrm>
          <a:prstGeom prst="rect">
            <a:avLst/>
          </a:prstGeom>
          <a:noFill/>
          <a:ln/>
        </p:spPr>
        <p:txBody>
          <a:bodyPr wrap="square" lIns="0" tIns="0" rIns="0" bIns="0" rtlCol="0" anchor="ctr"/>
          <a:lstStyle/>
          <a:p>
            <a:pPr marL="0" indent="0" algn="l">
              <a:buNone/>
            </a:pPr>
            <a:r>
              <a:rPr lang="en-US" sz="1200" b="1" dirty="0">
                <a:solidFill>
                  <a:srgbClr val="0C2622"/>
                </a:solidFill>
                <a:latin typeface="Calibri" pitchFamily="34" charset="0"/>
                <a:ea typeface="Calibri" pitchFamily="34" charset="-122"/>
                <a:cs typeface="Calibri" pitchFamily="34" charset="-120"/>
              </a:rPr>
              <a:t>Weekly Founder Review</a:t>
            </a:r>
            <a:endParaRPr lang="en-US" sz="1200" dirty="0"/>
          </a:p>
        </p:txBody>
      </p:sp>
      <p:sp>
        <p:nvSpPr>
          <p:cNvPr id="41" name="Text 38"/>
          <p:cNvSpPr txBox="1"/>
          <p:nvPr/>
        </p:nvSpPr>
        <p:spPr>
          <a:xfrm>
            <a:off x="3154680" y="4187952"/>
            <a:ext cx="5440680" cy="429768"/>
          </a:xfrm>
          <a:prstGeom prst="rect">
            <a:avLst/>
          </a:prstGeom>
          <a:noFill/>
          <a:ln/>
        </p:spPr>
        <p:txBody>
          <a:bodyPr wrap="square" lIns="0" tIns="0" rIns="0" bIns="0" rtlCol="0" anchor="ctr"/>
          <a:lstStyle/>
          <a:p>
            <a:pPr marL="0" indent="0" algn="l">
              <a:buNone/>
            </a:pPr>
            <a:r>
              <a:rPr lang="en-US" sz="1050" dirty="0">
                <a:solidFill>
                  <a:srgbClr val="587068"/>
                </a:solidFill>
                <a:latin typeface="Calibri" pitchFamily="34" charset="0"/>
                <a:ea typeface="Calibri" pitchFamily="34" charset="-122"/>
                <a:cs typeface="Calibri" pitchFamily="34" charset="-120"/>
              </a:rPr>
              <a:t>An operating-partner review of metrics and experiments. No scaling without evidence.</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C2622"/>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F4A52A"/>
                </a:solidFill>
                <a:latin typeface="Calibri" pitchFamily="34" charset="0"/>
                <a:ea typeface="Calibri" pitchFamily="34" charset="-122"/>
                <a:cs typeface="Calibri" pitchFamily="34" charset="-120"/>
              </a:rPr>
              <a:t>REMEMBER</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The five rules</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7FA89E"/>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7FA89E"/>
                </a:solidFill>
                <a:latin typeface="Calibri" pitchFamily="34" charset="0"/>
                <a:ea typeface="Calibri" pitchFamily="34" charset="-122"/>
                <a:cs typeface="Calibri" pitchFamily="34" charset="-120"/>
              </a:rPr>
              <a:t>63</a:t>
            </a:r>
            <a:endParaRPr lang="en-US" sz="900" dirty="0"/>
          </a:p>
        </p:txBody>
      </p:sp>
      <p:sp>
        <p:nvSpPr>
          <p:cNvPr id="7" name="Shape 4"/>
          <p:cNvSpPr/>
          <p:nvPr/>
        </p:nvSpPr>
        <p:spPr>
          <a:xfrm>
            <a:off x="457200" y="1280160"/>
            <a:ext cx="8229600" cy="603504"/>
          </a:xfrm>
          <a:prstGeom prst="roundRect">
            <a:avLst>
              <a:gd name="adj" fmla="val 15152"/>
            </a:avLst>
          </a:prstGeom>
          <a:solidFill>
            <a:srgbClr val="163B34"/>
          </a:solidFill>
          <a:ln/>
        </p:spPr>
      </p:sp>
      <p:sp>
        <p:nvSpPr>
          <p:cNvPr id="8" name="Text 5"/>
          <p:cNvSpPr txBox="1"/>
          <p:nvPr/>
        </p:nvSpPr>
        <p:spPr>
          <a:xfrm>
            <a:off x="594360" y="1280160"/>
            <a:ext cx="548640" cy="603504"/>
          </a:xfrm>
          <a:prstGeom prst="rect">
            <a:avLst/>
          </a:prstGeom>
          <a:noFill/>
          <a:ln/>
        </p:spPr>
        <p:txBody>
          <a:bodyPr wrap="square" lIns="0" tIns="0" rIns="0" bIns="0" rtlCol="0" anchor="ctr"/>
          <a:lstStyle/>
          <a:p>
            <a:pPr marL="0" indent="0" algn="ctr">
              <a:buNone/>
            </a:pPr>
            <a:r>
              <a:rPr lang="en-US" sz="3000" b="1" dirty="0">
                <a:solidFill>
                  <a:srgbClr val="F4A52A"/>
                </a:solidFill>
                <a:latin typeface="Cambria" pitchFamily="34" charset="0"/>
                <a:ea typeface="Cambria" pitchFamily="34" charset="-122"/>
                <a:cs typeface="Cambria" pitchFamily="34" charset="-120"/>
              </a:rPr>
              <a:t>1</a:t>
            </a:r>
            <a:endParaRPr lang="en-US" sz="3000" dirty="0"/>
          </a:p>
        </p:txBody>
      </p:sp>
      <p:sp>
        <p:nvSpPr>
          <p:cNvPr id="9" name="Text 6"/>
          <p:cNvSpPr txBox="1"/>
          <p:nvPr/>
        </p:nvSpPr>
        <p:spPr>
          <a:xfrm>
            <a:off x="1280160" y="1280160"/>
            <a:ext cx="7315200" cy="603504"/>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AI output is not evidence.</a:t>
            </a:r>
            <a:endParaRPr lang="en-US" sz="1600" dirty="0"/>
          </a:p>
        </p:txBody>
      </p:sp>
      <p:sp>
        <p:nvSpPr>
          <p:cNvPr id="10" name="Shape 7"/>
          <p:cNvSpPr/>
          <p:nvPr/>
        </p:nvSpPr>
        <p:spPr>
          <a:xfrm>
            <a:off x="457200" y="1956816"/>
            <a:ext cx="8229600" cy="603504"/>
          </a:xfrm>
          <a:prstGeom prst="roundRect">
            <a:avLst>
              <a:gd name="adj" fmla="val 15152"/>
            </a:avLst>
          </a:prstGeom>
          <a:solidFill>
            <a:srgbClr val="163B34"/>
          </a:solidFill>
          <a:ln/>
        </p:spPr>
      </p:sp>
      <p:sp>
        <p:nvSpPr>
          <p:cNvPr id="11" name="Text 8"/>
          <p:cNvSpPr txBox="1"/>
          <p:nvPr/>
        </p:nvSpPr>
        <p:spPr>
          <a:xfrm>
            <a:off x="594360" y="1956816"/>
            <a:ext cx="548640" cy="603504"/>
          </a:xfrm>
          <a:prstGeom prst="rect">
            <a:avLst/>
          </a:prstGeom>
          <a:noFill/>
          <a:ln/>
        </p:spPr>
        <p:txBody>
          <a:bodyPr wrap="square" lIns="0" tIns="0" rIns="0" bIns="0" rtlCol="0" anchor="ctr"/>
          <a:lstStyle/>
          <a:p>
            <a:pPr marL="0" indent="0" algn="ctr">
              <a:buNone/>
            </a:pPr>
            <a:r>
              <a:rPr lang="en-US" sz="3000" b="1" dirty="0">
                <a:solidFill>
                  <a:srgbClr val="F4A52A"/>
                </a:solidFill>
                <a:latin typeface="Cambria" pitchFamily="34" charset="0"/>
                <a:ea typeface="Cambria" pitchFamily="34" charset="-122"/>
                <a:cs typeface="Cambria" pitchFamily="34" charset="-120"/>
              </a:rPr>
              <a:t>2</a:t>
            </a:r>
            <a:endParaRPr lang="en-US" sz="3000" dirty="0"/>
          </a:p>
        </p:txBody>
      </p:sp>
      <p:sp>
        <p:nvSpPr>
          <p:cNvPr id="12" name="Text 9"/>
          <p:cNvSpPr txBox="1"/>
          <p:nvPr/>
        </p:nvSpPr>
        <p:spPr>
          <a:xfrm>
            <a:off x="1280160" y="1956816"/>
            <a:ext cx="7315200" cy="603504"/>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Talk to customers before building too much.</a:t>
            </a:r>
            <a:endParaRPr lang="en-US" sz="1600" dirty="0"/>
          </a:p>
        </p:txBody>
      </p:sp>
      <p:sp>
        <p:nvSpPr>
          <p:cNvPr id="13" name="Shape 10"/>
          <p:cNvSpPr/>
          <p:nvPr/>
        </p:nvSpPr>
        <p:spPr>
          <a:xfrm>
            <a:off x="457200" y="2633472"/>
            <a:ext cx="8229600" cy="603504"/>
          </a:xfrm>
          <a:prstGeom prst="roundRect">
            <a:avLst>
              <a:gd name="adj" fmla="val 15152"/>
            </a:avLst>
          </a:prstGeom>
          <a:solidFill>
            <a:srgbClr val="163B34"/>
          </a:solidFill>
          <a:ln/>
        </p:spPr>
      </p:sp>
      <p:sp>
        <p:nvSpPr>
          <p:cNvPr id="14" name="Text 11"/>
          <p:cNvSpPr txBox="1"/>
          <p:nvPr/>
        </p:nvSpPr>
        <p:spPr>
          <a:xfrm>
            <a:off x="594360" y="2633472"/>
            <a:ext cx="548640" cy="603504"/>
          </a:xfrm>
          <a:prstGeom prst="rect">
            <a:avLst/>
          </a:prstGeom>
          <a:noFill/>
          <a:ln/>
        </p:spPr>
        <p:txBody>
          <a:bodyPr wrap="square" lIns="0" tIns="0" rIns="0" bIns="0" rtlCol="0" anchor="ctr"/>
          <a:lstStyle/>
          <a:p>
            <a:pPr marL="0" indent="0" algn="ctr">
              <a:buNone/>
            </a:pPr>
            <a:r>
              <a:rPr lang="en-US" sz="3000" b="1" dirty="0">
                <a:solidFill>
                  <a:srgbClr val="F4A52A"/>
                </a:solidFill>
                <a:latin typeface="Cambria" pitchFamily="34" charset="0"/>
                <a:ea typeface="Cambria" pitchFamily="34" charset="-122"/>
                <a:cs typeface="Cambria" pitchFamily="34" charset="-120"/>
              </a:rPr>
              <a:t>3</a:t>
            </a:r>
            <a:endParaRPr lang="en-US" sz="3000" dirty="0"/>
          </a:p>
        </p:txBody>
      </p:sp>
      <p:sp>
        <p:nvSpPr>
          <p:cNvPr id="15" name="Text 12"/>
          <p:cNvSpPr txBox="1"/>
          <p:nvPr/>
        </p:nvSpPr>
        <p:spPr>
          <a:xfrm>
            <a:off x="1280160" y="2633472"/>
            <a:ext cx="7315200" cy="603504"/>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Build the smallest thing that can prove value.</a:t>
            </a:r>
            <a:endParaRPr lang="en-US" sz="1600" dirty="0"/>
          </a:p>
        </p:txBody>
      </p:sp>
      <p:sp>
        <p:nvSpPr>
          <p:cNvPr id="16" name="Shape 13"/>
          <p:cNvSpPr/>
          <p:nvPr/>
        </p:nvSpPr>
        <p:spPr>
          <a:xfrm>
            <a:off x="457200" y="3310128"/>
            <a:ext cx="8229600" cy="603504"/>
          </a:xfrm>
          <a:prstGeom prst="roundRect">
            <a:avLst>
              <a:gd name="adj" fmla="val 15152"/>
            </a:avLst>
          </a:prstGeom>
          <a:solidFill>
            <a:srgbClr val="163B34"/>
          </a:solidFill>
          <a:ln/>
        </p:spPr>
      </p:sp>
      <p:sp>
        <p:nvSpPr>
          <p:cNvPr id="17" name="Text 14"/>
          <p:cNvSpPr txBox="1"/>
          <p:nvPr/>
        </p:nvSpPr>
        <p:spPr>
          <a:xfrm>
            <a:off x="594360" y="3310128"/>
            <a:ext cx="548640" cy="603504"/>
          </a:xfrm>
          <a:prstGeom prst="rect">
            <a:avLst/>
          </a:prstGeom>
          <a:noFill/>
          <a:ln/>
        </p:spPr>
        <p:txBody>
          <a:bodyPr wrap="square" lIns="0" tIns="0" rIns="0" bIns="0" rtlCol="0" anchor="ctr"/>
          <a:lstStyle/>
          <a:p>
            <a:pPr marL="0" indent="0" algn="ctr">
              <a:buNone/>
            </a:pPr>
            <a:r>
              <a:rPr lang="en-US" sz="3000" b="1" dirty="0">
                <a:solidFill>
                  <a:srgbClr val="F4A52A"/>
                </a:solidFill>
                <a:latin typeface="Cambria" pitchFamily="34" charset="0"/>
                <a:ea typeface="Cambria" pitchFamily="34" charset="-122"/>
                <a:cs typeface="Cambria" pitchFamily="34" charset="-120"/>
              </a:rPr>
              <a:t>4</a:t>
            </a:r>
            <a:endParaRPr lang="en-US" sz="3000" dirty="0"/>
          </a:p>
        </p:txBody>
      </p:sp>
      <p:sp>
        <p:nvSpPr>
          <p:cNvPr id="18" name="Text 15"/>
          <p:cNvSpPr txBox="1"/>
          <p:nvPr/>
        </p:nvSpPr>
        <p:spPr>
          <a:xfrm>
            <a:off x="1280160" y="3364992"/>
            <a:ext cx="7315200" cy="292608"/>
          </a:xfrm>
          <a:prstGeom prst="rect">
            <a:avLst/>
          </a:prstGeom>
          <a:noFill/>
          <a:ln/>
        </p:spPr>
        <p:txBody>
          <a:bodyPr wrap="square" lIns="0" tIns="0" rIns="0" bIns="0" rtlCol="0" anchor="t"/>
          <a:lstStyle/>
          <a:p>
            <a:pPr marL="0" indent="0" algn="l">
              <a:buNone/>
            </a:pPr>
            <a:r>
              <a:rPr lang="en-US" sz="1600" b="1" dirty="0">
                <a:solidFill>
                  <a:srgbClr val="FFFFFF"/>
                </a:solidFill>
                <a:latin typeface="Cambria" pitchFamily="34" charset="0"/>
                <a:ea typeface="Cambria" pitchFamily="34" charset="-122"/>
                <a:cs typeface="Cambria" pitchFamily="34" charset="-120"/>
              </a:rPr>
              <a:t>Distribution is part of the product.</a:t>
            </a:r>
            <a:endParaRPr lang="en-US" sz="1600" dirty="0"/>
          </a:p>
        </p:txBody>
      </p:sp>
      <p:sp>
        <p:nvSpPr>
          <p:cNvPr id="19" name="Text 16"/>
          <p:cNvSpPr txBox="1"/>
          <p:nvPr/>
        </p:nvSpPr>
        <p:spPr>
          <a:xfrm>
            <a:off x="1280160" y="3657600"/>
            <a:ext cx="7315200" cy="219456"/>
          </a:xfrm>
          <a:prstGeom prst="rect">
            <a:avLst/>
          </a:prstGeom>
          <a:noFill/>
          <a:ln/>
        </p:spPr>
        <p:txBody>
          <a:bodyPr wrap="square" lIns="0" tIns="0" rIns="0" bIns="0" rtlCol="0" anchor="t"/>
          <a:lstStyle/>
          <a:p>
            <a:pPr marL="0" indent="0" algn="l">
              <a:buNone/>
            </a:pPr>
            <a:r>
              <a:rPr lang="en-US" sz="1100" dirty="0">
                <a:solidFill>
                  <a:srgbClr val="DFF1EA"/>
                </a:solidFill>
                <a:latin typeface="Calibri" pitchFamily="34" charset="0"/>
                <a:ea typeface="Calibri" pitchFamily="34" charset="-122"/>
                <a:cs typeface="Calibri" pitchFamily="34" charset="-120"/>
              </a:rPr>
              <a:t>A great product nobody discovers is not a business.</a:t>
            </a:r>
            <a:endParaRPr lang="en-US" sz="1100" dirty="0"/>
          </a:p>
        </p:txBody>
      </p:sp>
      <p:sp>
        <p:nvSpPr>
          <p:cNvPr id="20" name="Shape 17"/>
          <p:cNvSpPr/>
          <p:nvPr/>
        </p:nvSpPr>
        <p:spPr>
          <a:xfrm>
            <a:off x="457200" y="3986784"/>
            <a:ext cx="8229600" cy="603504"/>
          </a:xfrm>
          <a:prstGeom prst="roundRect">
            <a:avLst>
              <a:gd name="adj" fmla="val 15152"/>
            </a:avLst>
          </a:prstGeom>
          <a:solidFill>
            <a:srgbClr val="163B34"/>
          </a:solidFill>
          <a:ln/>
        </p:spPr>
      </p:sp>
      <p:sp>
        <p:nvSpPr>
          <p:cNvPr id="21" name="Text 18"/>
          <p:cNvSpPr txBox="1"/>
          <p:nvPr/>
        </p:nvSpPr>
        <p:spPr>
          <a:xfrm>
            <a:off x="594360" y="3986784"/>
            <a:ext cx="548640" cy="603504"/>
          </a:xfrm>
          <a:prstGeom prst="rect">
            <a:avLst/>
          </a:prstGeom>
          <a:noFill/>
          <a:ln/>
        </p:spPr>
        <p:txBody>
          <a:bodyPr wrap="square" lIns="0" tIns="0" rIns="0" bIns="0" rtlCol="0" anchor="ctr"/>
          <a:lstStyle/>
          <a:p>
            <a:pPr marL="0" indent="0" algn="ctr">
              <a:buNone/>
            </a:pPr>
            <a:r>
              <a:rPr lang="en-US" sz="3000" b="1" dirty="0">
                <a:solidFill>
                  <a:srgbClr val="F4A52A"/>
                </a:solidFill>
                <a:latin typeface="Cambria" pitchFamily="34" charset="0"/>
                <a:ea typeface="Cambria" pitchFamily="34" charset="-122"/>
                <a:cs typeface="Cambria" pitchFamily="34" charset="-120"/>
              </a:rPr>
              <a:t>5</a:t>
            </a:r>
            <a:endParaRPr lang="en-US" sz="3000" dirty="0"/>
          </a:p>
        </p:txBody>
      </p:sp>
      <p:sp>
        <p:nvSpPr>
          <p:cNvPr id="22" name="Text 19"/>
          <p:cNvSpPr txBox="1"/>
          <p:nvPr/>
        </p:nvSpPr>
        <p:spPr>
          <a:xfrm>
            <a:off x="1280160" y="4041648"/>
            <a:ext cx="7315200" cy="292608"/>
          </a:xfrm>
          <a:prstGeom prst="rect">
            <a:avLst/>
          </a:prstGeom>
          <a:noFill/>
          <a:ln/>
        </p:spPr>
        <p:txBody>
          <a:bodyPr wrap="square" lIns="0" tIns="0" rIns="0" bIns="0" rtlCol="0" anchor="t"/>
          <a:lstStyle/>
          <a:p>
            <a:pPr marL="0" indent="0" algn="l">
              <a:buNone/>
            </a:pPr>
            <a:r>
              <a:rPr lang="en-US" sz="1600" b="1" dirty="0">
                <a:solidFill>
                  <a:srgbClr val="FFFFFF"/>
                </a:solidFill>
                <a:latin typeface="Cambria" pitchFamily="34" charset="0"/>
                <a:ea typeface="Cambria" pitchFamily="34" charset="-122"/>
                <a:cs typeface="Cambria" pitchFamily="34" charset="-120"/>
              </a:rPr>
              <a:t>Automate only after understanding the process.</a:t>
            </a:r>
            <a:endParaRPr lang="en-US" sz="1600" dirty="0"/>
          </a:p>
        </p:txBody>
      </p:sp>
      <p:sp>
        <p:nvSpPr>
          <p:cNvPr id="23" name="Text 20"/>
          <p:cNvSpPr txBox="1"/>
          <p:nvPr/>
        </p:nvSpPr>
        <p:spPr>
          <a:xfrm>
            <a:off x="1280160" y="4334256"/>
            <a:ext cx="7315200" cy="219456"/>
          </a:xfrm>
          <a:prstGeom prst="rect">
            <a:avLst/>
          </a:prstGeom>
          <a:noFill/>
          <a:ln/>
        </p:spPr>
        <p:txBody>
          <a:bodyPr wrap="square" lIns="0" tIns="0" rIns="0" bIns="0" rtlCol="0" anchor="t"/>
          <a:lstStyle/>
          <a:p>
            <a:pPr marL="0" indent="0" algn="l">
              <a:buNone/>
            </a:pPr>
            <a:r>
              <a:rPr lang="en-US" sz="1100" dirty="0">
                <a:solidFill>
                  <a:srgbClr val="DFF1EA"/>
                </a:solidFill>
                <a:latin typeface="Calibri" pitchFamily="34" charset="0"/>
                <a:ea typeface="Calibri" pitchFamily="34" charset="-122"/>
                <a:cs typeface="Calibri" pitchFamily="34" charset="-120"/>
              </a:rPr>
              <a:t>Automating a broken process simply produces mistakes faster.</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3F6F5"/>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7315200" cy="201168"/>
          </a:xfrm>
          <a:prstGeom prst="rect">
            <a:avLst/>
          </a:prstGeom>
          <a:noFill/>
          <a:ln/>
        </p:spPr>
        <p:txBody>
          <a:bodyPr wrap="square" lIns="0" tIns="0" rIns="0" bIns="0" rtlCol="0" anchor="t"/>
          <a:lstStyle/>
          <a:p>
            <a:pPr marL="0" indent="0" algn="l">
              <a:buNone/>
            </a:pPr>
            <a:r>
              <a:rPr lang="en-US" sz="1000" b="1" kern="0" spc="200" dirty="0">
                <a:solidFill>
                  <a:srgbClr val="12735B"/>
                </a:solidFill>
                <a:latin typeface="Calibri" pitchFamily="34" charset="0"/>
                <a:ea typeface="Calibri" pitchFamily="34" charset="-122"/>
                <a:cs typeface="Calibri" pitchFamily="34" charset="-120"/>
              </a:rPr>
              <a:t>THE COURSE IN ONE DIAGRAM</a:t>
            </a:r>
            <a:endParaRPr lang="en-US" sz="1000" dirty="0"/>
          </a:p>
        </p:txBody>
      </p:sp>
      <p:sp>
        <p:nvSpPr>
          <p:cNvPr id="3" name="Text 1"/>
          <p:cNvSpPr txBox="1"/>
          <p:nvPr/>
        </p:nvSpPr>
        <p:spPr>
          <a:xfrm>
            <a:off x="457200" y="512064"/>
            <a:ext cx="8229600" cy="640080"/>
          </a:xfrm>
          <a:prstGeom prst="rect">
            <a:avLst/>
          </a:prstGeom>
          <a:noFill/>
          <a:ln/>
        </p:spPr>
        <p:txBody>
          <a:bodyPr wrap="square" lIns="0" tIns="0" rIns="0" bIns="0" rtlCol="0" anchor="ctr"/>
          <a:lstStyle/>
          <a:p>
            <a:pPr marL="0" indent="0" algn="l">
              <a:buNone/>
            </a:pPr>
            <a:r>
              <a:rPr lang="en-US" sz="2800" b="1" dirty="0">
                <a:solidFill>
                  <a:srgbClr val="0C2622"/>
                </a:solidFill>
                <a:latin typeface="Cambria" pitchFamily="34" charset="0"/>
                <a:ea typeface="Cambria" pitchFamily="34" charset="-122"/>
                <a:cs typeface="Cambria" pitchFamily="34" charset="-120"/>
              </a:rPr>
              <a:t>From AI knowledge to scale</a:t>
            </a:r>
            <a:endParaRPr lang="en-US" sz="2800" dirty="0"/>
          </a:p>
        </p:txBody>
      </p:sp>
      <p:sp>
        <p:nvSpPr>
          <p:cNvPr id="4" name="Text 2"/>
          <p:cNvSpPr txBox="1"/>
          <p:nvPr/>
        </p:nvSpPr>
        <p:spPr>
          <a:xfrm>
            <a:off x="457200" y="4864608"/>
            <a:ext cx="7315200" cy="182880"/>
          </a:xfrm>
          <a:prstGeom prst="rect">
            <a:avLst/>
          </a:prstGeom>
          <a:noFill/>
          <a:ln/>
        </p:spPr>
        <p:txBody>
          <a:bodyPr wrap="square" lIns="0" tIns="0" rIns="0" bIns="0" rtlCol="0" anchor="t"/>
          <a:lstStyle/>
          <a:p>
            <a:pPr marL="0" indent="0" algn="l">
              <a:buNone/>
            </a:pPr>
            <a:r>
              <a:rPr lang="en-US" sz="900" dirty="0">
                <a:solidFill>
                  <a:srgbClr val="587068"/>
                </a:solidFill>
                <a:latin typeface="Calibri" pitchFamily="34" charset="0"/>
                <a:ea typeface="Calibri" pitchFamily="34" charset="-122"/>
                <a:cs typeface="Calibri" pitchFamily="34" charset="-120"/>
              </a:rPr>
              <a:t>AI Venture Studio  ·  Islamic University of Technology</a:t>
            </a:r>
            <a:endParaRPr lang="en-US" sz="900" dirty="0"/>
          </a:p>
        </p:txBody>
      </p:sp>
      <p:sp>
        <p:nvSpPr>
          <p:cNvPr id="5" name="Text 3"/>
          <p:cNvSpPr txBox="1"/>
          <p:nvPr/>
        </p:nvSpPr>
        <p:spPr>
          <a:xfrm>
            <a:off x="8229600" y="4864608"/>
            <a:ext cx="457200" cy="182880"/>
          </a:xfrm>
          <a:prstGeom prst="rect">
            <a:avLst/>
          </a:prstGeom>
          <a:noFill/>
          <a:ln/>
        </p:spPr>
        <p:txBody>
          <a:bodyPr wrap="square" lIns="0" tIns="0" rIns="0" bIns="0" rtlCol="0" anchor="t"/>
          <a:lstStyle/>
          <a:p>
            <a:pPr marL="0" indent="0" algn="r">
              <a:buNone/>
            </a:pPr>
            <a:r>
              <a:rPr lang="en-US" sz="900" dirty="0">
                <a:solidFill>
                  <a:srgbClr val="587068"/>
                </a:solidFill>
                <a:latin typeface="Calibri" pitchFamily="34" charset="0"/>
                <a:ea typeface="Calibri" pitchFamily="34" charset="-122"/>
                <a:cs typeface="Calibri" pitchFamily="34" charset="-120"/>
              </a:rPr>
              <a:t>64</a:t>
            </a:r>
            <a:endParaRPr lang="en-US" sz="900" dirty="0"/>
          </a:p>
        </p:txBody>
      </p:sp>
      <p:sp>
        <p:nvSpPr>
          <p:cNvPr id="7" name="Shape 4"/>
          <p:cNvSpPr/>
          <p:nvPr/>
        </p:nvSpPr>
        <p:spPr>
          <a:xfrm>
            <a:off x="457200" y="1280160"/>
            <a:ext cx="1508760" cy="411480"/>
          </a:xfrm>
          <a:prstGeom prst="chevron">
            <a:avLst/>
          </a:prstGeom>
          <a:solidFill>
            <a:srgbClr val="0C2622"/>
          </a:solidFill>
          <a:ln/>
        </p:spPr>
      </p:sp>
      <p:sp>
        <p:nvSpPr>
          <p:cNvPr id="8" name="Text 5"/>
          <p:cNvSpPr txBox="1"/>
          <p:nvPr/>
        </p:nvSpPr>
        <p:spPr>
          <a:xfrm>
            <a:off x="594360" y="1280160"/>
            <a:ext cx="128016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FOUNDATION</a:t>
            </a:r>
            <a:endParaRPr lang="en-US" sz="1000" dirty="0"/>
          </a:p>
        </p:txBody>
      </p:sp>
      <p:sp>
        <p:nvSpPr>
          <p:cNvPr id="9" name="Shape 6"/>
          <p:cNvSpPr/>
          <p:nvPr/>
        </p:nvSpPr>
        <p:spPr>
          <a:xfrm>
            <a:off x="457200" y="1874520"/>
            <a:ext cx="1417320" cy="2743200"/>
          </a:xfrm>
          <a:prstGeom prst="roundRect">
            <a:avLst>
              <a:gd name="adj" fmla="val 6452"/>
            </a:avLst>
          </a:prstGeom>
          <a:solidFill>
            <a:srgbClr val="0C2622"/>
          </a:solidFill>
          <a:ln/>
          <a:effectLst>
            <a:outerShdw blurRad="101600" dist="25400" dir="5400000" algn="bl" rotWithShape="0">
              <a:srgbClr val="000000">
                <a:alpha val="10000"/>
              </a:srgbClr>
            </a:outerShdw>
          </a:effectLst>
        </p:spPr>
      </p:sp>
      <p:sp>
        <p:nvSpPr>
          <p:cNvPr id="10" name="Text 7"/>
          <p:cNvSpPr txBox="1"/>
          <p:nvPr/>
        </p:nvSpPr>
        <p:spPr>
          <a:xfrm>
            <a:off x="566928" y="1965960"/>
            <a:ext cx="1188720" cy="274320"/>
          </a:xfrm>
          <a:prstGeom prst="rect">
            <a:avLst/>
          </a:prstGeom>
          <a:noFill/>
          <a:ln/>
        </p:spPr>
        <p:txBody>
          <a:bodyPr wrap="square" lIns="0" tIns="0" rIns="0" bIns="0" rtlCol="0" anchor="t"/>
          <a:lstStyle/>
          <a:p>
            <a:pPr marL="0" indent="0" algn="l">
              <a:buNone/>
            </a:pPr>
            <a:r>
              <a:rPr lang="en-US" sz="1300" b="1" dirty="0">
                <a:solidFill>
                  <a:srgbClr val="F4A52A"/>
                </a:solidFill>
                <a:latin typeface="Cambria" pitchFamily="34" charset="0"/>
                <a:ea typeface="Cambria" pitchFamily="34" charset="-122"/>
                <a:cs typeface="Cambria" pitchFamily="34" charset="-120"/>
              </a:rPr>
              <a:t>AI knowledge</a:t>
            </a:r>
            <a:endParaRPr lang="en-US" sz="1300" dirty="0"/>
          </a:p>
        </p:txBody>
      </p:sp>
      <p:sp>
        <p:nvSpPr>
          <p:cNvPr id="11" name="Text 8"/>
          <p:cNvSpPr txBox="1"/>
          <p:nvPr/>
        </p:nvSpPr>
        <p:spPr>
          <a:xfrm>
            <a:off x="566928" y="2286000"/>
            <a:ext cx="1188720" cy="2286000"/>
          </a:xfrm>
          <a:prstGeom prst="rect">
            <a:avLst/>
          </a:prstGeom>
          <a:noFill/>
          <a:ln/>
        </p:spPr>
        <p:txBody>
          <a:bodyPr wrap="square" lIns="0" tIns="0" rIns="0" bIns="0"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Prompting · Models · Research · Agents · MCP</a:t>
            </a:r>
            <a:endParaRPr lang="en-US" sz="1050" dirty="0"/>
          </a:p>
        </p:txBody>
      </p:sp>
      <p:sp>
        <p:nvSpPr>
          <p:cNvPr id="12" name="Shape 9"/>
          <p:cNvSpPr/>
          <p:nvPr/>
        </p:nvSpPr>
        <p:spPr>
          <a:xfrm>
            <a:off x="1965960" y="1280160"/>
            <a:ext cx="1645920" cy="411480"/>
          </a:xfrm>
          <a:prstGeom prst="chevron">
            <a:avLst/>
          </a:prstGeom>
          <a:solidFill>
            <a:srgbClr val="1E9A7A"/>
          </a:solidFill>
          <a:ln/>
        </p:spPr>
      </p:sp>
      <p:sp>
        <p:nvSpPr>
          <p:cNvPr id="13" name="Text 10"/>
          <p:cNvSpPr txBox="1"/>
          <p:nvPr/>
        </p:nvSpPr>
        <p:spPr>
          <a:xfrm>
            <a:off x="2103120" y="1280160"/>
            <a:ext cx="14173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DISCOVER</a:t>
            </a:r>
            <a:endParaRPr lang="en-US" sz="1000" dirty="0"/>
          </a:p>
        </p:txBody>
      </p:sp>
      <p:sp>
        <p:nvSpPr>
          <p:cNvPr id="14" name="Shape 11"/>
          <p:cNvSpPr/>
          <p:nvPr/>
        </p:nvSpPr>
        <p:spPr>
          <a:xfrm>
            <a:off x="1965960" y="1874520"/>
            <a:ext cx="1554480" cy="1325880"/>
          </a:xfrm>
          <a:prstGeom prst="roundRect">
            <a:avLst>
              <a:gd name="adj" fmla="val 6897"/>
            </a:avLst>
          </a:prstGeom>
          <a:solidFill>
            <a:srgbClr val="FFFFFF"/>
          </a:solidFill>
          <a:ln/>
          <a:effectLst>
            <a:outerShdw blurRad="101600" dist="25400" dir="5400000" algn="bl" rotWithShape="0">
              <a:srgbClr val="000000">
                <a:alpha val="10000"/>
              </a:srgbClr>
            </a:outerShdw>
          </a:effectLst>
        </p:spPr>
      </p:sp>
      <p:sp>
        <p:nvSpPr>
          <p:cNvPr id="15" name="Text 12"/>
          <p:cNvSpPr txBox="1"/>
          <p:nvPr/>
        </p:nvSpPr>
        <p:spPr>
          <a:xfrm>
            <a:off x="2075688" y="1965960"/>
            <a:ext cx="132588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Problem</a:t>
            </a:r>
            <a:endParaRPr lang="en-US" sz="1300" dirty="0"/>
          </a:p>
        </p:txBody>
      </p:sp>
      <p:sp>
        <p:nvSpPr>
          <p:cNvPr id="16" name="Text 13"/>
          <p:cNvSpPr txBox="1"/>
          <p:nvPr/>
        </p:nvSpPr>
        <p:spPr>
          <a:xfrm>
            <a:off x="2075688" y="2286000"/>
            <a:ext cx="1325880" cy="8686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Who has a painful problem?</a:t>
            </a:r>
            <a:endParaRPr lang="en-US" sz="1050" dirty="0"/>
          </a:p>
        </p:txBody>
      </p:sp>
      <p:sp>
        <p:nvSpPr>
          <p:cNvPr id="17" name="Shape 14"/>
          <p:cNvSpPr/>
          <p:nvPr/>
        </p:nvSpPr>
        <p:spPr>
          <a:xfrm>
            <a:off x="1965960" y="3291840"/>
            <a:ext cx="1554480" cy="1325880"/>
          </a:xfrm>
          <a:prstGeom prst="roundRect">
            <a:avLst>
              <a:gd name="adj" fmla="val 6897"/>
            </a:avLst>
          </a:prstGeom>
          <a:solidFill>
            <a:srgbClr val="FFFFFF"/>
          </a:solidFill>
          <a:ln/>
          <a:effectLst>
            <a:outerShdw blurRad="101600" dist="25400" dir="5400000" algn="bl" rotWithShape="0">
              <a:srgbClr val="000000">
                <a:alpha val="10000"/>
              </a:srgbClr>
            </a:outerShdw>
          </a:effectLst>
        </p:spPr>
      </p:sp>
      <p:sp>
        <p:nvSpPr>
          <p:cNvPr id="18" name="Text 15"/>
          <p:cNvSpPr txBox="1"/>
          <p:nvPr/>
        </p:nvSpPr>
        <p:spPr>
          <a:xfrm>
            <a:off x="2075688" y="3383280"/>
            <a:ext cx="132588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Validation</a:t>
            </a:r>
            <a:endParaRPr lang="en-US" sz="1300" dirty="0"/>
          </a:p>
        </p:txBody>
      </p:sp>
      <p:sp>
        <p:nvSpPr>
          <p:cNvPr id="19" name="Text 16"/>
          <p:cNvSpPr txBox="1"/>
          <p:nvPr/>
        </p:nvSpPr>
        <p:spPr>
          <a:xfrm>
            <a:off x="2075688" y="3703320"/>
            <a:ext cx="1325880" cy="8686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Can we prove it?</a:t>
            </a:r>
            <a:endParaRPr lang="en-US" sz="1050" dirty="0"/>
          </a:p>
        </p:txBody>
      </p:sp>
      <p:sp>
        <p:nvSpPr>
          <p:cNvPr id="20" name="Shape 17"/>
          <p:cNvSpPr/>
          <p:nvPr/>
        </p:nvSpPr>
        <p:spPr>
          <a:xfrm>
            <a:off x="3611880" y="1280160"/>
            <a:ext cx="1645920" cy="411480"/>
          </a:xfrm>
          <a:prstGeom prst="chevron">
            <a:avLst/>
          </a:prstGeom>
          <a:solidFill>
            <a:srgbClr val="12735B"/>
          </a:solidFill>
          <a:ln/>
        </p:spPr>
      </p:sp>
      <p:sp>
        <p:nvSpPr>
          <p:cNvPr id="21" name="Text 18"/>
          <p:cNvSpPr txBox="1"/>
          <p:nvPr/>
        </p:nvSpPr>
        <p:spPr>
          <a:xfrm>
            <a:off x="3749040" y="1280160"/>
            <a:ext cx="14173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BUILD</a:t>
            </a:r>
            <a:endParaRPr lang="en-US" sz="1000" dirty="0"/>
          </a:p>
        </p:txBody>
      </p:sp>
      <p:sp>
        <p:nvSpPr>
          <p:cNvPr id="22" name="Shape 19"/>
          <p:cNvSpPr/>
          <p:nvPr/>
        </p:nvSpPr>
        <p:spPr>
          <a:xfrm>
            <a:off x="3611880" y="1874520"/>
            <a:ext cx="1554480" cy="1325880"/>
          </a:xfrm>
          <a:prstGeom prst="roundRect">
            <a:avLst>
              <a:gd name="adj" fmla="val 6897"/>
            </a:avLst>
          </a:prstGeom>
          <a:solidFill>
            <a:srgbClr val="FFFFFF"/>
          </a:solidFill>
          <a:ln/>
          <a:effectLst>
            <a:outerShdw blurRad="101600" dist="25400" dir="5400000" algn="bl" rotWithShape="0">
              <a:srgbClr val="000000">
                <a:alpha val="10000"/>
              </a:srgbClr>
            </a:outerShdw>
          </a:effectLst>
        </p:spPr>
      </p:sp>
      <p:sp>
        <p:nvSpPr>
          <p:cNvPr id="23" name="Text 20"/>
          <p:cNvSpPr txBox="1"/>
          <p:nvPr/>
        </p:nvSpPr>
        <p:spPr>
          <a:xfrm>
            <a:off x="3721608" y="1965960"/>
            <a:ext cx="132588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MVP</a:t>
            </a:r>
            <a:endParaRPr lang="en-US" sz="1300" dirty="0"/>
          </a:p>
        </p:txBody>
      </p:sp>
      <p:sp>
        <p:nvSpPr>
          <p:cNvPr id="24" name="Text 21"/>
          <p:cNvSpPr txBox="1"/>
          <p:nvPr/>
        </p:nvSpPr>
        <p:spPr>
          <a:xfrm>
            <a:off x="3721608" y="2286000"/>
            <a:ext cx="1325880" cy="8686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Can we solve it?</a:t>
            </a:r>
            <a:endParaRPr lang="en-US" sz="1050" dirty="0"/>
          </a:p>
        </p:txBody>
      </p:sp>
      <p:sp>
        <p:nvSpPr>
          <p:cNvPr id="25" name="Shape 22"/>
          <p:cNvSpPr/>
          <p:nvPr/>
        </p:nvSpPr>
        <p:spPr>
          <a:xfrm>
            <a:off x="3611880" y="3291840"/>
            <a:ext cx="1554480" cy="1325880"/>
          </a:xfrm>
          <a:prstGeom prst="roundRect">
            <a:avLst>
              <a:gd name="adj" fmla="val 6897"/>
            </a:avLst>
          </a:prstGeom>
          <a:solidFill>
            <a:srgbClr val="FFFFFF"/>
          </a:solidFill>
          <a:ln/>
          <a:effectLst>
            <a:outerShdw blurRad="101600" dist="25400" dir="5400000" algn="bl" rotWithShape="0">
              <a:srgbClr val="000000">
                <a:alpha val="10000"/>
              </a:srgbClr>
            </a:outerShdw>
          </a:effectLst>
        </p:spPr>
      </p:sp>
      <p:sp>
        <p:nvSpPr>
          <p:cNvPr id="26" name="Text 23"/>
          <p:cNvSpPr txBox="1"/>
          <p:nvPr/>
        </p:nvSpPr>
        <p:spPr>
          <a:xfrm>
            <a:off x="3721608" y="3383280"/>
            <a:ext cx="132588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Value</a:t>
            </a:r>
            <a:endParaRPr lang="en-US" sz="1300" dirty="0"/>
          </a:p>
        </p:txBody>
      </p:sp>
      <p:sp>
        <p:nvSpPr>
          <p:cNvPr id="27" name="Text 24"/>
          <p:cNvSpPr txBox="1"/>
          <p:nvPr/>
        </p:nvSpPr>
        <p:spPr>
          <a:xfrm>
            <a:off x="3721608" y="3703320"/>
            <a:ext cx="1325880" cy="8686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Will customers care?</a:t>
            </a:r>
            <a:endParaRPr lang="en-US" sz="1050" dirty="0"/>
          </a:p>
        </p:txBody>
      </p:sp>
      <p:sp>
        <p:nvSpPr>
          <p:cNvPr id="28" name="Shape 25"/>
          <p:cNvSpPr/>
          <p:nvPr/>
        </p:nvSpPr>
        <p:spPr>
          <a:xfrm>
            <a:off x="5257800" y="1280160"/>
            <a:ext cx="1645920" cy="411480"/>
          </a:xfrm>
          <a:prstGeom prst="chevron">
            <a:avLst/>
          </a:prstGeom>
          <a:solidFill>
            <a:srgbClr val="0F6350"/>
          </a:solidFill>
          <a:ln/>
        </p:spPr>
      </p:sp>
      <p:sp>
        <p:nvSpPr>
          <p:cNvPr id="29" name="Text 26"/>
          <p:cNvSpPr txBox="1"/>
          <p:nvPr/>
        </p:nvSpPr>
        <p:spPr>
          <a:xfrm>
            <a:off x="5394960" y="1280160"/>
            <a:ext cx="14173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SELL</a:t>
            </a:r>
            <a:endParaRPr lang="en-US" sz="1000" dirty="0"/>
          </a:p>
        </p:txBody>
      </p:sp>
      <p:sp>
        <p:nvSpPr>
          <p:cNvPr id="30" name="Shape 27"/>
          <p:cNvSpPr/>
          <p:nvPr/>
        </p:nvSpPr>
        <p:spPr>
          <a:xfrm>
            <a:off x="5257800" y="1874520"/>
            <a:ext cx="1554480" cy="1325880"/>
          </a:xfrm>
          <a:prstGeom prst="roundRect">
            <a:avLst>
              <a:gd name="adj" fmla="val 6897"/>
            </a:avLst>
          </a:prstGeom>
          <a:solidFill>
            <a:srgbClr val="FFFFFF"/>
          </a:solidFill>
          <a:ln/>
          <a:effectLst>
            <a:outerShdw blurRad="101600" dist="25400" dir="5400000" algn="bl" rotWithShape="0">
              <a:srgbClr val="000000">
                <a:alpha val="10000"/>
              </a:srgbClr>
            </a:outerShdw>
          </a:effectLst>
        </p:spPr>
      </p:sp>
      <p:sp>
        <p:nvSpPr>
          <p:cNvPr id="31" name="Text 28"/>
          <p:cNvSpPr txBox="1"/>
          <p:nvPr/>
        </p:nvSpPr>
        <p:spPr>
          <a:xfrm>
            <a:off x="5367528" y="1965960"/>
            <a:ext cx="132588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GTM</a:t>
            </a:r>
            <a:endParaRPr lang="en-US" sz="1300" dirty="0"/>
          </a:p>
        </p:txBody>
      </p:sp>
      <p:sp>
        <p:nvSpPr>
          <p:cNvPr id="32" name="Text 29"/>
          <p:cNvSpPr txBox="1"/>
          <p:nvPr/>
        </p:nvSpPr>
        <p:spPr>
          <a:xfrm>
            <a:off x="5367528" y="2286000"/>
            <a:ext cx="1325880" cy="8686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Can we reach them?</a:t>
            </a:r>
            <a:endParaRPr lang="en-US" sz="1050" dirty="0"/>
          </a:p>
        </p:txBody>
      </p:sp>
      <p:sp>
        <p:nvSpPr>
          <p:cNvPr id="33" name="Shape 30"/>
          <p:cNvSpPr/>
          <p:nvPr/>
        </p:nvSpPr>
        <p:spPr>
          <a:xfrm>
            <a:off x="5257800" y="3291840"/>
            <a:ext cx="1554480" cy="1325880"/>
          </a:xfrm>
          <a:prstGeom prst="roundRect">
            <a:avLst>
              <a:gd name="adj" fmla="val 6897"/>
            </a:avLst>
          </a:prstGeom>
          <a:solidFill>
            <a:srgbClr val="FFFFFF"/>
          </a:solidFill>
          <a:ln/>
          <a:effectLst>
            <a:outerShdw blurRad="101600" dist="25400" dir="5400000" algn="bl" rotWithShape="0">
              <a:srgbClr val="000000">
                <a:alpha val="10000"/>
              </a:srgbClr>
            </a:outerShdw>
          </a:effectLst>
        </p:spPr>
      </p:sp>
      <p:sp>
        <p:nvSpPr>
          <p:cNvPr id="34" name="Text 31"/>
          <p:cNvSpPr txBox="1"/>
          <p:nvPr/>
        </p:nvSpPr>
        <p:spPr>
          <a:xfrm>
            <a:off x="5367528" y="3383280"/>
            <a:ext cx="132588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Revenue</a:t>
            </a:r>
            <a:endParaRPr lang="en-US" sz="1300" dirty="0"/>
          </a:p>
        </p:txBody>
      </p:sp>
      <p:sp>
        <p:nvSpPr>
          <p:cNvPr id="35" name="Text 32"/>
          <p:cNvSpPr txBox="1"/>
          <p:nvPr/>
        </p:nvSpPr>
        <p:spPr>
          <a:xfrm>
            <a:off x="5367528" y="3703320"/>
            <a:ext cx="1325880" cy="86868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Will they pay?</a:t>
            </a:r>
            <a:endParaRPr lang="en-US" sz="1050" dirty="0"/>
          </a:p>
        </p:txBody>
      </p:sp>
      <p:sp>
        <p:nvSpPr>
          <p:cNvPr id="36" name="Shape 33"/>
          <p:cNvSpPr/>
          <p:nvPr/>
        </p:nvSpPr>
        <p:spPr>
          <a:xfrm>
            <a:off x="6903720" y="1280160"/>
            <a:ext cx="1828800" cy="411480"/>
          </a:xfrm>
          <a:prstGeom prst="chevron">
            <a:avLst/>
          </a:prstGeom>
          <a:solidFill>
            <a:srgbClr val="F4A52A"/>
          </a:solidFill>
          <a:ln/>
        </p:spPr>
      </p:sp>
      <p:sp>
        <p:nvSpPr>
          <p:cNvPr id="37" name="Text 34"/>
          <p:cNvSpPr txBox="1"/>
          <p:nvPr/>
        </p:nvSpPr>
        <p:spPr>
          <a:xfrm>
            <a:off x="7040880" y="1280160"/>
            <a:ext cx="1600200" cy="411480"/>
          </a:xfrm>
          <a:prstGeom prst="rect">
            <a:avLst/>
          </a:prstGeom>
          <a:noFill/>
          <a:ln/>
        </p:spPr>
        <p:txBody>
          <a:bodyPr wrap="square" lIns="0" tIns="0" rIns="0" bIns="0" rtlCol="0" anchor="ctr"/>
          <a:lstStyle/>
          <a:p>
            <a:pPr marL="0" indent="0" algn="ctr">
              <a:buNone/>
            </a:pPr>
            <a:r>
              <a:rPr lang="en-US" sz="1000" b="1" kern="0" spc="100" dirty="0">
                <a:solidFill>
                  <a:srgbClr val="0C2622"/>
                </a:solidFill>
                <a:latin typeface="Calibri" pitchFamily="34" charset="0"/>
                <a:ea typeface="Calibri" pitchFamily="34" charset="-122"/>
                <a:cs typeface="Calibri" pitchFamily="34" charset="-120"/>
              </a:rPr>
              <a:t>RUN &amp; SCALE</a:t>
            </a:r>
            <a:endParaRPr lang="en-US" sz="1000" dirty="0"/>
          </a:p>
        </p:txBody>
      </p:sp>
      <p:sp>
        <p:nvSpPr>
          <p:cNvPr id="38" name="Shape 35"/>
          <p:cNvSpPr/>
          <p:nvPr/>
        </p:nvSpPr>
        <p:spPr>
          <a:xfrm>
            <a:off x="6903720" y="1874520"/>
            <a:ext cx="1737360" cy="853440"/>
          </a:xfrm>
          <a:prstGeom prst="roundRect">
            <a:avLst>
              <a:gd name="adj" fmla="val 10714"/>
            </a:avLst>
          </a:prstGeom>
          <a:solidFill>
            <a:srgbClr val="FFFFFF"/>
          </a:solidFill>
          <a:ln/>
          <a:effectLst>
            <a:outerShdw blurRad="101600" dist="25400" dir="5400000" algn="bl" rotWithShape="0">
              <a:srgbClr val="000000">
                <a:alpha val="10000"/>
              </a:srgbClr>
            </a:outerShdw>
          </a:effectLst>
        </p:spPr>
      </p:sp>
      <p:sp>
        <p:nvSpPr>
          <p:cNvPr id="39" name="Text 36"/>
          <p:cNvSpPr txBox="1"/>
          <p:nvPr/>
        </p:nvSpPr>
        <p:spPr>
          <a:xfrm>
            <a:off x="7013448" y="1965960"/>
            <a:ext cx="150876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Operations</a:t>
            </a:r>
            <a:endParaRPr lang="en-US" sz="1300" dirty="0"/>
          </a:p>
        </p:txBody>
      </p:sp>
      <p:sp>
        <p:nvSpPr>
          <p:cNvPr id="40" name="Text 37"/>
          <p:cNvSpPr txBox="1"/>
          <p:nvPr/>
        </p:nvSpPr>
        <p:spPr>
          <a:xfrm>
            <a:off x="7013448" y="2286000"/>
            <a:ext cx="1508760" cy="39624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Can we deliver consistently?</a:t>
            </a:r>
            <a:endParaRPr lang="en-US" sz="1050" dirty="0"/>
          </a:p>
        </p:txBody>
      </p:sp>
      <p:sp>
        <p:nvSpPr>
          <p:cNvPr id="41" name="Shape 38"/>
          <p:cNvSpPr/>
          <p:nvPr/>
        </p:nvSpPr>
        <p:spPr>
          <a:xfrm>
            <a:off x="6903720" y="2819400"/>
            <a:ext cx="1737360" cy="853440"/>
          </a:xfrm>
          <a:prstGeom prst="roundRect">
            <a:avLst>
              <a:gd name="adj" fmla="val 10714"/>
            </a:avLst>
          </a:prstGeom>
          <a:solidFill>
            <a:srgbClr val="FFFFFF"/>
          </a:solidFill>
          <a:ln/>
          <a:effectLst>
            <a:outerShdw blurRad="101600" dist="25400" dir="5400000" algn="bl" rotWithShape="0">
              <a:srgbClr val="000000">
                <a:alpha val="10000"/>
              </a:srgbClr>
            </a:outerShdw>
          </a:effectLst>
        </p:spPr>
      </p:sp>
      <p:sp>
        <p:nvSpPr>
          <p:cNvPr id="42" name="Text 39"/>
          <p:cNvSpPr txBox="1"/>
          <p:nvPr/>
        </p:nvSpPr>
        <p:spPr>
          <a:xfrm>
            <a:off x="7013448" y="2910840"/>
            <a:ext cx="150876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Automation</a:t>
            </a:r>
            <a:endParaRPr lang="en-US" sz="1300" dirty="0"/>
          </a:p>
        </p:txBody>
      </p:sp>
      <p:sp>
        <p:nvSpPr>
          <p:cNvPr id="43" name="Text 40"/>
          <p:cNvSpPr txBox="1"/>
          <p:nvPr/>
        </p:nvSpPr>
        <p:spPr>
          <a:xfrm>
            <a:off x="7013448" y="3230880"/>
            <a:ext cx="1508760" cy="39624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What can AI run?</a:t>
            </a:r>
            <a:endParaRPr lang="en-US" sz="1050" dirty="0"/>
          </a:p>
        </p:txBody>
      </p:sp>
      <p:sp>
        <p:nvSpPr>
          <p:cNvPr id="44" name="Shape 41"/>
          <p:cNvSpPr/>
          <p:nvPr/>
        </p:nvSpPr>
        <p:spPr>
          <a:xfrm>
            <a:off x="6903720" y="3764280"/>
            <a:ext cx="1737360" cy="853440"/>
          </a:xfrm>
          <a:prstGeom prst="roundRect">
            <a:avLst>
              <a:gd name="adj" fmla="val 10714"/>
            </a:avLst>
          </a:prstGeom>
          <a:solidFill>
            <a:srgbClr val="FFFFFF"/>
          </a:solidFill>
          <a:ln/>
          <a:effectLst>
            <a:outerShdw blurRad="101600" dist="25400" dir="5400000" algn="bl" rotWithShape="0">
              <a:srgbClr val="000000">
                <a:alpha val="10000"/>
              </a:srgbClr>
            </a:outerShdw>
          </a:effectLst>
        </p:spPr>
      </p:sp>
      <p:sp>
        <p:nvSpPr>
          <p:cNvPr id="45" name="Text 42"/>
          <p:cNvSpPr txBox="1"/>
          <p:nvPr/>
        </p:nvSpPr>
        <p:spPr>
          <a:xfrm>
            <a:off x="7013448" y="3855720"/>
            <a:ext cx="1508760" cy="274320"/>
          </a:xfrm>
          <a:prstGeom prst="rect">
            <a:avLst/>
          </a:prstGeom>
          <a:noFill/>
          <a:ln/>
        </p:spPr>
        <p:txBody>
          <a:bodyPr wrap="square" lIns="0" tIns="0" rIns="0" bIns="0" rtlCol="0" anchor="t"/>
          <a:lstStyle/>
          <a:p>
            <a:pPr marL="0" indent="0" algn="l">
              <a:buNone/>
            </a:pPr>
            <a:r>
              <a:rPr lang="en-US" sz="1300" b="1" dirty="0">
                <a:solidFill>
                  <a:srgbClr val="12735B"/>
                </a:solidFill>
                <a:latin typeface="Cambria" pitchFamily="34" charset="0"/>
                <a:ea typeface="Cambria" pitchFamily="34" charset="-122"/>
                <a:cs typeface="Cambria" pitchFamily="34" charset="-120"/>
              </a:rPr>
              <a:t>Scale</a:t>
            </a:r>
            <a:endParaRPr lang="en-US" sz="1300" dirty="0"/>
          </a:p>
        </p:txBody>
      </p:sp>
      <p:sp>
        <p:nvSpPr>
          <p:cNvPr id="46" name="Text 43"/>
          <p:cNvSpPr txBox="1"/>
          <p:nvPr/>
        </p:nvSpPr>
        <p:spPr>
          <a:xfrm>
            <a:off x="7013448" y="4175760"/>
            <a:ext cx="1508760" cy="396240"/>
          </a:xfrm>
          <a:prstGeom prst="rect">
            <a:avLst/>
          </a:prstGeom>
          <a:noFill/>
          <a:ln/>
        </p:spPr>
        <p:txBody>
          <a:bodyPr wrap="square" lIns="0" tIns="0" rIns="0" bIns="0" rtlCol="0" anchor="t"/>
          <a:lstStyle/>
          <a:p>
            <a:pPr marL="0" indent="0" algn="l">
              <a:buNone/>
            </a:pPr>
            <a:r>
              <a:rPr lang="en-US" sz="1050" dirty="0">
                <a:solidFill>
                  <a:srgbClr val="15302B"/>
                </a:solidFill>
                <a:latin typeface="Calibri" pitchFamily="34" charset="0"/>
                <a:ea typeface="Calibri" pitchFamily="34" charset="-122"/>
                <a:cs typeface="Calibri" pitchFamily="34" charset="-120"/>
              </a:rPr>
              <a:t>What happens next?</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C2622"/>
        </a:solidFill>
        <a:effectLst/>
      </p:bgPr>
    </p:bg>
    <p:spTree>
      <p:nvGrpSpPr>
        <p:cNvPr id="1" name=""/>
        <p:cNvGrpSpPr/>
        <p:nvPr/>
      </p:nvGrpSpPr>
      <p:grpSpPr>
        <a:xfrm>
          <a:off x="0" y="0"/>
          <a:ext cx="0" cy="0"/>
          <a:chOff x="0" y="0"/>
          <a:chExt cx="0" cy="0"/>
        </a:xfrm>
      </p:grpSpPr>
      <p:sp>
        <p:nvSpPr>
          <p:cNvPr id="3" name="Text 0"/>
          <p:cNvSpPr txBox="1"/>
          <p:nvPr/>
        </p:nvSpPr>
        <p:spPr>
          <a:xfrm>
            <a:off x="548640" y="502920"/>
            <a:ext cx="7315200" cy="228600"/>
          </a:xfrm>
          <a:prstGeom prst="rect">
            <a:avLst/>
          </a:prstGeom>
          <a:noFill/>
          <a:ln/>
        </p:spPr>
        <p:txBody>
          <a:bodyPr wrap="square" lIns="0" tIns="0" rIns="0" bIns="0" rtlCol="0" anchor="t"/>
          <a:lstStyle/>
          <a:p>
            <a:pPr marL="0" indent="0" algn="l">
              <a:buNone/>
            </a:pPr>
            <a:r>
              <a:rPr lang="en-US" sz="1100" b="1" kern="0" spc="300" dirty="0">
                <a:solidFill>
                  <a:srgbClr val="F4A52A"/>
                </a:solidFill>
                <a:latin typeface="Calibri" pitchFamily="34" charset="0"/>
                <a:ea typeface="Calibri" pitchFamily="34" charset="-122"/>
                <a:cs typeface="Calibri" pitchFamily="34" charset="-120"/>
              </a:rPr>
              <a:t>THE ONE THING TO TAKE AWAY</a:t>
            </a:r>
            <a:endParaRPr lang="en-US" sz="1100" dirty="0"/>
          </a:p>
        </p:txBody>
      </p:sp>
      <p:sp>
        <p:nvSpPr>
          <p:cNvPr id="4" name="Text 1"/>
          <p:cNvSpPr txBox="1"/>
          <p:nvPr/>
        </p:nvSpPr>
        <p:spPr>
          <a:xfrm>
            <a:off x="548640" y="868680"/>
            <a:ext cx="8046720" cy="64008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Not “AI can build businesses.”</a:t>
            </a:r>
            <a:endParaRPr lang="en-US" sz="3000" dirty="0"/>
          </a:p>
        </p:txBody>
      </p:sp>
      <p:sp>
        <p:nvSpPr>
          <p:cNvPr id="5" name="Text 2"/>
          <p:cNvSpPr txBox="1"/>
          <p:nvPr/>
        </p:nvSpPr>
        <p:spPr>
          <a:xfrm>
            <a:off x="548640" y="1645920"/>
            <a:ext cx="7680960" cy="685800"/>
          </a:xfrm>
          <a:prstGeom prst="rect">
            <a:avLst/>
          </a:prstGeom>
          <a:noFill/>
          <a:ln/>
        </p:spPr>
        <p:txBody>
          <a:bodyPr wrap="square" lIns="0" tIns="0" rIns="0" bIns="0" rtlCol="0" anchor="t"/>
          <a:lstStyle/>
          <a:p>
            <a:pPr marL="0" indent="0" algn="l">
              <a:buNone/>
            </a:pPr>
            <a:r>
              <a:rPr lang="en-US" sz="1600" dirty="0">
                <a:solidFill>
                  <a:srgbClr val="DFF1EA"/>
                </a:solidFill>
                <a:latin typeface="Calibri" pitchFamily="34" charset="0"/>
                <a:ea typeface="Calibri" pitchFamily="34" charset="-122"/>
                <a:cs typeface="Calibri" pitchFamily="34" charset="-120"/>
              </a:rPr>
              <a:t>AI lets entrepreneurs test ideas, learn, build and execute much faster — but the entrepreneur is still responsible for:</a:t>
            </a:r>
            <a:endParaRPr lang="en-US" sz="1600" dirty="0"/>
          </a:p>
        </p:txBody>
      </p:sp>
      <p:sp>
        <p:nvSpPr>
          <p:cNvPr id="6" name="Shape 3"/>
          <p:cNvSpPr/>
          <p:nvPr/>
        </p:nvSpPr>
        <p:spPr>
          <a:xfrm>
            <a:off x="548640" y="2606040"/>
            <a:ext cx="1975104" cy="1280160"/>
          </a:xfrm>
          <a:prstGeom prst="roundRect">
            <a:avLst>
              <a:gd name="adj" fmla="val 7143"/>
            </a:avLst>
          </a:prstGeom>
          <a:solidFill>
            <a:srgbClr val="163B34"/>
          </a:solidFill>
          <a:ln/>
        </p:spPr>
      </p:sp>
      <p:sp>
        <p:nvSpPr>
          <p:cNvPr id="7" name="Shape 4"/>
          <p:cNvSpPr/>
          <p:nvPr/>
        </p:nvSpPr>
        <p:spPr>
          <a:xfrm>
            <a:off x="713232" y="2743200"/>
            <a:ext cx="411480" cy="411480"/>
          </a:xfrm>
          <a:prstGeom prst="ellipse">
            <a:avLst/>
          </a:prstGeom>
          <a:solidFill>
            <a:srgbClr val="F4A52A"/>
          </a:solidFill>
          <a:ln/>
        </p:spPr>
      </p:sp>
      <p:pic>
        <p:nvPicPr>
          <p:cNvPr id="8" name="Image 0" descr="preencoded.png"/>
          <p:cNvPicPr>
            <a:picLocks noChangeAspect="1"/>
          </p:cNvPicPr>
          <p:nvPr/>
        </p:nvPicPr>
        <p:blipFill>
          <a:blip r:embed="rId3"/>
          <a:stretch>
            <a:fillRect/>
          </a:stretch>
        </p:blipFill>
        <p:spPr>
          <a:xfrm>
            <a:off x="816102" y="2846070"/>
            <a:ext cx="205740" cy="205740"/>
          </a:xfrm>
          <a:prstGeom prst="rect">
            <a:avLst/>
          </a:prstGeom>
        </p:spPr>
      </p:pic>
      <p:sp>
        <p:nvSpPr>
          <p:cNvPr id="9" name="Text 5"/>
          <p:cNvSpPr txBox="1"/>
          <p:nvPr/>
        </p:nvSpPr>
        <p:spPr>
          <a:xfrm>
            <a:off x="713232" y="3246120"/>
            <a:ext cx="1691640" cy="59436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Deciding what problem is worth solving</a:t>
            </a:r>
            <a:endParaRPr lang="en-US" sz="1250" dirty="0"/>
          </a:p>
        </p:txBody>
      </p:sp>
      <p:sp>
        <p:nvSpPr>
          <p:cNvPr id="10" name="Shape 6"/>
          <p:cNvSpPr/>
          <p:nvPr/>
        </p:nvSpPr>
        <p:spPr>
          <a:xfrm>
            <a:off x="2633472" y="2606040"/>
            <a:ext cx="1975104" cy="1280160"/>
          </a:xfrm>
          <a:prstGeom prst="roundRect">
            <a:avLst>
              <a:gd name="adj" fmla="val 7143"/>
            </a:avLst>
          </a:prstGeom>
          <a:solidFill>
            <a:srgbClr val="163B34"/>
          </a:solidFill>
          <a:ln/>
        </p:spPr>
      </p:sp>
      <p:sp>
        <p:nvSpPr>
          <p:cNvPr id="11" name="Shape 7"/>
          <p:cNvSpPr/>
          <p:nvPr/>
        </p:nvSpPr>
        <p:spPr>
          <a:xfrm>
            <a:off x="2798064" y="2743200"/>
            <a:ext cx="411480" cy="411480"/>
          </a:xfrm>
          <a:prstGeom prst="ellipse">
            <a:avLst/>
          </a:prstGeom>
          <a:solidFill>
            <a:srgbClr val="F4A52A"/>
          </a:solidFill>
          <a:ln/>
        </p:spPr>
      </p:sp>
      <p:pic>
        <p:nvPicPr>
          <p:cNvPr id="12" name="Image 1" descr="preencoded.png"/>
          <p:cNvPicPr>
            <a:picLocks noChangeAspect="1"/>
          </p:cNvPicPr>
          <p:nvPr/>
        </p:nvPicPr>
        <p:blipFill>
          <a:blip r:embed="rId4"/>
          <a:stretch>
            <a:fillRect/>
          </a:stretch>
        </p:blipFill>
        <p:spPr>
          <a:xfrm>
            <a:off x="2900934" y="2846070"/>
            <a:ext cx="205740" cy="205740"/>
          </a:xfrm>
          <a:prstGeom prst="rect">
            <a:avLst/>
          </a:prstGeom>
        </p:spPr>
      </p:pic>
      <p:sp>
        <p:nvSpPr>
          <p:cNvPr id="13" name="Text 8"/>
          <p:cNvSpPr txBox="1"/>
          <p:nvPr/>
        </p:nvSpPr>
        <p:spPr>
          <a:xfrm>
            <a:off x="2798064" y="3246120"/>
            <a:ext cx="1691640" cy="59436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Understanding the customer</a:t>
            </a:r>
            <a:endParaRPr lang="en-US" sz="1250" dirty="0"/>
          </a:p>
        </p:txBody>
      </p:sp>
      <p:sp>
        <p:nvSpPr>
          <p:cNvPr id="14" name="Shape 9"/>
          <p:cNvSpPr/>
          <p:nvPr/>
        </p:nvSpPr>
        <p:spPr>
          <a:xfrm>
            <a:off x="4718304" y="2606040"/>
            <a:ext cx="1975104" cy="1280160"/>
          </a:xfrm>
          <a:prstGeom prst="roundRect">
            <a:avLst>
              <a:gd name="adj" fmla="val 7143"/>
            </a:avLst>
          </a:prstGeom>
          <a:solidFill>
            <a:srgbClr val="163B34"/>
          </a:solidFill>
          <a:ln/>
        </p:spPr>
      </p:sp>
      <p:sp>
        <p:nvSpPr>
          <p:cNvPr id="15" name="Shape 10"/>
          <p:cNvSpPr/>
          <p:nvPr/>
        </p:nvSpPr>
        <p:spPr>
          <a:xfrm>
            <a:off x="4882896" y="2743200"/>
            <a:ext cx="411480" cy="411480"/>
          </a:xfrm>
          <a:prstGeom prst="ellipse">
            <a:avLst/>
          </a:prstGeom>
          <a:solidFill>
            <a:srgbClr val="F4A52A"/>
          </a:solidFill>
          <a:ln/>
        </p:spPr>
      </p:sp>
      <p:pic>
        <p:nvPicPr>
          <p:cNvPr id="16" name="Image 2" descr="preencoded.png"/>
          <p:cNvPicPr>
            <a:picLocks noChangeAspect="1"/>
          </p:cNvPicPr>
          <p:nvPr/>
        </p:nvPicPr>
        <p:blipFill>
          <a:blip r:embed="rId5"/>
          <a:stretch>
            <a:fillRect/>
          </a:stretch>
        </p:blipFill>
        <p:spPr>
          <a:xfrm>
            <a:off x="4985766" y="2846070"/>
            <a:ext cx="205740" cy="205740"/>
          </a:xfrm>
          <a:prstGeom prst="rect">
            <a:avLst/>
          </a:prstGeom>
        </p:spPr>
      </p:pic>
      <p:sp>
        <p:nvSpPr>
          <p:cNvPr id="17" name="Text 11"/>
          <p:cNvSpPr txBox="1"/>
          <p:nvPr/>
        </p:nvSpPr>
        <p:spPr>
          <a:xfrm>
            <a:off x="4882896" y="3246120"/>
            <a:ext cx="1691640" cy="59436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Validating the evidence</a:t>
            </a:r>
            <a:endParaRPr lang="en-US" sz="1250" dirty="0"/>
          </a:p>
        </p:txBody>
      </p:sp>
      <p:sp>
        <p:nvSpPr>
          <p:cNvPr id="18" name="Shape 12"/>
          <p:cNvSpPr/>
          <p:nvPr/>
        </p:nvSpPr>
        <p:spPr>
          <a:xfrm>
            <a:off x="6803136" y="2606040"/>
            <a:ext cx="1975104" cy="1280160"/>
          </a:xfrm>
          <a:prstGeom prst="roundRect">
            <a:avLst>
              <a:gd name="adj" fmla="val 7143"/>
            </a:avLst>
          </a:prstGeom>
          <a:solidFill>
            <a:srgbClr val="163B34"/>
          </a:solidFill>
          <a:ln/>
        </p:spPr>
      </p:sp>
      <p:sp>
        <p:nvSpPr>
          <p:cNvPr id="19" name="Shape 13"/>
          <p:cNvSpPr/>
          <p:nvPr/>
        </p:nvSpPr>
        <p:spPr>
          <a:xfrm>
            <a:off x="6967728" y="2743200"/>
            <a:ext cx="411480" cy="411480"/>
          </a:xfrm>
          <a:prstGeom prst="ellipse">
            <a:avLst/>
          </a:prstGeom>
          <a:solidFill>
            <a:srgbClr val="F4A52A"/>
          </a:solidFill>
          <a:ln/>
        </p:spPr>
      </p:sp>
      <p:pic>
        <p:nvPicPr>
          <p:cNvPr id="20" name="Image 3" descr="preencoded.png"/>
          <p:cNvPicPr>
            <a:picLocks noChangeAspect="1"/>
          </p:cNvPicPr>
          <p:nvPr/>
        </p:nvPicPr>
        <p:blipFill>
          <a:blip r:embed="rId6"/>
          <a:stretch>
            <a:fillRect/>
          </a:stretch>
        </p:blipFill>
        <p:spPr>
          <a:xfrm>
            <a:off x="7070598" y="2846070"/>
            <a:ext cx="205740" cy="205740"/>
          </a:xfrm>
          <a:prstGeom prst="rect">
            <a:avLst/>
          </a:prstGeom>
        </p:spPr>
      </p:pic>
      <p:sp>
        <p:nvSpPr>
          <p:cNvPr id="21" name="Text 14"/>
          <p:cNvSpPr txBox="1"/>
          <p:nvPr/>
        </p:nvSpPr>
        <p:spPr>
          <a:xfrm>
            <a:off x="6967728" y="3246120"/>
            <a:ext cx="1691640" cy="59436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Making the final decisions</a:t>
            </a:r>
            <a:endParaRPr lang="en-US" sz="1250" dirty="0"/>
          </a:p>
        </p:txBody>
      </p:sp>
      <p:sp>
        <p:nvSpPr>
          <p:cNvPr id="22" name="Text 15"/>
          <p:cNvSpPr txBox="1"/>
          <p:nvPr/>
        </p:nvSpPr>
        <p:spPr>
          <a:xfrm>
            <a:off x="548640" y="4160520"/>
            <a:ext cx="8046720" cy="548640"/>
          </a:xfrm>
          <a:prstGeom prst="rect">
            <a:avLst/>
          </a:prstGeom>
          <a:noFill/>
          <a:ln/>
        </p:spPr>
        <p:txBody>
          <a:bodyPr wrap="square" lIns="0" tIns="0" rIns="0" bIns="0" rtlCol="0" anchor="t"/>
          <a:lstStyle/>
          <a:p>
            <a:pPr marL="0" indent="0" algn="l">
              <a:buNone/>
            </a:pPr>
            <a:r>
              <a:rPr lang="en-US" sz="1700" i="1" dirty="0">
                <a:solidFill>
                  <a:srgbClr val="F4A52A"/>
                </a:solidFill>
                <a:latin typeface="Cambria" pitchFamily="34" charset="0"/>
                <a:ea typeface="Cambria" pitchFamily="34" charset="-122"/>
                <a:cs typeface="Cambria" pitchFamily="34" charset="-120"/>
              </a:rPr>
              <a:t>That is the difference between simply using AI and becoming an AI-native entrepreneur.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8601</Words>
  <Application>Microsoft Office PowerPoint</Application>
  <PresentationFormat>On-screen Show (16:9)</PresentationFormat>
  <Paragraphs>1397</Paragraphs>
  <Slides>65</Slides>
  <Notes>65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Venture Studio — From MCP to Market</dc:title>
  <dc:subject>PptxGenJS Presentation</dc:subject>
  <dc:creator>PptxGenJS</dc:creator>
  <cp:lastModifiedBy>Dilara Khanam</cp:lastModifiedBy>
  <cp:revision>1</cp:revision>
  <dcterms:created xsi:type="dcterms:W3CDTF">2026-09-19T12:43:22Z</dcterms:created>
  <dcterms:modified xsi:type="dcterms:W3CDTF">2026-09-20T07:49:40Z</dcterms:modified>
</cp:coreProperties>
</file>