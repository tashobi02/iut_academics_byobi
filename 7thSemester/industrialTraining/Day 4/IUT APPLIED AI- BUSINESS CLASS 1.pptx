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85" r:id="rId4"/>
    <p:sldId id="286" r:id="rId5"/>
    <p:sldId id="287" r:id="rId6"/>
    <p:sldId id="292" r:id="rId7"/>
    <p:sldId id="293" r:id="rId8"/>
    <p:sldId id="294" r:id="rId9"/>
    <p:sldId id="262" r:id="rId10"/>
    <p:sldId id="288" r:id="rId11"/>
    <p:sldId id="289" r:id="rId12"/>
    <p:sldId id="290" r:id="rId13"/>
    <p:sldId id="291" r:id="rId14"/>
    <p:sldId id="258" r:id="rId15"/>
    <p:sldId id="281" r:id="rId16"/>
    <p:sldId id="259" r:id="rId17"/>
    <p:sldId id="260" r:id="rId18"/>
    <p:sldId id="261" r:id="rId19"/>
    <p:sldId id="268" r:id="rId20"/>
    <p:sldId id="282" r:id="rId21"/>
    <p:sldId id="284" r:id="rId22"/>
    <p:sldId id="283" r:id="rId23"/>
    <p:sldId id="263" r:id="rId24"/>
    <p:sldId id="265" r:id="rId25"/>
    <p:sldId id="266" r:id="rId26"/>
    <p:sldId id="267" r:id="rId27"/>
    <p:sldId id="270" r:id="rId28"/>
    <p:sldId id="295" r:id="rId29"/>
    <p:sldId id="264" r:id="rId30"/>
    <p:sldId id="271" r:id="rId31"/>
    <p:sldId id="272" r:id="rId32"/>
    <p:sldId id="273" r:id="rId33"/>
    <p:sldId id="274" r:id="rId34"/>
    <p:sldId id="280" r:id="rId35"/>
    <p:sldId id="275" r:id="rId36"/>
    <p:sldId id="276" r:id="rId37"/>
    <p:sldId id="277" r:id="rId38"/>
    <p:sldId id="278" r:id="rId39"/>
    <p:sldId id="279"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p:scale>
          <a:sx n="67" d="100"/>
          <a:sy n="67" d="100"/>
        </p:scale>
        <p:origin x="64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342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00–02. Welcome learners; state the outputs and the privacy rule before anyone opens a laptop. Read the opening safety statement in full: 'Today we use fictional or anonymized information. Do not enter confidential company data, passwords, private customer information, financial account details, identification numbers, or sensitive personal information. Removing a name alone may not make information safe. If you are uncertain, replace the example with a fictional one.' Keep the introduction short — no lengthy instructor bio. Ask learners to open their worksheet and find a partner while you talk. By the end of today each learner leaves with: a record of their current AI use and learning goal; one improved prompt transferred between tools where access permits; a simple business concept with labeled assumptions; a checked management update for Meghna Office Supplies; a three-task personal AI Work Stack; and a homework assignment.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30–60 second beat — show right after the title slide, before pair introductions, or skip straight to introductions if the room is running late; it isn't part of the timed 150-minute activity sequence. Source: McKinsey, 'The State of AI in Early 2024' (mckinsey.com/our-insights/the-state-of-ai-2024), based on an online survey of more than 1,363 respondents worldwide, weighted by each country's contribution to global GDP. 72% reported their organization uses AI in at least one business function; 65% reported regular generative-AI use specifically, up from about a third roughly ten months earlier. Both are self-reported survey results, not independently measured or audited — say this out loud, it's good modeling of the verification habit the whole session builds toward. At time of research (18 Sept 2026) this was the most recent McKinsey figure easily traceable to an official McKinsey page; McKinsey publishes updated surveys periodically, so check mckinsey.com for a newer release before reusing this stat in a future delivery. A parallel, separately-sourced data point for context if asked: Pew Research Center found US teens aged 13–17 reporting AI-chatbot use for schoolwork rose from 13% (2023) to 26% (2024) to 54% (2025) — that figure is US-specific and about teenagers, not university students, so it is not used on-slide here, only mentioned if a learner asks about trends closer to their own age group.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AND VERIFICATION NOTES (check before class — figures move fast):
1) SWE-bench Verified ~60% -&gt; ~100% in one year; frontier models meeting/exceeding human baselines on PhD-level science and competition math (one system won an International Mathematical Olympiad gold medal): Stanford HAI, 'Artificial Intelligence Index Report 2026' (hai.stanford.edu), as summarized by multiple outlets covering the April 2026 release.
2) GNoME / 2.2 million candidate crystal structures: Google DeepMind materials-discovery research, widely cited across 2025-2026 AI-for-science coverage.
3) AI-designed drug candidates in human trials: figure varies by tracker (roughly 100-175 depending on source and date) — this is a faster-moving, less centrally-audited number than the Stanford HAI figures above, so re-check a live tracker (e.g., a pharma-AI database) before quoting a specific count in class.
4) Computer-use agents and 1M+ token context as 2026 standard features: consistent across OpenAI, Google DeepMind, Anthropic and Mistral 2026 release notes.
Teaching tip: use this slide to model the same verification habit as the original 72%/65% slide — ask students which of these claims they would want to double-check before repeating it, and why the drug-trial figure is the shakiest of the four.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(compiled industry-adoption figures — treat as directional, not audited, and refresh before reuse):
Sector adoption percentages (retail/CPG 47%, financial services 70% of pilot activity, healthcare 68%, manufacturing 69%): compiled from 2026 industry surveys (NVIDIA State of AI, Gartner, ServiceNow) as aggregated in 2026 agentic-AI market roundups.
Bank of America 'Erica' handling 1B+ customer interactions: widely reported case study, originally a Bank of America disclosure.
SWE-bench Verified near 100%: Stanford HAI, AI Index Report 2026 (same source as Slide 1, point 1).
Teaching tip: ask each pair to pick the sector closest to their own field of study (or to Meghna Office Supplies) and name one task from that card they could try on a real AI tool this week.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88% of organizations using AI in at least one business function: McKinsey, 'The State of AI' survey (2025 edition), widely re-cited through 2026 including in secondary AI Index coverage.
$581.7B global corporate AI investment in 2025: Stanford HAI, AI Index Report 2026.
40% of enterprise applications projected to run task-specific AI agents by end of 2026 (up from &lt;5% in 2025): Gartner forecast, 2026, cited consistently across multiple independent 2026 enterprise-AI roundups.
Teaching tip: this mirrors the 72%/65% stat pattern from Slide 2 of the main deck — use it the same way, as a discussion opener, and remind students self-reported survey figures are not the same as independently audited numbers.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 the three terms are NOT a strict nesting (AI &gt; Generative &gt; Agentic). Generative AI and Agentic AI are two different capabilities/approaches that live inside the broader field of AI, and they overlap heavily in practice — most agentic products use a generative model as their 'reasoning brain.' Slide 2 makes that relationship explicit. Ask students: 'Is a Roomba agentic AI?' (It's autonomous and acts in the world, but usually rule-based, not built on a generative model — good discussion starter on where the boundary gets fuzzy.)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 draw this as a simple equation on the board — Agentic AI = Generative model (brain) + Planning/Memory/Tool-use (hands) + Autonomy (a loop that keeps going without a new prompt each step). This is a simplification for teaching, not a formal taxonomy — researchers still debate exact definitions of 'agent.' Good follow-up question: 'Which part is Claude Cowork or OpenClaw adding on top of the base model?' (Answer: the planning/tool-use/autonomy loop, not new language ability.)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OpenClaw explainer coverage (neurohive.io, modernmomplaybook.substack.com, learn.g2.com), Perplexity Computer coverage (secondtalent.com, eesel.ai), 2026. Teaching tip: this maps directly onto the 'Meet the New Players' slide that follows — use this slide to set up the category, then that one to name the specific tools.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15–20 (second half of this block, shared with the previous slide). Six platforms chosen because they cover distinct jobs, not because they're ranked. ChatGPT: useful for conversation, drafting, analysis, and file-based work; which tools are actually available depends on account tier and mode — a plain answer is not proof that web search happened. Claude: strong for long-form writing and structured revision against a brief; web search must be explicitly enabled to browse current information. Perplexity: convenient for web-based answers with visible sources; research-mode allowances differ by plan. Gemini: useful when its research, multimodal, or Google-Workspace-connected features fit the task; availability varies by account, age eligibility, and rollout. Microsoft Copilot: chat, writing, web-grounded research with cited sources, file/data analysis, and PowerPoint generation from a prompt, plus multi-step actions via Copilot Cowork with approval at each step — but the actual feature set depends heavily on the Microsoft 365 license. NotebookLM: a source-grounded research assistant — upload documents and it answers with inline citations tied only to what you gave it, which makes it a good teaching example of a tool that deliberately won't invent beyond its sources; it does not search the open web unless you've added web sources yourself. All six: none is universally best — match the task, then check the result. The full handout covers Canva AI (rebranded from 'Magic Studio' as of 2026 — use current naming), GitHub Copilot and Cursor for coding, Zapier/Make/n8n for automation, and Grok, DeepSeek, Meta AI, and Mistral/Le Chat, including a short case study on DeepSeek's data-residency and privacy considerations as a concrete example of 'check where your data goes.'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OpenClaw (neurohive.io, meta-intelligence.tech, learn.g2.com, 2026); Perplexity Computer (sacra.com, secondtalent.com, eesel.ai, buildfastwithai.com, 2026); Claude Cowork (Anthropic product listing); Manus (ssojet.com, nocode.mba, lindy.ai — pricing figures conflict across sources and change often, verify at manus.im before quoting an exact number). Teaching tip: ask pairs to guess which of the four they'd trust with their email inbox, and why — good lead-in to a safety/permissions discussion.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TechCrunch (6/18/2025), Calcalistech, WebsitePlanet, Anthropic customer story (claude.com/customers/base44), 2025–2026. Figures like $100M ARR are self-reported by the company — flag this to students as a habit to check.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Indie Hackers interview (goodreads.com/author_blog_posts, 2023), Supabase customer story, neuronfeed.com company profile, 2023–2026. Early figures are self-reported by the founder.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HeadshotPro's own “About” page (headshotpro.com/about), Unite.AI founder interview, dev.to profile, 2023–2026.</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02–06. Display the introduction prompt and give partners one minute each — do not let this run long. Then run the experience and confidence poll: normalize 'never used AI' as a completely fine answer; several people in most rooms will pick it. Ask learners to select their experience category and rate confidence 1–5. This sets the baseline you'll compare against the exit-ticket confidence rating at the end of class.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08B97-D380-F7FE-0B0B-5D517FE767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BD20AE-1D4F-89D4-93CF-C51634C710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DB4EDD-5872-5829-5C8F-55D6B844752F}"/>
              </a:ext>
            </a:extLst>
          </p:cNvPr>
          <p:cNvSpPr>
            <a:spLocks noGrp="1"/>
          </p:cNvSpPr>
          <p:nvPr>
            <p:ph type="body" idx="1"/>
          </p:nvPr>
        </p:nvSpPr>
        <p:spPr/>
        <p:txBody>
          <a:bodyPr/>
          <a:lstStyle/>
          <a:p>
            <a:r>
              <a:rPr lang="en-US" dirty="0"/>
              <a:t>02–06. Display the introduction prompt and give partners one minute each — do not let this run long. Then run the experience and confidence poll: normalize 'never used AI' as a completely fine answer; several people in most rooms will pick it. Ask learners to select their experience category and rate confidence 1–5. This sets the baseline you'll compare against the exit-ticket confidence rating at the end of class.</a:t>
            </a:r>
          </a:p>
        </p:txBody>
      </p:sp>
      <p:sp>
        <p:nvSpPr>
          <p:cNvPr id="4" name="Slide Number Placeholder 3">
            <a:extLst>
              <a:ext uri="{FF2B5EF4-FFF2-40B4-BE49-F238E27FC236}">
                <a16:creationId xmlns:a16="http://schemas.microsoft.com/office/drawing/2014/main" id="{6AF1C9F7-0FC2-ED97-224B-9BA9EDAABE11}"/>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0060653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06–10. Ask: which tools do you currently use, and what do you use them for? What frustrates you most? What would make today useful? Have learners check off the categories that fit on the discovery worksheet. Hear from two volunteers, not sixteen individual speeches — scan the room for patterns instead. Response: acknowledge the room's mix plainly, e.g. 'We have several beginners and several regular users today. You'll each complete your own work, and partners will help each other check it.' Keep names and discovery records out of AI tools.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10–15. Walk through the five foundational capabilities using one example throughout — comparing supplier trade-offs works well. Search: find relevant information or sources (e.g. locate official product warranty terms) — caution: a search result or citation may not support the claim. Reasoning: work through options, constraints, and explanations (e.g. compare supplier trade-offs) — caution: plausible reasoning can start from false assumptions. Generation: produce a new draft or structure (e.g. draft a customer email) — caution: a polished draft may invent commitments or details. Analysis: examine supplied information for patterns or metrics (e.g. calculate completed sales) — caution: check inputs, exclusions, formulas, units. Automation: run a defined process through connected tools (e.g. notify a team when a form arrives) — caution: requires permissions, testing, failure handling. Important distinction to state clearly: asking AI to describe a workflow does not mean the workflow has been connected or automated. Have learners classify the supplier-comparison example against these five.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15–20. These are examples of task fit, not rankings — say this out loud. Official documentation supports the capability summaries; access and limits differ by product and account. Framing line for Perplexity: convenient when you want a web-based answer with visible sources. ChatGPT: useful for conversation, drafting, analysis, and file-based work when the relevant tools are available. Claude: useful for writing, analysis, and structured revision against a brief. Gemini: convenient when its research, multimodal, or Google-connected features fit the task. Presentation tools: useful when the main output is a slide deck. None removes the need for human checking. Ask each learner to name one tool they want to test today. Sources for anyone who asks: ChatGPT (learn.chatgpt.com), Perplexity Research mode, Claude use cases and web search guidance, Gemini Deep Research and Canvas, Gamma creation guidance — full links in the handout.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60–65. Introduce the fictional dataset and the status rule before anyone calculates anything. Do not reveal the calculated answers at this stage — that comes at minute 110–120. Ask learners to identify which rows are eligible toward the target and what information is still missing (e.g. whether pending orders have expected completion dates, whether cancellations have known reasons). This sets up the later independent-checking exercise.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0A24A-F0D3-2E25-8A23-EC0C310291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1CA17B-B2F1-18F7-9E15-17EE1DF044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4FC122-4AD0-5F3E-C32B-B85C4E1E2F8F}"/>
              </a:ext>
            </a:extLst>
          </p:cNvPr>
          <p:cNvSpPr>
            <a:spLocks noGrp="1"/>
          </p:cNvSpPr>
          <p:nvPr>
            <p:ph type="body" idx="1"/>
          </p:nvPr>
        </p:nvSpPr>
        <p:spPr/>
        <p:txBody>
          <a:bodyPr/>
          <a:lstStyle/>
          <a:p>
            <a:r>
              <a:rPr lang="en-US" dirty="0"/>
              <a:t>60–65. Introduce the fictional dataset and the status rule before anyone calculates anything. Do not reveal the calculated answers at this stage — that comes at minute 110–120. Ask learners to identify which rows are eligible toward the target and what information is still missing (e.g. whether pending orders have expected completion dates, whether cancellations have known reasons). This sets up the later independent-checking exercise.</a:t>
            </a:r>
          </a:p>
        </p:txBody>
      </p:sp>
      <p:sp>
        <p:nvSpPr>
          <p:cNvPr id="4" name="Slide Number Placeholder 3">
            <a:extLst>
              <a:ext uri="{FF2B5EF4-FFF2-40B4-BE49-F238E27FC236}">
                <a16:creationId xmlns:a16="http://schemas.microsoft.com/office/drawing/2014/main" id="{8CC565A6-4AC3-3844-DCB9-504DBE5BC09F}"/>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5975940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5C58A-0042-9BCB-8C90-3B4F4C044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966061-CC10-17BE-61C4-D92962BC73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1DEEE1-FCAE-93CD-E5F3-5E9A21AAAD36}"/>
              </a:ext>
            </a:extLst>
          </p:cNvPr>
          <p:cNvSpPr>
            <a:spLocks noGrp="1"/>
          </p:cNvSpPr>
          <p:nvPr>
            <p:ph type="body" idx="1"/>
          </p:nvPr>
        </p:nvSpPr>
        <p:spPr/>
        <p:txBody>
          <a:bodyPr/>
          <a:lstStyle/>
          <a:p>
            <a:r>
              <a:rPr lang="en-US" dirty="0"/>
              <a:t>60–65. Introduce the fictional dataset and the status rule before anyone calculates anything. Do not reveal the calculated answers at this stage — that comes at minute 110–120. Ask learners to identify which rows are eligible toward the target and what information is still missing (e.g. whether pending orders have expected completion dates, whether cancellations have known reasons). This sets up the later independent-checking exercise.</a:t>
            </a:r>
          </a:p>
        </p:txBody>
      </p:sp>
      <p:sp>
        <p:nvSpPr>
          <p:cNvPr id="4" name="Slide Number Placeholder 3">
            <a:extLst>
              <a:ext uri="{FF2B5EF4-FFF2-40B4-BE49-F238E27FC236}">
                <a16:creationId xmlns:a16="http://schemas.microsoft.com/office/drawing/2014/main" id="{341A8F2A-23DD-3C06-28B5-696468C4B743}"/>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5292802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92CFB-586A-78A7-4015-0A87796A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4289DD-6F27-CFC7-9A87-FBCDBDDEE2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257551-CC18-90CD-43AA-14E84A802FA1}"/>
              </a:ext>
            </a:extLst>
          </p:cNvPr>
          <p:cNvSpPr>
            <a:spLocks noGrp="1"/>
          </p:cNvSpPr>
          <p:nvPr>
            <p:ph type="body" idx="1"/>
          </p:nvPr>
        </p:nvSpPr>
        <p:spPr/>
        <p:txBody>
          <a:bodyPr/>
          <a:lstStyle/>
          <a:p>
            <a:r>
              <a:rPr lang="en-US" dirty="0"/>
              <a:t>60–65. Introduce the fictional dataset and the status rule before anyone calculates anything. Do not reveal the calculated answers at this stage — that comes at minute 110–120. Ask learners to identify which rows are eligible toward the target and what information is still missing (e.g. whether pending orders have expected completion dates, whether cancellations have known reasons). This sets up the later independent-checking exercise.</a:t>
            </a:r>
          </a:p>
        </p:txBody>
      </p:sp>
      <p:sp>
        <p:nvSpPr>
          <p:cNvPr id="4" name="Slide Number Placeholder 3">
            <a:extLst>
              <a:ext uri="{FF2B5EF4-FFF2-40B4-BE49-F238E27FC236}">
                <a16:creationId xmlns:a16="http://schemas.microsoft.com/office/drawing/2014/main" id="{B1E3822E-4480-88E5-3DC3-FD4ABFE76C8C}"/>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0487115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20–30. Full ten-minute game, four rounds as shown. Distribute two cards per pair from the eight-card set (warranty terms / supplier comparison / customer email / recent statistics / five-slide pitch / spreadsheet analysis / landing-page prototype / form-triggered notification). Give one point for each well-explained element — not for naming a favorite platform. Multiple answers can be reasonable; the goal is the reasoning, the verification method, and the identified human decision, not a single correct tool.</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40–50. Improvement instruction to give learners verbatim: 'Improve this prompt so it specifies the customer, problem, fictional constraints, required output, assumptions, and a low-cost test. Do not invent missing context. Ask for it or use clearly labeled placeholders.' If only one tool is accessible to a pair, use two separate conversations instead and discuss the substitution openly — do not describe that as a tested cross-platform comparison.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50–55. Elements to teach, in order: one workspace / one purpose; clear role; stable background context; reusable instructions; a repeated output format; a verification checklist; a human approval point. Note that a Project, thread, workspace, or document can organize context but these are not identical features across platforms — ChatGPT's documentation describes organizing work through projects and chats as one example. Key caution to say aloud: restate important instructions periodically; a long conversation is not automatically better; never add sensitive information simply to preserve context. AI context and memory are not perfect — important instructions may need repeating, and important outputs must still be checked regardless of how long or well-organized the workspace is. Point learners to the 'start a new workspace when' list now visible on-slide, and connect it forward to the next slide's example.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55–60. Model this workspace live, or walk through it as a slide. Learners write their own short version: purpose, two rules, a checking method, and an approval point. A single named conversation is an acceptable fallback if a full 'project' feature isn't available on their account. Start a new workspace whenever the objective, audience, sensitivity, writing style, client, or instructions change significantly — this becomes the closing rule for this whole segment.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70–80. At 70–75: ask AI for three short options (one or two sentences each) using the campus lunch example or another low-risk idea such as office stationery replenishment, tutoring coordination, or study-material organization. At 75–80: guide selection with pair feedback — choose one problem, one customer, one possible solution. Keep reminding learners that 'interesting' is not the same as 'validated.'</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(verify before class — free-tier terms change often): ChatGPT free tier (techrepublic.com, engadget.com, gradually.ai, Aug 2026); Claude free tier (fast.io 'Is Claude AI Free?', Anthropic's own Feb 2026 free-plan-expansion announcement on X covering file creation/connectors/skills — cross-check against claude.ai/pricing for the exact current model); Perplexity free tier (secondtalent.com 'Perplexity AI Features 2026'); Manus free tier (ssojet.com, nocode.mba — credit numbers conflict across sources, treat as directional); Canva free tier (fast.io Canva AI review, eesel.ai Canva AI pricing, 2026). 'Manus' is assumed here — if the intended tool was something else, swap the card.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30–40. Live demonstration, not a full wait-for-results run — use prepared saved outputs as backup if any platform stalls; say 'this is a prepared example of the next stage' and move on. Stage detail: (1) Research — ask a source-oriented question about the actual capability of a tool like Google Forms for interest surveys, get a URL, a supported claim, and three business questions the source cannot answer. (2) Brief — turn findings into a reusable brief separating supplied facts, verified tool info, and assumptions; preserve the source URL. (3) Draft — paste the brief into a second tool for a concise draft, two assumptions, one low-cost demand test, no invented statistics. (4) Critique — a third tool reviews the draft against the brief for unsupported claims and missing constraints, improving structure without adding new facts. (5) Slides — paste the approved structure into a presentation tool for exactly five slides, preserving assumptions and links. (6) Check — ask learners which statement needs evidence and which remains a hypothesis. Final five-slide structure: customer problem (hypothesis) / proposed service &amp; customer / revenue model &amp; resources / assumptions &amp; unanswered questions / low-cost test &amp; human decision.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80–90. Display the exact return time on screen before stepping away and do not resume teaching content during the break. Return promptly at minute 90 to introduce the business-concept prompt.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90–105. 90–95: introduce the business-concept prompt (full text on the handout); learners enter their fictional context and answer up to three clarifying questions the assistant asks. Point out the four labels at the top — Fact / Assumption / Estimate / Recommendation — and ask learners to tag each line of their concept with one as they write, not after. 95–100: coach refinement toward a concise concept with clear assumptions and a test, capped at roughly 350 words. 100–105: peer review — the partner identifies one unsupported claim, and the learner revises. Each learner keeps their own version after revising. No single correct business idea exists here — look for coherence and honest uncertainty, not confident projections.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105–120. 105–110: give the management-update task — generate five metrics and a management update from the Meghna data using the copy-ready prompt from the handout. 110–115: require independent checking — calculate manually or with a spreadsheet/calculator; do not use another AI as the only checker. 115–120: coach a follow-up prompt to correct or refine the update, and have learners record what changed. Keep the answer key hidden until this point. Correct answers: Completed sales BDT 57,000; Pending BDT 39,000; Cancelled BDT 12,000; Target achieved 47.5%; Remaining gap BDT 63,000. If all pending later completed: BDT 96,000 completed, 80% achieved, BDT 24,000 gap remaining — a conditional calculation, not a prediction.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120–125. Reveal the full flawed statement in short chunks, then the answer key. Statement: 'There is one cancelled order. Meghna has achieved BDT 108,000 in completed sales, reaching 90% of its target. Sales are growing strongly because customers prefer its lower prices. All pending orders will complete tomorrow, so the company will exceed its target this month. Management should increase inventory by 30%.' Key: cancelled-order count — Supported. BDT 108,000 / 90% — Incorrect (adds all statuses; correct figures are BDT 57,000 and 47.5%). Growth claim, price-preference claim, completion-tomorrow claim, exceed-target claim — all Not established (no supporting data). Inventory increase — Recommendation lacking demand, stock, cost, and capacity evidence. Split compound claims before classifying. The fifth label, Requires verification, doesn't appear in this particular statement but is worth naming explicitly: it's for a claim that might be true but can't be judged from the data in front of you — the fix is checking an outside source, not recalculating (contrast with Not established, which means the supplied data plainly doesn't support the claim either way). Corrected version (read aloud): 'Meghna has BDT 57,000 in completed sales, achieving 47.5% of its BDT 120,000 target. Pending orders total BDT 39,000, and one cancelled order totals BDT 12,000. The current gap is BDT 63,000. Even if all pending orders complete, a BDT 24,000 gap remains. Growth, customer preferences, completion timing, and inventory requirements cannot be established from this table.'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9DF03-2051-3534-101D-CFED71135D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CFD067-E7ED-C660-5367-52FA001245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3F04E3-9B7D-800C-DE16-90034A967A75}"/>
              </a:ext>
            </a:extLst>
          </p:cNvPr>
          <p:cNvSpPr>
            <a:spLocks noGrp="1"/>
          </p:cNvSpPr>
          <p:nvPr>
            <p:ph type="body" idx="1"/>
          </p:nvPr>
        </p:nvSpPr>
        <p:spPr/>
        <p:txBody>
          <a:bodyPr/>
          <a:lstStyle/>
          <a:p>
            <a:r>
              <a:rPr lang="en-US" dirty="0"/>
              <a:t>120–125. Reveal the full flawed statement in short chunks, then the answer key. Statement: 'There is one cancelled order. Meghna has achieved BDT 108,000 in completed sales, reaching 90% of its target. Sales are growing strongly because customers prefer its lower prices. All pending orders will complete tomorrow, so the company will exceed its target this month. Management should increase inventory by 30%.' Key: cancelled-order count — Supported. BDT 108,000 / 90% — Incorrect (adds all statuses; correct figures are BDT 57,000 and 47.5%). Growth claim, price-preference claim, completion-tomorrow claim, exceed-target claim — all Not established (no supporting data). Inventory increase — Recommendation lacking demand, stock, cost, and capacity evidence. Split compound claims before classifying. The fifth label, Requires verification, doesn't appear in this particular statement but is worth naming explicitly: it's for a claim that might be true but can't be judged from the data in front of you — the fix is checking an outside source, not recalculating (contrast with Not established, which means the supplied data plainly doesn't support the claim either way). Corrected version (read aloud): 'Meghna has BDT 57,000 in completed sales, achieving 47.5% of its BDT 120,000 target. Pending orders total BDT 39,000, and one cancelled order totals BDT 12,000. The current gap is BDT 63,000. Even if all pending orders complete, a BDT 24,000 gap remains. Growth, customer preferences, completion timing, and inventory requirements cannot be established from this table.'</a:t>
            </a:r>
          </a:p>
        </p:txBody>
      </p:sp>
      <p:sp>
        <p:nvSpPr>
          <p:cNvPr id="4" name="Slide Number Placeholder 3">
            <a:extLst>
              <a:ext uri="{FF2B5EF4-FFF2-40B4-BE49-F238E27FC236}">
                <a16:creationId xmlns:a16="http://schemas.microsoft.com/office/drawing/2014/main" id="{40271F24-8AC4-24B0-8048-C675B8152206}"/>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23241712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125–130. Focus on the two most important uncertainties rather than trying to audit everything. Remind learners that a claim they themselves supplied is not automatically true either — the audit habit applies to their own input, not just AI output.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130–140. 130–135: learners select three tasks from their earlier 10-task inventory and fill three rows using the full template (task / input / primary capability / tool or category / required output / how I'll check / human approval point). Reject vague tasks — 'do marketing' becomes 'find three official sources about this product category and summarize evidence and gaps'; 'manage my business' becomes 'turn this week's sales table into five verified metrics and a 100-word update'; 'make a presentation' becomes 'turn this approved concept into five slides while preserving assumptions and source links'; 'handle meetings' becomes 'turn anonymized notes into decisions, owners, deadlines, and unresolved items.' 135–140: peer review — a partner checks tool fit, verification method, and approval point, and the learner revises anything vague.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140–145. Explain the homework mission and rubric; confirm the actual deadline and submission channel before class ends. Full submission list (13 items) is in the handout: task and desired outcome, tool(s) used and why, input used, first prompt and response, at least one follow-up prompt, final output, verification steps, corrections made (or what was checked if none needed), actual time spent including verification, what AI helped with, what still required human work, human approval point, and whether they'd use the same tool again and why.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145–149. Collect individual responses, not pair or group answers — this is evidence of individual learning. Six prompts in the full handout version: task, tool/category and why, what to check, which decision stays theirs, what's still unclear, and confidence now on a 1–5 scale (compare against their opening confidence from slide 2).</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149–150. Close exactly at minute 150. Final line to say aloud: 'Choose well. Check carefully. Keep the decision human.' Connect tool choice explicitly to responsibility — the tool changes what's easy to produce; it does not change who is accountable for the result.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3.jfif"/><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jfif"/><Relationship Id="rId4" Type="http://schemas.openxmlformats.org/officeDocument/2006/relationships/image" Target="../media/image4.jfif"/></Relationships>
</file>

<file path=ppt/slides/_rels/slide21.xml.rels><?xml version="1.0" encoding="UTF-8" standalone="yes"?>
<Relationships xmlns="http://schemas.openxmlformats.org/package/2006/relationships"><Relationship Id="rId3" Type="http://schemas.openxmlformats.org/officeDocument/2006/relationships/image" Target="../media/image5.jfif"/><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jfif"/><Relationship Id="rId4" Type="http://schemas.openxmlformats.org/officeDocument/2006/relationships/image" Target="../media/image7.jfif"/></Relationships>
</file>

<file path=ppt/slides/_rels/slide22.xml.rels><?xml version="1.0" encoding="UTF-8" standalone="yes"?>
<Relationships xmlns="http://schemas.openxmlformats.org/package/2006/relationships"><Relationship Id="rId3" Type="http://schemas.openxmlformats.org/officeDocument/2006/relationships/image" Target="../media/image10.jfif"/><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jfif"/><Relationship Id="rId4" Type="http://schemas.openxmlformats.org/officeDocument/2006/relationships/image" Target="../media/image11.jfi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10881360" y="5806440"/>
            <a:ext cx="41148" cy="41148"/>
          </a:xfrm>
          <a:prstGeom prst="ellipse">
            <a:avLst/>
          </a:prstGeom>
          <a:solidFill>
            <a:srgbClr val="3A3A3A"/>
          </a:solidFill>
          <a:ln/>
        </p:spPr>
      </p:sp>
      <p:sp>
        <p:nvSpPr>
          <p:cNvPr id="3" name="Shape 1"/>
          <p:cNvSpPr/>
          <p:nvPr/>
        </p:nvSpPr>
        <p:spPr>
          <a:xfrm>
            <a:off x="11055096" y="5806440"/>
            <a:ext cx="41148" cy="41148"/>
          </a:xfrm>
          <a:prstGeom prst="ellipse">
            <a:avLst/>
          </a:prstGeom>
          <a:solidFill>
            <a:srgbClr val="3A3A3A"/>
          </a:solidFill>
          <a:ln/>
        </p:spPr>
      </p:sp>
      <p:sp>
        <p:nvSpPr>
          <p:cNvPr id="4" name="Shape 2"/>
          <p:cNvSpPr/>
          <p:nvPr/>
        </p:nvSpPr>
        <p:spPr>
          <a:xfrm>
            <a:off x="11228832" y="5806440"/>
            <a:ext cx="41148" cy="41148"/>
          </a:xfrm>
          <a:prstGeom prst="ellipse">
            <a:avLst/>
          </a:prstGeom>
          <a:solidFill>
            <a:srgbClr val="3A3A3A"/>
          </a:solidFill>
          <a:ln/>
        </p:spPr>
      </p:sp>
      <p:sp>
        <p:nvSpPr>
          <p:cNvPr id="5" name="Shape 3"/>
          <p:cNvSpPr/>
          <p:nvPr/>
        </p:nvSpPr>
        <p:spPr>
          <a:xfrm>
            <a:off x="11402568" y="5806440"/>
            <a:ext cx="41148" cy="41148"/>
          </a:xfrm>
          <a:prstGeom prst="ellipse">
            <a:avLst/>
          </a:prstGeom>
          <a:solidFill>
            <a:srgbClr val="3A3A3A"/>
          </a:solidFill>
          <a:ln/>
        </p:spPr>
      </p:sp>
      <p:sp>
        <p:nvSpPr>
          <p:cNvPr id="6" name="Shape 4"/>
          <p:cNvSpPr/>
          <p:nvPr/>
        </p:nvSpPr>
        <p:spPr>
          <a:xfrm>
            <a:off x="11576304" y="5806440"/>
            <a:ext cx="41148" cy="41148"/>
          </a:xfrm>
          <a:prstGeom prst="ellipse">
            <a:avLst/>
          </a:prstGeom>
          <a:solidFill>
            <a:srgbClr val="3A3A3A"/>
          </a:solidFill>
          <a:ln/>
        </p:spPr>
      </p:sp>
      <p:sp>
        <p:nvSpPr>
          <p:cNvPr id="7" name="Shape 5"/>
          <p:cNvSpPr/>
          <p:nvPr/>
        </p:nvSpPr>
        <p:spPr>
          <a:xfrm>
            <a:off x="11750040" y="5806440"/>
            <a:ext cx="41148" cy="41148"/>
          </a:xfrm>
          <a:prstGeom prst="ellipse">
            <a:avLst/>
          </a:prstGeom>
          <a:solidFill>
            <a:srgbClr val="3A3A3A"/>
          </a:solidFill>
          <a:ln/>
        </p:spPr>
      </p:sp>
      <p:sp>
        <p:nvSpPr>
          <p:cNvPr id="8" name="Shape 6"/>
          <p:cNvSpPr/>
          <p:nvPr/>
        </p:nvSpPr>
        <p:spPr>
          <a:xfrm>
            <a:off x="10881360" y="5980176"/>
            <a:ext cx="41148" cy="41148"/>
          </a:xfrm>
          <a:prstGeom prst="ellipse">
            <a:avLst/>
          </a:prstGeom>
          <a:solidFill>
            <a:srgbClr val="3A3A3A"/>
          </a:solidFill>
          <a:ln/>
        </p:spPr>
      </p:sp>
      <p:sp>
        <p:nvSpPr>
          <p:cNvPr id="9" name="Shape 7"/>
          <p:cNvSpPr/>
          <p:nvPr/>
        </p:nvSpPr>
        <p:spPr>
          <a:xfrm>
            <a:off x="11055096" y="5980176"/>
            <a:ext cx="41148" cy="41148"/>
          </a:xfrm>
          <a:prstGeom prst="ellipse">
            <a:avLst/>
          </a:prstGeom>
          <a:solidFill>
            <a:srgbClr val="3A3A3A"/>
          </a:solidFill>
          <a:ln/>
        </p:spPr>
      </p:sp>
      <p:sp>
        <p:nvSpPr>
          <p:cNvPr id="10" name="Shape 8"/>
          <p:cNvSpPr/>
          <p:nvPr/>
        </p:nvSpPr>
        <p:spPr>
          <a:xfrm>
            <a:off x="11228832" y="5980176"/>
            <a:ext cx="41148" cy="41148"/>
          </a:xfrm>
          <a:prstGeom prst="ellipse">
            <a:avLst/>
          </a:prstGeom>
          <a:solidFill>
            <a:srgbClr val="3A3A3A"/>
          </a:solidFill>
          <a:ln/>
        </p:spPr>
      </p:sp>
      <p:sp>
        <p:nvSpPr>
          <p:cNvPr id="11" name="Shape 9"/>
          <p:cNvSpPr/>
          <p:nvPr/>
        </p:nvSpPr>
        <p:spPr>
          <a:xfrm>
            <a:off x="11402568" y="5980176"/>
            <a:ext cx="41148" cy="41148"/>
          </a:xfrm>
          <a:prstGeom prst="ellipse">
            <a:avLst/>
          </a:prstGeom>
          <a:solidFill>
            <a:srgbClr val="3A3A3A"/>
          </a:solidFill>
          <a:ln/>
        </p:spPr>
      </p:sp>
      <p:sp>
        <p:nvSpPr>
          <p:cNvPr id="12" name="Shape 10"/>
          <p:cNvSpPr/>
          <p:nvPr/>
        </p:nvSpPr>
        <p:spPr>
          <a:xfrm>
            <a:off x="11576304" y="5980176"/>
            <a:ext cx="41148" cy="41148"/>
          </a:xfrm>
          <a:prstGeom prst="ellipse">
            <a:avLst/>
          </a:prstGeom>
          <a:solidFill>
            <a:srgbClr val="3A3A3A"/>
          </a:solidFill>
          <a:ln/>
        </p:spPr>
      </p:sp>
      <p:sp>
        <p:nvSpPr>
          <p:cNvPr id="13" name="Shape 11"/>
          <p:cNvSpPr/>
          <p:nvPr/>
        </p:nvSpPr>
        <p:spPr>
          <a:xfrm>
            <a:off x="11750040" y="5980176"/>
            <a:ext cx="41148" cy="41148"/>
          </a:xfrm>
          <a:prstGeom prst="ellipse">
            <a:avLst/>
          </a:prstGeom>
          <a:solidFill>
            <a:srgbClr val="3A3A3A"/>
          </a:solidFill>
          <a:ln/>
        </p:spPr>
      </p:sp>
      <p:sp>
        <p:nvSpPr>
          <p:cNvPr id="14" name="Shape 12"/>
          <p:cNvSpPr/>
          <p:nvPr/>
        </p:nvSpPr>
        <p:spPr>
          <a:xfrm>
            <a:off x="10881360" y="6153912"/>
            <a:ext cx="41148" cy="41148"/>
          </a:xfrm>
          <a:prstGeom prst="ellipse">
            <a:avLst/>
          </a:prstGeom>
          <a:solidFill>
            <a:srgbClr val="3A3A3A"/>
          </a:solidFill>
          <a:ln/>
        </p:spPr>
      </p:sp>
      <p:sp>
        <p:nvSpPr>
          <p:cNvPr id="15" name="Shape 13"/>
          <p:cNvSpPr/>
          <p:nvPr/>
        </p:nvSpPr>
        <p:spPr>
          <a:xfrm>
            <a:off x="11055096" y="6153912"/>
            <a:ext cx="41148" cy="41148"/>
          </a:xfrm>
          <a:prstGeom prst="ellipse">
            <a:avLst/>
          </a:prstGeom>
          <a:solidFill>
            <a:srgbClr val="3A3A3A"/>
          </a:solidFill>
          <a:ln/>
        </p:spPr>
      </p:sp>
      <p:sp>
        <p:nvSpPr>
          <p:cNvPr id="16" name="Shape 14"/>
          <p:cNvSpPr/>
          <p:nvPr/>
        </p:nvSpPr>
        <p:spPr>
          <a:xfrm>
            <a:off x="11228832" y="6153912"/>
            <a:ext cx="41148" cy="41148"/>
          </a:xfrm>
          <a:prstGeom prst="ellipse">
            <a:avLst/>
          </a:prstGeom>
          <a:solidFill>
            <a:srgbClr val="3A3A3A"/>
          </a:solidFill>
          <a:ln/>
        </p:spPr>
      </p:sp>
      <p:sp>
        <p:nvSpPr>
          <p:cNvPr id="17" name="Shape 15"/>
          <p:cNvSpPr/>
          <p:nvPr/>
        </p:nvSpPr>
        <p:spPr>
          <a:xfrm>
            <a:off x="11402568" y="6153912"/>
            <a:ext cx="41148" cy="41148"/>
          </a:xfrm>
          <a:prstGeom prst="ellipse">
            <a:avLst/>
          </a:prstGeom>
          <a:solidFill>
            <a:srgbClr val="3A3A3A"/>
          </a:solidFill>
          <a:ln/>
        </p:spPr>
      </p:sp>
      <p:sp>
        <p:nvSpPr>
          <p:cNvPr id="18" name="Shape 16"/>
          <p:cNvSpPr/>
          <p:nvPr/>
        </p:nvSpPr>
        <p:spPr>
          <a:xfrm>
            <a:off x="11576304" y="6153912"/>
            <a:ext cx="41148" cy="41148"/>
          </a:xfrm>
          <a:prstGeom prst="ellipse">
            <a:avLst/>
          </a:prstGeom>
          <a:solidFill>
            <a:srgbClr val="3A3A3A"/>
          </a:solidFill>
          <a:ln/>
        </p:spPr>
      </p:sp>
      <p:sp>
        <p:nvSpPr>
          <p:cNvPr id="19" name="Shape 17"/>
          <p:cNvSpPr/>
          <p:nvPr/>
        </p:nvSpPr>
        <p:spPr>
          <a:xfrm>
            <a:off x="11750040" y="6153912"/>
            <a:ext cx="41148" cy="41148"/>
          </a:xfrm>
          <a:prstGeom prst="ellipse">
            <a:avLst/>
          </a:prstGeom>
          <a:solidFill>
            <a:srgbClr val="3A3A3A"/>
          </a:solidFill>
          <a:ln/>
        </p:spPr>
      </p:sp>
      <p:sp>
        <p:nvSpPr>
          <p:cNvPr id="20" name="Shape 18"/>
          <p:cNvSpPr/>
          <p:nvPr/>
        </p:nvSpPr>
        <p:spPr>
          <a:xfrm>
            <a:off x="10881360" y="6327648"/>
            <a:ext cx="41148" cy="41148"/>
          </a:xfrm>
          <a:prstGeom prst="ellipse">
            <a:avLst/>
          </a:prstGeom>
          <a:solidFill>
            <a:srgbClr val="3A3A3A"/>
          </a:solidFill>
          <a:ln/>
        </p:spPr>
      </p:sp>
      <p:sp>
        <p:nvSpPr>
          <p:cNvPr id="21" name="Shape 19"/>
          <p:cNvSpPr/>
          <p:nvPr/>
        </p:nvSpPr>
        <p:spPr>
          <a:xfrm>
            <a:off x="11055096" y="6327648"/>
            <a:ext cx="41148" cy="41148"/>
          </a:xfrm>
          <a:prstGeom prst="ellipse">
            <a:avLst/>
          </a:prstGeom>
          <a:solidFill>
            <a:srgbClr val="3A3A3A"/>
          </a:solidFill>
          <a:ln/>
        </p:spPr>
      </p:sp>
      <p:sp>
        <p:nvSpPr>
          <p:cNvPr id="22" name="Shape 20"/>
          <p:cNvSpPr/>
          <p:nvPr/>
        </p:nvSpPr>
        <p:spPr>
          <a:xfrm>
            <a:off x="11228832" y="6327648"/>
            <a:ext cx="41148" cy="41148"/>
          </a:xfrm>
          <a:prstGeom prst="ellipse">
            <a:avLst/>
          </a:prstGeom>
          <a:solidFill>
            <a:srgbClr val="3A3A3A"/>
          </a:solidFill>
          <a:ln/>
        </p:spPr>
      </p:sp>
      <p:sp>
        <p:nvSpPr>
          <p:cNvPr id="23" name="Shape 21"/>
          <p:cNvSpPr/>
          <p:nvPr/>
        </p:nvSpPr>
        <p:spPr>
          <a:xfrm>
            <a:off x="11402568" y="6327648"/>
            <a:ext cx="41148" cy="41148"/>
          </a:xfrm>
          <a:prstGeom prst="ellipse">
            <a:avLst/>
          </a:prstGeom>
          <a:solidFill>
            <a:srgbClr val="3A3A3A"/>
          </a:solidFill>
          <a:ln/>
        </p:spPr>
      </p:sp>
      <p:sp>
        <p:nvSpPr>
          <p:cNvPr id="24" name="Shape 22"/>
          <p:cNvSpPr/>
          <p:nvPr/>
        </p:nvSpPr>
        <p:spPr>
          <a:xfrm>
            <a:off x="11576304" y="6327648"/>
            <a:ext cx="41148" cy="41148"/>
          </a:xfrm>
          <a:prstGeom prst="ellipse">
            <a:avLst/>
          </a:prstGeom>
          <a:solidFill>
            <a:srgbClr val="3A3A3A"/>
          </a:solidFill>
          <a:ln/>
        </p:spPr>
      </p:sp>
      <p:sp>
        <p:nvSpPr>
          <p:cNvPr id="25" name="Shape 23"/>
          <p:cNvSpPr/>
          <p:nvPr/>
        </p:nvSpPr>
        <p:spPr>
          <a:xfrm>
            <a:off x="11750040" y="6327648"/>
            <a:ext cx="41148" cy="41148"/>
          </a:xfrm>
          <a:prstGeom prst="ellipse">
            <a:avLst/>
          </a:prstGeom>
          <a:solidFill>
            <a:srgbClr val="3A3A3A"/>
          </a:solidFill>
          <a:ln/>
        </p:spPr>
      </p:sp>
      <p:sp>
        <p:nvSpPr>
          <p:cNvPr id="26" name="Text 24"/>
          <p:cNvSpPr txBox="1"/>
          <p:nvPr/>
        </p:nvSpPr>
        <p:spPr>
          <a:xfrm>
            <a:off x="640080" y="594360"/>
            <a:ext cx="7315200" cy="274320"/>
          </a:xfrm>
          <a:prstGeom prst="rect">
            <a:avLst/>
          </a:prstGeom>
          <a:noFill/>
          <a:ln/>
        </p:spPr>
        <p:txBody>
          <a:bodyPr wrap="square" lIns="0" tIns="0" rIns="0" bIns="0" rtlCol="0" anchor="ctr"/>
          <a:lstStyle/>
          <a:p>
            <a:pPr marL="0" indent="0">
              <a:buNone/>
            </a:pPr>
            <a:r>
              <a:rPr lang="en-US" sz="1200" b="1" kern="0" spc="250" dirty="0">
                <a:solidFill>
                  <a:srgbClr val="A9A59A"/>
                </a:solidFill>
                <a:latin typeface="Arial" pitchFamily="34" charset="0"/>
                <a:ea typeface="Arial" pitchFamily="34" charset="-122"/>
                <a:cs typeface="Arial" pitchFamily="34" charset="-120"/>
              </a:rPr>
              <a:t>CLASS 1 · AI AS A BUSINESS TOOL</a:t>
            </a:r>
            <a:endParaRPr lang="en-US" sz="1200" dirty="0"/>
          </a:p>
        </p:txBody>
      </p:sp>
      <p:sp>
        <p:nvSpPr>
          <p:cNvPr id="27" name="Text 25"/>
          <p:cNvSpPr txBox="1"/>
          <p:nvPr/>
        </p:nvSpPr>
        <p:spPr>
          <a:xfrm>
            <a:off x="621792" y="1417320"/>
            <a:ext cx="10515600" cy="1554480"/>
          </a:xfrm>
          <a:prstGeom prst="rect">
            <a:avLst/>
          </a:prstGeom>
          <a:noFill/>
          <a:ln/>
        </p:spPr>
        <p:txBody>
          <a:bodyPr wrap="square" lIns="0" tIns="0" rIns="0" bIns="0" rtlCol="0" anchor="ctr"/>
          <a:lstStyle/>
          <a:p>
            <a:pPr marL="0" indent="0">
              <a:buNone/>
            </a:pPr>
            <a:r>
              <a:rPr lang="en-US" sz="5800" b="1" dirty="0">
                <a:solidFill>
                  <a:srgbClr val="FFFFFF"/>
                </a:solidFill>
                <a:latin typeface="Arial" pitchFamily="34" charset="0"/>
                <a:ea typeface="Arial" pitchFamily="34" charset="-122"/>
                <a:cs typeface="Arial" pitchFamily="34" charset="-120"/>
              </a:rPr>
              <a:t>Your AI Workbench</a:t>
            </a:r>
            <a:endParaRPr lang="en-US" sz="5800" dirty="0"/>
          </a:p>
        </p:txBody>
      </p:sp>
      <p:sp>
        <p:nvSpPr>
          <p:cNvPr id="28" name="Text 26"/>
          <p:cNvSpPr txBox="1"/>
          <p:nvPr/>
        </p:nvSpPr>
        <p:spPr>
          <a:xfrm>
            <a:off x="640080" y="2880360"/>
            <a:ext cx="9692640" cy="548640"/>
          </a:xfrm>
          <a:prstGeom prst="rect">
            <a:avLst/>
          </a:prstGeom>
          <a:noFill/>
          <a:ln/>
        </p:spPr>
        <p:txBody>
          <a:bodyPr wrap="square" lIns="0" tIns="0" rIns="0" bIns="0" rtlCol="0" anchor="ctr"/>
          <a:lstStyle/>
          <a:p>
            <a:pPr marL="0" indent="0">
              <a:buNone/>
            </a:pPr>
            <a:r>
              <a:rPr lang="en-US" sz="1900" dirty="0">
                <a:solidFill>
                  <a:srgbClr val="D8D4C8"/>
                </a:solidFill>
                <a:latin typeface="Arial" pitchFamily="34" charset="0"/>
                <a:ea typeface="Arial" pitchFamily="34" charset="-122"/>
                <a:cs typeface="Arial" pitchFamily="34" charset="-120"/>
              </a:rPr>
              <a:t>A business concept. A checked update. Your own workflow.</a:t>
            </a:r>
            <a:endParaRPr lang="en-US" sz="1900" dirty="0"/>
          </a:p>
        </p:txBody>
      </p:sp>
      <p:sp>
        <p:nvSpPr>
          <p:cNvPr id="29" name="Shape 27"/>
          <p:cNvSpPr/>
          <p:nvPr/>
        </p:nvSpPr>
        <p:spPr>
          <a:xfrm>
            <a:off x="640080" y="3703320"/>
            <a:ext cx="566928" cy="566928"/>
          </a:xfrm>
          <a:prstGeom prst="ellipse">
            <a:avLst/>
          </a:prstGeom>
          <a:solidFill>
            <a:srgbClr val="F7F4EC"/>
          </a:solidFill>
          <a:ln w="28575">
            <a:solidFill>
              <a:srgbClr val="1E4FFF"/>
            </a:solidFill>
            <a:prstDash val="solid"/>
          </a:ln>
        </p:spPr>
      </p:sp>
      <p:sp>
        <p:nvSpPr>
          <p:cNvPr id="30" name="Text 28"/>
          <p:cNvSpPr txBox="1"/>
          <p:nvPr/>
        </p:nvSpPr>
        <p:spPr>
          <a:xfrm>
            <a:off x="640080" y="3703320"/>
            <a:ext cx="566928" cy="566928"/>
          </a:xfrm>
          <a:prstGeom prst="rect">
            <a:avLst/>
          </a:prstGeom>
          <a:noFill/>
          <a:ln/>
        </p:spPr>
        <p:txBody>
          <a:bodyPr wrap="square" lIns="0" tIns="0" rIns="0" bIns="0" rtlCol="0" anchor="ctr"/>
          <a:lstStyle/>
          <a:p>
            <a:pPr marL="0" indent="0" algn="ctr">
              <a:buNone/>
            </a:pPr>
            <a:r>
              <a:rPr lang="en-US" sz="1674" b="1" dirty="0">
                <a:solidFill>
                  <a:srgbClr val="1E4FFF"/>
                </a:solidFill>
                <a:latin typeface="Arial" pitchFamily="34" charset="0"/>
                <a:ea typeface="Arial" pitchFamily="34" charset="-122"/>
                <a:cs typeface="Arial" pitchFamily="34" charset="-120"/>
              </a:rPr>
              <a:t>S</a:t>
            </a:r>
            <a:endParaRPr lang="en-US" sz="1674" dirty="0"/>
          </a:p>
        </p:txBody>
      </p:sp>
      <p:sp>
        <p:nvSpPr>
          <p:cNvPr id="31" name="Text 29"/>
          <p:cNvSpPr txBox="1"/>
          <p:nvPr/>
        </p:nvSpPr>
        <p:spPr>
          <a:xfrm>
            <a:off x="411480" y="4315968"/>
            <a:ext cx="1024128" cy="274320"/>
          </a:xfrm>
          <a:prstGeom prst="rect">
            <a:avLst/>
          </a:prstGeom>
          <a:noFill/>
          <a:ln/>
        </p:spPr>
        <p:txBody>
          <a:bodyPr wrap="square" lIns="0" tIns="0" rIns="0" bIns="0" rtlCol="0" anchor="ctr"/>
          <a:lstStyle/>
          <a:p>
            <a:pPr marL="0" indent="0" algn="ctr">
              <a:buNone/>
            </a:pPr>
            <a:r>
              <a:rPr lang="en-US" sz="1050" dirty="0">
                <a:solidFill>
                  <a:srgbClr val="A9A59A"/>
                </a:solidFill>
                <a:latin typeface="Arial" pitchFamily="34" charset="0"/>
                <a:ea typeface="Arial" pitchFamily="34" charset="-122"/>
                <a:cs typeface="Arial" pitchFamily="34" charset="-120"/>
              </a:rPr>
              <a:t>Search</a:t>
            </a:r>
            <a:endParaRPr lang="en-US" sz="1050" dirty="0"/>
          </a:p>
        </p:txBody>
      </p:sp>
      <p:sp>
        <p:nvSpPr>
          <p:cNvPr id="32" name="Shape 30"/>
          <p:cNvSpPr/>
          <p:nvPr/>
        </p:nvSpPr>
        <p:spPr>
          <a:xfrm>
            <a:off x="1810512" y="3703320"/>
            <a:ext cx="566928" cy="566928"/>
          </a:xfrm>
          <a:prstGeom prst="ellipse">
            <a:avLst/>
          </a:prstGeom>
          <a:solidFill>
            <a:srgbClr val="F7F4EC"/>
          </a:solidFill>
          <a:ln w="28575">
            <a:solidFill>
              <a:srgbClr val="1E4FFF"/>
            </a:solidFill>
            <a:prstDash val="solid"/>
          </a:ln>
        </p:spPr>
      </p:sp>
      <p:sp>
        <p:nvSpPr>
          <p:cNvPr id="33" name="Text 31"/>
          <p:cNvSpPr txBox="1"/>
          <p:nvPr/>
        </p:nvSpPr>
        <p:spPr>
          <a:xfrm>
            <a:off x="1810512" y="3703320"/>
            <a:ext cx="566928" cy="566928"/>
          </a:xfrm>
          <a:prstGeom prst="rect">
            <a:avLst/>
          </a:prstGeom>
          <a:noFill/>
          <a:ln/>
        </p:spPr>
        <p:txBody>
          <a:bodyPr wrap="square" lIns="0" tIns="0" rIns="0" bIns="0" rtlCol="0" anchor="ctr"/>
          <a:lstStyle/>
          <a:p>
            <a:pPr marL="0" indent="0" algn="ctr">
              <a:buNone/>
            </a:pPr>
            <a:r>
              <a:rPr lang="en-US" sz="1674" b="1" dirty="0">
                <a:solidFill>
                  <a:srgbClr val="1E4FFF"/>
                </a:solidFill>
                <a:latin typeface="Arial" pitchFamily="34" charset="0"/>
                <a:ea typeface="Arial" pitchFamily="34" charset="-122"/>
                <a:cs typeface="Arial" pitchFamily="34" charset="-120"/>
              </a:rPr>
              <a:t>R</a:t>
            </a:r>
            <a:endParaRPr lang="en-US" sz="1674" dirty="0"/>
          </a:p>
        </p:txBody>
      </p:sp>
      <p:sp>
        <p:nvSpPr>
          <p:cNvPr id="34" name="Text 32"/>
          <p:cNvSpPr txBox="1"/>
          <p:nvPr/>
        </p:nvSpPr>
        <p:spPr>
          <a:xfrm>
            <a:off x="1581912" y="4315968"/>
            <a:ext cx="1024128" cy="274320"/>
          </a:xfrm>
          <a:prstGeom prst="rect">
            <a:avLst/>
          </a:prstGeom>
          <a:noFill/>
          <a:ln/>
        </p:spPr>
        <p:txBody>
          <a:bodyPr wrap="square" lIns="0" tIns="0" rIns="0" bIns="0" rtlCol="0" anchor="ctr"/>
          <a:lstStyle/>
          <a:p>
            <a:pPr marL="0" indent="0" algn="ctr">
              <a:buNone/>
            </a:pPr>
            <a:r>
              <a:rPr lang="en-US" sz="1050" dirty="0">
                <a:solidFill>
                  <a:srgbClr val="A9A59A"/>
                </a:solidFill>
                <a:latin typeface="Arial" pitchFamily="34" charset="0"/>
                <a:ea typeface="Arial" pitchFamily="34" charset="-122"/>
                <a:cs typeface="Arial" pitchFamily="34" charset="-120"/>
              </a:rPr>
              <a:t>Reason</a:t>
            </a:r>
            <a:endParaRPr lang="en-US" sz="1050" dirty="0"/>
          </a:p>
        </p:txBody>
      </p:sp>
      <p:sp>
        <p:nvSpPr>
          <p:cNvPr id="35" name="Shape 33"/>
          <p:cNvSpPr/>
          <p:nvPr/>
        </p:nvSpPr>
        <p:spPr>
          <a:xfrm>
            <a:off x="2980944" y="3703320"/>
            <a:ext cx="566928" cy="566928"/>
          </a:xfrm>
          <a:prstGeom prst="ellipse">
            <a:avLst/>
          </a:prstGeom>
          <a:solidFill>
            <a:srgbClr val="F7F4EC"/>
          </a:solidFill>
          <a:ln w="28575">
            <a:solidFill>
              <a:srgbClr val="1E4FFF"/>
            </a:solidFill>
            <a:prstDash val="solid"/>
          </a:ln>
        </p:spPr>
      </p:sp>
      <p:sp>
        <p:nvSpPr>
          <p:cNvPr id="36" name="Text 34"/>
          <p:cNvSpPr txBox="1"/>
          <p:nvPr/>
        </p:nvSpPr>
        <p:spPr>
          <a:xfrm>
            <a:off x="2980944" y="3703320"/>
            <a:ext cx="566928" cy="566928"/>
          </a:xfrm>
          <a:prstGeom prst="rect">
            <a:avLst/>
          </a:prstGeom>
          <a:noFill/>
          <a:ln/>
        </p:spPr>
        <p:txBody>
          <a:bodyPr wrap="square" lIns="0" tIns="0" rIns="0" bIns="0" rtlCol="0" anchor="ctr"/>
          <a:lstStyle/>
          <a:p>
            <a:pPr marL="0" indent="0" algn="ctr">
              <a:buNone/>
            </a:pPr>
            <a:r>
              <a:rPr lang="en-US" sz="1674" b="1" dirty="0">
                <a:solidFill>
                  <a:srgbClr val="1E4FFF"/>
                </a:solidFill>
                <a:latin typeface="Arial" pitchFamily="34" charset="0"/>
                <a:ea typeface="Arial" pitchFamily="34" charset="-122"/>
                <a:cs typeface="Arial" pitchFamily="34" charset="-120"/>
              </a:rPr>
              <a:t>G</a:t>
            </a:r>
            <a:endParaRPr lang="en-US" sz="1674" dirty="0"/>
          </a:p>
        </p:txBody>
      </p:sp>
      <p:sp>
        <p:nvSpPr>
          <p:cNvPr id="37" name="Text 35"/>
          <p:cNvSpPr txBox="1"/>
          <p:nvPr/>
        </p:nvSpPr>
        <p:spPr>
          <a:xfrm>
            <a:off x="2752344" y="4315968"/>
            <a:ext cx="1024128" cy="274320"/>
          </a:xfrm>
          <a:prstGeom prst="rect">
            <a:avLst/>
          </a:prstGeom>
          <a:noFill/>
          <a:ln/>
        </p:spPr>
        <p:txBody>
          <a:bodyPr wrap="square" lIns="0" tIns="0" rIns="0" bIns="0" rtlCol="0" anchor="ctr"/>
          <a:lstStyle/>
          <a:p>
            <a:pPr marL="0" indent="0" algn="ctr">
              <a:buNone/>
            </a:pPr>
            <a:r>
              <a:rPr lang="en-US" sz="1050" dirty="0">
                <a:solidFill>
                  <a:srgbClr val="A9A59A"/>
                </a:solidFill>
                <a:latin typeface="Arial" pitchFamily="34" charset="0"/>
                <a:ea typeface="Arial" pitchFamily="34" charset="-122"/>
                <a:cs typeface="Arial" pitchFamily="34" charset="-120"/>
              </a:rPr>
              <a:t>Generate</a:t>
            </a:r>
            <a:endParaRPr lang="en-US" sz="1050" dirty="0"/>
          </a:p>
        </p:txBody>
      </p:sp>
      <p:sp>
        <p:nvSpPr>
          <p:cNvPr id="38" name="Shape 36"/>
          <p:cNvSpPr/>
          <p:nvPr/>
        </p:nvSpPr>
        <p:spPr>
          <a:xfrm>
            <a:off x="4151376" y="3703320"/>
            <a:ext cx="566928" cy="566928"/>
          </a:xfrm>
          <a:prstGeom prst="ellipse">
            <a:avLst/>
          </a:prstGeom>
          <a:solidFill>
            <a:srgbClr val="F7F4EC"/>
          </a:solidFill>
          <a:ln w="28575">
            <a:solidFill>
              <a:srgbClr val="1E4FFF"/>
            </a:solidFill>
            <a:prstDash val="solid"/>
          </a:ln>
        </p:spPr>
      </p:sp>
      <p:sp>
        <p:nvSpPr>
          <p:cNvPr id="39" name="Text 37"/>
          <p:cNvSpPr txBox="1"/>
          <p:nvPr/>
        </p:nvSpPr>
        <p:spPr>
          <a:xfrm>
            <a:off x="4151376" y="3703320"/>
            <a:ext cx="566928" cy="566928"/>
          </a:xfrm>
          <a:prstGeom prst="rect">
            <a:avLst/>
          </a:prstGeom>
          <a:noFill/>
          <a:ln/>
        </p:spPr>
        <p:txBody>
          <a:bodyPr wrap="square" lIns="0" tIns="0" rIns="0" bIns="0" rtlCol="0" anchor="ctr"/>
          <a:lstStyle/>
          <a:p>
            <a:pPr marL="0" indent="0" algn="ctr">
              <a:buNone/>
            </a:pPr>
            <a:r>
              <a:rPr lang="en-US" sz="1674" b="1" dirty="0">
                <a:solidFill>
                  <a:srgbClr val="1E4FFF"/>
                </a:solidFill>
                <a:latin typeface="Arial" pitchFamily="34" charset="0"/>
                <a:ea typeface="Arial" pitchFamily="34" charset="-122"/>
                <a:cs typeface="Arial" pitchFamily="34" charset="-120"/>
              </a:rPr>
              <a:t>A</a:t>
            </a:r>
            <a:endParaRPr lang="en-US" sz="1674" dirty="0"/>
          </a:p>
        </p:txBody>
      </p:sp>
      <p:sp>
        <p:nvSpPr>
          <p:cNvPr id="40" name="Text 38"/>
          <p:cNvSpPr txBox="1"/>
          <p:nvPr/>
        </p:nvSpPr>
        <p:spPr>
          <a:xfrm>
            <a:off x="3922776" y="4315968"/>
            <a:ext cx="1024128" cy="274320"/>
          </a:xfrm>
          <a:prstGeom prst="rect">
            <a:avLst/>
          </a:prstGeom>
          <a:noFill/>
          <a:ln/>
        </p:spPr>
        <p:txBody>
          <a:bodyPr wrap="square" lIns="0" tIns="0" rIns="0" bIns="0" rtlCol="0" anchor="ctr"/>
          <a:lstStyle/>
          <a:p>
            <a:pPr marL="0" indent="0" algn="ctr">
              <a:buNone/>
            </a:pPr>
            <a:r>
              <a:rPr lang="en-US" sz="1050" dirty="0">
                <a:solidFill>
                  <a:srgbClr val="A9A59A"/>
                </a:solidFill>
                <a:latin typeface="Arial" pitchFamily="34" charset="0"/>
                <a:ea typeface="Arial" pitchFamily="34" charset="-122"/>
                <a:cs typeface="Arial" pitchFamily="34" charset="-120"/>
              </a:rPr>
              <a:t>Analyze</a:t>
            </a:r>
            <a:endParaRPr lang="en-US" sz="1050" dirty="0"/>
          </a:p>
        </p:txBody>
      </p:sp>
      <p:sp>
        <p:nvSpPr>
          <p:cNvPr id="41" name="Shape 39"/>
          <p:cNvSpPr/>
          <p:nvPr/>
        </p:nvSpPr>
        <p:spPr>
          <a:xfrm>
            <a:off x="5321808" y="3703320"/>
            <a:ext cx="566928" cy="566928"/>
          </a:xfrm>
          <a:prstGeom prst="ellipse">
            <a:avLst/>
          </a:prstGeom>
          <a:solidFill>
            <a:srgbClr val="F7F4EC"/>
          </a:solidFill>
          <a:ln w="28575">
            <a:solidFill>
              <a:srgbClr val="1E4FFF"/>
            </a:solidFill>
            <a:prstDash val="solid"/>
          </a:ln>
        </p:spPr>
      </p:sp>
      <p:sp>
        <p:nvSpPr>
          <p:cNvPr id="42" name="Text 40"/>
          <p:cNvSpPr txBox="1"/>
          <p:nvPr/>
        </p:nvSpPr>
        <p:spPr>
          <a:xfrm>
            <a:off x="5321808" y="3703320"/>
            <a:ext cx="566928" cy="566928"/>
          </a:xfrm>
          <a:prstGeom prst="rect">
            <a:avLst/>
          </a:prstGeom>
          <a:noFill/>
          <a:ln/>
        </p:spPr>
        <p:txBody>
          <a:bodyPr wrap="square" lIns="0" tIns="0" rIns="0" bIns="0" rtlCol="0" anchor="ctr"/>
          <a:lstStyle/>
          <a:p>
            <a:pPr marL="0" indent="0" algn="ctr">
              <a:buNone/>
            </a:pPr>
            <a:r>
              <a:rPr lang="en-US" sz="1674" b="1" dirty="0">
                <a:solidFill>
                  <a:srgbClr val="1E4FFF"/>
                </a:solidFill>
                <a:latin typeface="Arial" pitchFamily="34" charset="0"/>
                <a:ea typeface="Arial" pitchFamily="34" charset="-122"/>
                <a:cs typeface="Arial" pitchFamily="34" charset="-120"/>
              </a:rPr>
              <a:t>Au</a:t>
            </a:r>
            <a:endParaRPr lang="en-US" sz="1674" dirty="0"/>
          </a:p>
        </p:txBody>
      </p:sp>
      <p:sp>
        <p:nvSpPr>
          <p:cNvPr id="43" name="Text 41"/>
          <p:cNvSpPr txBox="1"/>
          <p:nvPr/>
        </p:nvSpPr>
        <p:spPr>
          <a:xfrm>
            <a:off x="5093208" y="4315968"/>
            <a:ext cx="1024128" cy="274320"/>
          </a:xfrm>
          <a:prstGeom prst="rect">
            <a:avLst/>
          </a:prstGeom>
          <a:noFill/>
          <a:ln/>
        </p:spPr>
        <p:txBody>
          <a:bodyPr wrap="square" lIns="0" tIns="0" rIns="0" bIns="0" rtlCol="0" anchor="ctr"/>
          <a:lstStyle/>
          <a:p>
            <a:pPr marL="0" indent="0" algn="ctr">
              <a:buNone/>
            </a:pPr>
            <a:r>
              <a:rPr lang="en-US" sz="1050" dirty="0">
                <a:solidFill>
                  <a:srgbClr val="A9A59A"/>
                </a:solidFill>
                <a:latin typeface="Arial" pitchFamily="34" charset="0"/>
                <a:ea typeface="Arial" pitchFamily="34" charset="-122"/>
                <a:cs typeface="Arial" pitchFamily="34" charset="-120"/>
              </a:rPr>
              <a:t>Automate</a:t>
            </a:r>
            <a:endParaRPr lang="en-US" sz="1050" dirty="0"/>
          </a:p>
        </p:txBody>
      </p:sp>
      <p:sp>
        <p:nvSpPr>
          <p:cNvPr id="44" name="Shape 42"/>
          <p:cNvSpPr/>
          <p:nvPr/>
        </p:nvSpPr>
        <p:spPr>
          <a:xfrm>
            <a:off x="640080" y="5029200"/>
            <a:ext cx="8138160" cy="1097280"/>
          </a:xfrm>
          <a:prstGeom prst="roundRect">
            <a:avLst>
              <a:gd name="adj" fmla="val 6667"/>
            </a:avLst>
          </a:prstGeom>
          <a:solidFill>
            <a:srgbClr val="2B2B2B"/>
          </a:solidFill>
          <a:ln/>
        </p:spPr>
      </p:sp>
      <p:sp>
        <p:nvSpPr>
          <p:cNvPr id="45" name="Text 43"/>
          <p:cNvSpPr txBox="1"/>
          <p:nvPr/>
        </p:nvSpPr>
        <p:spPr>
          <a:xfrm>
            <a:off x="868680" y="5148072"/>
            <a:ext cx="7680960" cy="868680"/>
          </a:xfrm>
          <a:prstGeom prst="rect">
            <a:avLst/>
          </a:prstGeom>
          <a:noFill/>
          <a:ln/>
        </p:spPr>
        <p:txBody>
          <a:bodyPr wrap="square" lIns="0" tIns="0" rIns="0" bIns="0" rtlCol="0" anchor="ctr"/>
          <a:lstStyle/>
          <a:p>
            <a:pPr marL="0" indent="0">
              <a:buNone/>
            </a:pPr>
            <a:r>
              <a:rPr lang="en-US" sz="1250" b="1" dirty="0">
                <a:solidFill>
                  <a:srgbClr val="5C82FF"/>
                </a:solidFill>
                <a:latin typeface="Arial" pitchFamily="34" charset="0"/>
                <a:ea typeface="Arial" pitchFamily="34" charset="-122"/>
                <a:cs typeface="Arial" pitchFamily="34" charset="-120"/>
              </a:rPr>
              <a:t>Before we start — </a:t>
            </a:r>
            <a:r>
              <a:rPr lang="en-US" sz="1250" dirty="0">
                <a:solidFill>
                  <a:srgbClr val="D8D4C8"/>
                </a:solidFill>
                <a:latin typeface="Arial" pitchFamily="34" charset="0"/>
                <a:ea typeface="Arial" pitchFamily="34" charset="-122"/>
                <a:cs typeface="Arial" pitchFamily="34" charset="-120"/>
              </a:rPr>
              <a:t>use fictional or anonymized information only. No passwords, no real customer, financial, or ID data. Removing a name alone may not make information safe.</a:t>
            </a:r>
            <a:endParaRPr lang="en-US" sz="1250" dirty="0"/>
          </a:p>
        </p:txBody>
      </p:sp>
      <p:sp>
        <p:nvSpPr>
          <p:cNvPr id="46" name="Shape 44"/>
          <p:cNvSpPr/>
          <p:nvPr/>
        </p:nvSpPr>
        <p:spPr>
          <a:xfrm>
            <a:off x="9098280" y="3703320"/>
            <a:ext cx="2450592" cy="2423160"/>
          </a:xfrm>
          <a:prstGeom prst="roundRect">
            <a:avLst>
              <a:gd name="adj" fmla="val 3019"/>
            </a:avLst>
          </a:prstGeom>
          <a:solidFill>
            <a:srgbClr val="1E4FFF"/>
          </a:solidFill>
          <a:ln/>
        </p:spPr>
      </p:sp>
      <p:sp>
        <p:nvSpPr>
          <p:cNvPr id="47" name="Text 45"/>
          <p:cNvSpPr txBox="1"/>
          <p:nvPr/>
        </p:nvSpPr>
        <p:spPr>
          <a:xfrm>
            <a:off x="9326880" y="3913632"/>
            <a:ext cx="2011680" cy="50292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150</a:t>
            </a:r>
            <a:endParaRPr lang="en-US" sz="3000" dirty="0"/>
          </a:p>
        </p:txBody>
      </p:sp>
      <p:sp>
        <p:nvSpPr>
          <p:cNvPr id="48" name="Text 46"/>
          <p:cNvSpPr txBox="1"/>
          <p:nvPr/>
        </p:nvSpPr>
        <p:spPr>
          <a:xfrm>
            <a:off x="9326880" y="4389120"/>
            <a:ext cx="2011680" cy="292608"/>
          </a:xfrm>
          <a:prstGeom prst="rect">
            <a:avLst/>
          </a:prstGeom>
          <a:noFill/>
          <a:ln/>
        </p:spPr>
        <p:txBody>
          <a:bodyPr wrap="square" lIns="0" tIns="0" rIns="0" bIns="0" rtlCol="0" anchor="ctr"/>
          <a:lstStyle/>
          <a:p>
            <a:pPr marL="0" indent="0">
              <a:buNone/>
            </a:pPr>
            <a:r>
              <a:rPr lang="en-US" sz="1050" dirty="0">
                <a:solidFill>
                  <a:srgbClr val="DCE4FF"/>
                </a:solidFill>
                <a:latin typeface="Arial" pitchFamily="34" charset="0"/>
                <a:ea typeface="Arial" pitchFamily="34" charset="-122"/>
                <a:cs typeface="Arial" pitchFamily="34" charset="-120"/>
              </a:rPr>
              <a:t>minutes, break included</a:t>
            </a:r>
            <a:endParaRPr lang="en-US" sz="1050" dirty="0"/>
          </a:p>
        </p:txBody>
      </p:sp>
      <p:sp>
        <p:nvSpPr>
          <p:cNvPr id="49" name="Text 47"/>
          <p:cNvSpPr txBox="1"/>
          <p:nvPr/>
        </p:nvSpPr>
        <p:spPr>
          <a:xfrm>
            <a:off x="9326880" y="4626864"/>
            <a:ext cx="2011680" cy="502920"/>
          </a:xfrm>
          <a:prstGeom prst="rect">
            <a:avLst/>
          </a:prstGeom>
          <a:noFill/>
          <a:ln/>
        </p:spPr>
        <p:txBody>
          <a:bodyPr wrap="square" lIns="0" tIns="0" rIns="0" bIns="0" rtlCol="0" anchor="ctr"/>
          <a:lstStyle/>
          <a:p>
            <a:pPr marL="0" indent="0">
              <a:buNone/>
            </a:pPr>
            <a:endParaRPr lang="en-US" sz="3000" dirty="0"/>
          </a:p>
        </p:txBody>
      </p:sp>
      <p:sp>
        <p:nvSpPr>
          <p:cNvPr id="52" name="Text 50"/>
          <p:cNvSpPr txBox="1"/>
          <p:nvPr/>
        </p:nvSpPr>
        <p:spPr>
          <a:xfrm>
            <a:off x="9326880" y="5815584"/>
            <a:ext cx="2011680" cy="292608"/>
          </a:xfrm>
          <a:prstGeom prst="rect">
            <a:avLst/>
          </a:prstGeom>
          <a:noFill/>
          <a:ln/>
        </p:spPr>
        <p:txBody>
          <a:bodyPr wrap="square" lIns="0" tIns="0" rIns="0" bIns="0" rtlCol="0" anchor="ctr"/>
          <a:lstStyle/>
          <a:p>
            <a:pPr marL="0" indent="0">
              <a:buNone/>
            </a:pP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1A"/>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A9A59A"/>
                </a:solidFill>
                <a:latin typeface="Arial" pitchFamily="34" charset="0"/>
                <a:ea typeface="Arial" pitchFamily="34" charset="-122"/>
                <a:cs typeface="Arial" pitchFamily="34" charset="-120"/>
              </a:rPr>
              <a:t>CLASS 1 · AI AS A BUSINESS TOOL</a:t>
            </a:r>
            <a:endParaRPr lang="en-US" sz="1050" dirty="0"/>
          </a:p>
        </p:txBody>
      </p:sp>
      <p:sp>
        <p:nvSpPr>
          <p:cNvPr id="3" name="Shape 1"/>
          <p:cNvSpPr/>
          <p:nvPr/>
        </p:nvSpPr>
        <p:spPr>
          <a:xfrm>
            <a:off x="10561320" y="256032"/>
            <a:ext cx="1170432" cy="384048"/>
          </a:xfrm>
          <a:prstGeom prst="roundRect">
            <a:avLst>
              <a:gd name="adj" fmla="val 19048"/>
            </a:avLst>
          </a:prstGeom>
          <a:solidFill>
            <a:srgbClr val="1E4FFF"/>
          </a:solidFill>
          <a:ln/>
        </p:spPr>
      </p:sp>
      <p:sp>
        <p:nvSpPr>
          <p:cNvPr id="4" name="Text 2"/>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CONTEXT</a:t>
            </a:r>
            <a:endParaRPr lang="en-US" sz="1300" dirty="0"/>
          </a:p>
        </p:txBody>
      </p:sp>
      <p:sp>
        <p:nvSpPr>
          <p:cNvPr id="5" name="Shape 3"/>
          <p:cNvSpPr/>
          <p:nvPr/>
        </p:nvSpPr>
        <p:spPr>
          <a:xfrm>
            <a:off x="502920" y="6446520"/>
            <a:ext cx="11183112" cy="0"/>
          </a:xfrm>
          <a:prstGeom prst="line">
            <a:avLst/>
          </a:prstGeom>
          <a:noFill/>
          <a:ln w="9525">
            <a:solidFill>
              <a:srgbClr val="3A3A3A"/>
            </a:solidFill>
            <a:prstDash val="solid"/>
          </a:ln>
        </p:spPr>
      </p:sp>
      <p:sp>
        <p:nvSpPr>
          <p:cNvPr id="7" name="Text 5"/>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A9A59A"/>
                </a:solidFill>
                <a:latin typeface="Arial" pitchFamily="34" charset="0"/>
                <a:ea typeface="Arial" pitchFamily="34" charset="-122"/>
                <a:cs typeface="Arial" pitchFamily="34" charset="-120"/>
              </a:rPr>
              <a:t>02</a:t>
            </a:r>
            <a:endParaRPr lang="en-US" sz="900" dirty="0"/>
          </a:p>
        </p:txBody>
      </p:sp>
      <p:sp>
        <p:nvSpPr>
          <p:cNvPr id="8" name="Text 6"/>
          <p:cNvSpPr txBox="1"/>
          <p:nvPr/>
        </p:nvSpPr>
        <p:spPr>
          <a:xfrm>
            <a:off x="502920" y="713232"/>
            <a:ext cx="10607040" cy="868680"/>
          </a:xfrm>
          <a:prstGeom prst="rect">
            <a:avLst/>
          </a:prstGeom>
          <a:noFill/>
          <a:ln/>
        </p:spPr>
        <p:txBody>
          <a:bodyPr wrap="square" lIns="0" tIns="0" rIns="0" bIns="0" rtlCol="0" anchor="ctr"/>
          <a:lstStyle/>
          <a:p>
            <a:pPr marL="0" indent="0">
              <a:lnSpc>
                <a:spcPct val="102000"/>
              </a:lnSpc>
              <a:buNone/>
            </a:pPr>
            <a:r>
              <a:rPr lang="en-US" sz="3400" b="1" dirty="0">
                <a:solidFill>
                  <a:srgbClr val="FFFFFF"/>
                </a:solidFill>
                <a:latin typeface="Arial" pitchFamily="34" charset="0"/>
                <a:ea typeface="Arial" pitchFamily="34" charset="-122"/>
                <a:cs typeface="Arial" pitchFamily="34" charset="-120"/>
              </a:rPr>
              <a:t>You're Not Early to This.</a:t>
            </a:r>
            <a:endParaRPr lang="en-US" sz="3400" dirty="0"/>
          </a:p>
        </p:txBody>
      </p:sp>
      <p:sp>
        <p:nvSpPr>
          <p:cNvPr id="9" name="Text 7"/>
          <p:cNvSpPr txBox="1"/>
          <p:nvPr/>
        </p:nvSpPr>
        <p:spPr>
          <a:xfrm>
            <a:off x="502920" y="1536192"/>
            <a:ext cx="9144000" cy="320040"/>
          </a:xfrm>
          <a:prstGeom prst="rect">
            <a:avLst/>
          </a:prstGeom>
          <a:noFill/>
          <a:ln/>
        </p:spPr>
        <p:txBody>
          <a:bodyPr wrap="square" lIns="0" tIns="0" rIns="0" bIns="0" rtlCol="0" anchor="ctr"/>
          <a:lstStyle/>
          <a:p>
            <a:pPr marL="0" indent="0">
              <a:buNone/>
            </a:pPr>
            <a:r>
              <a:rPr lang="en-US" sz="1350" i="1" dirty="0">
                <a:solidFill>
                  <a:srgbClr val="A9A59A"/>
                </a:solidFill>
                <a:latin typeface="Arial" pitchFamily="34" charset="0"/>
                <a:ea typeface="Arial" pitchFamily="34" charset="-122"/>
                <a:cs typeface="Arial" pitchFamily="34" charset="-120"/>
              </a:rPr>
              <a:t>Two numbers worth sitting with before we open a laptop.</a:t>
            </a:r>
            <a:endParaRPr lang="en-US" sz="1350" dirty="0"/>
          </a:p>
        </p:txBody>
      </p:sp>
      <p:sp>
        <p:nvSpPr>
          <p:cNvPr id="10" name="Shape 8"/>
          <p:cNvSpPr/>
          <p:nvPr/>
        </p:nvSpPr>
        <p:spPr>
          <a:xfrm>
            <a:off x="502920" y="2103120"/>
            <a:ext cx="5074920" cy="2651760"/>
          </a:xfrm>
          <a:prstGeom prst="roundRect">
            <a:avLst>
              <a:gd name="adj" fmla="val 2759"/>
            </a:avLst>
          </a:prstGeom>
          <a:solidFill>
            <a:srgbClr val="1E4FFF"/>
          </a:solidFill>
          <a:ln/>
        </p:spPr>
      </p:sp>
      <p:sp>
        <p:nvSpPr>
          <p:cNvPr id="11" name="Text 9"/>
          <p:cNvSpPr txBox="1"/>
          <p:nvPr/>
        </p:nvSpPr>
        <p:spPr>
          <a:xfrm>
            <a:off x="822960" y="2423160"/>
            <a:ext cx="4434840" cy="1005840"/>
          </a:xfrm>
          <a:prstGeom prst="rect">
            <a:avLst/>
          </a:prstGeom>
          <a:noFill/>
          <a:ln/>
        </p:spPr>
        <p:txBody>
          <a:bodyPr wrap="square" lIns="0" tIns="0" rIns="0" bIns="0" rtlCol="0" anchor="ctr"/>
          <a:lstStyle/>
          <a:p>
            <a:pPr marL="0" indent="0">
              <a:buNone/>
            </a:pPr>
            <a:r>
              <a:rPr lang="en-US" sz="6400" b="1" dirty="0">
                <a:solidFill>
                  <a:srgbClr val="FFFFFF"/>
                </a:solidFill>
                <a:latin typeface="Arial" pitchFamily="34" charset="0"/>
                <a:ea typeface="Arial" pitchFamily="34" charset="-122"/>
                <a:cs typeface="Arial" pitchFamily="34" charset="-120"/>
              </a:rPr>
              <a:t>72%</a:t>
            </a:r>
            <a:endParaRPr lang="en-US" sz="6400" dirty="0"/>
          </a:p>
        </p:txBody>
      </p:sp>
      <p:sp>
        <p:nvSpPr>
          <p:cNvPr id="12" name="Text 10"/>
          <p:cNvSpPr txBox="1"/>
          <p:nvPr/>
        </p:nvSpPr>
        <p:spPr>
          <a:xfrm>
            <a:off x="822960" y="3474720"/>
            <a:ext cx="4434840" cy="914400"/>
          </a:xfrm>
          <a:prstGeom prst="rect">
            <a:avLst/>
          </a:prstGeom>
          <a:noFill/>
          <a:ln/>
        </p:spPr>
        <p:txBody>
          <a:bodyPr wrap="square" lIns="0" tIns="0" rIns="0" bIns="0" rtlCol="0" anchor="ctr"/>
          <a:lstStyle/>
          <a:p>
            <a:pPr marL="0" indent="0">
              <a:buNone/>
            </a:pPr>
            <a:r>
              <a:rPr lang="en-US" sz="1400" dirty="0">
                <a:solidFill>
                  <a:srgbClr val="E4EAFF"/>
                </a:solidFill>
                <a:latin typeface="Arial" pitchFamily="34" charset="0"/>
                <a:ea typeface="Arial" pitchFamily="34" charset="-122"/>
                <a:cs typeface="Arial" pitchFamily="34" charset="-120"/>
              </a:rPr>
              <a:t>of organizations now use AI in at least one business function</a:t>
            </a:r>
            <a:endParaRPr lang="en-US" sz="1400" dirty="0"/>
          </a:p>
        </p:txBody>
      </p:sp>
      <p:sp>
        <p:nvSpPr>
          <p:cNvPr id="13" name="Shape 11"/>
          <p:cNvSpPr/>
          <p:nvPr/>
        </p:nvSpPr>
        <p:spPr>
          <a:xfrm>
            <a:off x="5715000" y="2103120"/>
            <a:ext cx="5074920" cy="2651760"/>
          </a:xfrm>
          <a:prstGeom prst="roundRect">
            <a:avLst>
              <a:gd name="adj" fmla="val 2759"/>
            </a:avLst>
          </a:prstGeom>
          <a:solidFill>
            <a:srgbClr val="2B2B2B"/>
          </a:solidFill>
          <a:ln/>
        </p:spPr>
      </p:sp>
      <p:sp>
        <p:nvSpPr>
          <p:cNvPr id="14" name="Text 12"/>
          <p:cNvSpPr txBox="1"/>
          <p:nvPr/>
        </p:nvSpPr>
        <p:spPr>
          <a:xfrm>
            <a:off x="6035040" y="2423160"/>
            <a:ext cx="4434840" cy="1005840"/>
          </a:xfrm>
          <a:prstGeom prst="rect">
            <a:avLst/>
          </a:prstGeom>
          <a:noFill/>
          <a:ln/>
        </p:spPr>
        <p:txBody>
          <a:bodyPr wrap="square" lIns="0" tIns="0" rIns="0" bIns="0" rtlCol="0" anchor="ctr"/>
          <a:lstStyle/>
          <a:p>
            <a:pPr marL="0" indent="0">
              <a:buNone/>
            </a:pPr>
            <a:r>
              <a:rPr lang="en-US" sz="6400" b="1" dirty="0">
                <a:solidFill>
                  <a:srgbClr val="FFFFFF"/>
                </a:solidFill>
                <a:latin typeface="Arial" pitchFamily="34" charset="0"/>
                <a:ea typeface="Arial" pitchFamily="34" charset="-122"/>
                <a:cs typeface="Arial" pitchFamily="34" charset="-120"/>
              </a:rPr>
              <a:t>65%</a:t>
            </a:r>
            <a:endParaRPr lang="en-US" sz="6400" dirty="0"/>
          </a:p>
        </p:txBody>
      </p:sp>
      <p:sp>
        <p:nvSpPr>
          <p:cNvPr id="15" name="Text 13"/>
          <p:cNvSpPr txBox="1"/>
          <p:nvPr/>
        </p:nvSpPr>
        <p:spPr>
          <a:xfrm>
            <a:off x="6035040" y="3474720"/>
            <a:ext cx="4434840" cy="914400"/>
          </a:xfrm>
          <a:prstGeom prst="rect">
            <a:avLst/>
          </a:prstGeom>
          <a:noFill/>
          <a:ln/>
        </p:spPr>
        <p:txBody>
          <a:bodyPr wrap="square" lIns="0" tIns="0" rIns="0" bIns="0" rtlCol="0" anchor="ctr"/>
          <a:lstStyle/>
          <a:p>
            <a:pPr marL="0" indent="0">
              <a:buNone/>
            </a:pPr>
            <a:r>
              <a:rPr lang="en-US" sz="1400" dirty="0">
                <a:solidFill>
                  <a:srgbClr val="D8D4C8"/>
                </a:solidFill>
                <a:latin typeface="Arial" pitchFamily="34" charset="0"/>
                <a:ea typeface="Arial" pitchFamily="34" charset="-122"/>
                <a:cs typeface="Arial" pitchFamily="34" charset="-120"/>
              </a:rPr>
              <a:t>regularly use generative AI specifically — nearly double the share from about a year earlier</a:t>
            </a:r>
            <a:endParaRPr lang="en-US" sz="1400" dirty="0"/>
          </a:p>
        </p:txBody>
      </p:sp>
      <p:sp>
        <p:nvSpPr>
          <p:cNvPr id="16" name="Text 14"/>
          <p:cNvSpPr txBox="1"/>
          <p:nvPr/>
        </p:nvSpPr>
        <p:spPr>
          <a:xfrm>
            <a:off x="502920" y="5029200"/>
            <a:ext cx="10287000" cy="457200"/>
          </a:xfrm>
          <a:prstGeom prst="rect">
            <a:avLst/>
          </a:prstGeom>
          <a:noFill/>
          <a:ln/>
        </p:spPr>
        <p:txBody>
          <a:bodyPr wrap="square" lIns="0" tIns="0" rIns="0" bIns="0" rtlCol="0" anchor="ctr"/>
          <a:lstStyle/>
          <a:p>
            <a:pPr marL="0" indent="0">
              <a:buNone/>
            </a:pPr>
            <a:r>
              <a:rPr lang="en-US" sz="1050" i="1" dirty="0">
                <a:solidFill>
                  <a:srgbClr val="A9A59A"/>
                </a:solidFill>
                <a:latin typeface="Arial" pitchFamily="34" charset="0"/>
                <a:ea typeface="Arial" pitchFamily="34" charset="-122"/>
                <a:cs typeface="Arial" pitchFamily="34" charset="-120"/>
              </a:rPr>
              <a:t>McKinsey Global Survey on AI, worldwide respondents, early 2024 — a measured survey result, not a forecast. Figures move fast; check current reporting before quoting elsewhere.</a:t>
            </a:r>
            <a:endParaRPr lang="en-US" sz="1050" dirty="0"/>
          </a:p>
        </p:txBody>
      </p:sp>
      <p:sp>
        <p:nvSpPr>
          <p:cNvPr id="17" name="Text 15"/>
          <p:cNvSpPr txBox="1"/>
          <p:nvPr/>
        </p:nvSpPr>
        <p:spPr>
          <a:xfrm>
            <a:off x="502920" y="5532120"/>
            <a:ext cx="10287000" cy="45720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The question in this room isn't whether you'll use AI at work. It's whether you'll use it well.</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292608"/>
            <a:ext cx="6400800" cy="274320"/>
          </a:xfrm>
          <a:prstGeom prst="rect">
            <a:avLst/>
          </a:prstGeom>
          <a:noFill/>
          <a:ln/>
        </p:spPr>
        <p:txBody>
          <a:bodyPr wrap="square" lIns="0" tIns="0" rIns="0" bIns="0" rtlCol="0" anchor="ctr"/>
          <a:lstStyle/>
          <a:p>
            <a:pPr marL="0" indent="0" algn="l">
              <a:buNone/>
            </a:pPr>
            <a:r>
              <a:rPr lang="en-US" sz="1050" b="1" kern="0" spc="200" dirty="0">
                <a:solidFill>
                  <a:srgbClr val="A9A59A"/>
                </a:solidFill>
                <a:latin typeface="Arial" pitchFamily="34" charset="0"/>
                <a:ea typeface="Arial" pitchFamily="34" charset="-122"/>
                <a:cs typeface="Arial" pitchFamily="34" charset="-120"/>
              </a:rPr>
              <a:t>AI IN 2026 · LATEST DEVELOPMENTS</a:t>
            </a:r>
            <a:endParaRPr lang="en-US" sz="1050" dirty="0"/>
          </a:p>
        </p:txBody>
      </p:sp>
      <p:sp>
        <p:nvSpPr>
          <p:cNvPr id="3" name="Shape 1"/>
          <p:cNvSpPr/>
          <p:nvPr/>
        </p:nvSpPr>
        <p:spPr>
          <a:xfrm>
            <a:off x="10033711" y="256032"/>
            <a:ext cx="1655064" cy="384048"/>
          </a:xfrm>
          <a:prstGeom prst="roundRect">
            <a:avLst>
              <a:gd name="adj" fmla="val 21429"/>
            </a:avLst>
          </a:prstGeom>
          <a:solidFill>
            <a:srgbClr val="1E4FFF"/>
          </a:solidFill>
          <a:ln/>
        </p:spPr>
      </p:sp>
      <p:sp>
        <p:nvSpPr>
          <p:cNvPr id="4" name="Text 2"/>
          <p:cNvSpPr txBox="1"/>
          <p:nvPr/>
        </p:nvSpPr>
        <p:spPr>
          <a:xfrm>
            <a:off x="10033711" y="256032"/>
            <a:ext cx="1655064"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DISCOVERY</a:t>
            </a:r>
            <a:endParaRPr lang="en-US" sz="1200" dirty="0"/>
          </a:p>
        </p:txBody>
      </p:sp>
      <p:sp>
        <p:nvSpPr>
          <p:cNvPr id="5" name="Shape 3"/>
          <p:cNvSpPr/>
          <p:nvPr/>
        </p:nvSpPr>
        <p:spPr>
          <a:xfrm>
            <a:off x="502920" y="6446520"/>
            <a:ext cx="11185855" cy="0"/>
          </a:xfrm>
          <a:prstGeom prst="line">
            <a:avLst/>
          </a:prstGeom>
          <a:noFill/>
          <a:ln w="9525">
            <a:solidFill>
              <a:srgbClr val="3A3A3A"/>
            </a:solidFill>
            <a:prstDash val="solid"/>
          </a:ln>
        </p:spPr>
      </p:sp>
      <p:sp>
        <p:nvSpPr>
          <p:cNvPr id="7" name="Text 5"/>
          <p:cNvSpPr txBox="1"/>
          <p:nvPr/>
        </p:nvSpPr>
        <p:spPr>
          <a:xfrm>
            <a:off x="10591495" y="6492240"/>
            <a:ext cx="1097280" cy="274320"/>
          </a:xfrm>
          <a:prstGeom prst="rect">
            <a:avLst/>
          </a:prstGeom>
          <a:noFill/>
          <a:ln/>
        </p:spPr>
        <p:txBody>
          <a:bodyPr wrap="square" lIns="0" tIns="0" rIns="0" bIns="0" rtlCol="0" anchor="ctr"/>
          <a:lstStyle/>
          <a:p>
            <a:pPr marL="0" indent="0" algn="r">
              <a:buNone/>
            </a:pPr>
            <a:r>
              <a:rPr lang="en-US" sz="900" dirty="0">
                <a:solidFill>
                  <a:srgbClr val="A9A59A"/>
                </a:solidFill>
                <a:latin typeface="Arial" pitchFamily="34" charset="0"/>
                <a:ea typeface="Arial" pitchFamily="34" charset="-122"/>
                <a:cs typeface="Arial" pitchFamily="34" charset="-120"/>
              </a:rPr>
              <a:t>01 / 03</a:t>
            </a:r>
            <a:endParaRPr lang="en-US" sz="900" dirty="0"/>
          </a:p>
        </p:txBody>
      </p:sp>
      <p:sp>
        <p:nvSpPr>
          <p:cNvPr id="8" name="Text 6"/>
          <p:cNvSpPr txBox="1"/>
          <p:nvPr/>
        </p:nvSpPr>
        <p:spPr>
          <a:xfrm>
            <a:off x="502920" y="713232"/>
            <a:ext cx="11185855" cy="868680"/>
          </a:xfrm>
          <a:prstGeom prst="rect">
            <a:avLst/>
          </a:prstGeom>
          <a:noFill/>
          <a:ln/>
        </p:spPr>
        <p:txBody>
          <a:bodyPr wrap="square" lIns="0" tIns="0" rIns="0" bIns="0" rtlCol="0" anchor="t"/>
          <a:lstStyle/>
          <a:p>
            <a:pPr marL="0" indent="0" algn="l">
              <a:lnSpc>
                <a:spcPct val="102000"/>
              </a:lnSpc>
              <a:buNone/>
            </a:pPr>
            <a:r>
              <a:rPr lang="en-US" sz="3400" b="1" dirty="0">
                <a:solidFill>
                  <a:srgbClr val="FFFFFF"/>
                </a:solidFill>
                <a:latin typeface="Arial" pitchFamily="34" charset="0"/>
                <a:ea typeface="Arial" pitchFamily="34" charset="-122"/>
                <a:cs typeface="Arial" pitchFamily="34" charset="-120"/>
              </a:rPr>
              <a:t>What AI Discovered This Year</a:t>
            </a:r>
            <a:endParaRPr lang="en-US" sz="3400" dirty="0"/>
          </a:p>
        </p:txBody>
      </p:sp>
      <p:sp>
        <p:nvSpPr>
          <p:cNvPr id="9" name="Text 7"/>
          <p:cNvSpPr txBox="1"/>
          <p:nvPr/>
        </p:nvSpPr>
        <p:spPr>
          <a:xfrm>
            <a:off x="502920" y="1536192"/>
            <a:ext cx="11185855" cy="320040"/>
          </a:xfrm>
          <a:prstGeom prst="rect">
            <a:avLst/>
          </a:prstGeom>
          <a:noFill/>
          <a:ln/>
        </p:spPr>
        <p:txBody>
          <a:bodyPr wrap="square" lIns="0" tIns="0" rIns="0" bIns="0" rtlCol="0" anchor="t"/>
          <a:lstStyle/>
          <a:p>
            <a:pPr marL="0" indent="0" algn="l">
              <a:buNone/>
            </a:pPr>
            <a:r>
              <a:rPr lang="en-US" sz="1350" i="1" dirty="0">
                <a:solidFill>
                  <a:srgbClr val="A9A59A"/>
                </a:solidFill>
                <a:latin typeface="Arial" pitchFamily="34" charset="0"/>
                <a:ea typeface="Arial" pitchFamily="34" charset="-122"/>
                <a:cs typeface="Arial" pitchFamily="34" charset="-120"/>
              </a:rPr>
              <a:t>Three shifts separating 2026's frontier systems from last year's chatbots.</a:t>
            </a:r>
            <a:endParaRPr lang="en-US" sz="1350" dirty="0"/>
          </a:p>
        </p:txBody>
      </p:sp>
      <p:sp>
        <p:nvSpPr>
          <p:cNvPr id="10" name="Shape 8"/>
          <p:cNvSpPr/>
          <p:nvPr/>
        </p:nvSpPr>
        <p:spPr>
          <a:xfrm>
            <a:off x="502920" y="2139696"/>
            <a:ext cx="621792" cy="621792"/>
          </a:xfrm>
          <a:prstGeom prst="ellipse">
            <a:avLst/>
          </a:prstGeom>
          <a:solidFill>
            <a:srgbClr val="1A1A1A"/>
          </a:solidFill>
          <a:ln w="28575">
            <a:solidFill>
              <a:srgbClr val="1E4FFF"/>
            </a:solidFill>
            <a:prstDash val="solid"/>
          </a:ln>
        </p:spPr>
      </p:sp>
      <p:sp>
        <p:nvSpPr>
          <p:cNvPr id="11" name="Text 9"/>
          <p:cNvSpPr txBox="1"/>
          <p:nvPr/>
        </p:nvSpPr>
        <p:spPr>
          <a:xfrm>
            <a:off x="502920" y="2139696"/>
            <a:ext cx="621792" cy="621792"/>
          </a:xfrm>
          <a:prstGeom prst="rect">
            <a:avLst/>
          </a:prstGeom>
          <a:noFill/>
          <a:ln/>
        </p:spPr>
        <p:txBody>
          <a:bodyPr wrap="square" lIns="0" tIns="0" rIns="0" bIns="0" rtlCol="0" anchor="ctr"/>
          <a:lstStyle/>
          <a:p>
            <a:pPr marL="0" indent="0" algn="ctr">
              <a:buNone/>
            </a:pPr>
            <a:r>
              <a:rPr lang="en-US" sz="1900" b="1" dirty="0">
                <a:solidFill>
                  <a:srgbClr val="1E4FFF"/>
                </a:solidFill>
                <a:latin typeface="Arial" pitchFamily="34" charset="0"/>
                <a:ea typeface="Arial" pitchFamily="34" charset="-122"/>
                <a:cs typeface="Arial" pitchFamily="34" charset="-120"/>
              </a:rPr>
              <a:t>R</a:t>
            </a:r>
            <a:endParaRPr lang="en-US" sz="1900" dirty="0"/>
          </a:p>
        </p:txBody>
      </p:sp>
      <p:sp>
        <p:nvSpPr>
          <p:cNvPr id="12" name="Text 10"/>
          <p:cNvSpPr txBox="1"/>
          <p:nvPr/>
        </p:nvSpPr>
        <p:spPr>
          <a:xfrm>
            <a:off x="1490472" y="2084832"/>
            <a:ext cx="10198303" cy="310896"/>
          </a:xfrm>
          <a:prstGeom prst="rect">
            <a:avLst/>
          </a:prstGeom>
          <a:noFill/>
          <a:ln/>
        </p:spPr>
        <p:txBody>
          <a:bodyPr wrap="square" lIns="0" tIns="0" rIns="0" bIns="0" rtlCol="0" anchor="t"/>
          <a:lstStyle/>
          <a:p>
            <a:pPr marL="0" indent="0" algn="l">
              <a:buNone/>
            </a:pPr>
            <a:r>
              <a:rPr lang="en-US" sz="1700" b="1" dirty="0">
                <a:solidFill>
                  <a:srgbClr val="FFFFFF"/>
                </a:solidFill>
                <a:latin typeface="Arial" pitchFamily="34" charset="0"/>
                <a:ea typeface="Arial" pitchFamily="34" charset="-122"/>
                <a:cs typeface="Arial" pitchFamily="34" charset="-120"/>
              </a:rPr>
              <a:t>Reasoning caught up to real engineering work</a:t>
            </a:r>
            <a:endParaRPr lang="en-US" sz="1700" dirty="0"/>
          </a:p>
        </p:txBody>
      </p:sp>
      <p:sp>
        <p:nvSpPr>
          <p:cNvPr id="13" name="Text 11"/>
          <p:cNvSpPr txBox="1"/>
          <p:nvPr/>
        </p:nvSpPr>
        <p:spPr>
          <a:xfrm>
            <a:off x="1490472" y="2414016"/>
            <a:ext cx="10198303" cy="658368"/>
          </a:xfrm>
          <a:prstGeom prst="rect">
            <a:avLst/>
          </a:prstGeom>
          <a:noFill/>
          <a:ln/>
        </p:spPr>
        <p:txBody>
          <a:bodyPr wrap="square" lIns="0" tIns="0" rIns="0" bIns="0" rtlCol="0" anchor="t"/>
          <a:lstStyle/>
          <a:p>
            <a:pPr marL="0" indent="0" algn="l">
              <a:lnSpc>
                <a:spcPct val="112000"/>
              </a:lnSpc>
              <a:buNone/>
            </a:pPr>
            <a:r>
              <a:rPr lang="en-US" sz="1250" b="1" dirty="0">
                <a:latin typeface="Arial" pitchFamily="34" charset="0"/>
                <a:ea typeface="Arial" pitchFamily="34" charset="-122"/>
                <a:cs typeface="Arial" pitchFamily="34" charset="-120"/>
              </a:rPr>
              <a:t>On SWE-bench Verified, the standard test for fixing real software bugs, model scores climbed from about 60% to near 100% within a single year. The same frontier systems now match or beat human experts on PhD-level science questions and international mathematics competitions.</a:t>
            </a:r>
            <a:endParaRPr lang="en-US" sz="1250" b="1" dirty="0"/>
          </a:p>
        </p:txBody>
      </p:sp>
      <p:sp>
        <p:nvSpPr>
          <p:cNvPr id="14" name="Text 12"/>
          <p:cNvSpPr txBox="1"/>
          <p:nvPr/>
        </p:nvSpPr>
        <p:spPr>
          <a:xfrm>
            <a:off x="1490472" y="3072384"/>
            <a:ext cx="10198303" cy="256032"/>
          </a:xfrm>
          <a:prstGeom prst="rect">
            <a:avLst/>
          </a:prstGeom>
          <a:noFill/>
          <a:ln/>
        </p:spPr>
        <p:txBody>
          <a:bodyPr wrap="square" lIns="0" tIns="0" rIns="0" bIns="0" rtlCol="0" anchor="t"/>
          <a:lstStyle/>
          <a:p>
            <a:pPr marL="0" indent="0" algn="l">
              <a:buNone/>
            </a:pPr>
            <a:r>
              <a:rPr lang="en-US" sz="1000" i="1" dirty="0">
                <a:solidFill>
                  <a:srgbClr val="A9A59A"/>
                </a:solidFill>
                <a:latin typeface="Arial" pitchFamily="34" charset="0"/>
                <a:ea typeface="Arial" pitchFamily="34" charset="-122"/>
                <a:cs typeface="Arial" pitchFamily="34" charset="-120"/>
              </a:rPr>
              <a:t>Source: Stanford HAI, AI Index Report 2026</a:t>
            </a:r>
            <a:endParaRPr lang="en-US" sz="1000" dirty="0"/>
          </a:p>
        </p:txBody>
      </p:sp>
      <p:sp>
        <p:nvSpPr>
          <p:cNvPr id="15" name="Shape 13"/>
          <p:cNvSpPr/>
          <p:nvPr/>
        </p:nvSpPr>
        <p:spPr>
          <a:xfrm>
            <a:off x="1490472" y="3328416"/>
            <a:ext cx="10198303" cy="0"/>
          </a:xfrm>
          <a:prstGeom prst="line">
            <a:avLst/>
          </a:prstGeom>
          <a:noFill/>
          <a:ln w="9525">
            <a:solidFill>
              <a:srgbClr val="3A3A3A"/>
            </a:solidFill>
            <a:prstDash val="solid"/>
          </a:ln>
        </p:spPr>
      </p:sp>
      <p:sp>
        <p:nvSpPr>
          <p:cNvPr id="16" name="Shape 14"/>
          <p:cNvSpPr/>
          <p:nvPr/>
        </p:nvSpPr>
        <p:spPr>
          <a:xfrm>
            <a:off x="502920" y="3511296"/>
            <a:ext cx="621792" cy="621792"/>
          </a:xfrm>
          <a:prstGeom prst="ellipse">
            <a:avLst/>
          </a:prstGeom>
          <a:solidFill>
            <a:srgbClr val="1A1A1A"/>
          </a:solidFill>
          <a:ln w="28575">
            <a:solidFill>
              <a:srgbClr val="1E4FFF"/>
            </a:solidFill>
            <a:prstDash val="solid"/>
          </a:ln>
        </p:spPr>
      </p:sp>
      <p:sp>
        <p:nvSpPr>
          <p:cNvPr id="17" name="Text 15"/>
          <p:cNvSpPr txBox="1"/>
          <p:nvPr/>
        </p:nvSpPr>
        <p:spPr>
          <a:xfrm>
            <a:off x="502920" y="3511296"/>
            <a:ext cx="621792" cy="621792"/>
          </a:xfrm>
          <a:prstGeom prst="rect">
            <a:avLst/>
          </a:prstGeom>
          <a:noFill/>
          <a:ln/>
        </p:spPr>
        <p:txBody>
          <a:bodyPr wrap="square" lIns="0" tIns="0" rIns="0" bIns="0" rtlCol="0" anchor="ctr"/>
          <a:lstStyle/>
          <a:p>
            <a:pPr marL="0" indent="0" algn="ctr">
              <a:buNone/>
            </a:pPr>
            <a:r>
              <a:rPr lang="en-US" sz="1900" b="1" dirty="0">
                <a:solidFill>
                  <a:srgbClr val="1E4FFF"/>
                </a:solidFill>
                <a:latin typeface="Arial" pitchFamily="34" charset="0"/>
                <a:ea typeface="Arial" pitchFamily="34" charset="-122"/>
                <a:cs typeface="Arial" pitchFamily="34" charset="-120"/>
              </a:rPr>
              <a:t>S</a:t>
            </a:r>
            <a:endParaRPr lang="en-US" sz="1900" dirty="0"/>
          </a:p>
        </p:txBody>
      </p:sp>
      <p:sp>
        <p:nvSpPr>
          <p:cNvPr id="18" name="Text 16"/>
          <p:cNvSpPr txBox="1"/>
          <p:nvPr/>
        </p:nvSpPr>
        <p:spPr>
          <a:xfrm>
            <a:off x="1490472" y="3456432"/>
            <a:ext cx="10198303" cy="310896"/>
          </a:xfrm>
          <a:prstGeom prst="rect">
            <a:avLst/>
          </a:prstGeom>
          <a:noFill/>
          <a:ln/>
        </p:spPr>
        <p:txBody>
          <a:bodyPr wrap="square" lIns="0" tIns="0" rIns="0" bIns="0" rtlCol="0" anchor="t"/>
          <a:lstStyle/>
          <a:p>
            <a:pPr marL="0" indent="0" algn="l">
              <a:buNone/>
            </a:pPr>
            <a:r>
              <a:rPr lang="en-US" sz="1700" b="1" dirty="0">
                <a:solidFill>
                  <a:srgbClr val="FFFFFF"/>
                </a:solidFill>
                <a:latin typeface="Arial" pitchFamily="34" charset="0"/>
                <a:ea typeface="Arial" pitchFamily="34" charset="-122"/>
                <a:cs typeface="Arial" pitchFamily="34" charset="-120"/>
              </a:rPr>
              <a:t>AI began doing science, not just summarizing it</a:t>
            </a:r>
            <a:endParaRPr lang="en-US" sz="1700" dirty="0"/>
          </a:p>
        </p:txBody>
      </p:sp>
      <p:sp>
        <p:nvSpPr>
          <p:cNvPr id="19" name="Text 17"/>
          <p:cNvSpPr txBox="1"/>
          <p:nvPr/>
        </p:nvSpPr>
        <p:spPr>
          <a:xfrm>
            <a:off x="1490472" y="3785616"/>
            <a:ext cx="10198303" cy="658368"/>
          </a:xfrm>
          <a:prstGeom prst="rect">
            <a:avLst/>
          </a:prstGeom>
          <a:noFill/>
          <a:ln/>
        </p:spPr>
        <p:txBody>
          <a:bodyPr wrap="square" lIns="0" tIns="0" rIns="0" bIns="0" rtlCol="0" anchor="t"/>
          <a:lstStyle/>
          <a:p>
            <a:pPr marL="0" indent="0" algn="l">
              <a:lnSpc>
                <a:spcPct val="112000"/>
              </a:lnSpc>
              <a:buNone/>
            </a:pPr>
            <a:r>
              <a:rPr lang="en-US" sz="1250" dirty="0">
                <a:latin typeface="Arial" pitchFamily="34" charset="0"/>
                <a:ea typeface="Arial" pitchFamily="34" charset="-122"/>
                <a:cs typeface="Arial" pitchFamily="34" charset="-120"/>
              </a:rPr>
              <a:t>Google DeepMind’s GNoME system has mapped more than 2.2 million candidate crystal structures — roughly 800 years of conventional materials research compressed into months. Well over 100 AI-designed drug candidates are already in human clinical trials.</a:t>
            </a:r>
            <a:endParaRPr lang="en-US" sz="1250" dirty="0"/>
          </a:p>
        </p:txBody>
      </p:sp>
      <p:sp>
        <p:nvSpPr>
          <p:cNvPr id="20" name="Text 18"/>
          <p:cNvSpPr txBox="1"/>
          <p:nvPr/>
        </p:nvSpPr>
        <p:spPr>
          <a:xfrm>
            <a:off x="1490472" y="4443984"/>
            <a:ext cx="10198303" cy="256032"/>
          </a:xfrm>
          <a:prstGeom prst="rect">
            <a:avLst/>
          </a:prstGeom>
          <a:noFill/>
          <a:ln/>
        </p:spPr>
        <p:txBody>
          <a:bodyPr wrap="square" lIns="0" tIns="0" rIns="0" bIns="0" rtlCol="0" anchor="t"/>
          <a:lstStyle/>
          <a:p>
            <a:pPr marL="0" indent="0" algn="l">
              <a:buNone/>
            </a:pPr>
            <a:r>
              <a:rPr lang="en-US" sz="1000" i="1" dirty="0">
                <a:solidFill>
                  <a:srgbClr val="A9A59A"/>
                </a:solidFill>
                <a:latin typeface="Arial" pitchFamily="34" charset="0"/>
                <a:ea typeface="Arial" pitchFamily="34" charset="-122"/>
                <a:cs typeface="Arial" pitchFamily="34" charset="-120"/>
              </a:rPr>
              <a:t>Source: Google DeepMind; industry research, early 2026 — verify the latest count before teaching</a:t>
            </a:r>
            <a:endParaRPr lang="en-US" sz="1000" dirty="0"/>
          </a:p>
        </p:txBody>
      </p:sp>
      <p:sp>
        <p:nvSpPr>
          <p:cNvPr id="21" name="Shape 19"/>
          <p:cNvSpPr/>
          <p:nvPr/>
        </p:nvSpPr>
        <p:spPr>
          <a:xfrm>
            <a:off x="1490472" y="4700016"/>
            <a:ext cx="10198303" cy="0"/>
          </a:xfrm>
          <a:prstGeom prst="line">
            <a:avLst/>
          </a:prstGeom>
          <a:noFill/>
          <a:ln w="9525">
            <a:solidFill>
              <a:srgbClr val="3A3A3A"/>
            </a:solidFill>
            <a:prstDash val="solid"/>
          </a:ln>
        </p:spPr>
      </p:sp>
      <p:sp>
        <p:nvSpPr>
          <p:cNvPr id="22" name="Shape 20"/>
          <p:cNvSpPr/>
          <p:nvPr/>
        </p:nvSpPr>
        <p:spPr>
          <a:xfrm>
            <a:off x="502920" y="4882896"/>
            <a:ext cx="621792" cy="621792"/>
          </a:xfrm>
          <a:prstGeom prst="ellipse">
            <a:avLst/>
          </a:prstGeom>
          <a:solidFill>
            <a:srgbClr val="1A1A1A"/>
          </a:solidFill>
          <a:ln w="28575">
            <a:solidFill>
              <a:srgbClr val="1E4FFF"/>
            </a:solidFill>
            <a:prstDash val="solid"/>
          </a:ln>
        </p:spPr>
      </p:sp>
      <p:sp>
        <p:nvSpPr>
          <p:cNvPr id="23" name="Text 21"/>
          <p:cNvSpPr txBox="1"/>
          <p:nvPr/>
        </p:nvSpPr>
        <p:spPr>
          <a:xfrm>
            <a:off x="502920" y="4882896"/>
            <a:ext cx="621792" cy="621792"/>
          </a:xfrm>
          <a:prstGeom prst="rect">
            <a:avLst/>
          </a:prstGeom>
          <a:noFill/>
          <a:ln/>
        </p:spPr>
        <p:txBody>
          <a:bodyPr wrap="square" lIns="0" tIns="0" rIns="0" bIns="0" rtlCol="0" anchor="ctr"/>
          <a:lstStyle/>
          <a:p>
            <a:pPr marL="0" indent="0" algn="ctr">
              <a:buNone/>
            </a:pPr>
            <a:r>
              <a:rPr lang="en-US" sz="1900" b="1" dirty="0">
                <a:solidFill>
                  <a:srgbClr val="1E4FFF"/>
                </a:solidFill>
                <a:latin typeface="Arial" pitchFamily="34" charset="0"/>
                <a:ea typeface="Arial" pitchFamily="34" charset="-122"/>
                <a:cs typeface="Arial" pitchFamily="34" charset="-120"/>
              </a:rPr>
              <a:t>A</a:t>
            </a:r>
            <a:endParaRPr lang="en-US" sz="1900" dirty="0"/>
          </a:p>
        </p:txBody>
      </p:sp>
      <p:sp>
        <p:nvSpPr>
          <p:cNvPr id="24" name="Text 22"/>
          <p:cNvSpPr txBox="1"/>
          <p:nvPr/>
        </p:nvSpPr>
        <p:spPr>
          <a:xfrm>
            <a:off x="1490472" y="4828032"/>
            <a:ext cx="10198303" cy="310896"/>
          </a:xfrm>
          <a:prstGeom prst="rect">
            <a:avLst/>
          </a:prstGeom>
          <a:noFill/>
          <a:ln/>
        </p:spPr>
        <p:txBody>
          <a:bodyPr wrap="square" lIns="0" tIns="0" rIns="0" bIns="0" rtlCol="0" anchor="t"/>
          <a:lstStyle/>
          <a:p>
            <a:pPr marL="0" indent="0" algn="l">
              <a:buNone/>
            </a:pPr>
            <a:r>
              <a:rPr lang="en-US" sz="1700" b="1" dirty="0">
                <a:solidFill>
                  <a:srgbClr val="FFFFFF"/>
                </a:solidFill>
                <a:latin typeface="Arial" pitchFamily="34" charset="0"/>
                <a:ea typeface="Arial" pitchFamily="34" charset="-122"/>
                <a:cs typeface="Arial" pitchFamily="34" charset="-120"/>
              </a:rPr>
              <a:t>Agents stopped waiting for step-by-step instructions</a:t>
            </a:r>
            <a:endParaRPr lang="en-US" sz="1700" dirty="0"/>
          </a:p>
        </p:txBody>
      </p:sp>
      <p:sp>
        <p:nvSpPr>
          <p:cNvPr id="25" name="Text 23"/>
          <p:cNvSpPr txBox="1"/>
          <p:nvPr/>
        </p:nvSpPr>
        <p:spPr>
          <a:xfrm>
            <a:off x="1490472" y="5157216"/>
            <a:ext cx="10198303" cy="658368"/>
          </a:xfrm>
          <a:prstGeom prst="rect">
            <a:avLst/>
          </a:prstGeom>
          <a:noFill/>
          <a:ln/>
        </p:spPr>
        <p:txBody>
          <a:bodyPr wrap="square" lIns="0" tIns="0" rIns="0" bIns="0" rtlCol="0" anchor="t"/>
          <a:lstStyle/>
          <a:p>
            <a:pPr marL="0" indent="0" algn="l">
              <a:lnSpc>
                <a:spcPct val="112000"/>
              </a:lnSpc>
              <a:buNone/>
            </a:pPr>
            <a:r>
              <a:rPr lang="en-US" sz="1250" dirty="0">
                <a:latin typeface="Arial" pitchFamily="34" charset="0"/>
                <a:ea typeface="Arial" pitchFamily="34" charset="-122"/>
                <a:cs typeface="Arial" pitchFamily="34" charset="-120"/>
              </a:rPr>
              <a:t>2026’s model releases ship with "computer use" as standard: an AI that opens a browser, clicks through a real interface, and finishes a multi-step task on its own. Context windows have also crossed one million tokens — enough to hold an entire codebase in one request.</a:t>
            </a:r>
            <a:endParaRPr lang="en-US" sz="1250" dirty="0"/>
          </a:p>
        </p:txBody>
      </p:sp>
      <p:sp>
        <p:nvSpPr>
          <p:cNvPr id="26" name="Text 24"/>
          <p:cNvSpPr txBox="1"/>
          <p:nvPr/>
        </p:nvSpPr>
        <p:spPr>
          <a:xfrm>
            <a:off x="1490472" y="5815584"/>
            <a:ext cx="10198303" cy="256032"/>
          </a:xfrm>
          <a:prstGeom prst="rect">
            <a:avLst/>
          </a:prstGeom>
          <a:noFill/>
          <a:ln/>
        </p:spPr>
        <p:txBody>
          <a:bodyPr wrap="square" lIns="0" tIns="0" rIns="0" bIns="0" rtlCol="0" anchor="t"/>
          <a:lstStyle/>
          <a:p>
            <a:pPr marL="0" indent="0" algn="l">
              <a:buNone/>
            </a:pPr>
            <a:r>
              <a:rPr lang="en-US" sz="1000" i="1" dirty="0">
                <a:solidFill>
                  <a:srgbClr val="A9A59A"/>
                </a:solidFill>
                <a:latin typeface="Arial" pitchFamily="34" charset="0"/>
                <a:ea typeface="Arial" pitchFamily="34" charset="-122"/>
                <a:cs typeface="Arial" pitchFamily="34" charset="-120"/>
              </a:rPr>
              <a:t>Source: 2026 model release notes — OpenAI, Google DeepMind, Anthropic, Mistral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292608"/>
            <a:ext cx="6400800" cy="274320"/>
          </a:xfrm>
          <a:prstGeom prst="rect">
            <a:avLst/>
          </a:prstGeom>
          <a:noFill/>
          <a:ln/>
        </p:spPr>
        <p:txBody>
          <a:bodyPr wrap="square" lIns="0" tIns="0" rIns="0" bIns="0" rtlCol="0" anchor="ctr"/>
          <a:lstStyle/>
          <a:p>
            <a:pPr marL="0" indent="0" algn="l">
              <a:buNone/>
            </a:pPr>
            <a:r>
              <a:rPr lang="en-US" sz="1050" b="1" kern="0" spc="200" dirty="0">
                <a:solidFill>
                  <a:srgbClr val="6E6A60"/>
                </a:solidFill>
                <a:latin typeface="Arial" pitchFamily="34" charset="0"/>
                <a:ea typeface="Arial" pitchFamily="34" charset="-122"/>
                <a:cs typeface="Arial" pitchFamily="34" charset="-120"/>
              </a:rPr>
              <a:t>AI IN 2026 · LATEST DEVELOPMENTS</a:t>
            </a:r>
            <a:endParaRPr lang="en-US" sz="1050" dirty="0"/>
          </a:p>
        </p:txBody>
      </p:sp>
      <p:sp>
        <p:nvSpPr>
          <p:cNvPr id="3" name="Shape 1"/>
          <p:cNvSpPr/>
          <p:nvPr/>
        </p:nvSpPr>
        <p:spPr>
          <a:xfrm>
            <a:off x="9777679" y="256032"/>
            <a:ext cx="1911096" cy="384048"/>
          </a:xfrm>
          <a:prstGeom prst="roundRect">
            <a:avLst>
              <a:gd name="adj" fmla="val 21429"/>
            </a:avLst>
          </a:prstGeom>
          <a:solidFill>
            <a:srgbClr val="1E4FFF"/>
          </a:solidFill>
          <a:ln/>
        </p:spPr>
      </p:sp>
      <p:sp>
        <p:nvSpPr>
          <p:cNvPr id="4" name="Text 2"/>
          <p:cNvSpPr txBox="1"/>
          <p:nvPr/>
        </p:nvSpPr>
        <p:spPr>
          <a:xfrm>
            <a:off x="9777679" y="256032"/>
            <a:ext cx="1911096"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IN PRACTICE</a:t>
            </a:r>
            <a:endParaRPr lang="en-US" sz="1200" dirty="0"/>
          </a:p>
        </p:txBody>
      </p:sp>
      <p:sp>
        <p:nvSpPr>
          <p:cNvPr id="5" name="Shape 3"/>
          <p:cNvSpPr/>
          <p:nvPr/>
        </p:nvSpPr>
        <p:spPr>
          <a:xfrm>
            <a:off x="502920" y="6446520"/>
            <a:ext cx="11185855" cy="0"/>
          </a:xfrm>
          <a:prstGeom prst="line">
            <a:avLst/>
          </a:prstGeom>
          <a:noFill/>
          <a:ln w="9525">
            <a:solidFill>
              <a:srgbClr val="D8D3C5"/>
            </a:solidFill>
            <a:prstDash val="solid"/>
          </a:ln>
        </p:spPr>
      </p:sp>
      <p:sp>
        <p:nvSpPr>
          <p:cNvPr id="7" name="Text 5"/>
          <p:cNvSpPr txBox="1"/>
          <p:nvPr/>
        </p:nvSpPr>
        <p:spPr>
          <a:xfrm>
            <a:off x="10591495"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02 / 03</a:t>
            </a:r>
            <a:endParaRPr lang="en-US" sz="900" dirty="0"/>
          </a:p>
        </p:txBody>
      </p:sp>
      <p:sp>
        <p:nvSpPr>
          <p:cNvPr id="8" name="Text 6"/>
          <p:cNvSpPr txBox="1"/>
          <p:nvPr/>
        </p:nvSpPr>
        <p:spPr>
          <a:xfrm>
            <a:off x="502920" y="713232"/>
            <a:ext cx="11185855" cy="868680"/>
          </a:xfrm>
          <a:prstGeom prst="rect">
            <a:avLst/>
          </a:prstGeom>
          <a:noFill/>
          <a:ln/>
        </p:spPr>
        <p:txBody>
          <a:bodyPr wrap="square" lIns="0" tIns="0" rIns="0" bIns="0" rtlCol="0" anchor="t"/>
          <a:lstStyle/>
          <a:p>
            <a:pPr marL="0" indent="0" algn="l">
              <a:lnSpc>
                <a:spcPct val="102000"/>
              </a:lnSpc>
              <a:buNone/>
            </a:pPr>
            <a:r>
              <a:rPr lang="en-US" sz="3400" b="1" dirty="0">
                <a:solidFill>
                  <a:srgbClr val="1A1A1A"/>
                </a:solidFill>
                <a:latin typeface="Arial" pitchFamily="34" charset="0"/>
                <a:ea typeface="Arial" pitchFamily="34" charset="-122"/>
                <a:cs typeface="Arial" pitchFamily="34" charset="-120"/>
              </a:rPr>
              <a:t>Where Industry Is Already Using It</a:t>
            </a:r>
            <a:endParaRPr lang="en-US" sz="3400" dirty="0"/>
          </a:p>
        </p:txBody>
      </p:sp>
      <p:sp>
        <p:nvSpPr>
          <p:cNvPr id="9" name="Text 7"/>
          <p:cNvSpPr txBox="1"/>
          <p:nvPr/>
        </p:nvSpPr>
        <p:spPr>
          <a:xfrm>
            <a:off x="502920" y="1536192"/>
            <a:ext cx="11185855" cy="320040"/>
          </a:xfrm>
          <a:prstGeom prst="rect">
            <a:avLst/>
          </a:prstGeom>
          <a:noFill/>
          <a:ln/>
        </p:spPr>
        <p:txBody>
          <a:bodyPr wrap="square" lIns="0" tIns="0" rIns="0" bIns="0" rtlCol="0" anchor="t"/>
          <a:lstStyle/>
          <a:p>
            <a:pPr marL="0" indent="0" algn="l">
              <a:buNone/>
            </a:pPr>
            <a:r>
              <a:rPr lang="en-US" sz="1350" i="1" dirty="0">
                <a:solidFill>
                  <a:srgbClr val="6E6A60"/>
                </a:solidFill>
                <a:latin typeface="Arial" pitchFamily="34" charset="0"/>
                <a:ea typeface="Arial" pitchFamily="34" charset="-122"/>
                <a:cs typeface="Arial" pitchFamily="34" charset="-120"/>
              </a:rPr>
              <a:t>Six sectors, six live use cases — not pilots, production.</a:t>
            </a:r>
            <a:endParaRPr lang="en-US" sz="1350" dirty="0"/>
          </a:p>
        </p:txBody>
      </p:sp>
      <p:sp>
        <p:nvSpPr>
          <p:cNvPr id="10" name="Shape 8"/>
          <p:cNvSpPr/>
          <p:nvPr/>
        </p:nvSpPr>
        <p:spPr>
          <a:xfrm>
            <a:off x="502920" y="2029968"/>
            <a:ext cx="3533546" cy="2084832"/>
          </a:xfrm>
          <a:prstGeom prst="roundRect">
            <a:avLst>
              <a:gd name="adj" fmla="val 2632"/>
            </a:avLst>
          </a:prstGeom>
          <a:solidFill>
            <a:srgbClr val="EDE9DE"/>
          </a:solidFill>
          <a:ln w="12700">
            <a:solidFill>
              <a:srgbClr val="D8D3C5"/>
            </a:solidFill>
            <a:prstDash val="solid"/>
          </a:ln>
        </p:spPr>
      </p:sp>
      <p:sp>
        <p:nvSpPr>
          <p:cNvPr id="11" name="Text 9"/>
          <p:cNvSpPr txBox="1"/>
          <p:nvPr/>
        </p:nvSpPr>
        <p:spPr>
          <a:xfrm>
            <a:off x="722376" y="2212848"/>
            <a:ext cx="3094634" cy="274320"/>
          </a:xfrm>
          <a:prstGeom prst="rect">
            <a:avLst/>
          </a:prstGeom>
          <a:noFill/>
          <a:ln/>
        </p:spPr>
        <p:txBody>
          <a:bodyPr wrap="square" lIns="0" tIns="0" rIns="0" bIns="0" rtlCol="0" anchor="t"/>
          <a:lstStyle/>
          <a:p>
            <a:pPr marL="0" indent="0" algn="l">
              <a:buNone/>
            </a:pPr>
            <a:r>
              <a:rPr lang="en-US" sz="1050" b="1" kern="0" spc="100" dirty="0">
                <a:solidFill>
                  <a:srgbClr val="6E6A60"/>
                </a:solidFill>
                <a:latin typeface="Arial" pitchFamily="34" charset="0"/>
                <a:ea typeface="Arial" pitchFamily="34" charset="-122"/>
                <a:cs typeface="Arial" pitchFamily="34" charset="-120"/>
              </a:rPr>
              <a:t>MARKETING &amp; ADVERTISING</a:t>
            </a:r>
            <a:endParaRPr lang="en-US" sz="1050" dirty="0"/>
          </a:p>
        </p:txBody>
      </p:sp>
      <p:sp>
        <p:nvSpPr>
          <p:cNvPr id="12" name="Text 10"/>
          <p:cNvSpPr txBox="1"/>
          <p:nvPr/>
        </p:nvSpPr>
        <p:spPr>
          <a:xfrm>
            <a:off x="722376" y="2505456"/>
            <a:ext cx="3094634" cy="502920"/>
          </a:xfrm>
          <a:prstGeom prst="rect">
            <a:avLst/>
          </a:prstGeom>
          <a:noFill/>
          <a:ln/>
        </p:spPr>
        <p:txBody>
          <a:bodyPr wrap="square" lIns="0" tIns="0" rIns="0" bIns="0" rtlCol="0" anchor="t"/>
          <a:lstStyle/>
          <a:p>
            <a:pPr marL="0" indent="0" algn="l">
              <a:buNone/>
            </a:pPr>
            <a:r>
              <a:rPr lang="en-US" sz="2800" b="1" dirty="0">
                <a:solidFill>
                  <a:srgbClr val="1E4FFF"/>
                </a:solidFill>
                <a:latin typeface="Arial" pitchFamily="34" charset="0"/>
                <a:ea typeface="Arial" pitchFamily="34" charset="-122"/>
                <a:cs typeface="Arial" pitchFamily="34" charset="-120"/>
              </a:rPr>
              <a:t>47%</a:t>
            </a:r>
            <a:endParaRPr lang="en-US" sz="2800" dirty="0"/>
          </a:p>
        </p:txBody>
      </p:sp>
      <p:sp>
        <p:nvSpPr>
          <p:cNvPr id="13" name="Text 11"/>
          <p:cNvSpPr txBox="1"/>
          <p:nvPr/>
        </p:nvSpPr>
        <p:spPr>
          <a:xfrm>
            <a:off x="722376" y="2999232"/>
            <a:ext cx="3094634" cy="384048"/>
          </a:xfrm>
          <a:prstGeom prst="rect">
            <a:avLst/>
          </a:prstGeom>
          <a:noFill/>
          <a:ln/>
        </p:spPr>
        <p:txBody>
          <a:bodyPr wrap="square" lIns="0" tIns="0" rIns="0" bIns="0" rtlCol="0" anchor="t"/>
          <a:lstStyle/>
          <a:p>
            <a:pPr marL="0" indent="0" algn="l">
              <a:lnSpc>
                <a:spcPct val="105000"/>
              </a:lnSpc>
              <a:buNone/>
            </a:pPr>
            <a:r>
              <a:rPr lang="en-US" sz="950" dirty="0">
                <a:solidFill>
                  <a:srgbClr val="6E6A60"/>
                </a:solidFill>
                <a:latin typeface="Arial" pitchFamily="34" charset="0"/>
                <a:ea typeface="Arial" pitchFamily="34" charset="-122"/>
                <a:cs typeface="Arial" pitchFamily="34" charset="-120"/>
              </a:rPr>
              <a:t>of retail &amp; CPG marketing teams now using AI</a:t>
            </a:r>
            <a:endParaRPr lang="en-US" sz="950" dirty="0"/>
          </a:p>
        </p:txBody>
      </p:sp>
      <p:sp>
        <p:nvSpPr>
          <p:cNvPr id="14" name="Shape 12"/>
          <p:cNvSpPr/>
          <p:nvPr/>
        </p:nvSpPr>
        <p:spPr>
          <a:xfrm>
            <a:off x="722376" y="3401568"/>
            <a:ext cx="3094634" cy="0"/>
          </a:xfrm>
          <a:prstGeom prst="line">
            <a:avLst/>
          </a:prstGeom>
          <a:noFill/>
          <a:ln w="9525">
            <a:solidFill>
              <a:srgbClr val="D8D3C5"/>
            </a:solidFill>
            <a:prstDash val="solid"/>
          </a:ln>
        </p:spPr>
      </p:sp>
      <p:sp>
        <p:nvSpPr>
          <p:cNvPr id="15" name="Text 13"/>
          <p:cNvSpPr txBox="1"/>
          <p:nvPr/>
        </p:nvSpPr>
        <p:spPr>
          <a:xfrm>
            <a:off x="722376" y="3493008"/>
            <a:ext cx="3094634" cy="493776"/>
          </a:xfrm>
          <a:prstGeom prst="rect">
            <a:avLst/>
          </a:prstGeom>
          <a:noFill/>
          <a:ln/>
        </p:spPr>
        <p:txBody>
          <a:bodyPr wrap="square" lIns="0" tIns="0" rIns="0" bIns="0" rtlCol="0" anchor="t"/>
          <a:lstStyle/>
          <a:p>
            <a:pPr marL="0" indent="0" algn="l">
              <a:lnSpc>
                <a:spcPct val="110000"/>
              </a:lnSpc>
              <a:buNone/>
            </a:pPr>
            <a:r>
              <a:rPr lang="en-US" sz="1030" dirty="0">
                <a:solidFill>
                  <a:srgbClr val="444444"/>
                </a:solidFill>
                <a:latin typeface="Arial" pitchFamily="34" charset="0"/>
                <a:ea typeface="Arial" pitchFamily="34" charset="-122"/>
                <a:cs typeface="Arial" pitchFamily="34" charset="-120"/>
              </a:rPr>
              <a:t>Ad copy and creative variants, audience segmentation, content localization, campaign performance analysis.</a:t>
            </a:r>
            <a:endParaRPr lang="en-US" sz="1030" dirty="0"/>
          </a:p>
        </p:txBody>
      </p:sp>
      <p:sp>
        <p:nvSpPr>
          <p:cNvPr id="16" name="Shape 14"/>
          <p:cNvSpPr/>
          <p:nvPr/>
        </p:nvSpPr>
        <p:spPr>
          <a:xfrm>
            <a:off x="4329074" y="2029968"/>
            <a:ext cx="3533546" cy="2084832"/>
          </a:xfrm>
          <a:prstGeom prst="roundRect">
            <a:avLst>
              <a:gd name="adj" fmla="val 2632"/>
            </a:avLst>
          </a:prstGeom>
          <a:solidFill>
            <a:srgbClr val="EDE9DE"/>
          </a:solidFill>
          <a:ln w="12700">
            <a:solidFill>
              <a:srgbClr val="D8D3C5"/>
            </a:solidFill>
            <a:prstDash val="solid"/>
          </a:ln>
        </p:spPr>
      </p:sp>
      <p:sp>
        <p:nvSpPr>
          <p:cNvPr id="17" name="Text 15"/>
          <p:cNvSpPr txBox="1"/>
          <p:nvPr/>
        </p:nvSpPr>
        <p:spPr>
          <a:xfrm>
            <a:off x="4548530" y="2212848"/>
            <a:ext cx="3094634" cy="274320"/>
          </a:xfrm>
          <a:prstGeom prst="rect">
            <a:avLst/>
          </a:prstGeom>
          <a:noFill/>
          <a:ln/>
        </p:spPr>
        <p:txBody>
          <a:bodyPr wrap="square" lIns="0" tIns="0" rIns="0" bIns="0" rtlCol="0" anchor="t"/>
          <a:lstStyle/>
          <a:p>
            <a:pPr marL="0" indent="0" algn="l">
              <a:buNone/>
            </a:pPr>
            <a:r>
              <a:rPr lang="en-US" sz="1050" b="1" kern="0" spc="100" dirty="0">
                <a:solidFill>
                  <a:srgbClr val="6E6A60"/>
                </a:solidFill>
                <a:latin typeface="Arial" pitchFamily="34" charset="0"/>
                <a:ea typeface="Arial" pitchFamily="34" charset="-122"/>
                <a:cs typeface="Arial" pitchFamily="34" charset="-120"/>
              </a:rPr>
              <a:t>FINANCIAL SERVICES</a:t>
            </a:r>
            <a:endParaRPr lang="en-US" sz="1050" dirty="0"/>
          </a:p>
        </p:txBody>
      </p:sp>
      <p:sp>
        <p:nvSpPr>
          <p:cNvPr id="18" name="Text 16"/>
          <p:cNvSpPr txBox="1"/>
          <p:nvPr/>
        </p:nvSpPr>
        <p:spPr>
          <a:xfrm>
            <a:off x="4548530" y="2505456"/>
            <a:ext cx="3094634" cy="502920"/>
          </a:xfrm>
          <a:prstGeom prst="rect">
            <a:avLst/>
          </a:prstGeom>
          <a:noFill/>
          <a:ln/>
        </p:spPr>
        <p:txBody>
          <a:bodyPr wrap="square" lIns="0" tIns="0" rIns="0" bIns="0" rtlCol="0" anchor="t"/>
          <a:lstStyle/>
          <a:p>
            <a:pPr marL="0" indent="0" algn="l">
              <a:buNone/>
            </a:pPr>
            <a:r>
              <a:rPr lang="en-US" sz="2800" b="1" dirty="0">
                <a:solidFill>
                  <a:srgbClr val="1E4FFF"/>
                </a:solidFill>
                <a:latin typeface="Arial" pitchFamily="34" charset="0"/>
                <a:ea typeface="Arial" pitchFamily="34" charset="-122"/>
                <a:cs typeface="Arial" pitchFamily="34" charset="-120"/>
              </a:rPr>
              <a:t>70%</a:t>
            </a:r>
            <a:endParaRPr lang="en-US" sz="2800" dirty="0"/>
          </a:p>
        </p:txBody>
      </p:sp>
      <p:sp>
        <p:nvSpPr>
          <p:cNvPr id="19" name="Text 17"/>
          <p:cNvSpPr txBox="1"/>
          <p:nvPr/>
        </p:nvSpPr>
        <p:spPr>
          <a:xfrm>
            <a:off x="4548530" y="2999232"/>
            <a:ext cx="3094634" cy="384048"/>
          </a:xfrm>
          <a:prstGeom prst="rect">
            <a:avLst/>
          </a:prstGeom>
          <a:noFill/>
          <a:ln/>
        </p:spPr>
        <p:txBody>
          <a:bodyPr wrap="square" lIns="0" tIns="0" rIns="0" bIns="0" rtlCol="0" anchor="t"/>
          <a:lstStyle/>
          <a:p>
            <a:pPr marL="0" indent="0" algn="l">
              <a:lnSpc>
                <a:spcPct val="105000"/>
              </a:lnSpc>
              <a:buNone/>
            </a:pPr>
            <a:r>
              <a:rPr lang="en-US" sz="950" dirty="0">
                <a:solidFill>
                  <a:srgbClr val="6E6A60"/>
                </a:solidFill>
                <a:latin typeface="Arial" pitchFamily="34" charset="0"/>
                <a:ea typeface="Arial" pitchFamily="34" charset="-122"/>
                <a:cs typeface="Arial" pitchFamily="34" charset="-120"/>
              </a:rPr>
              <a:t>of enterprise AI pilot activity is concentrated here</a:t>
            </a:r>
            <a:endParaRPr lang="en-US" sz="950" dirty="0"/>
          </a:p>
        </p:txBody>
      </p:sp>
      <p:sp>
        <p:nvSpPr>
          <p:cNvPr id="20" name="Shape 18"/>
          <p:cNvSpPr/>
          <p:nvPr/>
        </p:nvSpPr>
        <p:spPr>
          <a:xfrm>
            <a:off x="4548530" y="3401568"/>
            <a:ext cx="3094634" cy="0"/>
          </a:xfrm>
          <a:prstGeom prst="line">
            <a:avLst/>
          </a:prstGeom>
          <a:noFill/>
          <a:ln w="9525">
            <a:solidFill>
              <a:srgbClr val="D8D3C5"/>
            </a:solidFill>
            <a:prstDash val="solid"/>
          </a:ln>
        </p:spPr>
      </p:sp>
      <p:sp>
        <p:nvSpPr>
          <p:cNvPr id="21" name="Text 19"/>
          <p:cNvSpPr txBox="1"/>
          <p:nvPr/>
        </p:nvSpPr>
        <p:spPr>
          <a:xfrm>
            <a:off x="4548530" y="3493008"/>
            <a:ext cx="3094634" cy="493776"/>
          </a:xfrm>
          <a:prstGeom prst="rect">
            <a:avLst/>
          </a:prstGeom>
          <a:noFill/>
          <a:ln/>
        </p:spPr>
        <p:txBody>
          <a:bodyPr wrap="square" lIns="0" tIns="0" rIns="0" bIns="0" rtlCol="0" anchor="t"/>
          <a:lstStyle/>
          <a:p>
            <a:pPr marL="0" indent="0" algn="l">
              <a:lnSpc>
                <a:spcPct val="110000"/>
              </a:lnSpc>
              <a:buNone/>
            </a:pPr>
            <a:r>
              <a:rPr lang="en-US" sz="1030" dirty="0">
                <a:solidFill>
                  <a:srgbClr val="444444"/>
                </a:solidFill>
                <a:latin typeface="Arial" pitchFamily="34" charset="0"/>
                <a:ea typeface="Arial" pitchFamily="34" charset="-122"/>
                <a:cs typeface="Arial" pitchFamily="34" charset="-120"/>
              </a:rPr>
              <a:t>Fraud detection, credit-risk scoring, algorithmic research, automated compliance checks.</a:t>
            </a:r>
            <a:endParaRPr lang="en-US" sz="1030" dirty="0"/>
          </a:p>
        </p:txBody>
      </p:sp>
      <p:sp>
        <p:nvSpPr>
          <p:cNvPr id="22" name="Shape 20"/>
          <p:cNvSpPr/>
          <p:nvPr/>
        </p:nvSpPr>
        <p:spPr>
          <a:xfrm>
            <a:off x="8155229" y="2029968"/>
            <a:ext cx="3533546" cy="2084832"/>
          </a:xfrm>
          <a:prstGeom prst="roundRect">
            <a:avLst>
              <a:gd name="adj" fmla="val 2632"/>
            </a:avLst>
          </a:prstGeom>
          <a:solidFill>
            <a:srgbClr val="EDE9DE"/>
          </a:solidFill>
          <a:ln w="12700">
            <a:solidFill>
              <a:srgbClr val="D8D3C5"/>
            </a:solidFill>
            <a:prstDash val="solid"/>
          </a:ln>
        </p:spPr>
      </p:sp>
      <p:sp>
        <p:nvSpPr>
          <p:cNvPr id="23" name="Text 21"/>
          <p:cNvSpPr txBox="1"/>
          <p:nvPr/>
        </p:nvSpPr>
        <p:spPr>
          <a:xfrm>
            <a:off x="8374685" y="2212848"/>
            <a:ext cx="3094634" cy="274320"/>
          </a:xfrm>
          <a:prstGeom prst="rect">
            <a:avLst/>
          </a:prstGeom>
          <a:noFill/>
          <a:ln/>
        </p:spPr>
        <p:txBody>
          <a:bodyPr wrap="square" lIns="0" tIns="0" rIns="0" bIns="0" rtlCol="0" anchor="t"/>
          <a:lstStyle/>
          <a:p>
            <a:pPr marL="0" indent="0" algn="l">
              <a:buNone/>
            </a:pPr>
            <a:r>
              <a:rPr lang="en-US" sz="1050" b="1" kern="0" spc="100" dirty="0">
                <a:solidFill>
                  <a:srgbClr val="6E6A60"/>
                </a:solidFill>
                <a:latin typeface="Arial" pitchFamily="34" charset="0"/>
                <a:ea typeface="Arial" pitchFamily="34" charset="-122"/>
                <a:cs typeface="Arial" pitchFamily="34" charset="-120"/>
              </a:rPr>
              <a:t>HEALTHCARE</a:t>
            </a:r>
            <a:endParaRPr lang="en-US" sz="1050" dirty="0"/>
          </a:p>
        </p:txBody>
      </p:sp>
      <p:sp>
        <p:nvSpPr>
          <p:cNvPr id="24" name="Text 22"/>
          <p:cNvSpPr txBox="1"/>
          <p:nvPr/>
        </p:nvSpPr>
        <p:spPr>
          <a:xfrm>
            <a:off x="8374685" y="2505456"/>
            <a:ext cx="3094634" cy="502920"/>
          </a:xfrm>
          <a:prstGeom prst="rect">
            <a:avLst/>
          </a:prstGeom>
          <a:noFill/>
          <a:ln/>
        </p:spPr>
        <p:txBody>
          <a:bodyPr wrap="square" lIns="0" tIns="0" rIns="0" bIns="0" rtlCol="0" anchor="t"/>
          <a:lstStyle/>
          <a:p>
            <a:pPr marL="0" indent="0" algn="l">
              <a:buNone/>
            </a:pPr>
            <a:r>
              <a:rPr lang="en-US" sz="2800" b="1" dirty="0">
                <a:solidFill>
                  <a:srgbClr val="1E4FFF"/>
                </a:solidFill>
                <a:latin typeface="Arial" pitchFamily="34" charset="0"/>
                <a:ea typeface="Arial" pitchFamily="34" charset="-122"/>
                <a:cs typeface="Arial" pitchFamily="34" charset="-120"/>
              </a:rPr>
              <a:t>68%</a:t>
            </a:r>
            <a:endParaRPr lang="en-US" sz="2800" dirty="0"/>
          </a:p>
        </p:txBody>
      </p:sp>
      <p:sp>
        <p:nvSpPr>
          <p:cNvPr id="25" name="Text 23"/>
          <p:cNvSpPr txBox="1"/>
          <p:nvPr/>
        </p:nvSpPr>
        <p:spPr>
          <a:xfrm>
            <a:off x="8374685" y="2999232"/>
            <a:ext cx="3094634" cy="384048"/>
          </a:xfrm>
          <a:prstGeom prst="rect">
            <a:avLst/>
          </a:prstGeom>
          <a:noFill/>
          <a:ln/>
        </p:spPr>
        <p:txBody>
          <a:bodyPr wrap="square" lIns="0" tIns="0" rIns="0" bIns="0" rtlCol="0" anchor="t"/>
          <a:lstStyle/>
          <a:p>
            <a:pPr marL="0" indent="0" algn="l">
              <a:lnSpc>
                <a:spcPct val="105000"/>
              </a:lnSpc>
              <a:buNone/>
            </a:pPr>
            <a:r>
              <a:rPr lang="en-US" sz="950" dirty="0">
                <a:solidFill>
                  <a:srgbClr val="6E6A60"/>
                </a:solidFill>
                <a:latin typeface="Arial" pitchFamily="34" charset="0"/>
                <a:ea typeface="Arial" pitchFamily="34" charset="-122"/>
                <a:cs typeface="Arial" pitchFamily="34" charset="-120"/>
              </a:rPr>
              <a:t>of health systems now run a live AI strategy</a:t>
            </a:r>
            <a:endParaRPr lang="en-US" sz="950" dirty="0"/>
          </a:p>
        </p:txBody>
      </p:sp>
      <p:sp>
        <p:nvSpPr>
          <p:cNvPr id="26" name="Shape 24"/>
          <p:cNvSpPr/>
          <p:nvPr/>
        </p:nvSpPr>
        <p:spPr>
          <a:xfrm>
            <a:off x="8374685" y="3401568"/>
            <a:ext cx="3094634" cy="0"/>
          </a:xfrm>
          <a:prstGeom prst="line">
            <a:avLst/>
          </a:prstGeom>
          <a:noFill/>
          <a:ln w="9525">
            <a:solidFill>
              <a:srgbClr val="D8D3C5"/>
            </a:solidFill>
            <a:prstDash val="solid"/>
          </a:ln>
        </p:spPr>
      </p:sp>
      <p:sp>
        <p:nvSpPr>
          <p:cNvPr id="27" name="Text 25"/>
          <p:cNvSpPr txBox="1"/>
          <p:nvPr/>
        </p:nvSpPr>
        <p:spPr>
          <a:xfrm>
            <a:off x="8374685" y="3493008"/>
            <a:ext cx="3094634" cy="493776"/>
          </a:xfrm>
          <a:prstGeom prst="rect">
            <a:avLst/>
          </a:prstGeom>
          <a:noFill/>
          <a:ln/>
        </p:spPr>
        <p:txBody>
          <a:bodyPr wrap="square" lIns="0" tIns="0" rIns="0" bIns="0" rtlCol="0" anchor="t"/>
          <a:lstStyle/>
          <a:p>
            <a:pPr marL="0" indent="0" algn="l">
              <a:lnSpc>
                <a:spcPct val="110000"/>
              </a:lnSpc>
              <a:buNone/>
            </a:pPr>
            <a:r>
              <a:rPr lang="en-US" sz="1030" dirty="0">
                <a:solidFill>
                  <a:srgbClr val="444444"/>
                </a:solidFill>
                <a:latin typeface="Arial" pitchFamily="34" charset="0"/>
                <a:ea typeface="Arial" pitchFamily="34" charset="-122"/>
                <a:cs typeface="Arial" pitchFamily="34" charset="-120"/>
              </a:rPr>
              <a:t>Diagnostic-imaging support, clinical note drafting, drug-discovery pipelines, patient-triage chat.</a:t>
            </a:r>
            <a:endParaRPr lang="en-US" sz="1030" dirty="0"/>
          </a:p>
        </p:txBody>
      </p:sp>
      <p:sp>
        <p:nvSpPr>
          <p:cNvPr id="28" name="Shape 26"/>
          <p:cNvSpPr/>
          <p:nvPr/>
        </p:nvSpPr>
        <p:spPr>
          <a:xfrm>
            <a:off x="502920" y="4370832"/>
            <a:ext cx="3533546" cy="2084832"/>
          </a:xfrm>
          <a:prstGeom prst="roundRect">
            <a:avLst>
              <a:gd name="adj" fmla="val 2632"/>
            </a:avLst>
          </a:prstGeom>
          <a:solidFill>
            <a:srgbClr val="EDE9DE"/>
          </a:solidFill>
          <a:ln w="12700">
            <a:solidFill>
              <a:srgbClr val="D8D3C5"/>
            </a:solidFill>
            <a:prstDash val="solid"/>
          </a:ln>
        </p:spPr>
      </p:sp>
      <p:sp>
        <p:nvSpPr>
          <p:cNvPr id="29" name="Text 27"/>
          <p:cNvSpPr txBox="1"/>
          <p:nvPr/>
        </p:nvSpPr>
        <p:spPr>
          <a:xfrm>
            <a:off x="722376" y="4553712"/>
            <a:ext cx="3094634" cy="274320"/>
          </a:xfrm>
          <a:prstGeom prst="rect">
            <a:avLst/>
          </a:prstGeom>
          <a:noFill/>
          <a:ln/>
        </p:spPr>
        <p:txBody>
          <a:bodyPr wrap="square" lIns="0" tIns="0" rIns="0" bIns="0" rtlCol="0" anchor="t"/>
          <a:lstStyle/>
          <a:p>
            <a:pPr marL="0" indent="0" algn="l">
              <a:buNone/>
            </a:pPr>
            <a:r>
              <a:rPr lang="en-US" sz="1050" b="1" kern="0" spc="100" dirty="0">
                <a:solidFill>
                  <a:srgbClr val="6E6A60"/>
                </a:solidFill>
                <a:latin typeface="Arial" pitchFamily="34" charset="0"/>
                <a:ea typeface="Arial" pitchFamily="34" charset="-122"/>
                <a:cs typeface="Arial" pitchFamily="34" charset="-120"/>
              </a:rPr>
              <a:t>MANUFACTURING</a:t>
            </a:r>
            <a:endParaRPr lang="en-US" sz="1050" dirty="0"/>
          </a:p>
        </p:txBody>
      </p:sp>
      <p:sp>
        <p:nvSpPr>
          <p:cNvPr id="30" name="Text 28"/>
          <p:cNvSpPr txBox="1"/>
          <p:nvPr/>
        </p:nvSpPr>
        <p:spPr>
          <a:xfrm>
            <a:off x="722376" y="4846320"/>
            <a:ext cx="3094634" cy="502920"/>
          </a:xfrm>
          <a:prstGeom prst="rect">
            <a:avLst/>
          </a:prstGeom>
          <a:noFill/>
          <a:ln/>
        </p:spPr>
        <p:txBody>
          <a:bodyPr wrap="square" lIns="0" tIns="0" rIns="0" bIns="0" rtlCol="0" anchor="t"/>
          <a:lstStyle/>
          <a:p>
            <a:pPr marL="0" indent="0" algn="l">
              <a:buNone/>
            </a:pPr>
            <a:r>
              <a:rPr lang="en-US" sz="2800" b="1" dirty="0">
                <a:solidFill>
                  <a:srgbClr val="1E4FFF"/>
                </a:solidFill>
                <a:latin typeface="Arial" pitchFamily="34" charset="0"/>
                <a:ea typeface="Arial" pitchFamily="34" charset="-122"/>
                <a:cs typeface="Arial" pitchFamily="34" charset="-120"/>
              </a:rPr>
              <a:t>69%</a:t>
            </a:r>
            <a:endParaRPr lang="en-US" sz="2800" dirty="0"/>
          </a:p>
        </p:txBody>
      </p:sp>
      <p:sp>
        <p:nvSpPr>
          <p:cNvPr id="31" name="Text 29"/>
          <p:cNvSpPr txBox="1"/>
          <p:nvPr/>
        </p:nvSpPr>
        <p:spPr>
          <a:xfrm>
            <a:off x="722376" y="5340096"/>
            <a:ext cx="3094634" cy="384048"/>
          </a:xfrm>
          <a:prstGeom prst="rect">
            <a:avLst/>
          </a:prstGeom>
          <a:noFill/>
          <a:ln/>
        </p:spPr>
        <p:txBody>
          <a:bodyPr wrap="square" lIns="0" tIns="0" rIns="0" bIns="0" rtlCol="0" anchor="t"/>
          <a:lstStyle/>
          <a:p>
            <a:pPr marL="0" indent="0" algn="l">
              <a:lnSpc>
                <a:spcPct val="105000"/>
              </a:lnSpc>
              <a:buNone/>
            </a:pPr>
            <a:r>
              <a:rPr lang="en-US" sz="950" dirty="0">
                <a:solidFill>
                  <a:srgbClr val="6E6A60"/>
                </a:solidFill>
                <a:latin typeface="Arial" pitchFamily="34" charset="0"/>
                <a:ea typeface="Arial" pitchFamily="34" charset="-122"/>
                <a:cs typeface="Arial" pitchFamily="34" charset="-120"/>
              </a:rPr>
              <a:t>have at least one AI use case in production</a:t>
            </a:r>
            <a:endParaRPr lang="en-US" sz="950" dirty="0"/>
          </a:p>
        </p:txBody>
      </p:sp>
      <p:sp>
        <p:nvSpPr>
          <p:cNvPr id="32" name="Shape 30"/>
          <p:cNvSpPr/>
          <p:nvPr/>
        </p:nvSpPr>
        <p:spPr>
          <a:xfrm>
            <a:off x="722376" y="5742432"/>
            <a:ext cx="3094634" cy="0"/>
          </a:xfrm>
          <a:prstGeom prst="line">
            <a:avLst/>
          </a:prstGeom>
          <a:noFill/>
          <a:ln w="9525">
            <a:solidFill>
              <a:srgbClr val="D8D3C5"/>
            </a:solidFill>
            <a:prstDash val="solid"/>
          </a:ln>
        </p:spPr>
      </p:sp>
      <p:sp>
        <p:nvSpPr>
          <p:cNvPr id="33" name="Text 31"/>
          <p:cNvSpPr txBox="1"/>
          <p:nvPr/>
        </p:nvSpPr>
        <p:spPr>
          <a:xfrm>
            <a:off x="722376" y="5833872"/>
            <a:ext cx="3094634" cy="493776"/>
          </a:xfrm>
          <a:prstGeom prst="rect">
            <a:avLst/>
          </a:prstGeom>
          <a:noFill/>
          <a:ln/>
        </p:spPr>
        <p:txBody>
          <a:bodyPr wrap="square" lIns="0" tIns="0" rIns="0" bIns="0" rtlCol="0" anchor="t"/>
          <a:lstStyle/>
          <a:p>
            <a:pPr marL="0" indent="0" algn="l">
              <a:lnSpc>
                <a:spcPct val="110000"/>
              </a:lnSpc>
              <a:buNone/>
            </a:pPr>
            <a:r>
              <a:rPr lang="en-US" sz="1030" dirty="0">
                <a:solidFill>
                  <a:srgbClr val="444444"/>
                </a:solidFill>
                <a:latin typeface="Arial" pitchFamily="34" charset="0"/>
                <a:ea typeface="Arial" pitchFamily="34" charset="-122"/>
                <a:cs typeface="Arial" pitchFamily="34" charset="-120"/>
              </a:rPr>
              <a:t>Predictive maintenance, computer-vision quality inspection, demand forecasting, robotic scheduling.</a:t>
            </a:r>
            <a:endParaRPr lang="en-US" sz="1030" dirty="0"/>
          </a:p>
        </p:txBody>
      </p:sp>
      <p:sp>
        <p:nvSpPr>
          <p:cNvPr id="34" name="Shape 32"/>
          <p:cNvSpPr/>
          <p:nvPr/>
        </p:nvSpPr>
        <p:spPr>
          <a:xfrm>
            <a:off x="4329074" y="4370832"/>
            <a:ext cx="3533546" cy="2084832"/>
          </a:xfrm>
          <a:prstGeom prst="roundRect">
            <a:avLst>
              <a:gd name="adj" fmla="val 2632"/>
            </a:avLst>
          </a:prstGeom>
          <a:solidFill>
            <a:srgbClr val="EDE9DE"/>
          </a:solidFill>
          <a:ln w="12700">
            <a:solidFill>
              <a:srgbClr val="D8D3C5"/>
            </a:solidFill>
            <a:prstDash val="solid"/>
          </a:ln>
        </p:spPr>
      </p:sp>
      <p:sp>
        <p:nvSpPr>
          <p:cNvPr id="35" name="Text 33"/>
          <p:cNvSpPr txBox="1"/>
          <p:nvPr/>
        </p:nvSpPr>
        <p:spPr>
          <a:xfrm>
            <a:off x="4548530" y="4553712"/>
            <a:ext cx="3094634" cy="274320"/>
          </a:xfrm>
          <a:prstGeom prst="rect">
            <a:avLst/>
          </a:prstGeom>
          <a:noFill/>
          <a:ln/>
        </p:spPr>
        <p:txBody>
          <a:bodyPr wrap="square" lIns="0" tIns="0" rIns="0" bIns="0" rtlCol="0" anchor="t"/>
          <a:lstStyle/>
          <a:p>
            <a:pPr marL="0" indent="0" algn="l">
              <a:buNone/>
            </a:pPr>
            <a:r>
              <a:rPr lang="en-US" sz="1050" b="1" kern="0" spc="100" dirty="0">
                <a:solidFill>
                  <a:srgbClr val="6E6A60"/>
                </a:solidFill>
                <a:latin typeface="Arial" pitchFamily="34" charset="0"/>
                <a:ea typeface="Arial" pitchFamily="34" charset="-122"/>
                <a:cs typeface="Arial" pitchFamily="34" charset="-120"/>
              </a:rPr>
              <a:t>CUSTOMER SERVICE</a:t>
            </a:r>
            <a:endParaRPr lang="en-US" sz="1050" dirty="0"/>
          </a:p>
        </p:txBody>
      </p:sp>
      <p:sp>
        <p:nvSpPr>
          <p:cNvPr id="36" name="Text 34"/>
          <p:cNvSpPr txBox="1"/>
          <p:nvPr/>
        </p:nvSpPr>
        <p:spPr>
          <a:xfrm>
            <a:off x="4548530" y="4846320"/>
            <a:ext cx="3094634" cy="502920"/>
          </a:xfrm>
          <a:prstGeom prst="rect">
            <a:avLst/>
          </a:prstGeom>
          <a:noFill/>
          <a:ln/>
        </p:spPr>
        <p:txBody>
          <a:bodyPr wrap="square" lIns="0" tIns="0" rIns="0" bIns="0" rtlCol="0" anchor="t"/>
          <a:lstStyle/>
          <a:p>
            <a:pPr marL="0" indent="0" algn="l">
              <a:buNone/>
            </a:pPr>
            <a:r>
              <a:rPr lang="en-US" sz="2800" b="1" dirty="0">
                <a:solidFill>
                  <a:srgbClr val="1E4FFF"/>
                </a:solidFill>
                <a:latin typeface="Arial" pitchFamily="34" charset="0"/>
                <a:ea typeface="Arial" pitchFamily="34" charset="-122"/>
                <a:cs typeface="Arial" pitchFamily="34" charset="-120"/>
              </a:rPr>
              <a:t>1B+</a:t>
            </a:r>
            <a:endParaRPr lang="en-US" sz="2800" dirty="0"/>
          </a:p>
        </p:txBody>
      </p:sp>
      <p:sp>
        <p:nvSpPr>
          <p:cNvPr id="37" name="Text 35"/>
          <p:cNvSpPr txBox="1"/>
          <p:nvPr/>
        </p:nvSpPr>
        <p:spPr>
          <a:xfrm>
            <a:off x="4548530" y="5340096"/>
            <a:ext cx="3094634" cy="384048"/>
          </a:xfrm>
          <a:prstGeom prst="rect">
            <a:avLst/>
          </a:prstGeom>
          <a:noFill/>
          <a:ln/>
        </p:spPr>
        <p:txBody>
          <a:bodyPr wrap="square" lIns="0" tIns="0" rIns="0" bIns="0" rtlCol="0" anchor="t"/>
          <a:lstStyle/>
          <a:p>
            <a:pPr marL="0" indent="0" algn="l">
              <a:lnSpc>
                <a:spcPct val="105000"/>
              </a:lnSpc>
              <a:buNone/>
            </a:pPr>
            <a:r>
              <a:rPr lang="en-US" sz="950" dirty="0">
                <a:solidFill>
                  <a:srgbClr val="6E6A60"/>
                </a:solidFill>
                <a:latin typeface="Arial" pitchFamily="34" charset="0"/>
                <a:ea typeface="Arial" pitchFamily="34" charset="-122"/>
                <a:cs typeface="Arial" pitchFamily="34" charset="-120"/>
              </a:rPr>
              <a:t>yearly interactions handled by one bank's AI agent</a:t>
            </a:r>
            <a:endParaRPr lang="en-US" sz="950" dirty="0"/>
          </a:p>
        </p:txBody>
      </p:sp>
      <p:sp>
        <p:nvSpPr>
          <p:cNvPr id="38" name="Shape 36"/>
          <p:cNvSpPr/>
          <p:nvPr/>
        </p:nvSpPr>
        <p:spPr>
          <a:xfrm>
            <a:off x="4548530" y="5742432"/>
            <a:ext cx="3094634" cy="0"/>
          </a:xfrm>
          <a:prstGeom prst="line">
            <a:avLst/>
          </a:prstGeom>
          <a:noFill/>
          <a:ln w="9525">
            <a:solidFill>
              <a:srgbClr val="D8D3C5"/>
            </a:solidFill>
            <a:prstDash val="solid"/>
          </a:ln>
        </p:spPr>
      </p:sp>
      <p:sp>
        <p:nvSpPr>
          <p:cNvPr id="39" name="Text 37"/>
          <p:cNvSpPr txBox="1"/>
          <p:nvPr/>
        </p:nvSpPr>
        <p:spPr>
          <a:xfrm>
            <a:off x="4548530" y="5833872"/>
            <a:ext cx="3094634" cy="493776"/>
          </a:xfrm>
          <a:prstGeom prst="rect">
            <a:avLst/>
          </a:prstGeom>
          <a:noFill/>
          <a:ln/>
        </p:spPr>
        <p:txBody>
          <a:bodyPr wrap="square" lIns="0" tIns="0" rIns="0" bIns="0" rtlCol="0" anchor="t"/>
          <a:lstStyle/>
          <a:p>
            <a:pPr marL="0" indent="0" algn="l">
              <a:lnSpc>
                <a:spcPct val="110000"/>
              </a:lnSpc>
              <a:buNone/>
            </a:pPr>
            <a:r>
              <a:rPr lang="en-US" sz="1030" dirty="0">
                <a:solidFill>
                  <a:srgbClr val="444444"/>
                </a:solidFill>
                <a:latin typeface="Arial" pitchFamily="34" charset="0"/>
                <a:ea typeface="Arial" pitchFamily="34" charset="-122"/>
                <a:cs typeface="Arial" pitchFamily="34" charset="-120"/>
              </a:rPr>
              <a:t>24/7 tier-1 support, ticket triage and routing, refunds and order actions, response drafting.</a:t>
            </a:r>
            <a:endParaRPr lang="en-US" sz="1030" dirty="0"/>
          </a:p>
        </p:txBody>
      </p:sp>
      <p:sp>
        <p:nvSpPr>
          <p:cNvPr id="40" name="Shape 38"/>
          <p:cNvSpPr/>
          <p:nvPr/>
        </p:nvSpPr>
        <p:spPr>
          <a:xfrm>
            <a:off x="8155229" y="4370832"/>
            <a:ext cx="3533546" cy="2084832"/>
          </a:xfrm>
          <a:prstGeom prst="roundRect">
            <a:avLst>
              <a:gd name="adj" fmla="val 2632"/>
            </a:avLst>
          </a:prstGeom>
          <a:solidFill>
            <a:srgbClr val="EDE9DE"/>
          </a:solidFill>
          <a:ln w="12700">
            <a:solidFill>
              <a:srgbClr val="D8D3C5"/>
            </a:solidFill>
            <a:prstDash val="solid"/>
          </a:ln>
        </p:spPr>
      </p:sp>
      <p:sp>
        <p:nvSpPr>
          <p:cNvPr id="41" name="Text 39"/>
          <p:cNvSpPr txBox="1"/>
          <p:nvPr/>
        </p:nvSpPr>
        <p:spPr>
          <a:xfrm>
            <a:off x="8374685" y="4553712"/>
            <a:ext cx="3094634" cy="274320"/>
          </a:xfrm>
          <a:prstGeom prst="rect">
            <a:avLst/>
          </a:prstGeom>
          <a:noFill/>
          <a:ln/>
        </p:spPr>
        <p:txBody>
          <a:bodyPr wrap="square" lIns="0" tIns="0" rIns="0" bIns="0" rtlCol="0" anchor="t"/>
          <a:lstStyle/>
          <a:p>
            <a:pPr marL="0" indent="0" algn="l">
              <a:buNone/>
            </a:pPr>
            <a:r>
              <a:rPr lang="en-US" sz="1050" b="1" kern="0" spc="100" dirty="0">
                <a:solidFill>
                  <a:srgbClr val="6E6A60"/>
                </a:solidFill>
                <a:latin typeface="Arial" pitchFamily="34" charset="0"/>
                <a:ea typeface="Arial" pitchFamily="34" charset="-122"/>
                <a:cs typeface="Arial" pitchFamily="34" charset="-120"/>
              </a:rPr>
              <a:t>SOFTWARE &amp; IT</a:t>
            </a:r>
            <a:endParaRPr lang="en-US" sz="1050" dirty="0"/>
          </a:p>
        </p:txBody>
      </p:sp>
      <p:sp>
        <p:nvSpPr>
          <p:cNvPr id="42" name="Text 40"/>
          <p:cNvSpPr txBox="1"/>
          <p:nvPr/>
        </p:nvSpPr>
        <p:spPr>
          <a:xfrm>
            <a:off x="8374685" y="4846320"/>
            <a:ext cx="3094634" cy="502920"/>
          </a:xfrm>
          <a:prstGeom prst="rect">
            <a:avLst/>
          </a:prstGeom>
          <a:noFill/>
          <a:ln/>
        </p:spPr>
        <p:txBody>
          <a:bodyPr wrap="square" lIns="0" tIns="0" rIns="0" bIns="0" rtlCol="0" anchor="t"/>
          <a:lstStyle/>
          <a:p>
            <a:pPr marL="0" indent="0" algn="l">
              <a:buNone/>
            </a:pPr>
            <a:r>
              <a:rPr lang="en-US" sz="2800" b="1" dirty="0">
                <a:solidFill>
                  <a:srgbClr val="1E4FFF"/>
                </a:solidFill>
                <a:latin typeface="Arial" pitchFamily="34" charset="0"/>
                <a:ea typeface="Arial" pitchFamily="34" charset="-122"/>
                <a:cs typeface="Arial" pitchFamily="34" charset="-120"/>
              </a:rPr>
              <a:t>~100%</a:t>
            </a:r>
            <a:endParaRPr lang="en-US" sz="2800" dirty="0"/>
          </a:p>
        </p:txBody>
      </p:sp>
      <p:sp>
        <p:nvSpPr>
          <p:cNvPr id="43" name="Text 41"/>
          <p:cNvSpPr txBox="1"/>
          <p:nvPr/>
        </p:nvSpPr>
        <p:spPr>
          <a:xfrm>
            <a:off x="8374685" y="5340096"/>
            <a:ext cx="3094634" cy="384048"/>
          </a:xfrm>
          <a:prstGeom prst="rect">
            <a:avLst/>
          </a:prstGeom>
          <a:noFill/>
          <a:ln/>
        </p:spPr>
        <p:txBody>
          <a:bodyPr wrap="square" lIns="0" tIns="0" rIns="0" bIns="0" rtlCol="0" anchor="t"/>
          <a:lstStyle/>
          <a:p>
            <a:pPr marL="0" indent="0" algn="l">
              <a:lnSpc>
                <a:spcPct val="105000"/>
              </a:lnSpc>
              <a:buNone/>
            </a:pPr>
            <a:r>
              <a:rPr lang="en-US" sz="950" dirty="0">
                <a:solidFill>
                  <a:srgbClr val="6E6A60"/>
                </a:solidFill>
                <a:latin typeface="Arial" pitchFamily="34" charset="0"/>
                <a:ea typeface="Arial" pitchFamily="34" charset="-122"/>
                <a:cs typeface="Arial" pitchFamily="34" charset="-120"/>
              </a:rPr>
              <a:t>SWE-bench Verified score reached by top coding agents</a:t>
            </a:r>
            <a:endParaRPr lang="en-US" sz="950" dirty="0"/>
          </a:p>
        </p:txBody>
      </p:sp>
      <p:sp>
        <p:nvSpPr>
          <p:cNvPr id="44" name="Shape 42"/>
          <p:cNvSpPr/>
          <p:nvPr/>
        </p:nvSpPr>
        <p:spPr>
          <a:xfrm>
            <a:off x="8374685" y="5742432"/>
            <a:ext cx="3094634" cy="0"/>
          </a:xfrm>
          <a:prstGeom prst="line">
            <a:avLst/>
          </a:prstGeom>
          <a:noFill/>
          <a:ln w="9525">
            <a:solidFill>
              <a:srgbClr val="D8D3C5"/>
            </a:solidFill>
            <a:prstDash val="solid"/>
          </a:ln>
        </p:spPr>
      </p:sp>
      <p:sp>
        <p:nvSpPr>
          <p:cNvPr id="45" name="Text 43"/>
          <p:cNvSpPr txBox="1"/>
          <p:nvPr/>
        </p:nvSpPr>
        <p:spPr>
          <a:xfrm>
            <a:off x="8374685" y="5833872"/>
            <a:ext cx="3094634" cy="493776"/>
          </a:xfrm>
          <a:prstGeom prst="rect">
            <a:avLst/>
          </a:prstGeom>
          <a:noFill/>
          <a:ln/>
        </p:spPr>
        <p:txBody>
          <a:bodyPr wrap="square" lIns="0" tIns="0" rIns="0" bIns="0" rtlCol="0" anchor="t"/>
          <a:lstStyle/>
          <a:p>
            <a:pPr marL="0" indent="0" algn="l">
              <a:lnSpc>
                <a:spcPct val="110000"/>
              </a:lnSpc>
              <a:buNone/>
            </a:pPr>
            <a:r>
              <a:rPr lang="en-US" sz="1030" dirty="0">
                <a:solidFill>
                  <a:srgbClr val="444444"/>
                </a:solidFill>
                <a:latin typeface="Arial" pitchFamily="34" charset="0"/>
                <a:ea typeface="Arial" pitchFamily="34" charset="-122"/>
                <a:cs typeface="Arial" pitchFamily="34" charset="-120"/>
              </a:rPr>
              <a:t>Autonomous bug fixing, code review, IT-ops alert triage, multi-step build-test-deploy runs.</a:t>
            </a:r>
            <a:endParaRPr lang="en-US" sz="10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292608"/>
            <a:ext cx="6400800" cy="274320"/>
          </a:xfrm>
          <a:prstGeom prst="rect">
            <a:avLst/>
          </a:prstGeom>
          <a:noFill/>
          <a:ln/>
        </p:spPr>
        <p:txBody>
          <a:bodyPr wrap="square" lIns="0" tIns="0" rIns="0" bIns="0" rtlCol="0" anchor="ctr"/>
          <a:lstStyle/>
          <a:p>
            <a:pPr marL="0" indent="0" algn="l">
              <a:buNone/>
            </a:pPr>
            <a:r>
              <a:rPr lang="en-US" sz="1050" b="1" kern="0" spc="200" dirty="0">
                <a:solidFill>
                  <a:srgbClr val="A9A59A"/>
                </a:solidFill>
                <a:latin typeface="Arial" pitchFamily="34" charset="0"/>
                <a:ea typeface="Arial" pitchFamily="34" charset="-122"/>
                <a:cs typeface="Arial" pitchFamily="34" charset="-120"/>
              </a:rPr>
              <a:t>AI IN 2026 · LATEST DEVELOPMENTS</a:t>
            </a:r>
            <a:endParaRPr lang="en-US" sz="1050" dirty="0"/>
          </a:p>
        </p:txBody>
      </p:sp>
      <p:sp>
        <p:nvSpPr>
          <p:cNvPr id="3" name="Shape 1"/>
          <p:cNvSpPr/>
          <p:nvPr/>
        </p:nvSpPr>
        <p:spPr>
          <a:xfrm>
            <a:off x="9393631" y="256032"/>
            <a:ext cx="2295144" cy="384048"/>
          </a:xfrm>
          <a:prstGeom prst="roundRect">
            <a:avLst>
              <a:gd name="adj" fmla="val 21429"/>
            </a:avLst>
          </a:prstGeom>
          <a:solidFill>
            <a:srgbClr val="1E4FFF"/>
          </a:solidFill>
          <a:ln/>
        </p:spPr>
      </p:sp>
      <p:sp>
        <p:nvSpPr>
          <p:cNvPr id="4" name="Text 2"/>
          <p:cNvSpPr txBox="1"/>
          <p:nvPr/>
        </p:nvSpPr>
        <p:spPr>
          <a:xfrm>
            <a:off x="9393631" y="256032"/>
            <a:ext cx="2295144"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BY THE NUMBERS</a:t>
            </a:r>
            <a:endParaRPr lang="en-US" sz="1200" dirty="0"/>
          </a:p>
        </p:txBody>
      </p:sp>
      <p:sp>
        <p:nvSpPr>
          <p:cNvPr id="5" name="Shape 3"/>
          <p:cNvSpPr/>
          <p:nvPr/>
        </p:nvSpPr>
        <p:spPr>
          <a:xfrm>
            <a:off x="502920" y="6446520"/>
            <a:ext cx="11185855" cy="0"/>
          </a:xfrm>
          <a:prstGeom prst="line">
            <a:avLst/>
          </a:prstGeom>
          <a:noFill/>
          <a:ln w="9525">
            <a:solidFill>
              <a:srgbClr val="3A3A3A"/>
            </a:solidFill>
            <a:prstDash val="solid"/>
          </a:ln>
        </p:spPr>
      </p:sp>
      <p:sp>
        <p:nvSpPr>
          <p:cNvPr id="6" name="Text 4"/>
          <p:cNvSpPr txBox="1"/>
          <p:nvPr/>
        </p:nvSpPr>
        <p:spPr>
          <a:xfrm>
            <a:off x="502920" y="6492240"/>
            <a:ext cx="7315200" cy="274320"/>
          </a:xfrm>
          <a:prstGeom prst="rect">
            <a:avLst/>
          </a:prstGeom>
          <a:noFill/>
          <a:ln/>
        </p:spPr>
        <p:txBody>
          <a:bodyPr wrap="square" lIns="0" tIns="0" rIns="0" bIns="0" rtlCol="0" anchor="ctr"/>
          <a:lstStyle/>
          <a:p>
            <a:pPr marL="0" indent="0" algn="l">
              <a:buNone/>
            </a:pPr>
            <a:r>
              <a:rPr lang="en-US" sz="900" dirty="0">
                <a:solidFill>
                  <a:srgbClr val="A9A59A"/>
                </a:solidFill>
                <a:latin typeface="Arial" pitchFamily="34" charset="0"/>
                <a:ea typeface="Arial" pitchFamily="34" charset="-122"/>
                <a:cs typeface="Arial" pitchFamily="34" charset="-120"/>
              </a:rPr>
              <a:t>MEGHNA OFFICE SUPPLIES WORKSHOP  ·  IUT DHAKA</a:t>
            </a:r>
            <a:endParaRPr lang="en-US" sz="900" dirty="0"/>
          </a:p>
        </p:txBody>
      </p:sp>
      <p:sp>
        <p:nvSpPr>
          <p:cNvPr id="7" name="Text 5"/>
          <p:cNvSpPr txBox="1"/>
          <p:nvPr/>
        </p:nvSpPr>
        <p:spPr>
          <a:xfrm>
            <a:off x="10591495" y="6492240"/>
            <a:ext cx="1097280" cy="274320"/>
          </a:xfrm>
          <a:prstGeom prst="rect">
            <a:avLst/>
          </a:prstGeom>
          <a:noFill/>
          <a:ln/>
        </p:spPr>
        <p:txBody>
          <a:bodyPr wrap="square" lIns="0" tIns="0" rIns="0" bIns="0" rtlCol="0" anchor="ctr"/>
          <a:lstStyle/>
          <a:p>
            <a:pPr marL="0" indent="0" algn="r">
              <a:buNone/>
            </a:pPr>
            <a:r>
              <a:rPr lang="en-US" sz="900" dirty="0">
                <a:solidFill>
                  <a:srgbClr val="A9A59A"/>
                </a:solidFill>
                <a:latin typeface="Arial" pitchFamily="34" charset="0"/>
                <a:ea typeface="Arial" pitchFamily="34" charset="-122"/>
                <a:cs typeface="Arial" pitchFamily="34" charset="-120"/>
              </a:rPr>
              <a:t>03 / 03</a:t>
            </a:r>
            <a:endParaRPr lang="en-US" sz="900" dirty="0"/>
          </a:p>
        </p:txBody>
      </p:sp>
      <p:sp>
        <p:nvSpPr>
          <p:cNvPr id="8" name="Text 6"/>
          <p:cNvSpPr txBox="1"/>
          <p:nvPr/>
        </p:nvSpPr>
        <p:spPr>
          <a:xfrm>
            <a:off x="502920" y="713232"/>
            <a:ext cx="11185855" cy="868680"/>
          </a:xfrm>
          <a:prstGeom prst="rect">
            <a:avLst/>
          </a:prstGeom>
          <a:noFill/>
          <a:ln/>
        </p:spPr>
        <p:txBody>
          <a:bodyPr wrap="square" lIns="0" tIns="0" rIns="0" bIns="0" rtlCol="0" anchor="t"/>
          <a:lstStyle/>
          <a:p>
            <a:pPr marL="0" indent="0" algn="l">
              <a:lnSpc>
                <a:spcPct val="102000"/>
              </a:lnSpc>
              <a:buNone/>
            </a:pPr>
            <a:r>
              <a:rPr lang="en-US" sz="3400" b="1" dirty="0">
                <a:latin typeface="Arial" pitchFamily="34" charset="0"/>
                <a:ea typeface="Arial" pitchFamily="34" charset="-122"/>
                <a:cs typeface="Arial" pitchFamily="34" charset="-120"/>
              </a:rPr>
              <a:t>The Numbers Behind The Shift </a:t>
            </a:r>
            <a:r>
              <a:rPr lang="en-US" sz="3400" b="1" dirty="0">
                <a:solidFill>
                  <a:srgbClr val="FFFFFF"/>
                </a:solidFill>
                <a:latin typeface="Arial" pitchFamily="34" charset="0"/>
                <a:ea typeface="Arial" pitchFamily="34" charset="-122"/>
                <a:cs typeface="Arial" pitchFamily="34" charset="-120"/>
              </a:rPr>
              <a:t>Behind the Shift</a:t>
            </a:r>
            <a:endParaRPr lang="en-US" sz="3400" dirty="0"/>
          </a:p>
        </p:txBody>
      </p:sp>
      <p:sp>
        <p:nvSpPr>
          <p:cNvPr id="9" name="Text 7"/>
          <p:cNvSpPr txBox="1"/>
          <p:nvPr/>
        </p:nvSpPr>
        <p:spPr>
          <a:xfrm>
            <a:off x="502920" y="1536192"/>
            <a:ext cx="11185855" cy="320040"/>
          </a:xfrm>
          <a:prstGeom prst="rect">
            <a:avLst/>
          </a:prstGeom>
          <a:noFill/>
          <a:ln/>
        </p:spPr>
        <p:txBody>
          <a:bodyPr wrap="square" lIns="0" tIns="0" rIns="0" bIns="0" rtlCol="0" anchor="t"/>
          <a:lstStyle/>
          <a:p>
            <a:pPr marL="0" indent="0" algn="l">
              <a:buNone/>
            </a:pPr>
            <a:r>
              <a:rPr lang="en-US" sz="1350" i="1" dirty="0">
                <a:solidFill>
                  <a:srgbClr val="A9A59A"/>
                </a:solidFill>
                <a:latin typeface="Arial" pitchFamily="34" charset="0"/>
                <a:ea typeface="Arial" pitchFamily="34" charset="-122"/>
                <a:cs typeface="Arial" pitchFamily="34" charset="-120"/>
              </a:rPr>
              <a:t>Three figures worth writing on the board before your next AI conversation.</a:t>
            </a:r>
            <a:endParaRPr lang="en-US" sz="1350" dirty="0"/>
          </a:p>
        </p:txBody>
      </p:sp>
      <p:sp>
        <p:nvSpPr>
          <p:cNvPr id="10" name="Shape 8"/>
          <p:cNvSpPr/>
          <p:nvPr/>
        </p:nvSpPr>
        <p:spPr>
          <a:xfrm>
            <a:off x="502920" y="2148840"/>
            <a:ext cx="3545738" cy="2697480"/>
          </a:xfrm>
          <a:prstGeom prst="roundRect">
            <a:avLst>
              <a:gd name="adj" fmla="val 1695"/>
            </a:avLst>
          </a:prstGeom>
          <a:solidFill>
            <a:srgbClr val="1E4FFF"/>
          </a:solidFill>
          <a:ln/>
        </p:spPr>
      </p:sp>
      <p:sp>
        <p:nvSpPr>
          <p:cNvPr id="11" name="Text 9"/>
          <p:cNvSpPr txBox="1"/>
          <p:nvPr/>
        </p:nvSpPr>
        <p:spPr>
          <a:xfrm>
            <a:off x="777240" y="2514600"/>
            <a:ext cx="2997098" cy="914400"/>
          </a:xfrm>
          <a:prstGeom prst="rect">
            <a:avLst/>
          </a:prstGeom>
          <a:noFill/>
          <a:ln/>
        </p:spPr>
        <p:txBody>
          <a:bodyPr wrap="square" lIns="0" tIns="0" rIns="0" bIns="0" rtlCol="0" anchor="t"/>
          <a:lstStyle/>
          <a:p>
            <a:pPr marL="0" indent="0" algn="l">
              <a:buNone/>
            </a:pPr>
            <a:r>
              <a:rPr lang="en-US" sz="4800" b="1" dirty="0">
                <a:solidFill>
                  <a:srgbClr val="FFFFFF"/>
                </a:solidFill>
                <a:latin typeface="Arial" pitchFamily="34" charset="0"/>
                <a:ea typeface="Arial" pitchFamily="34" charset="-122"/>
                <a:cs typeface="Arial" pitchFamily="34" charset="-120"/>
              </a:rPr>
              <a:t>88%</a:t>
            </a:r>
            <a:endParaRPr lang="en-US" sz="4800" dirty="0"/>
          </a:p>
        </p:txBody>
      </p:sp>
      <p:sp>
        <p:nvSpPr>
          <p:cNvPr id="12" name="Text 10"/>
          <p:cNvSpPr txBox="1"/>
          <p:nvPr/>
        </p:nvSpPr>
        <p:spPr>
          <a:xfrm>
            <a:off x="777240" y="3520440"/>
            <a:ext cx="2997098" cy="1088136"/>
          </a:xfrm>
          <a:prstGeom prst="rect">
            <a:avLst/>
          </a:prstGeom>
          <a:noFill/>
          <a:ln/>
        </p:spPr>
        <p:txBody>
          <a:bodyPr wrap="square" lIns="0" tIns="0" rIns="0" bIns="0" rtlCol="0" anchor="t"/>
          <a:lstStyle/>
          <a:p>
            <a:pPr marL="0" indent="0" algn="l">
              <a:lnSpc>
                <a:spcPct val="118000"/>
              </a:lnSpc>
              <a:buNone/>
            </a:pPr>
            <a:r>
              <a:rPr lang="en-US" sz="1300" dirty="0">
                <a:solidFill>
                  <a:srgbClr val="E4EAFF"/>
                </a:solidFill>
                <a:latin typeface="Arial" pitchFamily="34" charset="0"/>
                <a:ea typeface="Arial" pitchFamily="34" charset="-122"/>
                <a:cs typeface="Arial" pitchFamily="34" charset="-120"/>
              </a:rPr>
              <a:t>of organizations now use AI in at least one business function</a:t>
            </a:r>
            <a:endParaRPr lang="en-US" sz="1300" dirty="0"/>
          </a:p>
        </p:txBody>
      </p:sp>
      <p:sp>
        <p:nvSpPr>
          <p:cNvPr id="13" name="Shape 11"/>
          <p:cNvSpPr/>
          <p:nvPr/>
        </p:nvSpPr>
        <p:spPr>
          <a:xfrm>
            <a:off x="4322978" y="2148840"/>
            <a:ext cx="3545738" cy="2697480"/>
          </a:xfrm>
          <a:prstGeom prst="roundRect">
            <a:avLst>
              <a:gd name="adj" fmla="val 1695"/>
            </a:avLst>
          </a:prstGeom>
          <a:solidFill>
            <a:srgbClr val="2B2B2B"/>
          </a:solidFill>
          <a:ln/>
        </p:spPr>
      </p:sp>
      <p:sp>
        <p:nvSpPr>
          <p:cNvPr id="14" name="Text 12"/>
          <p:cNvSpPr txBox="1"/>
          <p:nvPr/>
        </p:nvSpPr>
        <p:spPr>
          <a:xfrm>
            <a:off x="4597298" y="2514600"/>
            <a:ext cx="2997098" cy="914400"/>
          </a:xfrm>
          <a:prstGeom prst="rect">
            <a:avLst/>
          </a:prstGeom>
          <a:noFill/>
          <a:ln/>
        </p:spPr>
        <p:txBody>
          <a:bodyPr wrap="square" lIns="0" tIns="0" rIns="0" bIns="0" rtlCol="0" anchor="t"/>
          <a:lstStyle/>
          <a:p>
            <a:pPr marL="0" indent="0" algn="l">
              <a:buNone/>
            </a:pPr>
            <a:r>
              <a:rPr lang="en-US" sz="4800" b="1" dirty="0">
                <a:solidFill>
                  <a:srgbClr val="FFFFFF"/>
                </a:solidFill>
                <a:latin typeface="Arial" pitchFamily="34" charset="0"/>
                <a:ea typeface="Arial" pitchFamily="34" charset="-122"/>
                <a:cs typeface="Arial" pitchFamily="34" charset="-120"/>
              </a:rPr>
              <a:t>$581.7B</a:t>
            </a:r>
            <a:endParaRPr lang="en-US" sz="4800" dirty="0"/>
          </a:p>
        </p:txBody>
      </p:sp>
      <p:sp>
        <p:nvSpPr>
          <p:cNvPr id="15" name="Text 13"/>
          <p:cNvSpPr txBox="1"/>
          <p:nvPr/>
        </p:nvSpPr>
        <p:spPr>
          <a:xfrm>
            <a:off x="4597298" y="3520440"/>
            <a:ext cx="2997098" cy="1088136"/>
          </a:xfrm>
          <a:prstGeom prst="rect">
            <a:avLst/>
          </a:prstGeom>
          <a:noFill/>
          <a:ln/>
        </p:spPr>
        <p:txBody>
          <a:bodyPr wrap="square" lIns="0" tIns="0" rIns="0" bIns="0" rtlCol="0" anchor="t"/>
          <a:lstStyle/>
          <a:p>
            <a:pPr marL="0" indent="0" algn="l">
              <a:lnSpc>
                <a:spcPct val="118000"/>
              </a:lnSpc>
              <a:buNone/>
            </a:pPr>
            <a:r>
              <a:rPr lang="en-US" sz="1300" dirty="0">
                <a:solidFill>
                  <a:srgbClr val="D8D4C8"/>
                </a:solidFill>
                <a:latin typeface="Arial" pitchFamily="34" charset="0"/>
                <a:ea typeface="Arial" pitchFamily="34" charset="-122"/>
                <a:cs typeface="Arial" pitchFamily="34" charset="-120"/>
              </a:rPr>
              <a:t>in global corporate AI investment in 2025 — more than double the year before</a:t>
            </a:r>
            <a:endParaRPr lang="en-US" sz="1300" dirty="0"/>
          </a:p>
        </p:txBody>
      </p:sp>
      <p:sp>
        <p:nvSpPr>
          <p:cNvPr id="16" name="Shape 14"/>
          <p:cNvSpPr/>
          <p:nvPr/>
        </p:nvSpPr>
        <p:spPr>
          <a:xfrm>
            <a:off x="8143037" y="2148840"/>
            <a:ext cx="3545738" cy="2697480"/>
          </a:xfrm>
          <a:prstGeom prst="roundRect">
            <a:avLst>
              <a:gd name="adj" fmla="val 1695"/>
            </a:avLst>
          </a:prstGeom>
          <a:solidFill>
            <a:srgbClr val="1E4FFF"/>
          </a:solidFill>
          <a:ln/>
        </p:spPr>
      </p:sp>
      <p:sp>
        <p:nvSpPr>
          <p:cNvPr id="17" name="Text 15"/>
          <p:cNvSpPr txBox="1"/>
          <p:nvPr/>
        </p:nvSpPr>
        <p:spPr>
          <a:xfrm>
            <a:off x="8417357" y="2514600"/>
            <a:ext cx="2997098" cy="914400"/>
          </a:xfrm>
          <a:prstGeom prst="rect">
            <a:avLst/>
          </a:prstGeom>
          <a:noFill/>
          <a:ln/>
        </p:spPr>
        <p:txBody>
          <a:bodyPr wrap="square" lIns="0" tIns="0" rIns="0" bIns="0" rtlCol="0" anchor="t"/>
          <a:lstStyle/>
          <a:p>
            <a:pPr marL="0" indent="0" algn="l">
              <a:buNone/>
            </a:pPr>
            <a:r>
              <a:rPr lang="en-US" sz="4800" b="1" dirty="0">
                <a:solidFill>
                  <a:srgbClr val="FFFFFF"/>
                </a:solidFill>
                <a:latin typeface="Arial" pitchFamily="34" charset="0"/>
                <a:ea typeface="Arial" pitchFamily="34" charset="-122"/>
                <a:cs typeface="Arial" pitchFamily="34" charset="-120"/>
              </a:rPr>
              <a:t>40%</a:t>
            </a:r>
            <a:endParaRPr lang="en-US" sz="4800" dirty="0"/>
          </a:p>
        </p:txBody>
      </p:sp>
      <p:sp>
        <p:nvSpPr>
          <p:cNvPr id="18" name="Text 16"/>
          <p:cNvSpPr txBox="1"/>
          <p:nvPr/>
        </p:nvSpPr>
        <p:spPr>
          <a:xfrm>
            <a:off x="8417357" y="3520440"/>
            <a:ext cx="2997098" cy="1088136"/>
          </a:xfrm>
          <a:prstGeom prst="rect">
            <a:avLst/>
          </a:prstGeom>
          <a:noFill/>
          <a:ln/>
        </p:spPr>
        <p:txBody>
          <a:bodyPr wrap="square" lIns="0" tIns="0" rIns="0" bIns="0" rtlCol="0" anchor="t"/>
          <a:lstStyle/>
          <a:p>
            <a:pPr marL="0" indent="0" algn="l">
              <a:lnSpc>
                <a:spcPct val="118000"/>
              </a:lnSpc>
              <a:buNone/>
            </a:pPr>
            <a:r>
              <a:rPr lang="en-US" sz="1300" dirty="0">
                <a:solidFill>
                  <a:srgbClr val="E4EAFF"/>
                </a:solidFill>
                <a:latin typeface="Arial" pitchFamily="34" charset="0"/>
                <a:ea typeface="Arial" pitchFamily="34" charset="-122"/>
                <a:cs typeface="Arial" pitchFamily="34" charset="-120"/>
              </a:rPr>
              <a:t>of enterprise applications expected to run task-specific AI agents by end of 2026, up from under 5% in 2025</a:t>
            </a:r>
            <a:endParaRPr lang="en-US" sz="1300" dirty="0"/>
          </a:p>
        </p:txBody>
      </p:sp>
      <p:sp>
        <p:nvSpPr>
          <p:cNvPr id="19" name="Text 17"/>
          <p:cNvSpPr txBox="1"/>
          <p:nvPr/>
        </p:nvSpPr>
        <p:spPr>
          <a:xfrm>
            <a:off x="502920" y="5120640"/>
            <a:ext cx="11185855" cy="365760"/>
          </a:xfrm>
          <a:prstGeom prst="rect">
            <a:avLst/>
          </a:prstGeom>
          <a:noFill/>
          <a:ln/>
        </p:spPr>
        <p:txBody>
          <a:bodyPr wrap="square" lIns="0" tIns="0" rIns="0" bIns="0" rtlCol="0" anchor="t"/>
          <a:lstStyle/>
          <a:p>
            <a:pPr marL="0" indent="0" algn="l">
              <a:buNone/>
            </a:pPr>
            <a:r>
              <a:rPr lang="en-US" sz="1450" i="1" dirty="0">
                <a:solidFill>
                  <a:srgbClr val="A9A59A"/>
                </a:solidFill>
                <a:latin typeface="Arial" pitchFamily="34" charset="0"/>
                <a:ea typeface="Arial" pitchFamily="34" charset="-122"/>
                <a:cs typeface="Arial" pitchFamily="34" charset="-120"/>
              </a:rPr>
              <a:t>Adoption is no longer the debate. What separates teams now is judgment knowing which output to trust, and which to check.</a:t>
            </a:r>
            <a:endParaRPr lang="en-US" sz="1450" dirty="0"/>
          </a:p>
        </p:txBody>
      </p:sp>
      <p:sp>
        <p:nvSpPr>
          <p:cNvPr id="20" name="Text 18"/>
          <p:cNvSpPr txBox="1"/>
          <p:nvPr/>
        </p:nvSpPr>
        <p:spPr>
          <a:xfrm>
            <a:off x="502920" y="5541264"/>
            <a:ext cx="11185855" cy="274320"/>
          </a:xfrm>
          <a:prstGeom prst="rect">
            <a:avLst/>
          </a:prstGeom>
          <a:noFill/>
          <a:ln/>
        </p:spPr>
        <p:txBody>
          <a:bodyPr wrap="square" lIns="0" tIns="0" rIns="0" bIns="0" rtlCol="0" anchor="t"/>
          <a:lstStyle/>
          <a:p>
            <a:pPr marL="0" indent="0" algn="l">
              <a:buNone/>
            </a:pPr>
            <a:r>
              <a:rPr lang="en-US" sz="950" dirty="0">
                <a:solidFill>
                  <a:srgbClr val="A9A59A"/>
                </a:solidFill>
                <a:latin typeface="Arial" pitchFamily="34" charset="0"/>
                <a:ea typeface="Arial" pitchFamily="34" charset="-122"/>
                <a:cs typeface="Arial" pitchFamily="34" charset="-120"/>
              </a:rPr>
              <a:t>McKinsey, State of AI (2025)  ·  Stanford HAI, AI Index Report 2026  ·  Gartner enterprise-agent forecast (2026). Figures move fast — confirm current reporting before quoting in class.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lgn="l">
              <a:buNone/>
            </a:pPr>
            <a:r>
              <a:rPr lang="en-US" sz="1050" b="1" kern="0" spc="200" dirty="0">
                <a:solidFill>
                  <a:srgbClr val="6E6A60"/>
                </a:solidFill>
                <a:latin typeface="Arial" pitchFamily="34" charset="0"/>
                <a:ea typeface="Arial" pitchFamily="34" charset="-122"/>
                <a:cs typeface="Arial" pitchFamily="34" charset="-120"/>
              </a:rPr>
              <a:t>AI CONCEPTS · TOOLS · CASE STUDIES</a:t>
            </a:r>
            <a:endParaRPr lang="en-US" sz="1050" dirty="0"/>
          </a:p>
        </p:txBody>
      </p:sp>
      <p:sp>
        <p:nvSpPr>
          <p:cNvPr id="3" name="Shape 1"/>
          <p:cNvSpPr/>
          <p:nvPr/>
        </p:nvSpPr>
        <p:spPr>
          <a:xfrm>
            <a:off x="9777679" y="256032"/>
            <a:ext cx="1911096" cy="384048"/>
          </a:xfrm>
          <a:prstGeom prst="roundRect">
            <a:avLst>
              <a:gd name="adj" fmla="val 21429"/>
            </a:avLst>
          </a:prstGeom>
          <a:solidFill>
            <a:srgbClr val="1E4FFF"/>
          </a:solidFill>
          <a:ln/>
        </p:spPr>
      </p:sp>
      <p:sp>
        <p:nvSpPr>
          <p:cNvPr id="4" name="Text 2"/>
          <p:cNvSpPr txBox="1"/>
          <p:nvPr/>
        </p:nvSpPr>
        <p:spPr>
          <a:xfrm>
            <a:off x="9777679" y="256032"/>
            <a:ext cx="1911096"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DEFINITIONS</a:t>
            </a:r>
            <a:endParaRPr lang="en-US" sz="1200" dirty="0"/>
          </a:p>
        </p:txBody>
      </p:sp>
      <p:sp>
        <p:nvSpPr>
          <p:cNvPr id="5" name="Shape 3"/>
          <p:cNvSpPr/>
          <p:nvPr/>
        </p:nvSpPr>
        <p:spPr>
          <a:xfrm>
            <a:off x="502920" y="6446520"/>
            <a:ext cx="11185855" cy="0"/>
          </a:xfrm>
          <a:prstGeom prst="line">
            <a:avLst/>
          </a:prstGeom>
          <a:noFill/>
          <a:ln w="9525">
            <a:solidFill>
              <a:srgbClr val="D8D3C5"/>
            </a:solidFill>
            <a:prstDash val="solid"/>
          </a:ln>
        </p:spPr>
      </p:sp>
      <p:sp>
        <p:nvSpPr>
          <p:cNvPr id="7" name="Text 5"/>
          <p:cNvSpPr txBox="1"/>
          <p:nvPr/>
        </p:nvSpPr>
        <p:spPr>
          <a:xfrm>
            <a:off x="10591495"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01 / 08</a:t>
            </a:r>
            <a:endParaRPr lang="en-US" sz="900" dirty="0"/>
          </a:p>
        </p:txBody>
      </p:sp>
      <p:sp>
        <p:nvSpPr>
          <p:cNvPr id="8" name="Text 6"/>
          <p:cNvSpPr txBox="1"/>
          <p:nvPr/>
        </p:nvSpPr>
        <p:spPr>
          <a:xfrm>
            <a:off x="502920" y="713232"/>
            <a:ext cx="11185855" cy="822960"/>
          </a:xfrm>
          <a:prstGeom prst="rect">
            <a:avLst/>
          </a:prstGeom>
          <a:noFill/>
          <a:ln/>
        </p:spPr>
        <p:txBody>
          <a:bodyPr wrap="square" lIns="0" tIns="0" rIns="0" bIns="0" rtlCol="0" anchor="t"/>
          <a:lstStyle/>
          <a:p>
            <a:pPr marL="0" indent="0" algn="l">
              <a:lnSpc>
                <a:spcPct val="102000"/>
              </a:lnSpc>
              <a:buNone/>
            </a:pPr>
            <a:r>
              <a:rPr lang="en-US" sz="3200" b="1" dirty="0">
                <a:solidFill>
                  <a:srgbClr val="1A1A1A"/>
                </a:solidFill>
                <a:latin typeface="Arial" pitchFamily="34" charset="0"/>
                <a:ea typeface="Arial" pitchFamily="34" charset="-122"/>
                <a:cs typeface="Arial" pitchFamily="34" charset="-120"/>
              </a:rPr>
              <a:t>Three Words You'll Hear Constantly</a:t>
            </a:r>
            <a:endParaRPr lang="en-US" sz="3200" dirty="0"/>
          </a:p>
        </p:txBody>
      </p:sp>
      <p:sp>
        <p:nvSpPr>
          <p:cNvPr id="9" name="Text 7"/>
          <p:cNvSpPr txBox="1"/>
          <p:nvPr/>
        </p:nvSpPr>
        <p:spPr>
          <a:xfrm>
            <a:off x="502920" y="1481328"/>
            <a:ext cx="11185855" cy="365760"/>
          </a:xfrm>
          <a:prstGeom prst="rect">
            <a:avLst/>
          </a:prstGeom>
          <a:noFill/>
          <a:ln/>
        </p:spPr>
        <p:txBody>
          <a:bodyPr wrap="square" lIns="0" tIns="0" rIns="0" bIns="0" rtlCol="0" anchor="t"/>
          <a:lstStyle/>
          <a:p>
            <a:pPr marL="0" indent="0" algn="l">
              <a:buNone/>
            </a:pPr>
            <a:r>
              <a:rPr lang="en-US" sz="1350" i="1" dirty="0">
                <a:solidFill>
                  <a:srgbClr val="6E6A60"/>
                </a:solidFill>
                <a:latin typeface="Arial" pitchFamily="34" charset="0"/>
                <a:ea typeface="Arial" pitchFamily="34" charset="-122"/>
                <a:cs typeface="Arial" pitchFamily="34" charset="-120"/>
              </a:rPr>
              <a:t>AI, Generative AI, Agentic AI — related, but not interchangeable.</a:t>
            </a:r>
            <a:endParaRPr lang="en-US" sz="1350" dirty="0"/>
          </a:p>
        </p:txBody>
      </p:sp>
      <p:sp>
        <p:nvSpPr>
          <p:cNvPr id="10" name="Shape 8"/>
          <p:cNvSpPr/>
          <p:nvPr/>
        </p:nvSpPr>
        <p:spPr>
          <a:xfrm>
            <a:off x="502920" y="1965960"/>
            <a:ext cx="3515258" cy="4160520"/>
          </a:xfrm>
          <a:prstGeom prst="roundRect">
            <a:avLst>
              <a:gd name="adj" fmla="val 1561"/>
            </a:avLst>
          </a:prstGeom>
          <a:solidFill>
            <a:srgbClr val="EDE9DE"/>
          </a:solidFill>
          <a:ln w="12700">
            <a:solidFill>
              <a:srgbClr val="D8D3C5"/>
            </a:solidFill>
            <a:prstDash val="solid"/>
          </a:ln>
        </p:spPr>
      </p:sp>
      <p:sp>
        <p:nvSpPr>
          <p:cNvPr id="11" name="Shape 9"/>
          <p:cNvSpPr/>
          <p:nvPr/>
        </p:nvSpPr>
        <p:spPr>
          <a:xfrm>
            <a:off x="758952" y="2221992"/>
            <a:ext cx="548640" cy="548640"/>
          </a:xfrm>
          <a:prstGeom prst="ellipse">
            <a:avLst/>
          </a:prstGeom>
          <a:solidFill>
            <a:srgbClr val="F7F4EC"/>
          </a:solidFill>
          <a:ln w="28575">
            <a:solidFill>
              <a:srgbClr val="1E4FFF"/>
            </a:solidFill>
            <a:prstDash val="solid"/>
          </a:ln>
        </p:spPr>
      </p:sp>
      <p:sp>
        <p:nvSpPr>
          <p:cNvPr id="12" name="Text 10"/>
          <p:cNvSpPr txBox="1"/>
          <p:nvPr/>
        </p:nvSpPr>
        <p:spPr>
          <a:xfrm>
            <a:off x="758952" y="2221992"/>
            <a:ext cx="548640" cy="548640"/>
          </a:xfrm>
          <a:prstGeom prst="rect">
            <a:avLst/>
          </a:prstGeom>
          <a:noFill/>
          <a:ln/>
        </p:spPr>
        <p:txBody>
          <a:bodyPr wrap="square" lIns="0" tIns="0" rIns="0" bIns="0" rtlCol="0" anchor="ctr"/>
          <a:lstStyle/>
          <a:p>
            <a:pPr marL="0" indent="0" algn="ctr">
              <a:buNone/>
            </a:pPr>
            <a:r>
              <a:rPr lang="en-US" sz="1800" b="1" dirty="0">
                <a:solidFill>
                  <a:srgbClr val="1E4FFF"/>
                </a:solidFill>
                <a:latin typeface="Arial" pitchFamily="34" charset="0"/>
                <a:ea typeface="Arial" pitchFamily="34" charset="-122"/>
                <a:cs typeface="Arial" pitchFamily="34" charset="-120"/>
              </a:rPr>
              <a:t>AI</a:t>
            </a:r>
            <a:endParaRPr lang="en-US" sz="1800" dirty="0"/>
          </a:p>
        </p:txBody>
      </p:sp>
      <p:sp>
        <p:nvSpPr>
          <p:cNvPr id="13" name="Text 11"/>
          <p:cNvSpPr txBox="1"/>
          <p:nvPr/>
        </p:nvSpPr>
        <p:spPr>
          <a:xfrm>
            <a:off x="1444752" y="2221992"/>
            <a:ext cx="2317394" cy="548640"/>
          </a:xfrm>
          <a:prstGeom prst="rect">
            <a:avLst/>
          </a:prstGeom>
          <a:noFill/>
          <a:ln/>
        </p:spPr>
        <p:txBody>
          <a:bodyPr wrap="square" lIns="0" tIns="0" rIns="0" bIns="0" rtlCol="0" anchor="ctr"/>
          <a:lstStyle/>
          <a:p>
            <a:pPr marL="0" indent="0" algn="l">
              <a:lnSpc>
                <a:spcPct val="105000"/>
              </a:lnSpc>
              <a:buNone/>
            </a:pPr>
            <a:r>
              <a:rPr lang="en-US" sz="1150" b="1" kern="0" spc="50" dirty="0">
                <a:solidFill>
                  <a:srgbClr val="6E6A60"/>
                </a:solidFill>
                <a:latin typeface="Arial" pitchFamily="34" charset="0"/>
                <a:ea typeface="Arial" pitchFamily="34" charset="-122"/>
                <a:cs typeface="Arial" pitchFamily="34" charset="-120"/>
              </a:rPr>
              <a:t>ARTIFICIAL INTELLIGENCE</a:t>
            </a:r>
            <a:endParaRPr lang="en-US" sz="1150" dirty="0"/>
          </a:p>
        </p:txBody>
      </p:sp>
      <p:sp>
        <p:nvSpPr>
          <p:cNvPr id="14" name="Shape 12"/>
          <p:cNvSpPr/>
          <p:nvPr/>
        </p:nvSpPr>
        <p:spPr>
          <a:xfrm>
            <a:off x="758952" y="2971800"/>
            <a:ext cx="3003194" cy="0"/>
          </a:xfrm>
          <a:prstGeom prst="line">
            <a:avLst/>
          </a:prstGeom>
          <a:noFill/>
          <a:ln w="9525">
            <a:solidFill>
              <a:srgbClr val="D8D3C5"/>
            </a:solidFill>
            <a:prstDash val="solid"/>
          </a:ln>
        </p:spPr>
      </p:sp>
      <p:sp>
        <p:nvSpPr>
          <p:cNvPr id="15" name="Text 13"/>
          <p:cNvSpPr txBox="1"/>
          <p:nvPr/>
        </p:nvSpPr>
        <p:spPr>
          <a:xfrm>
            <a:off x="758952" y="3136392"/>
            <a:ext cx="3003194" cy="1554480"/>
          </a:xfrm>
          <a:prstGeom prst="rect">
            <a:avLst/>
          </a:prstGeom>
          <a:noFill/>
          <a:ln/>
        </p:spPr>
        <p:txBody>
          <a:bodyPr wrap="square" lIns="0" tIns="0" rIns="0" bIns="0" rtlCol="0" anchor="t"/>
          <a:lstStyle/>
          <a:p>
            <a:pPr marL="0" indent="0" algn="l">
              <a:lnSpc>
                <a:spcPct val="116000"/>
              </a:lnSpc>
              <a:buNone/>
            </a:pPr>
            <a:r>
              <a:rPr lang="en-US" sz="1200" dirty="0">
                <a:solidFill>
                  <a:srgbClr val="262626"/>
                </a:solidFill>
                <a:latin typeface="Arial" pitchFamily="34" charset="0"/>
                <a:ea typeface="Arial" pitchFamily="34" charset="-122"/>
                <a:cs typeface="Arial" pitchFamily="34" charset="-120"/>
              </a:rPr>
              <a:t>The umbrella field: any system built to perform tasks that normally need human intelligence — recognizing patterns, making predictions, understanding language, making decisions.</a:t>
            </a:r>
            <a:endParaRPr lang="en-US" sz="1200" dirty="0"/>
          </a:p>
        </p:txBody>
      </p:sp>
      <p:sp>
        <p:nvSpPr>
          <p:cNvPr id="16" name="Text 14"/>
          <p:cNvSpPr txBox="1"/>
          <p:nvPr/>
        </p:nvSpPr>
        <p:spPr>
          <a:xfrm>
            <a:off x="758952" y="4709160"/>
            <a:ext cx="3003194" cy="960120"/>
          </a:xfrm>
          <a:prstGeom prst="rect">
            <a:avLst/>
          </a:prstGeom>
          <a:noFill/>
          <a:ln/>
        </p:spPr>
        <p:txBody>
          <a:bodyPr wrap="square" lIns="0" tIns="0" rIns="0" bIns="0" rtlCol="0" anchor="t"/>
          <a:lstStyle/>
          <a:p>
            <a:pPr marL="0" indent="0" algn="l">
              <a:lnSpc>
                <a:spcPct val="112000"/>
              </a:lnSpc>
              <a:buNone/>
            </a:pPr>
            <a:r>
              <a:rPr lang="en-US" sz="1030" i="1" dirty="0">
                <a:solidFill>
                  <a:srgbClr val="3A362E"/>
                </a:solidFill>
                <a:latin typeface="Arial" pitchFamily="34" charset="0"/>
                <a:ea typeface="Arial" pitchFamily="34" charset="-122"/>
                <a:cs typeface="Arial" pitchFamily="34" charset="-120"/>
              </a:rPr>
              <a:t>Everyday examples: spam filters, a maps app's arrival-time estimate, Netflix recommendations, a bank's credit-risk score.</a:t>
            </a:r>
            <a:endParaRPr lang="en-US" sz="1030" dirty="0"/>
          </a:p>
        </p:txBody>
      </p:sp>
      <p:sp>
        <p:nvSpPr>
          <p:cNvPr id="17" name="Text 15"/>
          <p:cNvSpPr txBox="1"/>
          <p:nvPr/>
        </p:nvSpPr>
        <p:spPr>
          <a:xfrm>
            <a:off x="758952" y="5705856"/>
            <a:ext cx="3003194" cy="292608"/>
          </a:xfrm>
          <a:prstGeom prst="rect">
            <a:avLst/>
          </a:prstGeom>
          <a:noFill/>
          <a:ln/>
        </p:spPr>
        <p:txBody>
          <a:bodyPr wrap="square" lIns="0" tIns="0" rIns="0" bIns="0" rtlCol="0" anchor="ctr"/>
          <a:lstStyle/>
          <a:p>
            <a:pPr marL="0" indent="0" algn="l">
              <a:buNone/>
            </a:pPr>
            <a:r>
              <a:rPr lang="en-US" sz="1050" b="1" dirty="0">
                <a:solidFill>
                  <a:srgbClr val="1E4FFF"/>
                </a:solidFill>
                <a:latin typeface="Arial" pitchFamily="34" charset="0"/>
                <a:ea typeface="Arial" pitchFamily="34" charset="-122"/>
                <a:cs typeface="Arial" pitchFamily="34" charset="-120"/>
              </a:rPr>
              <a:t>What it does: thinks / predicts</a:t>
            </a:r>
            <a:endParaRPr lang="en-US" sz="1050" dirty="0"/>
          </a:p>
        </p:txBody>
      </p:sp>
      <p:sp>
        <p:nvSpPr>
          <p:cNvPr id="18" name="Shape 16"/>
          <p:cNvSpPr/>
          <p:nvPr/>
        </p:nvSpPr>
        <p:spPr>
          <a:xfrm>
            <a:off x="4338218" y="1965960"/>
            <a:ext cx="3515258" cy="4160520"/>
          </a:xfrm>
          <a:prstGeom prst="roundRect">
            <a:avLst>
              <a:gd name="adj" fmla="val 1561"/>
            </a:avLst>
          </a:prstGeom>
          <a:solidFill>
            <a:srgbClr val="EDE9DE"/>
          </a:solidFill>
          <a:ln w="12700">
            <a:solidFill>
              <a:srgbClr val="D8D3C5"/>
            </a:solidFill>
            <a:prstDash val="solid"/>
          </a:ln>
        </p:spPr>
      </p:sp>
      <p:sp>
        <p:nvSpPr>
          <p:cNvPr id="19" name="Shape 17"/>
          <p:cNvSpPr/>
          <p:nvPr/>
        </p:nvSpPr>
        <p:spPr>
          <a:xfrm>
            <a:off x="4594250" y="2221992"/>
            <a:ext cx="548640" cy="548640"/>
          </a:xfrm>
          <a:prstGeom prst="ellipse">
            <a:avLst/>
          </a:prstGeom>
          <a:solidFill>
            <a:srgbClr val="F7F4EC"/>
          </a:solidFill>
          <a:ln w="28575">
            <a:solidFill>
              <a:srgbClr val="1E4FFF"/>
            </a:solidFill>
            <a:prstDash val="solid"/>
          </a:ln>
        </p:spPr>
      </p:sp>
      <p:sp>
        <p:nvSpPr>
          <p:cNvPr id="20" name="Text 18"/>
          <p:cNvSpPr txBox="1"/>
          <p:nvPr/>
        </p:nvSpPr>
        <p:spPr>
          <a:xfrm>
            <a:off x="4594250" y="2221992"/>
            <a:ext cx="548640" cy="548640"/>
          </a:xfrm>
          <a:prstGeom prst="rect">
            <a:avLst/>
          </a:prstGeom>
          <a:noFill/>
          <a:ln/>
        </p:spPr>
        <p:txBody>
          <a:bodyPr wrap="square" lIns="0" tIns="0" rIns="0" bIns="0" rtlCol="0" anchor="ctr"/>
          <a:lstStyle/>
          <a:p>
            <a:pPr marL="0" indent="0" algn="ctr">
              <a:buNone/>
            </a:pPr>
            <a:r>
              <a:rPr lang="en-US" sz="1800" b="1" dirty="0">
                <a:solidFill>
                  <a:srgbClr val="1E4FFF"/>
                </a:solidFill>
                <a:latin typeface="Arial" pitchFamily="34" charset="0"/>
                <a:ea typeface="Arial" pitchFamily="34" charset="-122"/>
                <a:cs typeface="Arial" pitchFamily="34" charset="-120"/>
              </a:rPr>
              <a:t>G</a:t>
            </a:r>
            <a:endParaRPr lang="en-US" sz="1800" dirty="0"/>
          </a:p>
        </p:txBody>
      </p:sp>
      <p:sp>
        <p:nvSpPr>
          <p:cNvPr id="21" name="Text 19"/>
          <p:cNvSpPr txBox="1"/>
          <p:nvPr/>
        </p:nvSpPr>
        <p:spPr>
          <a:xfrm>
            <a:off x="5280050" y="2221992"/>
            <a:ext cx="2317394" cy="548640"/>
          </a:xfrm>
          <a:prstGeom prst="rect">
            <a:avLst/>
          </a:prstGeom>
          <a:noFill/>
          <a:ln/>
        </p:spPr>
        <p:txBody>
          <a:bodyPr wrap="square" lIns="0" tIns="0" rIns="0" bIns="0" rtlCol="0" anchor="ctr"/>
          <a:lstStyle/>
          <a:p>
            <a:pPr marL="0" indent="0" algn="l">
              <a:lnSpc>
                <a:spcPct val="105000"/>
              </a:lnSpc>
              <a:buNone/>
            </a:pPr>
            <a:r>
              <a:rPr lang="en-US" sz="1150" b="1" kern="0" spc="50" dirty="0">
                <a:solidFill>
                  <a:srgbClr val="6E6A60"/>
                </a:solidFill>
                <a:latin typeface="Arial" pitchFamily="34" charset="0"/>
                <a:ea typeface="Arial" pitchFamily="34" charset="-122"/>
                <a:cs typeface="Arial" pitchFamily="34" charset="-120"/>
              </a:rPr>
              <a:t>GENERATIVE AI</a:t>
            </a:r>
            <a:endParaRPr lang="en-US" sz="1150" dirty="0"/>
          </a:p>
        </p:txBody>
      </p:sp>
      <p:sp>
        <p:nvSpPr>
          <p:cNvPr id="22" name="Shape 20"/>
          <p:cNvSpPr/>
          <p:nvPr/>
        </p:nvSpPr>
        <p:spPr>
          <a:xfrm>
            <a:off x="4594250" y="2971800"/>
            <a:ext cx="3003194" cy="0"/>
          </a:xfrm>
          <a:prstGeom prst="line">
            <a:avLst/>
          </a:prstGeom>
          <a:noFill/>
          <a:ln w="9525">
            <a:solidFill>
              <a:srgbClr val="D8D3C5"/>
            </a:solidFill>
            <a:prstDash val="solid"/>
          </a:ln>
        </p:spPr>
      </p:sp>
      <p:sp>
        <p:nvSpPr>
          <p:cNvPr id="23" name="Text 21"/>
          <p:cNvSpPr txBox="1"/>
          <p:nvPr/>
        </p:nvSpPr>
        <p:spPr>
          <a:xfrm>
            <a:off x="4594250" y="3136392"/>
            <a:ext cx="3003194" cy="1554480"/>
          </a:xfrm>
          <a:prstGeom prst="rect">
            <a:avLst/>
          </a:prstGeom>
          <a:noFill/>
          <a:ln/>
        </p:spPr>
        <p:txBody>
          <a:bodyPr wrap="square" lIns="0" tIns="0" rIns="0" bIns="0" rtlCol="0" anchor="t"/>
          <a:lstStyle/>
          <a:p>
            <a:pPr marL="0" indent="0" algn="l">
              <a:lnSpc>
                <a:spcPct val="116000"/>
              </a:lnSpc>
              <a:buNone/>
            </a:pPr>
            <a:r>
              <a:rPr lang="en-US" sz="1200" dirty="0">
                <a:solidFill>
                  <a:srgbClr val="262626"/>
                </a:solidFill>
                <a:latin typeface="Arial" pitchFamily="34" charset="0"/>
                <a:ea typeface="Arial" pitchFamily="34" charset="-122"/>
                <a:cs typeface="Arial" pitchFamily="34" charset="-120"/>
              </a:rPr>
              <a:t>A subset of AI that creates new content — text, images, audio, video, code — by learning patterns from huge datasets and producing original output on request.</a:t>
            </a:r>
            <a:endParaRPr lang="en-US" sz="1200" dirty="0"/>
          </a:p>
        </p:txBody>
      </p:sp>
      <p:sp>
        <p:nvSpPr>
          <p:cNvPr id="24" name="Text 22"/>
          <p:cNvSpPr txBox="1"/>
          <p:nvPr/>
        </p:nvSpPr>
        <p:spPr>
          <a:xfrm>
            <a:off x="4594250" y="4709160"/>
            <a:ext cx="3003194" cy="960120"/>
          </a:xfrm>
          <a:prstGeom prst="rect">
            <a:avLst/>
          </a:prstGeom>
          <a:noFill/>
          <a:ln/>
        </p:spPr>
        <p:txBody>
          <a:bodyPr wrap="square" lIns="0" tIns="0" rIns="0" bIns="0" rtlCol="0" anchor="t"/>
          <a:lstStyle/>
          <a:p>
            <a:pPr marL="0" indent="0" algn="l">
              <a:lnSpc>
                <a:spcPct val="112000"/>
              </a:lnSpc>
              <a:buNone/>
            </a:pPr>
            <a:r>
              <a:rPr lang="en-US" sz="1030" i="1" dirty="0">
                <a:solidFill>
                  <a:srgbClr val="3A362E"/>
                </a:solidFill>
                <a:latin typeface="Arial" pitchFamily="34" charset="0"/>
                <a:ea typeface="Arial" pitchFamily="34" charset="-122"/>
                <a:cs typeface="Arial" pitchFamily="34" charset="-120"/>
              </a:rPr>
              <a:t>Everyday examples: ChatGPT drafting an email, Midjourney making an image, GitHub Copilot writing code.</a:t>
            </a:r>
            <a:endParaRPr lang="en-US" sz="1030" dirty="0"/>
          </a:p>
        </p:txBody>
      </p:sp>
      <p:sp>
        <p:nvSpPr>
          <p:cNvPr id="25" name="Text 23"/>
          <p:cNvSpPr txBox="1"/>
          <p:nvPr/>
        </p:nvSpPr>
        <p:spPr>
          <a:xfrm>
            <a:off x="4594250" y="5705856"/>
            <a:ext cx="3003194" cy="292608"/>
          </a:xfrm>
          <a:prstGeom prst="rect">
            <a:avLst/>
          </a:prstGeom>
          <a:noFill/>
          <a:ln/>
        </p:spPr>
        <p:txBody>
          <a:bodyPr wrap="square" lIns="0" tIns="0" rIns="0" bIns="0" rtlCol="0" anchor="ctr"/>
          <a:lstStyle/>
          <a:p>
            <a:pPr marL="0" indent="0" algn="l">
              <a:buNone/>
            </a:pPr>
            <a:r>
              <a:rPr lang="en-US" sz="1050" b="1" dirty="0">
                <a:solidFill>
                  <a:srgbClr val="1E4FFF"/>
                </a:solidFill>
                <a:latin typeface="Arial" pitchFamily="34" charset="0"/>
                <a:ea typeface="Arial" pitchFamily="34" charset="-122"/>
                <a:cs typeface="Arial" pitchFamily="34" charset="-120"/>
              </a:rPr>
              <a:t>What it does: creates</a:t>
            </a:r>
            <a:endParaRPr lang="en-US" sz="1050" dirty="0"/>
          </a:p>
        </p:txBody>
      </p:sp>
      <p:sp>
        <p:nvSpPr>
          <p:cNvPr id="26" name="Shape 24"/>
          <p:cNvSpPr/>
          <p:nvPr/>
        </p:nvSpPr>
        <p:spPr>
          <a:xfrm>
            <a:off x="8173517" y="1965960"/>
            <a:ext cx="3515258" cy="4160520"/>
          </a:xfrm>
          <a:prstGeom prst="roundRect">
            <a:avLst>
              <a:gd name="adj" fmla="val 1561"/>
            </a:avLst>
          </a:prstGeom>
          <a:solidFill>
            <a:srgbClr val="EDE9DE"/>
          </a:solidFill>
          <a:ln w="12700">
            <a:solidFill>
              <a:srgbClr val="D8D3C5"/>
            </a:solidFill>
            <a:prstDash val="solid"/>
          </a:ln>
        </p:spPr>
      </p:sp>
      <p:sp>
        <p:nvSpPr>
          <p:cNvPr id="27" name="Shape 25"/>
          <p:cNvSpPr/>
          <p:nvPr/>
        </p:nvSpPr>
        <p:spPr>
          <a:xfrm>
            <a:off x="8429549" y="2221992"/>
            <a:ext cx="548640" cy="548640"/>
          </a:xfrm>
          <a:prstGeom prst="ellipse">
            <a:avLst/>
          </a:prstGeom>
          <a:solidFill>
            <a:srgbClr val="F7F4EC"/>
          </a:solidFill>
          <a:ln w="28575">
            <a:solidFill>
              <a:srgbClr val="1E4FFF"/>
            </a:solidFill>
            <a:prstDash val="solid"/>
          </a:ln>
        </p:spPr>
      </p:sp>
      <p:sp>
        <p:nvSpPr>
          <p:cNvPr id="28" name="Text 26"/>
          <p:cNvSpPr txBox="1"/>
          <p:nvPr/>
        </p:nvSpPr>
        <p:spPr>
          <a:xfrm>
            <a:off x="8429549" y="2221992"/>
            <a:ext cx="548640" cy="548640"/>
          </a:xfrm>
          <a:prstGeom prst="rect">
            <a:avLst/>
          </a:prstGeom>
          <a:noFill/>
          <a:ln/>
        </p:spPr>
        <p:txBody>
          <a:bodyPr wrap="square" lIns="0" tIns="0" rIns="0" bIns="0" rtlCol="0" anchor="ctr"/>
          <a:lstStyle/>
          <a:p>
            <a:pPr marL="0" indent="0" algn="ctr">
              <a:buNone/>
            </a:pPr>
            <a:r>
              <a:rPr lang="en-US" sz="1800" b="1" dirty="0">
                <a:solidFill>
                  <a:srgbClr val="1E4FFF"/>
                </a:solidFill>
                <a:latin typeface="Arial" pitchFamily="34" charset="0"/>
                <a:ea typeface="Arial" pitchFamily="34" charset="-122"/>
                <a:cs typeface="Arial" pitchFamily="34" charset="-120"/>
              </a:rPr>
              <a:t>A</a:t>
            </a:r>
            <a:endParaRPr lang="en-US" sz="1800" dirty="0"/>
          </a:p>
        </p:txBody>
      </p:sp>
      <p:sp>
        <p:nvSpPr>
          <p:cNvPr id="29" name="Text 27"/>
          <p:cNvSpPr txBox="1"/>
          <p:nvPr/>
        </p:nvSpPr>
        <p:spPr>
          <a:xfrm>
            <a:off x="9115349" y="2221992"/>
            <a:ext cx="2317394" cy="548640"/>
          </a:xfrm>
          <a:prstGeom prst="rect">
            <a:avLst/>
          </a:prstGeom>
          <a:noFill/>
          <a:ln/>
        </p:spPr>
        <p:txBody>
          <a:bodyPr wrap="square" lIns="0" tIns="0" rIns="0" bIns="0" rtlCol="0" anchor="ctr"/>
          <a:lstStyle/>
          <a:p>
            <a:pPr marL="0" indent="0" algn="l">
              <a:lnSpc>
                <a:spcPct val="105000"/>
              </a:lnSpc>
              <a:buNone/>
            </a:pPr>
            <a:r>
              <a:rPr lang="en-US" sz="1150" b="1" kern="0" spc="50" dirty="0">
                <a:solidFill>
                  <a:srgbClr val="6E6A60"/>
                </a:solidFill>
                <a:latin typeface="Arial" pitchFamily="34" charset="0"/>
                <a:ea typeface="Arial" pitchFamily="34" charset="-122"/>
                <a:cs typeface="Arial" pitchFamily="34" charset="-120"/>
              </a:rPr>
              <a:t>AGENTIC AI</a:t>
            </a:r>
            <a:endParaRPr lang="en-US" sz="1150" dirty="0"/>
          </a:p>
        </p:txBody>
      </p:sp>
      <p:sp>
        <p:nvSpPr>
          <p:cNvPr id="30" name="Shape 28"/>
          <p:cNvSpPr/>
          <p:nvPr/>
        </p:nvSpPr>
        <p:spPr>
          <a:xfrm>
            <a:off x="8429549" y="2971800"/>
            <a:ext cx="3003194" cy="0"/>
          </a:xfrm>
          <a:prstGeom prst="line">
            <a:avLst/>
          </a:prstGeom>
          <a:noFill/>
          <a:ln w="9525">
            <a:solidFill>
              <a:srgbClr val="D8D3C5"/>
            </a:solidFill>
            <a:prstDash val="solid"/>
          </a:ln>
        </p:spPr>
      </p:sp>
      <p:sp>
        <p:nvSpPr>
          <p:cNvPr id="31" name="Text 29"/>
          <p:cNvSpPr txBox="1"/>
          <p:nvPr/>
        </p:nvSpPr>
        <p:spPr>
          <a:xfrm>
            <a:off x="8429549" y="3136392"/>
            <a:ext cx="3003194" cy="1554480"/>
          </a:xfrm>
          <a:prstGeom prst="rect">
            <a:avLst/>
          </a:prstGeom>
          <a:noFill/>
          <a:ln/>
        </p:spPr>
        <p:txBody>
          <a:bodyPr wrap="square" lIns="0" tIns="0" rIns="0" bIns="0" rtlCol="0" anchor="t"/>
          <a:lstStyle/>
          <a:p>
            <a:pPr marL="0" indent="0" algn="l">
              <a:lnSpc>
                <a:spcPct val="116000"/>
              </a:lnSpc>
              <a:buNone/>
            </a:pPr>
            <a:r>
              <a:rPr lang="en-US" sz="1200" dirty="0">
                <a:solidFill>
                  <a:srgbClr val="262626"/>
                </a:solidFill>
                <a:latin typeface="Arial" pitchFamily="34" charset="0"/>
                <a:ea typeface="Arial" pitchFamily="34" charset="-122"/>
                <a:cs typeface="Arial" pitchFamily="34" charset="-120"/>
              </a:rPr>
              <a:t>AI that plans and carries out multi-step tasks toward a goal on its own — using tools like a browser, a file system, or an app — not just answering, but doing.</a:t>
            </a:r>
            <a:endParaRPr lang="en-US" sz="1200" dirty="0"/>
          </a:p>
        </p:txBody>
      </p:sp>
      <p:sp>
        <p:nvSpPr>
          <p:cNvPr id="32" name="Text 30"/>
          <p:cNvSpPr txBox="1"/>
          <p:nvPr/>
        </p:nvSpPr>
        <p:spPr>
          <a:xfrm>
            <a:off x="8429549" y="4709160"/>
            <a:ext cx="3003194" cy="960120"/>
          </a:xfrm>
          <a:prstGeom prst="rect">
            <a:avLst/>
          </a:prstGeom>
          <a:noFill/>
          <a:ln/>
        </p:spPr>
        <p:txBody>
          <a:bodyPr wrap="square" lIns="0" tIns="0" rIns="0" bIns="0" rtlCol="0" anchor="t"/>
          <a:lstStyle/>
          <a:p>
            <a:pPr marL="0" indent="0" algn="l">
              <a:lnSpc>
                <a:spcPct val="112000"/>
              </a:lnSpc>
              <a:buNone/>
            </a:pPr>
            <a:r>
              <a:rPr lang="en-US" sz="1030" i="1" dirty="0">
                <a:solidFill>
                  <a:srgbClr val="3A362E"/>
                </a:solidFill>
                <a:latin typeface="Arial" pitchFamily="34" charset="0"/>
                <a:ea typeface="Arial" pitchFamily="34" charset="-122"/>
                <a:cs typeface="Arial" pitchFamily="34" charset="-120"/>
              </a:rPr>
              <a:t>Everyday examples: OpenClaw drafting and sending a weekly report, Manus researching a topic and delivering a finished document.</a:t>
            </a:r>
            <a:endParaRPr lang="en-US" sz="1030" dirty="0"/>
          </a:p>
        </p:txBody>
      </p:sp>
      <p:sp>
        <p:nvSpPr>
          <p:cNvPr id="33" name="Text 31"/>
          <p:cNvSpPr txBox="1"/>
          <p:nvPr/>
        </p:nvSpPr>
        <p:spPr>
          <a:xfrm>
            <a:off x="8429549" y="5705856"/>
            <a:ext cx="3003194" cy="292608"/>
          </a:xfrm>
          <a:prstGeom prst="rect">
            <a:avLst/>
          </a:prstGeom>
          <a:noFill/>
          <a:ln/>
        </p:spPr>
        <p:txBody>
          <a:bodyPr wrap="square" lIns="0" tIns="0" rIns="0" bIns="0" rtlCol="0" anchor="ctr"/>
          <a:lstStyle/>
          <a:p>
            <a:pPr marL="0" indent="0" algn="l">
              <a:buNone/>
            </a:pPr>
            <a:r>
              <a:rPr lang="en-US" sz="1050" b="1" dirty="0">
                <a:solidFill>
                  <a:srgbClr val="1E4FFF"/>
                </a:solidFill>
                <a:latin typeface="Arial" pitchFamily="34" charset="0"/>
                <a:ea typeface="Arial" pitchFamily="34" charset="-122"/>
                <a:cs typeface="Arial" pitchFamily="34" charset="-120"/>
              </a:rPr>
              <a:t>What it does: acts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lgn="l">
              <a:buNone/>
            </a:pPr>
            <a:r>
              <a:rPr lang="en-US" sz="1050" b="1" kern="0" spc="200" dirty="0">
                <a:solidFill>
                  <a:srgbClr val="A9A59A"/>
                </a:solidFill>
                <a:latin typeface="Arial" pitchFamily="34" charset="0"/>
                <a:ea typeface="Arial" pitchFamily="34" charset="-122"/>
                <a:cs typeface="Arial" pitchFamily="34" charset="-120"/>
              </a:rPr>
              <a:t>AI CONCEPTS · TOOLS · CASE STUDIES</a:t>
            </a:r>
            <a:endParaRPr lang="en-US" sz="1050" dirty="0"/>
          </a:p>
        </p:txBody>
      </p:sp>
      <p:sp>
        <p:nvSpPr>
          <p:cNvPr id="3" name="Shape 1"/>
          <p:cNvSpPr/>
          <p:nvPr/>
        </p:nvSpPr>
        <p:spPr>
          <a:xfrm>
            <a:off x="9649663" y="256032"/>
            <a:ext cx="2039112" cy="384048"/>
          </a:xfrm>
          <a:prstGeom prst="roundRect">
            <a:avLst>
              <a:gd name="adj" fmla="val 21429"/>
            </a:avLst>
          </a:prstGeom>
          <a:solidFill>
            <a:srgbClr val="1E4FFF"/>
          </a:solidFill>
          <a:ln/>
        </p:spPr>
      </p:sp>
      <p:sp>
        <p:nvSpPr>
          <p:cNvPr id="4" name="Text 2"/>
          <p:cNvSpPr txBox="1"/>
          <p:nvPr/>
        </p:nvSpPr>
        <p:spPr>
          <a:xfrm>
            <a:off x="9649663" y="256032"/>
            <a:ext cx="2039112"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HOW THEY FIT</a:t>
            </a:r>
            <a:endParaRPr lang="en-US" sz="1200" dirty="0"/>
          </a:p>
        </p:txBody>
      </p:sp>
      <p:sp>
        <p:nvSpPr>
          <p:cNvPr id="5" name="Shape 3"/>
          <p:cNvSpPr/>
          <p:nvPr/>
        </p:nvSpPr>
        <p:spPr>
          <a:xfrm>
            <a:off x="502920" y="6446520"/>
            <a:ext cx="11185855" cy="0"/>
          </a:xfrm>
          <a:prstGeom prst="line">
            <a:avLst/>
          </a:prstGeom>
          <a:noFill/>
          <a:ln w="9525">
            <a:solidFill>
              <a:srgbClr val="3A3A3A"/>
            </a:solidFill>
            <a:prstDash val="solid"/>
          </a:ln>
        </p:spPr>
      </p:sp>
      <p:sp>
        <p:nvSpPr>
          <p:cNvPr id="6" name="Text 4"/>
          <p:cNvSpPr txBox="1"/>
          <p:nvPr/>
        </p:nvSpPr>
        <p:spPr>
          <a:xfrm>
            <a:off x="502920" y="6492240"/>
            <a:ext cx="7315200" cy="274320"/>
          </a:xfrm>
          <a:prstGeom prst="rect">
            <a:avLst/>
          </a:prstGeom>
          <a:noFill/>
          <a:ln/>
        </p:spPr>
        <p:txBody>
          <a:bodyPr wrap="square" lIns="0" tIns="0" rIns="0" bIns="0" rtlCol="0" anchor="ctr"/>
          <a:lstStyle/>
          <a:p>
            <a:pPr marL="0" indent="0" algn="l">
              <a:buNone/>
            </a:pPr>
            <a:endParaRPr lang="en-US" sz="900" dirty="0"/>
          </a:p>
        </p:txBody>
      </p:sp>
      <p:sp>
        <p:nvSpPr>
          <p:cNvPr id="7" name="Text 5"/>
          <p:cNvSpPr txBox="1"/>
          <p:nvPr/>
        </p:nvSpPr>
        <p:spPr>
          <a:xfrm>
            <a:off x="10591495" y="6492240"/>
            <a:ext cx="1097280" cy="274320"/>
          </a:xfrm>
          <a:prstGeom prst="rect">
            <a:avLst/>
          </a:prstGeom>
          <a:noFill/>
          <a:ln/>
        </p:spPr>
        <p:txBody>
          <a:bodyPr wrap="square" lIns="0" tIns="0" rIns="0" bIns="0" rtlCol="0" anchor="ctr"/>
          <a:lstStyle/>
          <a:p>
            <a:pPr marL="0" indent="0" algn="r">
              <a:buNone/>
            </a:pPr>
            <a:r>
              <a:rPr lang="en-US" sz="900" dirty="0">
                <a:solidFill>
                  <a:srgbClr val="A9A59A"/>
                </a:solidFill>
                <a:latin typeface="Arial" pitchFamily="34" charset="0"/>
                <a:ea typeface="Arial" pitchFamily="34" charset="-122"/>
                <a:cs typeface="Arial" pitchFamily="34" charset="-120"/>
              </a:rPr>
              <a:t>02 / 08</a:t>
            </a:r>
            <a:endParaRPr lang="en-US" sz="900" dirty="0"/>
          </a:p>
        </p:txBody>
      </p:sp>
      <p:sp>
        <p:nvSpPr>
          <p:cNvPr id="8" name="Text 6"/>
          <p:cNvSpPr txBox="1"/>
          <p:nvPr/>
        </p:nvSpPr>
        <p:spPr>
          <a:xfrm>
            <a:off x="502920" y="713232"/>
            <a:ext cx="11185855" cy="822960"/>
          </a:xfrm>
          <a:prstGeom prst="rect">
            <a:avLst/>
          </a:prstGeom>
          <a:noFill/>
          <a:ln/>
        </p:spPr>
        <p:txBody>
          <a:bodyPr wrap="square" lIns="0" tIns="0" rIns="0" bIns="0" rtlCol="0" anchor="t"/>
          <a:lstStyle/>
          <a:p>
            <a:pPr>
              <a:lnSpc>
                <a:spcPct val="102000"/>
              </a:lnSpc>
            </a:pPr>
            <a:r>
              <a:rPr lang="en-US" sz="3200" b="1" dirty="0">
                <a:latin typeface="Arial" pitchFamily="34" charset="0"/>
                <a:ea typeface="Arial" pitchFamily="34" charset="-122"/>
                <a:cs typeface="Arial" pitchFamily="34" charset="-120"/>
              </a:rPr>
              <a:t>How They Actually Fit Together</a:t>
            </a:r>
            <a:endParaRPr lang="en-US" sz="3200" dirty="0"/>
          </a:p>
          <a:p>
            <a:pPr marL="0" indent="0" algn="l">
              <a:lnSpc>
                <a:spcPct val="102000"/>
              </a:lnSpc>
              <a:buNone/>
            </a:pPr>
            <a:r>
              <a:rPr lang="en-US" sz="3200" b="1" dirty="0">
                <a:solidFill>
                  <a:srgbClr val="FFFFFF"/>
                </a:solidFill>
                <a:latin typeface="Arial" pitchFamily="34" charset="0"/>
                <a:ea typeface="Arial" pitchFamily="34" charset="-122"/>
                <a:cs typeface="Arial" pitchFamily="34" charset="-120"/>
              </a:rPr>
              <a:t>w They Actually Fit Together</a:t>
            </a:r>
            <a:endParaRPr lang="en-US" sz="3200" dirty="0"/>
          </a:p>
        </p:txBody>
      </p:sp>
      <p:sp>
        <p:nvSpPr>
          <p:cNvPr id="9" name="Text 7"/>
          <p:cNvSpPr txBox="1"/>
          <p:nvPr/>
        </p:nvSpPr>
        <p:spPr>
          <a:xfrm>
            <a:off x="502920" y="1481328"/>
            <a:ext cx="11185855" cy="365760"/>
          </a:xfrm>
          <a:prstGeom prst="rect">
            <a:avLst/>
          </a:prstGeom>
          <a:noFill/>
          <a:ln/>
        </p:spPr>
        <p:txBody>
          <a:bodyPr wrap="square" lIns="0" tIns="0" rIns="0" bIns="0" rtlCol="0" anchor="t"/>
          <a:lstStyle/>
          <a:p>
            <a:pPr marL="0" indent="0" algn="l">
              <a:buNone/>
            </a:pPr>
            <a:r>
              <a:rPr lang="en-US" sz="1350" i="1" dirty="0">
                <a:latin typeface="Arial" pitchFamily="34" charset="0"/>
                <a:ea typeface="Arial" pitchFamily="34" charset="-122"/>
                <a:cs typeface="Arial" pitchFamily="34" charset="-120"/>
              </a:rPr>
              <a:t>Most “AI agents” you hear about are a generative model wrapped in a loop</a:t>
            </a:r>
            <a:r>
              <a:rPr lang="en-US" sz="1350" i="1" dirty="0">
                <a:solidFill>
                  <a:srgbClr val="A9A59A"/>
                </a:solidFill>
                <a:latin typeface="Arial" pitchFamily="34" charset="0"/>
                <a:ea typeface="Arial" pitchFamily="34" charset="-122"/>
                <a:cs typeface="Arial" pitchFamily="34" charset="-120"/>
              </a:rPr>
              <a:t>.</a:t>
            </a:r>
            <a:endParaRPr lang="en-US" sz="1350" dirty="0"/>
          </a:p>
        </p:txBody>
      </p:sp>
      <p:sp>
        <p:nvSpPr>
          <p:cNvPr id="10" name="Shape 8"/>
          <p:cNvSpPr/>
          <p:nvPr/>
        </p:nvSpPr>
        <p:spPr>
          <a:xfrm>
            <a:off x="502920" y="2148840"/>
            <a:ext cx="11185855" cy="3566160"/>
          </a:xfrm>
          <a:prstGeom prst="roundRect">
            <a:avLst>
              <a:gd name="adj" fmla="val 2051"/>
            </a:avLst>
          </a:prstGeom>
          <a:ln w="19050">
            <a:solidFill>
              <a:srgbClr val="A9A59A"/>
            </a:solidFill>
            <a:prstDash val="solid"/>
          </a:ln>
        </p:spPr>
      </p:sp>
      <p:sp>
        <p:nvSpPr>
          <p:cNvPr id="11" name="Shape 9"/>
          <p:cNvSpPr/>
          <p:nvPr/>
        </p:nvSpPr>
        <p:spPr>
          <a:xfrm>
            <a:off x="822960" y="2002536"/>
            <a:ext cx="4480560" cy="292608"/>
          </a:xfrm>
          <a:prstGeom prst="rect">
            <a:avLst/>
          </a:prstGeom>
          <a:solidFill>
            <a:srgbClr val="1A1A1A"/>
          </a:solidFill>
          <a:ln/>
        </p:spPr>
      </p:sp>
      <p:sp>
        <p:nvSpPr>
          <p:cNvPr id="12" name="Text 10"/>
          <p:cNvSpPr txBox="1"/>
          <p:nvPr/>
        </p:nvSpPr>
        <p:spPr>
          <a:xfrm>
            <a:off x="822960" y="2002536"/>
            <a:ext cx="4480560"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ARTIFICIAL INTELLIGENCE — the umbrella field</a:t>
            </a:r>
            <a:endParaRPr lang="en-US" sz="1250" dirty="0"/>
          </a:p>
        </p:txBody>
      </p:sp>
      <p:sp>
        <p:nvSpPr>
          <p:cNvPr id="13" name="Shape 11"/>
          <p:cNvSpPr/>
          <p:nvPr/>
        </p:nvSpPr>
        <p:spPr>
          <a:xfrm>
            <a:off x="868680" y="2651760"/>
            <a:ext cx="4907128" cy="2743200"/>
          </a:xfrm>
          <a:prstGeom prst="roundRect">
            <a:avLst>
              <a:gd name="adj" fmla="val 2000"/>
            </a:avLst>
          </a:prstGeom>
          <a:solidFill>
            <a:srgbClr val="262626"/>
          </a:solidFill>
          <a:ln w="12700">
            <a:solidFill>
              <a:srgbClr val="3A3A3A"/>
            </a:solidFill>
            <a:prstDash val="solid"/>
          </a:ln>
        </p:spPr>
      </p:sp>
      <p:sp>
        <p:nvSpPr>
          <p:cNvPr id="14" name="Text 12"/>
          <p:cNvSpPr txBox="1"/>
          <p:nvPr/>
        </p:nvSpPr>
        <p:spPr>
          <a:xfrm>
            <a:off x="1143000" y="2871216"/>
            <a:ext cx="4358488" cy="365760"/>
          </a:xfrm>
          <a:prstGeom prst="rect">
            <a:avLst/>
          </a:prstGeom>
          <a:noFill/>
          <a:ln/>
        </p:spPr>
        <p:txBody>
          <a:bodyPr wrap="square" lIns="0" tIns="0" rIns="0" bIns="0" rtlCol="0" anchor="t"/>
          <a:lstStyle/>
          <a:p>
            <a:pPr marL="0" indent="0" algn="l">
              <a:buNone/>
            </a:pPr>
            <a:r>
              <a:rPr lang="en-US" sz="1600" b="1" dirty="0">
                <a:solidFill>
                  <a:srgbClr val="FFFFFF"/>
                </a:solidFill>
                <a:latin typeface="Arial" pitchFamily="34" charset="0"/>
                <a:ea typeface="Arial" pitchFamily="34" charset="-122"/>
                <a:cs typeface="Arial" pitchFamily="34" charset="-120"/>
              </a:rPr>
              <a:t>Generative AI</a:t>
            </a:r>
            <a:endParaRPr lang="en-US" sz="1600" dirty="0"/>
          </a:p>
        </p:txBody>
      </p:sp>
      <p:sp>
        <p:nvSpPr>
          <p:cNvPr id="15" name="Text 13"/>
          <p:cNvSpPr txBox="1"/>
          <p:nvPr/>
        </p:nvSpPr>
        <p:spPr>
          <a:xfrm>
            <a:off x="1143000" y="3310128"/>
            <a:ext cx="4358488" cy="1371600"/>
          </a:xfrm>
          <a:prstGeom prst="rect">
            <a:avLst/>
          </a:prstGeom>
          <a:noFill/>
          <a:ln/>
        </p:spPr>
        <p:txBody>
          <a:bodyPr wrap="square" lIns="0" tIns="0" rIns="0" bIns="0" rtlCol="0" anchor="t"/>
          <a:lstStyle/>
          <a:p>
            <a:pPr marL="0" indent="0" algn="l">
              <a:lnSpc>
                <a:spcPct val="116000"/>
              </a:lnSpc>
              <a:buNone/>
            </a:pPr>
            <a:r>
              <a:rPr lang="en-US" sz="1150" dirty="0">
                <a:solidFill>
                  <a:srgbClr val="F2EFE7"/>
                </a:solidFill>
                <a:latin typeface="Arial" pitchFamily="34" charset="0"/>
                <a:ea typeface="Arial" pitchFamily="34" charset="-122"/>
                <a:cs typeface="Arial" pitchFamily="34" charset="-120"/>
              </a:rPr>
              <a:t>Creates new content from a prompt — the “brain” that understands language and produces text, code, or images.</a:t>
            </a:r>
            <a:endParaRPr lang="en-US" sz="1150" dirty="0"/>
          </a:p>
        </p:txBody>
      </p:sp>
      <p:sp>
        <p:nvSpPr>
          <p:cNvPr id="16" name="Text 14"/>
          <p:cNvSpPr txBox="1"/>
          <p:nvPr/>
        </p:nvSpPr>
        <p:spPr>
          <a:xfrm>
            <a:off x="1143000" y="4828032"/>
            <a:ext cx="4358488" cy="457200"/>
          </a:xfrm>
          <a:prstGeom prst="rect">
            <a:avLst/>
          </a:prstGeom>
          <a:noFill/>
          <a:ln/>
        </p:spPr>
        <p:txBody>
          <a:bodyPr wrap="square" lIns="0" tIns="0" rIns="0" bIns="0" rtlCol="0" anchor="t"/>
          <a:lstStyle/>
          <a:p>
            <a:pPr marL="0" indent="0" algn="l">
              <a:lnSpc>
                <a:spcPct val="110000"/>
              </a:lnSpc>
              <a:buNone/>
            </a:pPr>
            <a:r>
              <a:rPr lang="en-US" sz="1000" i="1" dirty="0">
                <a:solidFill>
                  <a:srgbClr val="D9D5C9"/>
                </a:solidFill>
                <a:latin typeface="Arial" pitchFamily="34" charset="0"/>
                <a:ea typeface="Arial" pitchFamily="34" charset="-122"/>
                <a:cs typeface="Arial" pitchFamily="34" charset="-120"/>
              </a:rPr>
              <a:t>Examples: ChatGPT (chat), Midjourney, Claude (chat)</a:t>
            </a:r>
            <a:endParaRPr lang="en-US" sz="1000" dirty="0"/>
          </a:p>
        </p:txBody>
      </p:sp>
      <p:sp>
        <p:nvSpPr>
          <p:cNvPr id="17" name="Shape 15"/>
          <p:cNvSpPr/>
          <p:nvPr/>
        </p:nvSpPr>
        <p:spPr>
          <a:xfrm>
            <a:off x="6415888" y="2651760"/>
            <a:ext cx="4907128" cy="2743200"/>
          </a:xfrm>
          <a:prstGeom prst="roundRect">
            <a:avLst>
              <a:gd name="adj" fmla="val 2000"/>
            </a:avLst>
          </a:prstGeom>
          <a:solidFill>
            <a:srgbClr val="262626"/>
          </a:solidFill>
          <a:ln w="12700">
            <a:solidFill>
              <a:srgbClr val="3A3A3A"/>
            </a:solidFill>
            <a:prstDash val="solid"/>
          </a:ln>
        </p:spPr>
      </p:sp>
      <p:sp>
        <p:nvSpPr>
          <p:cNvPr id="18" name="Text 16"/>
          <p:cNvSpPr txBox="1"/>
          <p:nvPr/>
        </p:nvSpPr>
        <p:spPr>
          <a:xfrm>
            <a:off x="6690208" y="2871216"/>
            <a:ext cx="4358488" cy="365760"/>
          </a:xfrm>
          <a:prstGeom prst="rect">
            <a:avLst/>
          </a:prstGeom>
          <a:noFill/>
          <a:ln/>
        </p:spPr>
        <p:txBody>
          <a:bodyPr wrap="square" lIns="0" tIns="0" rIns="0" bIns="0" rtlCol="0" anchor="t"/>
          <a:lstStyle/>
          <a:p>
            <a:pPr marL="0" indent="0" algn="l">
              <a:buNone/>
            </a:pPr>
            <a:r>
              <a:rPr lang="en-US" sz="1600" b="1" dirty="0">
                <a:solidFill>
                  <a:srgbClr val="FFFFFF"/>
                </a:solidFill>
                <a:latin typeface="Arial" pitchFamily="34" charset="0"/>
                <a:ea typeface="Arial" pitchFamily="34" charset="-122"/>
                <a:cs typeface="Arial" pitchFamily="34" charset="-120"/>
              </a:rPr>
              <a:t>Agentic AI</a:t>
            </a:r>
            <a:endParaRPr lang="en-US" sz="1600" dirty="0"/>
          </a:p>
        </p:txBody>
      </p:sp>
      <p:sp>
        <p:nvSpPr>
          <p:cNvPr id="19" name="Text 17"/>
          <p:cNvSpPr txBox="1"/>
          <p:nvPr/>
        </p:nvSpPr>
        <p:spPr>
          <a:xfrm>
            <a:off x="6690208" y="3310128"/>
            <a:ext cx="4358488" cy="1371600"/>
          </a:xfrm>
          <a:prstGeom prst="rect">
            <a:avLst/>
          </a:prstGeom>
          <a:noFill/>
          <a:ln/>
        </p:spPr>
        <p:txBody>
          <a:bodyPr wrap="square" lIns="0" tIns="0" rIns="0" bIns="0" rtlCol="0" anchor="t"/>
          <a:lstStyle/>
          <a:p>
            <a:pPr marL="0" indent="0" algn="l">
              <a:lnSpc>
                <a:spcPct val="116000"/>
              </a:lnSpc>
              <a:buNone/>
            </a:pPr>
            <a:r>
              <a:rPr lang="en-US" sz="1150" dirty="0">
                <a:solidFill>
                  <a:srgbClr val="F2EFE7"/>
                </a:solidFill>
                <a:latin typeface="Arial" pitchFamily="34" charset="0"/>
                <a:ea typeface="Arial" pitchFamily="34" charset="-122"/>
                <a:cs typeface="Arial" pitchFamily="34" charset="-120"/>
              </a:rPr>
              <a:t>Adds planning, memory, and tool-use on top of a model — the “hands” that turn a generated plan into real, multi-step action.</a:t>
            </a:r>
            <a:endParaRPr lang="en-US" sz="1150" dirty="0"/>
          </a:p>
        </p:txBody>
      </p:sp>
      <p:sp>
        <p:nvSpPr>
          <p:cNvPr id="20" name="Text 18"/>
          <p:cNvSpPr txBox="1"/>
          <p:nvPr/>
        </p:nvSpPr>
        <p:spPr>
          <a:xfrm>
            <a:off x="6690208" y="4828032"/>
            <a:ext cx="4358488" cy="457200"/>
          </a:xfrm>
          <a:prstGeom prst="rect">
            <a:avLst/>
          </a:prstGeom>
          <a:noFill/>
          <a:ln/>
        </p:spPr>
        <p:txBody>
          <a:bodyPr wrap="square" lIns="0" tIns="0" rIns="0" bIns="0" rtlCol="0" anchor="t"/>
          <a:lstStyle/>
          <a:p>
            <a:pPr marL="0" indent="0" algn="l">
              <a:lnSpc>
                <a:spcPct val="110000"/>
              </a:lnSpc>
              <a:buNone/>
            </a:pPr>
            <a:r>
              <a:rPr lang="en-US" sz="1000" i="1" dirty="0">
                <a:solidFill>
                  <a:srgbClr val="D9D5C9"/>
                </a:solidFill>
                <a:latin typeface="Arial" pitchFamily="34" charset="0"/>
                <a:ea typeface="Arial" pitchFamily="34" charset="-122"/>
                <a:cs typeface="Arial" pitchFamily="34" charset="-120"/>
              </a:rPr>
              <a:t>Examples: OpenClaw, Manus, Claude Cowork</a:t>
            </a:r>
            <a:endParaRPr lang="en-US" sz="1000" dirty="0"/>
          </a:p>
        </p:txBody>
      </p:sp>
      <p:sp>
        <p:nvSpPr>
          <p:cNvPr id="21" name="Shape 19"/>
          <p:cNvSpPr/>
          <p:nvPr/>
        </p:nvSpPr>
        <p:spPr>
          <a:xfrm>
            <a:off x="5858104" y="3785616"/>
            <a:ext cx="475488" cy="475488"/>
          </a:xfrm>
          <a:prstGeom prst="ellipse">
            <a:avLst/>
          </a:prstGeom>
          <a:solidFill>
            <a:srgbClr val="1E4FFF"/>
          </a:solidFill>
          <a:ln/>
        </p:spPr>
      </p:sp>
      <p:sp>
        <p:nvSpPr>
          <p:cNvPr id="22" name="Text 20"/>
          <p:cNvSpPr txBox="1"/>
          <p:nvPr/>
        </p:nvSpPr>
        <p:spPr>
          <a:xfrm>
            <a:off x="5858104" y="3785616"/>
            <a:ext cx="475488" cy="47548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23" name="Text 21"/>
          <p:cNvSpPr txBox="1"/>
          <p:nvPr/>
        </p:nvSpPr>
        <p:spPr>
          <a:xfrm>
            <a:off x="502920" y="5971032"/>
            <a:ext cx="11185855" cy="502920"/>
          </a:xfrm>
          <a:prstGeom prst="rect">
            <a:avLst/>
          </a:prstGeom>
          <a:noFill/>
          <a:ln/>
        </p:spPr>
        <p:txBody>
          <a:bodyPr wrap="square" lIns="0" tIns="0" rIns="0" bIns="0" rtlCol="0" anchor="t"/>
          <a:lstStyle/>
          <a:p>
            <a:pPr marL="0" indent="0" algn="l">
              <a:lnSpc>
                <a:spcPct val="115000"/>
              </a:lnSpc>
              <a:buNone/>
            </a:pPr>
            <a:r>
              <a:rPr lang="en-US" sz="1250" i="1" dirty="0">
                <a:latin typeface="Arial" pitchFamily="34" charset="0"/>
                <a:ea typeface="Arial" pitchFamily="34" charset="-122"/>
                <a:cs typeface="Arial" pitchFamily="34" charset="-120"/>
              </a:rPr>
              <a:t>In practice: a generative model gives an agent the ability to understand and produce language. The agentic loop gives it the ability to plan, remember, and act — that combination is what most 2026 “AI agent” products actually are.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lgn="l">
              <a:buNone/>
            </a:pPr>
            <a:r>
              <a:rPr lang="en-US" sz="1050" b="1" kern="0" spc="200" dirty="0">
                <a:solidFill>
                  <a:srgbClr val="A9A59A"/>
                </a:solidFill>
                <a:latin typeface="Arial" pitchFamily="34" charset="0"/>
                <a:ea typeface="Arial" pitchFamily="34" charset="-122"/>
                <a:cs typeface="Arial" pitchFamily="34" charset="-120"/>
              </a:rPr>
              <a:t>AI CONCEPTS · TOOLS · CASE STUDIES</a:t>
            </a:r>
            <a:endParaRPr lang="en-US" sz="1050" dirty="0"/>
          </a:p>
        </p:txBody>
      </p:sp>
      <p:sp>
        <p:nvSpPr>
          <p:cNvPr id="3" name="Shape 1"/>
          <p:cNvSpPr/>
          <p:nvPr/>
        </p:nvSpPr>
        <p:spPr>
          <a:xfrm>
            <a:off x="9649663" y="256032"/>
            <a:ext cx="2039112" cy="384048"/>
          </a:xfrm>
          <a:prstGeom prst="roundRect">
            <a:avLst>
              <a:gd name="adj" fmla="val 21429"/>
            </a:avLst>
          </a:prstGeom>
          <a:solidFill>
            <a:srgbClr val="1E4FFF"/>
          </a:solidFill>
          <a:ln/>
        </p:spPr>
      </p:sp>
      <p:sp>
        <p:nvSpPr>
          <p:cNvPr id="4" name="Text 2"/>
          <p:cNvSpPr txBox="1"/>
          <p:nvPr/>
        </p:nvSpPr>
        <p:spPr>
          <a:xfrm>
            <a:off x="9649663" y="256032"/>
            <a:ext cx="2039112"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NEW CATEGORY</a:t>
            </a:r>
            <a:endParaRPr lang="en-US" sz="1200" dirty="0"/>
          </a:p>
        </p:txBody>
      </p:sp>
      <p:sp>
        <p:nvSpPr>
          <p:cNvPr id="5" name="Shape 3"/>
          <p:cNvSpPr/>
          <p:nvPr/>
        </p:nvSpPr>
        <p:spPr>
          <a:xfrm>
            <a:off x="502920" y="6446520"/>
            <a:ext cx="11185855" cy="0"/>
          </a:xfrm>
          <a:prstGeom prst="line">
            <a:avLst/>
          </a:prstGeom>
          <a:noFill/>
          <a:ln w="9525">
            <a:solidFill>
              <a:srgbClr val="3A3A3A"/>
            </a:solidFill>
            <a:prstDash val="solid"/>
          </a:ln>
        </p:spPr>
      </p:sp>
      <p:sp>
        <p:nvSpPr>
          <p:cNvPr id="6" name="Text 4"/>
          <p:cNvSpPr txBox="1"/>
          <p:nvPr/>
        </p:nvSpPr>
        <p:spPr>
          <a:xfrm>
            <a:off x="502920" y="6492240"/>
            <a:ext cx="7315200" cy="274320"/>
          </a:xfrm>
          <a:prstGeom prst="rect">
            <a:avLst/>
          </a:prstGeom>
          <a:noFill/>
          <a:ln/>
        </p:spPr>
        <p:txBody>
          <a:bodyPr wrap="square" lIns="0" tIns="0" rIns="0" bIns="0" rtlCol="0" anchor="ctr"/>
          <a:lstStyle/>
          <a:p>
            <a:pPr marL="0" indent="0" algn="l">
              <a:buNone/>
            </a:pPr>
            <a:r>
              <a:rPr lang="en-US" sz="900" dirty="0">
                <a:solidFill>
                  <a:srgbClr val="A9A59A"/>
                </a:solidFill>
                <a:latin typeface="Arial" pitchFamily="34" charset="0"/>
                <a:ea typeface="Arial" pitchFamily="34" charset="-122"/>
                <a:cs typeface="Arial" pitchFamily="34" charset="-120"/>
              </a:rPr>
              <a:t>·  IUT DHAKA</a:t>
            </a:r>
            <a:endParaRPr lang="en-US" sz="900" dirty="0"/>
          </a:p>
        </p:txBody>
      </p:sp>
      <p:sp>
        <p:nvSpPr>
          <p:cNvPr id="7" name="Text 5"/>
          <p:cNvSpPr txBox="1"/>
          <p:nvPr/>
        </p:nvSpPr>
        <p:spPr>
          <a:xfrm>
            <a:off x="10591495" y="6492240"/>
            <a:ext cx="1097280" cy="274320"/>
          </a:xfrm>
          <a:prstGeom prst="rect">
            <a:avLst/>
          </a:prstGeom>
          <a:noFill/>
          <a:ln/>
        </p:spPr>
        <p:txBody>
          <a:bodyPr wrap="square" lIns="0" tIns="0" rIns="0" bIns="0" rtlCol="0" anchor="ctr"/>
          <a:lstStyle/>
          <a:p>
            <a:pPr marL="0" indent="0" algn="r">
              <a:buNone/>
            </a:pPr>
            <a:r>
              <a:rPr lang="en-US" sz="900" dirty="0">
                <a:solidFill>
                  <a:srgbClr val="A9A59A"/>
                </a:solidFill>
                <a:latin typeface="Arial" pitchFamily="34" charset="0"/>
                <a:ea typeface="Arial" pitchFamily="34" charset="-122"/>
                <a:cs typeface="Arial" pitchFamily="34" charset="-120"/>
              </a:rPr>
              <a:t>03 / 08</a:t>
            </a:r>
            <a:endParaRPr lang="en-US" sz="900" dirty="0"/>
          </a:p>
        </p:txBody>
      </p:sp>
      <p:sp>
        <p:nvSpPr>
          <p:cNvPr id="8" name="Text 6"/>
          <p:cNvSpPr txBox="1"/>
          <p:nvPr/>
        </p:nvSpPr>
        <p:spPr>
          <a:xfrm>
            <a:off x="502920" y="713232"/>
            <a:ext cx="11185855" cy="822960"/>
          </a:xfrm>
          <a:prstGeom prst="rect">
            <a:avLst/>
          </a:prstGeom>
          <a:noFill/>
          <a:ln/>
        </p:spPr>
        <p:txBody>
          <a:bodyPr wrap="square" lIns="0" tIns="0" rIns="0" bIns="0" rtlCol="0" anchor="t"/>
          <a:lstStyle/>
          <a:p>
            <a:pPr marL="0" indent="0" algn="l">
              <a:lnSpc>
                <a:spcPct val="102000"/>
              </a:lnSpc>
              <a:buNone/>
            </a:pPr>
            <a:r>
              <a:rPr lang="en-US" sz="3200" b="1" dirty="0">
                <a:solidFill>
                  <a:srgbClr val="FFFFFF"/>
                </a:solidFill>
                <a:latin typeface="Arial" pitchFamily="34" charset="0"/>
                <a:ea typeface="Arial" pitchFamily="34" charset="-122"/>
                <a:cs typeface="Arial" pitchFamily="34" charset="-120"/>
              </a:rPr>
              <a:t>What Is a "Computer-Hosted" AI?</a:t>
            </a:r>
            <a:endParaRPr lang="en-US" sz="3200" dirty="0"/>
          </a:p>
        </p:txBody>
      </p:sp>
      <p:sp>
        <p:nvSpPr>
          <p:cNvPr id="9" name="Text 7"/>
          <p:cNvSpPr txBox="1"/>
          <p:nvPr/>
        </p:nvSpPr>
        <p:spPr>
          <a:xfrm>
            <a:off x="502920" y="1481328"/>
            <a:ext cx="11185855" cy="365760"/>
          </a:xfrm>
          <a:prstGeom prst="rect">
            <a:avLst/>
          </a:prstGeom>
          <a:noFill/>
          <a:ln/>
        </p:spPr>
        <p:txBody>
          <a:bodyPr wrap="square" lIns="0" tIns="0" rIns="0" bIns="0" rtlCol="0" anchor="t"/>
          <a:lstStyle/>
          <a:p>
            <a:pPr marL="0" indent="0" algn="l">
              <a:buNone/>
            </a:pPr>
            <a:r>
              <a:rPr lang="en-US" sz="1350" i="1" dirty="0">
                <a:solidFill>
                  <a:srgbClr val="A9A59A"/>
                </a:solidFill>
                <a:latin typeface="Arial" pitchFamily="34" charset="0"/>
                <a:ea typeface="Arial" pitchFamily="34" charset="-122"/>
                <a:cs typeface="Arial" pitchFamily="34" charset="-120"/>
              </a:rPr>
              <a:t>A newer category: software that runs on a machine and takes real action — not just chat.</a:t>
            </a:r>
            <a:endParaRPr lang="en-US" sz="1350" dirty="0"/>
          </a:p>
        </p:txBody>
      </p:sp>
      <p:sp>
        <p:nvSpPr>
          <p:cNvPr id="10" name="Shape 8"/>
          <p:cNvSpPr/>
          <p:nvPr/>
        </p:nvSpPr>
        <p:spPr>
          <a:xfrm>
            <a:off x="502920" y="2139696"/>
            <a:ext cx="621792" cy="621792"/>
          </a:xfrm>
          <a:prstGeom prst="ellipse">
            <a:avLst/>
          </a:prstGeom>
          <a:solidFill>
            <a:srgbClr val="1A1A1A"/>
          </a:solidFill>
          <a:ln w="28575">
            <a:solidFill>
              <a:srgbClr val="1E4FFF"/>
            </a:solidFill>
            <a:prstDash val="solid"/>
          </a:ln>
        </p:spPr>
      </p:sp>
      <p:sp>
        <p:nvSpPr>
          <p:cNvPr id="11" name="Text 9"/>
          <p:cNvSpPr txBox="1"/>
          <p:nvPr/>
        </p:nvSpPr>
        <p:spPr>
          <a:xfrm>
            <a:off x="502920" y="2139696"/>
            <a:ext cx="621792" cy="621792"/>
          </a:xfrm>
          <a:prstGeom prst="rect">
            <a:avLst/>
          </a:prstGeom>
          <a:noFill/>
          <a:ln/>
        </p:spPr>
        <p:txBody>
          <a:bodyPr wrap="square" lIns="0" tIns="0" rIns="0" bIns="0" rtlCol="0" anchor="ctr"/>
          <a:lstStyle/>
          <a:p>
            <a:pPr marL="0" indent="0" algn="ctr">
              <a:buNone/>
            </a:pPr>
            <a:r>
              <a:rPr lang="en-US" sz="1800" b="1" dirty="0">
                <a:solidFill>
                  <a:srgbClr val="1E4FFF"/>
                </a:solidFill>
                <a:latin typeface="Arial" pitchFamily="34" charset="0"/>
                <a:ea typeface="Arial" pitchFamily="34" charset="-122"/>
                <a:cs typeface="Arial" pitchFamily="34" charset="-120"/>
              </a:rPr>
              <a:t>C</a:t>
            </a:r>
            <a:endParaRPr lang="en-US" sz="1800" dirty="0"/>
          </a:p>
        </p:txBody>
      </p:sp>
      <p:sp>
        <p:nvSpPr>
          <p:cNvPr id="12" name="Text 10"/>
          <p:cNvSpPr txBox="1"/>
          <p:nvPr/>
        </p:nvSpPr>
        <p:spPr>
          <a:xfrm>
            <a:off x="1490472" y="2084832"/>
            <a:ext cx="10198303" cy="310896"/>
          </a:xfrm>
          <a:prstGeom prst="rect">
            <a:avLst/>
          </a:prstGeom>
          <a:noFill/>
          <a:ln/>
        </p:spPr>
        <p:txBody>
          <a:bodyPr wrap="square" lIns="0" tIns="0" rIns="0" bIns="0" rtlCol="0" anchor="t"/>
          <a:lstStyle/>
          <a:p>
            <a:pPr marL="0" indent="0" algn="l">
              <a:buNone/>
            </a:pPr>
            <a:r>
              <a:rPr lang="en-US" sz="1700" b="1" dirty="0">
                <a:latin typeface="Arial" pitchFamily="34" charset="0"/>
                <a:ea typeface="Arial" pitchFamily="34" charset="-122"/>
                <a:cs typeface="Arial" pitchFamily="34" charset="-120"/>
              </a:rPr>
              <a:t>A chatbot talks. You act</a:t>
            </a: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13" name="Text 11"/>
          <p:cNvSpPr txBox="1"/>
          <p:nvPr/>
        </p:nvSpPr>
        <p:spPr>
          <a:xfrm>
            <a:off x="1490472" y="2414016"/>
            <a:ext cx="10198303" cy="896112"/>
          </a:xfrm>
          <a:prstGeom prst="rect">
            <a:avLst/>
          </a:prstGeom>
          <a:noFill/>
          <a:ln/>
        </p:spPr>
        <p:txBody>
          <a:bodyPr wrap="square" lIns="0" tIns="0" rIns="0" bIns="0" rtlCol="0" anchor="t"/>
          <a:lstStyle/>
          <a:p>
            <a:pPr marL="0" indent="0" algn="l">
              <a:lnSpc>
                <a:spcPct val="114000"/>
              </a:lnSpc>
              <a:buNone/>
            </a:pPr>
            <a:r>
              <a:rPr lang="en-US" sz="1230" dirty="0">
                <a:latin typeface="Arial" pitchFamily="34" charset="0"/>
                <a:ea typeface="Arial" pitchFamily="34" charset="-122"/>
                <a:cs typeface="Arial" pitchFamily="34" charset="-120"/>
              </a:rPr>
              <a:t>Ask ChatGPT or Claude a question in a browser tab and you get words back. To actually do something with the answer — send the email, book the flight, edit the file — a human still has to copy, paste, and click.</a:t>
            </a:r>
            <a:endParaRPr lang="en-US" sz="1230" dirty="0"/>
          </a:p>
        </p:txBody>
      </p:sp>
      <p:sp>
        <p:nvSpPr>
          <p:cNvPr id="14" name="Shape 12"/>
          <p:cNvSpPr/>
          <p:nvPr/>
        </p:nvSpPr>
        <p:spPr>
          <a:xfrm>
            <a:off x="1490472" y="3328416"/>
            <a:ext cx="10198303" cy="0"/>
          </a:xfrm>
          <a:prstGeom prst="line">
            <a:avLst/>
          </a:prstGeom>
          <a:noFill/>
          <a:ln w="9525">
            <a:solidFill>
              <a:srgbClr val="3A3A3A"/>
            </a:solidFill>
            <a:prstDash val="solid"/>
          </a:ln>
        </p:spPr>
      </p:sp>
      <p:sp>
        <p:nvSpPr>
          <p:cNvPr id="15" name="Shape 13"/>
          <p:cNvSpPr/>
          <p:nvPr/>
        </p:nvSpPr>
        <p:spPr>
          <a:xfrm>
            <a:off x="502920" y="3511296"/>
            <a:ext cx="621792" cy="621792"/>
          </a:xfrm>
          <a:prstGeom prst="ellipse">
            <a:avLst/>
          </a:prstGeom>
          <a:solidFill>
            <a:srgbClr val="1A1A1A"/>
          </a:solidFill>
          <a:ln w="28575">
            <a:solidFill>
              <a:srgbClr val="1E4FFF"/>
            </a:solidFill>
            <a:prstDash val="solid"/>
          </a:ln>
        </p:spPr>
      </p:sp>
      <p:sp>
        <p:nvSpPr>
          <p:cNvPr id="16" name="Text 14"/>
          <p:cNvSpPr txBox="1"/>
          <p:nvPr/>
        </p:nvSpPr>
        <p:spPr>
          <a:xfrm>
            <a:off x="502920" y="3511296"/>
            <a:ext cx="621792" cy="621792"/>
          </a:xfrm>
          <a:prstGeom prst="rect">
            <a:avLst/>
          </a:prstGeom>
          <a:noFill/>
          <a:ln/>
        </p:spPr>
        <p:txBody>
          <a:bodyPr wrap="square" lIns="0" tIns="0" rIns="0" bIns="0" rtlCol="0" anchor="ctr"/>
          <a:lstStyle/>
          <a:p>
            <a:pPr marL="0" indent="0" algn="ctr">
              <a:buNone/>
            </a:pPr>
            <a:r>
              <a:rPr lang="en-US" sz="1800" b="1" dirty="0">
                <a:solidFill>
                  <a:srgbClr val="1E4FFF"/>
                </a:solidFill>
                <a:latin typeface="Arial" pitchFamily="34" charset="0"/>
                <a:ea typeface="Arial" pitchFamily="34" charset="-122"/>
                <a:cs typeface="Arial" pitchFamily="34" charset="-120"/>
              </a:rPr>
              <a:t>H</a:t>
            </a:r>
            <a:endParaRPr lang="en-US" sz="1800" dirty="0"/>
          </a:p>
        </p:txBody>
      </p:sp>
      <p:sp>
        <p:nvSpPr>
          <p:cNvPr id="17" name="Text 15"/>
          <p:cNvSpPr txBox="1"/>
          <p:nvPr/>
        </p:nvSpPr>
        <p:spPr>
          <a:xfrm>
            <a:off x="1490472" y="3456432"/>
            <a:ext cx="10198303" cy="310896"/>
          </a:xfrm>
          <a:prstGeom prst="rect">
            <a:avLst/>
          </a:prstGeom>
          <a:noFill/>
          <a:ln/>
        </p:spPr>
        <p:txBody>
          <a:bodyPr wrap="square" lIns="0" tIns="0" rIns="0" bIns="0" rtlCol="0" anchor="t"/>
          <a:lstStyle/>
          <a:p>
            <a:pPr marL="0" indent="0" algn="l">
              <a:buNone/>
            </a:pPr>
            <a:r>
              <a:rPr lang="en-US" sz="1700" b="1" dirty="0">
                <a:latin typeface="Arial" pitchFamily="34" charset="0"/>
                <a:ea typeface="Arial" pitchFamily="34" charset="-122"/>
                <a:cs typeface="Arial" pitchFamily="34" charset="-120"/>
              </a:rPr>
              <a:t>A computer-hosted AI acts. It has hands</a:t>
            </a: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18" name="Text 16"/>
          <p:cNvSpPr txBox="1"/>
          <p:nvPr/>
        </p:nvSpPr>
        <p:spPr>
          <a:xfrm>
            <a:off x="1490472" y="3785616"/>
            <a:ext cx="10198303" cy="896112"/>
          </a:xfrm>
          <a:prstGeom prst="rect">
            <a:avLst/>
          </a:prstGeom>
          <a:noFill/>
          <a:ln/>
        </p:spPr>
        <p:txBody>
          <a:bodyPr wrap="square" lIns="0" tIns="0" rIns="0" bIns="0" rtlCol="0" anchor="t"/>
          <a:lstStyle/>
          <a:p>
            <a:pPr marL="0" indent="0" algn="l">
              <a:lnSpc>
                <a:spcPct val="114000"/>
              </a:lnSpc>
              <a:buNone/>
            </a:pPr>
            <a:r>
              <a:rPr lang="en-US" sz="1230" dirty="0">
                <a:latin typeface="Arial" pitchFamily="34" charset="0"/>
                <a:ea typeface="Arial" pitchFamily="34" charset="-122"/>
                <a:cs typeface="Arial" pitchFamily="34" charset="-120"/>
              </a:rPr>
              <a:t>These systems run with real access to a computer — files, a terminal, a browser session, sometimes your logged-in accounts — either on your own machine or inside a cloud “virtual computer.” You give it a goal; it plans the steps and carries them out on its own.</a:t>
            </a:r>
            <a:endParaRPr lang="en-US" sz="1230" dirty="0"/>
          </a:p>
        </p:txBody>
      </p:sp>
      <p:sp>
        <p:nvSpPr>
          <p:cNvPr id="19" name="Shape 17"/>
          <p:cNvSpPr/>
          <p:nvPr/>
        </p:nvSpPr>
        <p:spPr>
          <a:xfrm>
            <a:off x="1490472" y="4700016"/>
            <a:ext cx="10198303" cy="0"/>
          </a:xfrm>
          <a:prstGeom prst="line">
            <a:avLst/>
          </a:prstGeom>
          <a:noFill/>
          <a:ln w="9525">
            <a:solidFill>
              <a:srgbClr val="3A3A3A"/>
            </a:solidFill>
            <a:prstDash val="solid"/>
          </a:ln>
        </p:spPr>
      </p:sp>
      <p:sp>
        <p:nvSpPr>
          <p:cNvPr id="20" name="Shape 18"/>
          <p:cNvSpPr/>
          <p:nvPr/>
        </p:nvSpPr>
        <p:spPr>
          <a:xfrm>
            <a:off x="502920" y="4882896"/>
            <a:ext cx="621792" cy="621792"/>
          </a:xfrm>
          <a:prstGeom prst="ellipse">
            <a:avLst/>
          </a:prstGeom>
          <a:solidFill>
            <a:srgbClr val="1A1A1A"/>
          </a:solidFill>
          <a:ln w="28575">
            <a:solidFill>
              <a:srgbClr val="1E4FFF"/>
            </a:solidFill>
            <a:prstDash val="solid"/>
          </a:ln>
        </p:spPr>
      </p:sp>
      <p:sp>
        <p:nvSpPr>
          <p:cNvPr id="21" name="Text 19"/>
          <p:cNvSpPr txBox="1"/>
          <p:nvPr/>
        </p:nvSpPr>
        <p:spPr>
          <a:xfrm>
            <a:off x="502920" y="4882896"/>
            <a:ext cx="621792" cy="621792"/>
          </a:xfrm>
          <a:prstGeom prst="rect">
            <a:avLst/>
          </a:prstGeom>
          <a:noFill/>
          <a:ln/>
        </p:spPr>
        <p:txBody>
          <a:bodyPr wrap="square" lIns="0" tIns="0" rIns="0" bIns="0" rtlCol="0" anchor="ctr"/>
          <a:lstStyle/>
          <a:p>
            <a:pPr marL="0" indent="0" algn="ctr">
              <a:buNone/>
            </a:pPr>
            <a:r>
              <a:rPr lang="en-US" sz="1800" b="1" dirty="0">
                <a:solidFill>
                  <a:srgbClr val="1E4FFF"/>
                </a:solidFill>
                <a:latin typeface="Arial" pitchFamily="34" charset="0"/>
                <a:ea typeface="Arial" pitchFamily="34" charset="-122"/>
                <a:cs typeface="Arial" pitchFamily="34" charset="-120"/>
              </a:rPr>
              <a:t>!</a:t>
            </a:r>
            <a:endParaRPr lang="en-US" sz="1800" dirty="0"/>
          </a:p>
        </p:txBody>
      </p:sp>
      <p:sp>
        <p:nvSpPr>
          <p:cNvPr id="22" name="Text 20"/>
          <p:cNvSpPr txBox="1"/>
          <p:nvPr/>
        </p:nvSpPr>
        <p:spPr>
          <a:xfrm>
            <a:off x="1490472" y="4828032"/>
            <a:ext cx="10198303" cy="310896"/>
          </a:xfrm>
          <a:prstGeom prst="rect">
            <a:avLst/>
          </a:prstGeom>
          <a:noFill/>
          <a:ln/>
        </p:spPr>
        <p:txBody>
          <a:bodyPr wrap="square" lIns="0" tIns="0" rIns="0" bIns="0" rtlCol="0" anchor="t"/>
          <a:lstStyle/>
          <a:p>
            <a:r>
              <a:rPr lang="en-US" sz="1700" b="1" dirty="0">
                <a:latin typeface="Arial" pitchFamily="34" charset="0"/>
                <a:ea typeface="Arial" pitchFamily="34" charset="-122"/>
                <a:cs typeface="Arial" pitchFamily="34" charset="-120"/>
              </a:rPr>
              <a:t>That access is the whole point — </a:t>
            </a:r>
            <a:r>
              <a:rPr lang="en-US" sz="1700" b="1" dirty="0" err="1">
                <a:latin typeface="Arial" pitchFamily="34" charset="0"/>
                <a:ea typeface="Arial" pitchFamily="34" charset="-122"/>
                <a:cs typeface="Arial" pitchFamily="34" charset="-120"/>
              </a:rPr>
              <a:t>and</a:t>
            </a:r>
            <a:r>
              <a:rPr lang="en-US" sz="1700" b="1" dirty="0" err="1">
                <a:solidFill>
                  <a:srgbClr val="FFFFFF"/>
                </a:solidFill>
                <a:latin typeface="Arial" pitchFamily="34" charset="0"/>
                <a:ea typeface="Arial" pitchFamily="34" charset="-122"/>
                <a:cs typeface="Arial" pitchFamily="34" charset="-120"/>
              </a:rPr>
              <a:t>he</a:t>
            </a:r>
            <a:r>
              <a:rPr lang="en-US" sz="1700" b="1" dirty="0">
                <a:latin typeface="Arial" pitchFamily="34" charset="0"/>
                <a:ea typeface="Arial" pitchFamily="34" charset="-122"/>
                <a:cs typeface="Arial" pitchFamily="34" charset="-120"/>
              </a:rPr>
              <a:t> the Whole </a:t>
            </a:r>
            <a:r>
              <a:rPr lang="en-US" sz="1700" b="1" dirty="0" err="1">
                <a:latin typeface="Arial" pitchFamily="34" charset="0"/>
                <a:ea typeface="Arial" pitchFamily="34" charset="-122"/>
                <a:cs typeface="Arial" pitchFamily="34" charset="-120"/>
              </a:rPr>
              <a:t>Risk</a:t>
            </a:r>
            <a:r>
              <a:rPr lang="en-US" sz="1700" b="1" dirty="0" err="1">
                <a:solidFill>
                  <a:srgbClr val="FFFFFF"/>
                </a:solidFill>
                <a:latin typeface="Arial" pitchFamily="34" charset="0"/>
                <a:ea typeface="Arial" pitchFamily="34" charset="-122"/>
                <a:cs typeface="Arial" pitchFamily="34" charset="-120"/>
              </a:rPr>
              <a:t>he</a:t>
            </a:r>
            <a:r>
              <a:rPr lang="en-US" sz="1700" b="1" dirty="0">
                <a:solidFill>
                  <a:srgbClr val="FFFFFF"/>
                </a:solidFill>
                <a:latin typeface="Arial" pitchFamily="34" charset="0"/>
                <a:ea typeface="Arial" pitchFamily="34" charset="-122"/>
                <a:cs typeface="Arial" pitchFamily="34" charset="-120"/>
              </a:rPr>
              <a:t> whole risk.</a:t>
            </a:r>
            <a:endParaRPr lang="en-US" sz="1700" dirty="0"/>
          </a:p>
        </p:txBody>
      </p:sp>
      <p:sp>
        <p:nvSpPr>
          <p:cNvPr id="23" name="Text 21"/>
          <p:cNvSpPr txBox="1"/>
          <p:nvPr/>
        </p:nvSpPr>
        <p:spPr>
          <a:xfrm>
            <a:off x="1490472" y="5157216"/>
            <a:ext cx="10198303" cy="896112"/>
          </a:xfrm>
          <a:prstGeom prst="rect">
            <a:avLst/>
          </a:prstGeom>
          <a:noFill/>
          <a:ln/>
        </p:spPr>
        <p:txBody>
          <a:bodyPr wrap="square" lIns="0" tIns="0" rIns="0" bIns="0" rtlCol="0" anchor="t"/>
          <a:lstStyle/>
          <a:p>
            <a:pPr marL="0" indent="0" algn="l">
              <a:lnSpc>
                <a:spcPct val="114000"/>
              </a:lnSpc>
              <a:buNone/>
            </a:pPr>
            <a:r>
              <a:rPr lang="en-US" sz="1230" dirty="0">
                <a:latin typeface="Arial" pitchFamily="34" charset="0"/>
                <a:ea typeface="Arial" pitchFamily="34" charset="-122"/>
                <a:cs typeface="Arial" pitchFamily="34" charset="-120"/>
              </a:rPr>
              <a:t>The same permissions that let an agent book your flight also let it delete a file or send an email you didn't mean to send. Every serious guide to these tools opens with the same advice: sandbox it, limit what it can touch, and review its work before trusting it unsupervised</a:t>
            </a:r>
            <a:r>
              <a:rPr lang="en-US" sz="1230" dirty="0">
                <a:solidFill>
                  <a:srgbClr val="F2EFE7"/>
                </a:solidFill>
                <a:latin typeface="Arial" pitchFamily="34" charset="0"/>
                <a:ea typeface="Arial" pitchFamily="34" charset="-122"/>
                <a:cs typeface="Arial" pitchFamily="34" charset="-120"/>
              </a:rPr>
              <a:t>.</a:t>
            </a:r>
            <a:endParaRPr lang="en-US" sz="123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7F4EC"/>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6E6A60"/>
                </a:solidFill>
                <a:latin typeface="Arial" pitchFamily="34" charset="0"/>
                <a:ea typeface="Arial" pitchFamily="34" charset="-122"/>
                <a:cs typeface="Arial" pitchFamily="34" charset="-120"/>
              </a:rPr>
              <a:t>CLASS 1 · AI AS A BUSINESS TOOL</a:t>
            </a:r>
            <a:endParaRPr lang="en-US" sz="1050" dirty="0"/>
          </a:p>
        </p:txBody>
      </p:sp>
      <p:sp>
        <p:nvSpPr>
          <p:cNvPr id="3" name="Shape 1"/>
          <p:cNvSpPr/>
          <p:nvPr/>
        </p:nvSpPr>
        <p:spPr>
          <a:xfrm>
            <a:off x="10561320" y="256032"/>
            <a:ext cx="1170432" cy="384048"/>
          </a:xfrm>
          <a:prstGeom prst="roundRect">
            <a:avLst>
              <a:gd name="adj" fmla="val 19048"/>
            </a:avLst>
          </a:prstGeom>
          <a:solidFill>
            <a:srgbClr val="1E4FFF"/>
          </a:solidFill>
          <a:ln/>
        </p:spPr>
      </p:sp>
      <p:sp>
        <p:nvSpPr>
          <p:cNvPr id="4" name="Text 2"/>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15–20</a:t>
            </a:r>
            <a:endParaRPr lang="en-US" sz="1300" dirty="0"/>
          </a:p>
        </p:txBody>
      </p:sp>
      <p:sp>
        <p:nvSpPr>
          <p:cNvPr id="5" name="Shape 3"/>
          <p:cNvSpPr/>
          <p:nvPr/>
        </p:nvSpPr>
        <p:spPr>
          <a:xfrm>
            <a:off x="502920" y="6446520"/>
            <a:ext cx="11183112" cy="0"/>
          </a:xfrm>
          <a:prstGeom prst="line">
            <a:avLst/>
          </a:prstGeom>
          <a:noFill/>
          <a:ln w="9525">
            <a:solidFill>
              <a:srgbClr val="D8D3C5"/>
            </a:solidFill>
            <a:prstDash val="solid"/>
          </a:ln>
        </p:spPr>
      </p:sp>
      <p:sp>
        <p:nvSpPr>
          <p:cNvPr id="7" name="Text 5"/>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07</a:t>
            </a:r>
            <a:endParaRPr lang="en-US" sz="900" dirty="0"/>
          </a:p>
        </p:txBody>
      </p:sp>
      <p:sp>
        <p:nvSpPr>
          <p:cNvPr id="8" name="Text 6"/>
          <p:cNvSpPr txBox="1"/>
          <p:nvPr/>
        </p:nvSpPr>
        <p:spPr>
          <a:xfrm>
            <a:off x="502920" y="713232"/>
            <a:ext cx="10607040" cy="868680"/>
          </a:xfrm>
          <a:prstGeom prst="rect">
            <a:avLst/>
          </a:prstGeom>
          <a:noFill/>
          <a:ln/>
        </p:spPr>
        <p:txBody>
          <a:bodyPr wrap="square" lIns="0" tIns="0" rIns="0" bIns="0" rtlCol="0" anchor="ctr"/>
          <a:lstStyle/>
          <a:p>
            <a:pPr marL="0" indent="0">
              <a:lnSpc>
                <a:spcPct val="102000"/>
              </a:lnSpc>
              <a:buNone/>
            </a:pPr>
            <a:r>
              <a:rPr lang="en-US" sz="3400" b="1" dirty="0">
                <a:solidFill>
                  <a:srgbClr val="1A1A1A"/>
                </a:solidFill>
                <a:latin typeface="Arial" pitchFamily="34" charset="0"/>
                <a:ea typeface="Arial" pitchFamily="34" charset="-122"/>
                <a:cs typeface="Arial" pitchFamily="34" charset="-120"/>
              </a:rPr>
              <a:t>Six Tools Worth Knowing First</a:t>
            </a:r>
            <a:endParaRPr lang="en-US" sz="3400" dirty="0"/>
          </a:p>
        </p:txBody>
      </p:sp>
      <p:sp>
        <p:nvSpPr>
          <p:cNvPr id="9" name="Text 7"/>
          <p:cNvSpPr txBox="1"/>
          <p:nvPr/>
        </p:nvSpPr>
        <p:spPr>
          <a:xfrm>
            <a:off x="502920" y="1554480"/>
            <a:ext cx="9144000" cy="320040"/>
          </a:xfrm>
          <a:prstGeom prst="rect">
            <a:avLst/>
          </a:prstGeom>
          <a:noFill/>
          <a:ln/>
        </p:spPr>
        <p:txBody>
          <a:bodyPr wrap="square" lIns="0" tIns="0" rIns="0" bIns="0" rtlCol="0" anchor="ctr"/>
          <a:lstStyle/>
          <a:p>
            <a:pPr marL="0" indent="0">
              <a:buNone/>
            </a:pPr>
            <a:r>
              <a:rPr lang="en-US" sz="1350" i="1" dirty="0">
                <a:solidFill>
                  <a:srgbClr val="6E6A60"/>
                </a:solidFill>
                <a:latin typeface="Arial" pitchFamily="34" charset="0"/>
                <a:ea typeface="Arial" pitchFamily="34" charset="-122"/>
                <a:cs typeface="Arial" pitchFamily="34" charset="-120"/>
              </a:rPr>
              <a:t>Full profiles for these — and a dozen more — are in your handout.</a:t>
            </a:r>
            <a:endParaRPr lang="en-US" sz="1350" dirty="0"/>
          </a:p>
        </p:txBody>
      </p:sp>
      <p:sp>
        <p:nvSpPr>
          <p:cNvPr id="10" name="Shape 8"/>
          <p:cNvSpPr/>
          <p:nvPr/>
        </p:nvSpPr>
        <p:spPr>
          <a:xfrm>
            <a:off x="502920" y="2103120"/>
            <a:ext cx="1760220" cy="3246120"/>
          </a:xfrm>
          <a:prstGeom prst="roundRect">
            <a:avLst>
              <a:gd name="adj" fmla="val 3636"/>
            </a:avLst>
          </a:prstGeom>
          <a:solidFill>
            <a:srgbClr val="EDE9DE"/>
          </a:solidFill>
          <a:ln/>
        </p:spPr>
      </p:sp>
      <p:sp>
        <p:nvSpPr>
          <p:cNvPr id="11" name="Text 9"/>
          <p:cNvSpPr txBox="1"/>
          <p:nvPr/>
        </p:nvSpPr>
        <p:spPr>
          <a:xfrm>
            <a:off x="612648" y="2249424"/>
            <a:ext cx="1540764" cy="548640"/>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ChatGPT</a:t>
            </a:r>
            <a:endParaRPr lang="en-US" sz="1300" dirty="0"/>
          </a:p>
        </p:txBody>
      </p:sp>
      <p:sp>
        <p:nvSpPr>
          <p:cNvPr id="12" name="Shape 10"/>
          <p:cNvSpPr/>
          <p:nvPr/>
        </p:nvSpPr>
        <p:spPr>
          <a:xfrm>
            <a:off x="612648" y="2880360"/>
            <a:ext cx="1540764" cy="0"/>
          </a:xfrm>
          <a:prstGeom prst="line">
            <a:avLst/>
          </a:prstGeom>
          <a:noFill/>
          <a:ln w="9525">
            <a:solidFill>
              <a:srgbClr val="D8D3C5"/>
            </a:solidFill>
            <a:prstDash val="solid"/>
          </a:ln>
        </p:spPr>
      </p:sp>
      <p:sp>
        <p:nvSpPr>
          <p:cNvPr id="13" name="Text 11"/>
          <p:cNvSpPr txBox="1"/>
          <p:nvPr/>
        </p:nvSpPr>
        <p:spPr>
          <a:xfrm>
            <a:off x="612648" y="2971800"/>
            <a:ext cx="1540764" cy="201168"/>
          </a:xfrm>
          <a:prstGeom prst="rect">
            <a:avLst/>
          </a:prstGeom>
          <a:noFill/>
          <a:ln/>
        </p:spPr>
        <p:txBody>
          <a:bodyPr wrap="square" lIns="0" tIns="0" rIns="0" bIns="0" rtlCol="0" anchor="ctr"/>
          <a:lstStyle/>
          <a:p>
            <a:pPr marL="0" indent="0">
              <a:buNone/>
            </a:pPr>
            <a:r>
              <a:rPr lang="en-US" sz="800" b="1" kern="0" spc="50" dirty="0">
                <a:solidFill>
                  <a:srgbClr val="1E4FFF"/>
                </a:solidFill>
                <a:latin typeface="Arial" pitchFamily="34" charset="0"/>
                <a:ea typeface="Arial" pitchFamily="34" charset="-122"/>
                <a:cs typeface="Arial" pitchFamily="34" charset="-120"/>
              </a:rPr>
              <a:t>GOOD FOR</a:t>
            </a:r>
            <a:endParaRPr lang="en-US" sz="800" dirty="0"/>
          </a:p>
        </p:txBody>
      </p:sp>
      <p:sp>
        <p:nvSpPr>
          <p:cNvPr id="14" name="Text 12"/>
          <p:cNvSpPr txBox="1"/>
          <p:nvPr/>
        </p:nvSpPr>
        <p:spPr>
          <a:xfrm>
            <a:off x="612648" y="3182112"/>
            <a:ext cx="1540764" cy="960120"/>
          </a:xfrm>
          <a:prstGeom prst="rect">
            <a:avLst/>
          </a:prstGeom>
          <a:noFill/>
          <a:ln/>
        </p:spPr>
        <p:txBody>
          <a:bodyPr wrap="square" lIns="0" tIns="0" rIns="0" bIns="0" rtlCol="0" anchor="ctr"/>
          <a:lstStyle/>
          <a:p>
            <a:pPr marL="0" indent="0">
              <a:buNone/>
            </a:pPr>
            <a:r>
              <a:rPr lang="en-US" sz="970" dirty="0">
                <a:solidFill>
                  <a:srgbClr val="3E3B34"/>
                </a:solidFill>
                <a:latin typeface="Arial" pitchFamily="34" charset="0"/>
                <a:ea typeface="Arial" pitchFamily="34" charset="-122"/>
                <a:cs typeface="Arial" pitchFamily="34" charset="-120"/>
              </a:rPr>
              <a:t>Conversation, drafting, file-based work</a:t>
            </a:r>
            <a:endParaRPr lang="en-US" sz="970" dirty="0"/>
          </a:p>
        </p:txBody>
      </p:sp>
      <p:sp>
        <p:nvSpPr>
          <p:cNvPr id="15" name="Text 13"/>
          <p:cNvSpPr txBox="1"/>
          <p:nvPr/>
        </p:nvSpPr>
        <p:spPr>
          <a:xfrm>
            <a:off x="612648" y="4251960"/>
            <a:ext cx="1540764" cy="201168"/>
          </a:xfrm>
          <a:prstGeom prst="rect">
            <a:avLst/>
          </a:prstGeom>
          <a:noFill/>
          <a:ln/>
        </p:spPr>
        <p:txBody>
          <a:bodyPr wrap="square" lIns="0" tIns="0" rIns="0" bIns="0" rtlCol="0" anchor="ctr"/>
          <a:lstStyle/>
          <a:p>
            <a:pPr marL="0" indent="0">
              <a:buNone/>
            </a:pPr>
            <a:r>
              <a:rPr lang="en-US" sz="800" b="1" kern="0" spc="50" dirty="0">
                <a:solidFill>
                  <a:srgbClr val="6E6A60"/>
                </a:solidFill>
                <a:latin typeface="Arial" pitchFamily="34" charset="0"/>
                <a:ea typeface="Arial" pitchFamily="34" charset="-122"/>
                <a:cs typeface="Arial" pitchFamily="34" charset="-120"/>
              </a:rPr>
              <a:t>WATCH FOR</a:t>
            </a:r>
            <a:endParaRPr lang="en-US" sz="800" dirty="0"/>
          </a:p>
        </p:txBody>
      </p:sp>
      <p:sp>
        <p:nvSpPr>
          <p:cNvPr id="16" name="Text 14"/>
          <p:cNvSpPr txBox="1"/>
          <p:nvPr/>
        </p:nvSpPr>
        <p:spPr>
          <a:xfrm>
            <a:off x="612648" y="4462272"/>
            <a:ext cx="1540764" cy="822960"/>
          </a:xfrm>
          <a:prstGeom prst="rect">
            <a:avLst/>
          </a:prstGeom>
          <a:noFill/>
          <a:ln/>
        </p:spPr>
        <p:txBody>
          <a:bodyPr wrap="square" lIns="0" tIns="0" rIns="0" bIns="0" rtlCol="0" anchor="ctr"/>
          <a:lstStyle/>
          <a:p>
            <a:pPr marL="0" indent="0">
              <a:buNone/>
            </a:pPr>
            <a:r>
              <a:rPr lang="en-US" sz="930" i="1" dirty="0">
                <a:solidFill>
                  <a:srgbClr val="6E6A60"/>
                </a:solidFill>
                <a:latin typeface="Arial" pitchFamily="34" charset="0"/>
                <a:ea typeface="Arial" pitchFamily="34" charset="-122"/>
                <a:cs typeface="Arial" pitchFamily="34" charset="-120"/>
              </a:rPr>
              <a:t>Available tools vary by account and mode</a:t>
            </a:r>
            <a:endParaRPr lang="en-US" sz="930" dirty="0"/>
          </a:p>
        </p:txBody>
      </p:sp>
      <p:sp>
        <p:nvSpPr>
          <p:cNvPr id="17" name="Shape 15"/>
          <p:cNvSpPr/>
          <p:nvPr/>
        </p:nvSpPr>
        <p:spPr>
          <a:xfrm>
            <a:off x="2391156" y="2103120"/>
            <a:ext cx="1760220" cy="3246120"/>
          </a:xfrm>
          <a:prstGeom prst="roundRect">
            <a:avLst>
              <a:gd name="adj" fmla="val 3636"/>
            </a:avLst>
          </a:prstGeom>
          <a:solidFill>
            <a:srgbClr val="EDE9DE"/>
          </a:solidFill>
          <a:ln/>
        </p:spPr>
      </p:sp>
      <p:sp>
        <p:nvSpPr>
          <p:cNvPr id="18" name="Text 16"/>
          <p:cNvSpPr txBox="1"/>
          <p:nvPr/>
        </p:nvSpPr>
        <p:spPr>
          <a:xfrm>
            <a:off x="2500884" y="2249424"/>
            <a:ext cx="1540764" cy="548640"/>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Claude</a:t>
            </a:r>
            <a:endParaRPr lang="en-US" sz="1300" dirty="0"/>
          </a:p>
        </p:txBody>
      </p:sp>
      <p:sp>
        <p:nvSpPr>
          <p:cNvPr id="19" name="Shape 17"/>
          <p:cNvSpPr/>
          <p:nvPr/>
        </p:nvSpPr>
        <p:spPr>
          <a:xfrm>
            <a:off x="2500884" y="2880360"/>
            <a:ext cx="1540764" cy="0"/>
          </a:xfrm>
          <a:prstGeom prst="line">
            <a:avLst/>
          </a:prstGeom>
          <a:noFill/>
          <a:ln w="9525">
            <a:solidFill>
              <a:srgbClr val="D8D3C5"/>
            </a:solidFill>
            <a:prstDash val="solid"/>
          </a:ln>
        </p:spPr>
      </p:sp>
      <p:sp>
        <p:nvSpPr>
          <p:cNvPr id="20" name="Text 18"/>
          <p:cNvSpPr txBox="1"/>
          <p:nvPr/>
        </p:nvSpPr>
        <p:spPr>
          <a:xfrm>
            <a:off x="2500884" y="2971800"/>
            <a:ext cx="1540764" cy="201168"/>
          </a:xfrm>
          <a:prstGeom prst="rect">
            <a:avLst/>
          </a:prstGeom>
          <a:noFill/>
          <a:ln/>
        </p:spPr>
        <p:txBody>
          <a:bodyPr wrap="square" lIns="0" tIns="0" rIns="0" bIns="0" rtlCol="0" anchor="ctr"/>
          <a:lstStyle/>
          <a:p>
            <a:pPr marL="0" indent="0">
              <a:buNone/>
            </a:pPr>
            <a:r>
              <a:rPr lang="en-US" sz="800" b="1" kern="0" spc="50" dirty="0">
                <a:solidFill>
                  <a:srgbClr val="1E4FFF"/>
                </a:solidFill>
                <a:latin typeface="Arial" pitchFamily="34" charset="0"/>
                <a:ea typeface="Arial" pitchFamily="34" charset="-122"/>
                <a:cs typeface="Arial" pitchFamily="34" charset="-120"/>
              </a:rPr>
              <a:t>GOOD FOR</a:t>
            </a:r>
            <a:endParaRPr lang="en-US" sz="800" dirty="0"/>
          </a:p>
        </p:txBody>
      </p:sp>
      <p:sp>
        <p:nvSpPr>
          <p:cNvPr id="21" name="Text 19"/>
          <p:cNvSpPr txBox="1"/>
          <p:nvPr/>
        </p:nvSpPr>
        <p:spPr>
          <a:xfrm>
            <a:off x="2500884" y="3182112"/>
            <a:ext cx="1540764" cy="960120"/>
          </a:xfrm>
          <a:prstGeom prst="rect">
            <a:avLst/>
          </a:prstGeom>
          <a:noFill/>
          <a:ln/>
        </p:spPr>
        <p:txBody>
          <a:bodyPr wrap="square" lIns="0" tIns="0" rIns="0" bIns="0" rtlCol="0" anchor="ctr"/>
          <a:lstStyle/>
          <a:p>
            <a:pPr marL="0" indent="0">
              <a:buNone/>
            </a:pPr>
            <a:r>
              <a:rPr lang="en-US" sz="970" dirty="0">
                <a:solidFill>
                  <a:srgbClr val="3E3B34"/>
                </a:solidFill>
                <a:latin typeface="Arial" pitchFamily="34" charset="0"/>
                <a:ea typeface="Arial" pitchFamily="34" charset="-122"/>
                <a:cs typeface="Arial" pitchFamily="34" charset="-120"/>
              </a:rPr>
              <a:t>Long-form writing, structured revision</a:t>
            </a:r>
            <a:endParaRPr lang="en-US" sz="970" dirty="0"/>
          </a:p>
        </p:txBody>
      </p:sp>
      <p:sp>
        <p:nvSpPr>
          <p:cNvPr id="22" name="Text 20"/>
          <p:cNvSpPr txBox="1"/>
          <p:nvPr/>
        </p:nvSpPr>
        <p:spPr>
          <a:xfrm>
            <a:off x="2500884" y="4251960"/>
            <a:ext cx="1540764" cy="201168"/>
          </a:xfrm>
          <a:prstGeom prst="rect">
            <a:avLst/>
          </a:prstGeom>
          <a:noFill/>
          <a:ln/>
        </p:spPr>
        <p:txBody>
          <a:bodyPr wrap="square" lIns="0" tIns="0" rIns="0" bIns="0" rtlCol="0" anchor="ctr"/>
          <a:lstStyle/>
          <a:p>
            <a:pPr marL="0" indent="0">
              <a:buNone/>
            </a:pPr>
            <a:r>
              <a:rPr lang="en-US" sz="800" b="1" kern="0" spc="50" dirty="0">
                <a:solidFill>
                  <a:srgbClr val="6E6A60"/>
                </a:solidFill>
                <a:latin typeface="Arial" pitchFamily="34" charset="0"/>
                <a:ea typeface="Arial" pitchFamily="34" charset="-122"/>
                <a:cs typeface="Arial" pitchFamily="34" charset="-120"/>
              </a:rPr>
              <a:t>WATCH FOR</a:t>
            </a:r>
            <a:endParaRPr lang="en-US" sz="800" dirty="0"/>
          </a:p>
        </p:txBody>
      </p:sp>
      <p:sp>
        <p:nvSpPr>
          <p:cNvPr id="23" name="Text 21"/>
          <p:cNvSpPr txBox="1"/>
          <p:nvPr/>
        </p:nvSpPr>
        <p:spPr>
          <a:xfrm>
            <a:off x="2500884" y="4462272"/>
            <a:ext cx="1540764" cy="822960"/>
          </a:xfrm>
          <a:prstGeom prst="rect">
            <a:avLst/>
          </a:prstGeom>
          <a:noFill/>
          <a:ln/>
        </p:spPr>
        <p:txBody>
          <a:bodyPr wrap="square" lIns="0" tIns="0" rIns="0" bIns="0" rtlCol="0" anchor="ctr"/>
          <a:lstStyle/>
          <a:p>
            <a:pPr marL="0" indent="0">
              <a:buNone/>
            </a:pPr>
            <a:r>
              <a:rPr lang="en-US" sz="930" i="1" dirty="0">
                <a:solidFill>
                  <a:srgbClr val="6E6A60"/>
                </a:solidFill>
                <a:latin typeface="Arial" pitchFamily="34" charset="0"/>
                <a:ea typeface="Arial" pitchFamily="34" charset="-122"/>
                <a:cs typeface="Arial" pitchFamily="34" charset="-120"/>
              </a:rPr>
              <a:t>Web search must be enabled to browse</a:t>
            </a:r>
            <a:endParaRPr lang="en-US" sz="930" dirty="0"/>
          </a:p>
        </p:txBody>
      </p:sp>
      <p:sp>
        <p:nvSpPr>
          <p:cNvPr id="24" name="Shape 22"/>
          <p:cNvSpPr/>
          <p:nvPr/>
        </p:nvSpPr>
        <p:spPr>
          <a:xfrm>
            <a:off x="4279392" y="2103120"/>
            <a:ext cx="1760220" cy="3246120"/>
          </a:xfrm>
          <a:prstGeom prst="roundRect">
            <a:avLst>
              <a:gd name="adj" fmla="val 3636"/>
            </a:avLst>
          </a:prstGeom>
          <a:solidFill>
            <a:srgbClr val="EDE9DE"/>
          </a:solidFill>
          <a:ln/>
        </p:spPr>
      </p:sp>
      <p:sp>
        <p:nvSpPr>
          <p:cNvPr id="25" name="Text 23"/>
          <p:cNvSpPr txBox="1"/>
          <p:nvPr/>
        </p:nvSpPr>
        <p:spPr>
          <a:xfrm>
            <a:off x="4389120" y="2249424"/>
            <a:ext cx="1540764" cy="548640"/>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Perplexity</a:t>
            </a:r>
            <a:endParaRPr lang="en-US" sz="1300" dirty="0"/>
          </a:p>
        </p:txBody>
      </p:sp>
      <p:sp>
        <p:nvSpPr>
          <p:cNvPr id="26" name="Shape 24"/>
          <p:cNvSpPr/>
          <p:nvPr/>
        </p:nvSpPr>
        <p:spPr>
          <a:xfrm>
            <a:off x="4389120" y="2880360"/>
            <a:ext cx="1540764" cy="0"/>
          </a:xfrm>
          <a:prstGeom prst="line">
            <a:avLst/>
          </a:prstGeom>
          <a:noFill/>
          <a:ln w="9525">
            <a:solidFill>
              <a:srgbClr val="D8D3C5"/>
            </a:solidFill>
            <a:prstDash val="solid"/>
          </a:ln>
        </p:spPr>
      </p:sp>
      <p:sp>
        <p:nvSpPr>
          <p:cNvPr id="27" name="Text 25"/>
          <p:cNvSpPr txBox="1"/>
          <p:nvPr/>
        </p:nvSpPr>
        <p:spPr>
          <a:xfrm>
            <a:off x="4389120" y="2971800"/>
            <a:ext cx="1540764" cy="201168"/>
          </a:xfrm>
          <a:prstGeom prst="rect">
            <a:avLst/>
          </a:prstGeom>
          <a:noFill/>
          <a:ln/>
        </p:spPr>
        <p:txBody>
          <a:bodyPr wrap="square" lIns="0" tIns="0" rIns="0" bIns="0" rtlCol="0" anchor="ctr"/>
          <a:lstStyle/>
          <a:p>
            <a:pPr marL="0" indent="0">
              <a:buNone/>
            </a:pPr>
            <a:r>
              <a:rPr lang="en-US" sz="800" b="1" kern="0" spc="50" dirty="0">
                <a:solidFill>
                  <a:srgbClr val="1E4FFF"/>
                </a:solidFill>
                <a:latin typeface="Arial" pitchFamily="34" charset="0"/>
                <a:ea typeface="Arial" pitchFamily="34" charset="-122"/>
                <a:cs typeface="Arial" pitchFamily="34" charset="-120"/>
              </a:rPr>
              <a:t>GOOD FOR</a:t>
            </a:r>
            <a:endParaRPr lang="en-US" sz="800" dirty="0"/>
          </a:p>
        </p:txBody>
      </p:sp>
      <p:sp>
        <p:nvSpPr>
          <p:cNvPr id="28" name="Text 26"/>
          <p:cNvSpPr txBox="1"/>
          <p:nvPr/>
        </p:nvSpPr>
        <p:spPr>
          <a:xfrm>
            <a:off x="4389120" y="3182112"/>
            <a:ext cx="1540764" cy="960120"/>
          </a:xfrm>
          <a:prstGeom prst="rect">
            <a:avLst/>
          </a:prstGeom>
          <a:noFill/>
          <a:ln/>
        </p:spPr>
        <p:txBody>
          <a:bodyPr wrap="square" lIns="0" tIns="0" rIns="0" bIns="0" rtlCol="0" anchor="ctr"/>
          <a:lstStyle/>
          <a:p>
            <a:pPr marL="0" indent="0">
              <a:buNone/>
            </a:pPr>
            <a:r>
              <a:rPr lang="en-US" sz="970" dirty="0">
                <a:solidFill>
                  <a:srgbClr val="3E3B34"/>
                </a:solidFill>
                <a:latin typeface="Arial" pitchFamily="34" charset="0"/>
                <a:ea typeface="Arial" pitchFamily="34" charset="-122"/>
                <a:cs typeface="Arial" pitchFamily="34" charset="-120"/>
              </a:rPr>
              <a:t>Source-visible web answers</a:t>
            </a:r>
            <a:endParaRPr lang="en-US" sz="970" dirty="0"/>
          </a:p>
        </p:txBody>
      </p:sp>
      <p:sp>
        <p:nvSpPr>
          <p:cNvPr id="29" name="Text 27"/>
          <p:cNvSpPr txBox="1"/>
          <p:nvPr/>
        </p:nvSpPr>
        <p:spPr>
          <a:xfrm>
            <a:off x="4389120" y="4251960"/>
            <a:ext cx="1540764" cy="201168"/>
          </a:xfrm>
          <a:prstGeom prst="rect">
            <a:avLst/>
          </a:prstGeom>
          <a:noFill/>
          <a:ln/>
        </p:spPr>
        <p:txBody>
          <a:bodyPr wrap="square" lIns="0" tIns="0" rIns="0" bIns="0" rtlCol="0" anchor="ctr"/>
          <a:lstStyle/>
          <a:p>
            <a:pPr marL="0" indent="0">
              <a:buNone/>
            </a:pPr>
            <a:r>
              <a:rPr lang="en-US" sz="800" b="1" kern="0" spc="50" dirty="0">
                <a:solidFill>
                  <a:srgbClr val="6E6A60"/>
                </a:solidFill>
                <a:latin typeface="Arial" pitchFamily="34" charset="0"/>
                <a:ea typeface="Arial" pitchFamily="34" charset="-122"/>
                <a:cs typeface="Arial" pitchFamily="34" charset="-120"/>
              </a:rPr>
              <a:t>WATCH FOR</a:t>
            </a:r>
            <a:endParaRPr lang="en-US" sz="800" dirty="0"/>
          </a:p>
        </p:txBody>
      </p:sp>
      <p:sp>
        <p:nvSpPr>
          <p:cNvPr id="30" name="Text 28"/>
          <p:cNvSpPr txBox="1"/>
          <p:nvPr/>
        </p:nvSpPr>
        <p:spPr>
          <a:xfrm>
            <a:off x="4389120" y="4462272"/>
            <a:ext cx="1540764" cy="822960"/>
          </a:xfrm>
          <a:prstGeom prst="rect">
            <a:avLst/>
          </a:prstGeom>
          <a:noFill/>
          <a:ln/>
        </p:spPr>
        <p:txBody>
          <a:bodyPr wrap="square" lIns="0" tIns="0" rIns="0" bIns="0" rtlCol="0" anchor="ctr"/>
          <a:lstStyle/>
          <a:p>
            <a:pPr marL="0" indent="0">
              <a:buNone/>
            </a:pPr>
            <a:r>
              <a:rPr lang="en-US" sz="930" i="1" dirty="0">
                <a:solidFill>
                  <a:srgbClr val="6E6A60"/>
                </a:solidFill>
                <a:latin typeface="Arial" pitchFamily="34" charset="0"/>
                <a:ea typeface="Arial" pitchFamily="34" charset="-122"/>
                <a:cs typeface="Arial" pitchFamily="34" charset="-120"/>
              </a:rPr>
              <a:t>Research-mode limits vary by plan</a:t>
            </a:r>
            <a:endParaRPr lang="en-US" sz="930" dirty="0"/>
          </a:p>
        </p:txBody>
      </p:sp>
      <p:sp>
        <p:nvSpPr>
          <p:cNvPr id="31" name="Shape 29"/>
          <p:cNvSpPr/>
          <p:nvPr/>
        </p:nvSpPr>
        <p:spPr>
          <a:xfrm>
            <a:off x="6167628" y="2103120"/>
            <a:ext cx="1760220" cy="3246120"/>
          </a:xfrm>
          <a:prstGeom prst="roundRect">
            <a:avLst>
              <a:gd name="adj" fmla="val 3636"/>
            </a:avLst>
          </a:prstGeom>
          <a:solidFill>
            <a:srgbClr val="EDE9DE"/>
          </a:solidFill>
          <a:ln/>
        </p:spPr>
      </p:sp>
      <p:sp>
        <p:nvSpPr>
          <p:cNvPr id="32" name="Text 30"/>
          <p:cNvSpPr txBox="1"/>
          <p:nvPr/>
        </p:nvSpPr>
        <p:spPr>
          <a:xfrm>
            <a:off x="6277356" y="2249424"/>
            <a:ext cx="1540764" cy="548640"/>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Gemini</a:t>
            </a:r>
            <a:endParaRPr lang="en-US" sz="1300" dirty="0"/>
          </a:p>
        </p:txBody>
      </p:sp>
      <p:sp>
        <p:nvSpPr>
          <p:cNvPr id="33" name="Shape 31"/>
          <p:cNvSpPr/>
          <p:nvPr/>
        </p:nvSpPr>
        <p:spPr>
          <a:xfrm>
            <a:off x="6277356" y="2880360"/>
            <a:ext cx="1540764" cy="0"/>
          </a:xfrm>
          <a:prstGeom prst="line">
            <a:avLst/>
          </a:prstGeom>
          <a:noFill/>
          <a:ln w="9525">
            <a:solidFill>
              <a:srgbClr val="D8D3C5"/>
            </a:solidFill>
            <a:prstDash val="solid"/>
          </a:ln>
        </p:spPr>
      </p:sp>
      <p:sp>
        <p:nvSpPr>
          <p:cNvPr id="34" name="Text 32"/>
          <p:cNvSpPr txBox="1"/>
          <p:nvPr/>
        </p:nvSpPr>
        <p:spPr>
          <a:xfrm>
            <a:off x="6277356" y="2971800"/>
            <a:ext cx="1540764" cy="201168"/>
          </a:xfrm>
          <a:prstGeom prst="rect">
            <a:avLst/>
          </a:prstGeom>
          <a:noFill/>
          <a:ln/>
        </p:spPr>
        <p:txBody>
          <a:bodyPr wrap="square" lIns="0" tIns="0" rIns="0" bIns="0" rtlCol="0" anchor="ctr"/>
          <a:lstStyle/>
          <a:p>
            <a:pPr marL="0" indent="0">
              <a:buNone/>
            </a:pPr>
            <a:r>
              <a:rPr lang="en-US" sz="800" b="1" kern="0" spc="50" dirty="0">
                <a:solidFill>
                  <a:srgbClr val="1E4FFF"/>
                </a:solidFill>
                <a:latin typeface="Arial" pitchFamily="34" charset="0"/>
                <a:ea typeface="Arial" pitchFamily="34" charset="-122"/>
                <a:cs typeface="Arial" pitchFamily="34" charset="-120"/>
              </a:rPr>
              <a:t>GOOD FOR</a:t>
            </a:r>
            <a:endParaRPr lang="en-US" sz="800" dirty="0"/>
          </a:p>
        </p:txBody>
      </p:sp>
      <p:sp>
        <p:nvSpPr>
          <p:cNvPr id="35" name="Text 33"/>
          <p:cNvSpPr txBox="1"/>
          <p:nvPr/>
        </p:nvSpPr>
        <p:spPr>
          <a:xfrm>
            <a:off x="6277356" y="3182112"/>
            <a:ext cx="1540764" cy="960120"/>
          </a:xfrm>
          <a:prstGeom prst="rect">
            <a:avLst/>
          </a:prstGeom>
          <a:noFill/>
          <a:ln/>
        </p:spPr>
        <p:txBody>
          <a:bodyPr wrap="square" lIns="0" tIns="0" rIns="0" bIns="0" rtlCol="0" anchor="ctr"/>
          <a:lstStyle/>
          <a:p>
            <a:pPr marL="0" indent="0">
              <a:buNone/>
            </a:pPr>
            <a:r>
              <a:rPr lang="en-US" sz="970" dirty="0">
                <a:solidFill>
                  <a:srgbClr val="3E3B34"/>
                </a:solidFill>
                <a:latin typeface="Arial" pitchFamily="34" charset="0"/>
                <a:ea typeface="Arial" pitchFamily="34" charset="-122"/>
                <a:cs typeface="Arial" pitchFamily="34" charset="-120"/>
              </a:rPr>
              <a:t>Google-connected research, Canvas docs</a:t>
            </a:r>
            <a:endParaRPr lang="en-US" sz="970" dirty="0"/>
          </a:p>
        </p:txBody>
      </p:sp>
      <p:sp>
        <p:nvSpPr>
          <p:cNvPr id="36" name="Text 34"/>
          <p:cNvSpPr txBox="1"/>
          <p:nvPr/>
        </p:nvSpPr>
        <p:spPr>
          <a:xfrm>
            <a:off x="6277356" y="4251960"/>
            <a:ext cx="1540764" cy="201168"/>
          </a:xfrm>
          <a:prstGeom prst="rect">
            <a:avLst/>
          </a:prstGeom>
          <a:noFill/>
          <a:ln/>
        </p:spPr>
        <p:txBody>
          <a:bodyPr wrap="square" lIns="0" tIns="0" rIns="0" bIns="0" rtlCol="0" anchor="ctr"/>
          <a:lstStyle/>
          <a:p>
            <a:pPr marL="0" indent="0">
              <a:buNone/>
            </a:pPr>
            <a:r>
              <a:rPr lang="en-US" sz="800" b="1" kern="0" spc="50" dirty="0">
                <a:solidFill>
                  <a:srgbClr val="6E6A60"/>
                </a:solidFill>
                <a:latin typeface="Arial" pitchFamily="34" charset="0"/>
                <a:ea typeface="Arial" pitchFamily="34" charset="-122"/>
                <a:cs typeface="Arial" pitchFamily="34" charset="-120"/>
              </a:rPr>
              <a:t>WATCH FOR</a:t>
            </a:r>
            <a:endParaRPr lang="en-US" sz="800" dirty="0"/>
          </a:p>
        </p:txBody>
      </p:sp>
      <p:sp>
        <p:nvSpPr>
          <p:cNvPr id="37" name="Text 35"/>
          <p:cNvSpPr txBox="1"/>
          <p:nvPr/>
        </p:nvSpPr>
        <p:spPr>
          <a:xfrm>
            <a:off x="6277356" y="4462272"/>
            <a:ext cx="1540764" cy="822960"/>
          </a:xfrm>
          <a:prstGeom prst="rect">
            <a:avLst/>
          </a:prstGeom>
          <a:noFill/>
          <a:ln/>
        </p:spPr>
        <p:txBody>
          <a:bodyPr wrap="square" lIns="0" tIns="0" rIns="0" bIns="0" rtlCol="0" anchor="ctr"/>
          <a:lstStyle/>
          <a:p>
            <a:pPr marL="0" indent="0">
              <a:buNone/>
            </a:pPr>
            <a:r>
              <a:rPr lang="en-US" sz="930" i="1" dirty="0">
                <a:solidFill>
                  <a:srgbClr val="6E6A60"/>
                </a:solidFill>
                <a:latin typeface="Arial" pitchFamily="34" charset="0"/>
                <a:ea typeface="Arial" pitchFamily="34" charset="-122"/>
                <a:cs typeface="Arial" pitchFamily="34" charset="-120"/>
              </a:rPr>
              <a:t>Features vary by account and rollout</a:t>
            </a:r>
            <a:endParaRPr lang="en-US" sz="930" dirty="0"/>
          </a:p>
        </p:txBody>
      </p:sp>
      <p:sp>
        <p:nvSpPr>
          <p:cNvPr id="38" name="Shape 36"/>
          <p:cNvSpPr/>
          <p:nvPr/>
        </p:nvSpPr>
        <p:spPr>
          <a:xfrm>
            <a:off x="8055864" y="2103120"/>
            <a:ext cx="1760220" cy="3246120"/>
          </a:xfrm>
          <a:prstGeom prst="roundRect">
            <a:avLst>
              <a:gd name="adj" fmla="val 3636"/>
            </a:avLst>
          </a:prstGeom>
          <a:solidFill>
            <a:srgbClr val="EDE9DE"/>
          </a:solidFill>
          <a:ln/>
        </p:spPr>
      </p:sp>
      <p:sp>
        <p:nvSpPr>
          <p:cNvPr id="39" name="Text 37"/>
          <p:cNvSpPr txBox="1"/>
          <p:nvPr/>
        </p:nvSpPr>
        <p:spPr>
          <a:xfrm>
            <a:off x="8165592" y="2249424"/>
            <a:ext cx="1540764" cy="548640"/>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Microsoft</a:t>
            </a:r>
            <a:endParaRPr lang="en-US" sz="1300" dirty="0"/>
          </a:p>
          <a:p>
            <a:pPr marL="0" indent="0">
              <a:buNone/>
            </a:pPr>
            <a:r>
              <a:rPr lang="en-US" sz="1300" b="1" dirty="0">
                <a:solidFill>
                  <a:srgbClr val="1A1A1A"/>
                </a:solidFill>
                <a:latin typeface="Arial" pitchFamily="34" charset="0"/>
                <a:ea typeface="Arial" pitchFamily="34" charset="-122"/>
                <a:cs typeface="Arial" pitchFamily="34" charset="-120"/>
              </a:rPr>
              <a:t>Copilot</a:t>
            </a:r>
            <a:endParaRPr lang="en-US" sz="1300" dirty="0"/>
          </a:p>
        </p:txBody>
      </p:sp>
      <p:sp>
        <p:nvSpPr>
          <p:cNvPr id="40" name="Shape 38"/>
          <p:cNvSpPr/>
          <p:nvPr/>
        </p:nvSpPr>
        <p:spPr>
          <a:xfrm>
            <a:off x="8165592" y="2880360"/>
            <a:ext cx="1540764" cy="0"/>
          </a:xfrm>
          <a:prstGeom prst="line">
            <a:avLst/>
          </a:prstGeom>
          <a:noFill/>
          <a:ln w="9525">
            <a:solidFill>
              <a:srgbClr val="D8D3C5"/>
            </a:solidFill>
            <a:prstDash val="solid"/>
          </a:ln>
        </p:spPr>
      </p:sp>
      <p:sp>
        <p:nvSpPr>
          <p:cNvPr id="41" name="Text 39"/>
          <p:cNvSpPr txBox="1"/>
          <p:nvPr/>
        </p:nvSpPr>
        <p:spPr>
          <a:xfrm>
            <a:off x="8165592" y="2971800"/>
            <a:ext cx="1540764" cy="201168"/>
          </a:xfrm>
          <a:prstGeom prst="rect">
            <a:avLst/>
          </a:prstGeom>
          <a:noFill/>
          <a:ln/>
        </p:spPr>
        <p:txBody>
          <a:bodyPr wrap="square" lIns="0" tIns="0" rIns="0" bIns="0" rtlCol="0" anchor="ctr"/>
          <a:lstStyle/>
          <a:p>
            <a:pPr marL="0" indent="0">
              <a:buNone/>
            </a:pPr>
            <a:r>
              <a:rPr lang="en-US" sz="800" b="1" kern="0" spc="50" dirty="0">
                <a:solidFill>
                  <a:srgbClr val="1E4FFF"/>
                </a:solidFill>
                <a:latin typeface="Arial" pitchFamily="34" charset="0"/>
                <a:ea typeface="Arial" pitchFamily="34" charset="-122"/>
                <a:cs typeface="Arial" pitchFamily="34" charset="-120"/>
              </a:rPr>
              <a:t>GOOD FOR</a:t>
            </a:r>
            <a:endParaRPr lang="en-US" sz="800" dirty="0"/>
          </a:p>
        </p:txBody>
      </p:sp>
      <p:sp>
        <p:nvSpPr>
          <p:cNvPr id="42" name="Text 40"/>
          <p:cNvSpPr txBox="1"/>
          <p:nvPr/>
        </p:nvSpPr>
        <p:spPr>
          <a:xfrm>
            <a:off x="8165592" y="3182112"/>
            <a:ext cx="1540764" cy="960120"/>
          </a:xfrm>
          <a:prstGeom prst="rect">
            <a:avLst/>
          </a:prstGeom>
          <a:noFill/>
          <a:ln/>
        </p:spPr>
        <p:txBody>
          <a:bodyPr wrap="square" lIns="0" tIns="0" rIns="0" bIns="0" rtlCol="0" anchor="ctr"/>
          <a:lstStyle/>
          <a:p>
            <a:pPr marL="0" indent="0">
              <a:buNone/>
            </a:pPr>
            <a:r>
              <a:rPr lang="en-US" sz="970" dirty="0">
                <a:solidFill>
                  <a:srgbClr val="3E3B34"/>
                </a:solidFill>
                <a:latin typeface="Arial" pitchFamily="34" charset="0"/>
                <a:ea typeface="Arial" pitchFamily="34" charset="-122"/>
                <a:cs typeface="Arial" pitchFamily="34" charset="-120"/>
              </a:rPr>
              <a:t>Office-embedded writing, analysis, slides</a:t>
            </a:r>
            <a:endParaRPr lang="en-US" sz="970" dirty="0"/>
          </a:p>
        </p:txBody>
      </p:sp>
      <p:sp>
        <p:nvSpPr>
          <p:cNvPr id="43" name="Text 41"/>
          <p:cNvSpPr txBox="1"/>
          <p:nvPr/>
        </p:nvSpPr>
        <p:spPr>
          <a:xfrm>
            <a:off x="8165592" y="4251960"/>
            <a:ext cx="1540764" cy="201168"/>
          </a:xfrm>
          <a:prstGeom prst="rect">
            <a:avLst/>
          </a:prstGeom>
          <a:noFill/>
          <a:ln/>
        </p:spPr>
        <p:txBody>
          <a:bodyPr wrap="square" lIns="0" tIns="0" rIns="0" bIns="0" rtlCol="0" anchor="ctr"/>
          <a:lstStyle/>
          <a:p>
            <a:pPr marL="0" indent="0">
              <a:buNone/>
            </a:pPr>
            <a:r>
              <a:rPr lang="en-US" sz="800" b="1" kern="0" spc="50" dirty="0">
                <a:solidFill>
                  <a:srgbClr val="6E6A60"/>
                </a:solidFill>
                <a:latin typeface="Arial" pitchFamily="34" charset="0"/>
                <a:ea typeface="Arial" pitchFamily="34" charset="-122"/>
                <a:cs typeface="Arial" pitchFamily="34" charset="-120"/>
              </a:rPr>
              <a:t>WATCH FOR</a:t>
            </a:r>
            <a:endParaRPr lang="en-US" sz="800" dirty="0"/>
          </a:p>
        </p:txBody>
      </p:sp>
      <p:sp>
        <p:nvSpPr>
          <p:cNvPr id="44" name="Text 42"/>
          <p:cNvSpPr txBox="1"/>
          <p:nvPr/>
        </p:nvSpPr>
        <p:spPr>
          <a:xfrm>
            <a:off x="8165592" y="4462272"/>
            <a:ext cx="1540764" cy="822960"/>
          </a:xfrm>
          <a:prstGeom prst="rect">
            <a:avLst/>
          </a:prstGeom>
          <a:noFill/>
          <a:ln/>
        </p:spPr>
        <p:txBody>
          <a:bodyPr wrap="square" lIns="0" tIns="0" rIns="0" bIns="0" rtlCol="0" anchor="ctr"/>
          <a:lstStyle/>
          <a:p>
            <a:pPr marL="0" indent="0">
              <a:buNone/>
            </a:pPr>
            <a:r>
              <a:rPr lang="en-US" sz="930" i="1" dirty="0">
                <a:solidFill>
                  <a:srgbClr val="6E6A60"/>
                </a:solidFill>
                <a:latin typeface="Arial" pitchFamily="34" charset="0"/>
                <a:ea typeface="Arial" pitchFamily="34" charset="-122"/>
                <a:cs typeface="Arial" pitchFamily="34" charset="-120"/>
              </a:rPr>
              <a:t>Depth depends on your Microsoft 365 plan</a:t>
            </a:r>
            <a:endParaRPr lang="en-US" sz="930" dirty="0"/>
          </a:p>
        </p:txBody>
      </p:sp>
      <p:sp>
        <p:nvSpPr>
          <p:cNvPr id="45" name="Shape 43"/>
          <p:cNvSpPr/>
          <p:nvPr/>
        </p:nvSpPr>
        <p:spPr>
          <a:xfrm>
            <a:off x="9944100" y="2103120"/>
            <a:ext cx="1760220" cy="3246120"/>
          </a:xfrm>
          <a:prstGeom prst="roundRect">
            <a:avLst>
              <a:gd name="adj" fmla="val 3636"/>
            </a:avLst>
          </a:prstGeom>
          <a:solidFill>
            <a:srgbClr val="EDE9DE"/>
          </a:solidFill>
          <a:ln/>
        </p:spPr>
      </p:sp>
      <p:sp>
        <p:nvSpPr>
          <p:cNvPr id="46" name="Text 44"/>
          <p:cNvSpPr txBox="1"/>
          <p:nvPr/>
        </p:nvSpPr>
        <p:spPr>
          <a:xfrm>
            <a:off x="10053828" y="2249424"/>
            <a:ext cx="1540764" cy="548640"/>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NotebookLM</a:t>
            </a:r>
            <a:endParaRPr lang="en-US" sz="1300" dirty="0"/>
          </a:p>
        </p:txBody>
      </p:sp>
      <p:sp>
        <p:nvSpPr>
          <p:cNvPr id="47" name="Shape 45"/>
          <p:cNvSpPr/>
          <p:nvPr/>
        </p:nvSpPr>
        <p:spPr>
          <a:xfrm>
            <a:off x="10053828" y="2880360"/>
            <a:ext cx="1540764" cy="0"/>
          </a:xfrm>
          <a:prstGeom prst="line">
            <a:avLst/>
          </a:prstGeom>
          <a:noFill/>
          <a:ln w="9525">
            <a:solidFill>
              <a:srgbClr val="D8D3C5"/>
            </a:solidFill>
            <a:prstDash val="solid"/>
          </a:ln>
        </p:spPr>
      </p:sp>
      <p:sp>
        <p:nvSpPr>
          <p:cNvPr id="48" name="Text 46"/>
          <p:cNvSpPr txBox="1"/>
          <p:nvPr/>
        </p:nvSpPr>
        <p:spPr>
          <a:xfrm>
            <a:off x="10053828" y="2971800"/>
            <a:ext cx="1540764" cy="201168"/>
          </a:xfrm>
          <a:prstGeom prst="rect">
            <a:avLst/>
          </a:prstGeom>
          <a:noFill/>
          <a:ln/>
        </p:spPr>
        <p:txBody>
          <a:bodyPr wrap="square" lIns="0" tIns="0" rIns="0" bIns="0" rtlCol="0" anchor="ctr"/>
          <a:lstStyle/>
          <a:p>
            <a:pPr marL="0" indent="0">
              <a:buNone/>
            </a:pPr>
            <a:r>
              <a:rPr lang="en-US" sz="800" b="1" kern="0" spc="50" dirty="0">
                <a:solidFill>
                  <a:srgbClr val="1E4FFF"/>
                </a:solidFill>
                <a:latin typeface="Arial" pitchFamily="34" charset="0"/>
                <a:ea typeface="Arial" pitchFamily="34" charset="-122"/>
                <a:cs typeface="Arial" pitchFamily="34" charset="-120"/>
              </a:rPr>
              <a:t>GOOD FOR</a:t>
            </a:r>
            <a:endParaRPr lang="en-US" sz="800" dirty="0"/>
          </a:p>
        </p:txBody>
      </p:sp>
      <p:sp>
        <p:nvSpPr>
          <p:cNvPr id="49" name="Text 47"/>
          <p:cNvSpPr txBox="1"/>
          <p:nvPr/>
        </p:nvSpPr>
        <p:spPr>
          <a:xfrm>
            <a:off x="10053828" y="3182112"/>
            <a:ext cx="1540764" cy="960120"/>
          </a:xfrm>
          <a:prstGeom prst="rect">
            <a:avLst/>
          </a:prstGeom>
          <a:noFill/>
          <a:ln/>
        </p:spPr>
        <p:txBody>
          <a:bodyPr wrap="square" lIns="0" tIns="0" rIns="0" bIns="0" rtlCol="0" anchor="ctr"/>
          <a:lstStyle/>
          <a:p>
            <a:pPr marL="0" indent="0">
              <a:buNone/>
            </a:pPr>
            <a:r>
              <a:rPr lang="en-US" sz="970" dirty="0">
                <a:solidFill>
                  <a:srgbClr val="3E3B34"/>
                </a:solidFill>
                <a:latin typeface="Arial" pitchFamily="34" charset="0"/>
                <a:ea typeface="Arial" pitchFamily="34" charset="-122"/>
                <a:cs typeface="Arial" pitchFamily="34" charset="-120"/>
              </a:rPr>
              <a:t>Answers grounded only in your own sources</a:t>
            </a:r>
            <a:endParaRPr lang="en-US" sz="970" dirty="0"/>
          </a:p>
        </p:txBody>
      </p:sp>
      <p:sp>
        <p:nvSpPr>
          <p:cNvPr id="50" name="Text 48"/>
          <p:cNvSpPr txBox="1"/>
          <p:nvPr/>
        </p:nvSpPr>
        <p:spPr>
          <a:xfrm>
            <a:off x="10053828" y="4251960"/>
            <a:ext cx="1540764" cy="201168"/>
          </a:xfrm>
          <a:prstGeom prst="rect">
            <a:avLst/>
          </a:prstGeom>
          <a:noFill/>
          <a:ln/>
        </p:spPr>
        <p:txBody>
          <a:bodyPr wrap="square" lIns="0" tIns="0" rIns="0" bIns="0" rtlCol="0" anchor="ctr"/>
          <a:lstStyle/>
          <a:p>
            <a:pPr marL="0" indent="0">
              <a:buNone/>
            </a:pPr>
            <a:r>
              <a:rPr lang="en-US" sz="800" b="1" kern="0" spc="50" dirty="0">
                <a:solidFill>
                  <a:srgbClr val="6E6A60"/>
                </a:solidFill>
                <a:latin typeface="Arial" pitchFamily="34" charset="0"/>
                <a:ea typeface="Arial" pitchFamily="34" charset="-122"/>
                <a:cs typeface="Arial" pitchFamily="34" charset="-120"/>
              </a:rPr>
              <a:t>WATCH FOR</a:t>
            </a:r>
            <a:endParaRPr lang="en-US" sz="800" dirty="0"/>
          </a:p>
        </p:txBody>
      </p:sp>
      <p:sp>
        <p:nvSpPr>
          <p:cNvPr id="51" name="Text 49"/>
          <p:cNvSpPr txBox="1"/>
          <p:nvPr/>
        </p:nvSpPr>
        <p:spPr>
          <a:xfrm>
            <a:off x="10053828" y="4462272"/>
            <a:ext cx="1540764" cy="822960"/>
          </a:xfrm>
          <a:prstGeom prst="rect">
            <a:avLst/>
          </a:prstGeom>
          <a:noFill/>
          <a:ln/>
        </p:spPr>
        <p:txBody>
          <a:bodyPr wrap="square" lIns="0" tIns="0" rIns="0" bIns="0" rtlCol="0" anchor="ctr"/>
          <a:lstStyle/>
          <a:p>
            <a:pPr marL="0" indent="0">
              <a:buNone/>
            </a:pPr>
            <a:r>
              <a:rPr lang="en-US" sz="930" i="1" dirty="0">
                <a:solidFill>
                  <a:srgbClr val="6E6A60"/>
                </a:solidFill>
                <a:latin typeface="Arial" pitchFamily="34" charset="0"/>
                <a:ea typeface="Arial" pitchFamily="34" charset="-122"/>
                <a:cs typeface="Arial" pitchFamily="34" charset="-120"/>
              </a:rPr>
              <a:t>Won't reach beyond what you upload</a:t>
            </a:r>
            <a:endParaRPr lang="en-US" sz="930" dirty="0"/>
          </a:p>
        </p:txBody>
      </p:sp>
      <p:sp>
        <p:nvSpPr>
          <p:cNvPr id="52" name="Text 50"/>
          <p:cNvSpPr txBox="1"/>
          <p:nvPr/>
        </p:nvSpPr>
        <p:spPr>
          <a:xfrm>
            <a:off x="502920" y="5577840"/>
            <a:ext cx="10287000" cy="320040"/>
          </a:xfrm>
          <a:prstGeom prst="rect">
            <a:avLst/>
          </a:prstGeom>
          <a:noFill/>
          <a:ln/>
        </p:spPr>
        <p:txBody>
          <a:bodyPr wrap="square" lIns="0" tIns="0" rIns="0" bIns="0" rtlCol="0" anchor="ctr"/>
          <a:lstStyle/>
          <a:p>
            <a:pPr marL="0" indent="0">
              <a:buNone/>
            </a:pPr>
            <a:r>
              <a:rPr lang="en-US" sz="1150" dirty="0">
                <a:solidFill>
                  <a:srgbClr val="6E6A60"/>
                </a:solidFill>
                <a:latin typeface="Arial" pitchFamily="34" charset="0"/>
                <a:ea typeface="Arial" pitchFamily="34" charset="-122"/>
                <a:cs typeface="Arial" pitchFamily="34" charset="-120"/>
              </a:rPr>
              <a:t>None of these is “the best.” Match the task, then check the result — same rule as the last slide.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lgn="l">
              <a:buNone/>
            </a:pPr>
            <a:r>
              <a:rPr lang="en-US" sz="1050" b="1" kern="0" spc="200" dirty="0">
                <a:solidFill>
                  <a:srgbClr val="6E6A60"/>
                </a:solidFill>
                <a:latin typeface="Arial" pitchFamily="34" charset="0"/>
                <a:ea typeface="Arial" pitchFamily="34" charset="-122"/>
                <a:cs typeface="Arial" pitchFamily="34" charset="-120"/>
              </a:rPr>
              <a:t>AI CONCEPTS · TOOLS · CASE STUDIES</a:t>
            </a:r>
            <a:endParaRPr lang="en-US" sz="1050" dirty="0"/>
          </a:p>
        </p:txBody>
      </p:sp>
      <p:sp>
        <p:nvSpPr>
          <p:cNvPr id="3" name="Shape 1"/>
          <p:cNvSpPr/>
          <p:nvPr/>
        </p:nvSpPr>
        <p:spPr>
          <a:xfrm>
            <a:off x="9777679" y="256032"/>
            <a:ext cx="1911096" cy="384048"/>
          </a:xfrm>
          <a:prstGeom prst="roundRect">
            <a:avLst>
              <a:gd name="adj" fmla="val 21429"/>
            </a:avLst>
          </a:prstGeom>
          <a:solidFill>
            <a:srgbClr val="1E4FFF"/>
          </a:solidFill>
          <a:ln/>
        </p:spPr>
      </p:sp>
      <p:sp>
        <p:nvSpPr>
          <p:cNvPr id="4" name="Text 2"/>
          <p:cNvSpPr txBox="1"/>
          <p:nvPr/>
        </p:nvSpPr>
        <p:spPr>
          <a:xfrm>
            <a:off x="9777679" y="256032"/>
            <a:ext cx="1911096"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THE PLAYERS</a:t>
            </a:r>
            <a:endParaRPr lang="en-US" sz="1200" dirty="0"/>
          </a:p>
        </p:txBody>
      </p:sp>
      <p:sp>
        <p:nvSpPr>
          <p:cNvPr id="5" name="Shape 3"/>
          <p:cNvSpPr/>
          <p:nvPr/>
        </p:nvSpPr>
        <p:spPr>
          <a:xfrm>
            <a:off x="502920" y="6446520"/>
            <a:ext cx="11185855" cy="0"/>
          </a:xfrm>
          <a:prstGeom prst="line">
            <a:avLst/>
          </a:prstGeom>
          <a:noFill/>
          <a:ln w="9525">
            <a:solidFill>
              <a:srgbClr val="D8D3C5"/>
            </a:solidFill>
            <a:prstDash val="solid"/>
          </a:ln>
        </p:spPr>
      </p:sp>
      <p:sp>
        <p:nvSpPr>
          <p:cNvPr id="6" name="Text 4"/>
          <p:cNvSpPr txBox="1"/>
          <p:nvPr/>
        </p:nvSpPr>
        <p:spPr>
          <a:xfrm>
            <a:off x="502920" y="6492240"/>
            <a:ext cx="7315200" cy="274320"/>
          </a:xfrm>
          <a:prstGeom prst="rect">
            <a:avLst/>
          </a:prstGeom>
          <a:noFill/>
          <a:ln/>
        </p:spPr>
        <p:txBody>
          <a:bodyPr wrap="square" lIns="0" tIns="0" rIns="0" bIns="0" rtlCol="0" anchor="ctr"/>
          <a:lstStyle/>
          <a:p>
            <a:pPr marL="0" indent="0" algn="l">
              <a:buNone/>
            </a:pPr>
            <a:r>
              <a:rPr lang="en-US" sz="900" dirty="0">
                <a:solidFill>
                  <a:srgbClr val="6E6A60"/>
                </a:solidFill>
                <a:latin typeface="Arial" pitchFamily="34" charset="0"/>
                <a:ea typeface="Arial" pitchFamily="34" charset="-122"/>
                <a:cs typeface="Arial" pitchFamily="34" charset="-120"/>
              </a:rPr>
              <a:t>MEGHNA OFFICE SUPPLIES WORKSHOP  ·  IUT DHAKA</a:t>
            </a:r>
            <a:endParaRPr lang="en-US" sz="900" dirty="0"/>
          </a:p>
        </p:txBody>
      </p:sp>
      <p:sp>
        <p:nvSpPr>
          <p:cNvPr id="7" name="Text 5"/>
          <p:cNvSpPr txBox="1"/>
          <p:nvPr/>
        </p:nvSpPr>
        <p:spPr>
          <a:xfrm>
            <a:off x="10591495"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04 / 08</a:t>
            </a:r>
            <a:endParaRPr lang="en-US" sz="900" dirty="0"/>
          </a:p>
        </p:txBody>
      </p:sp>
      <p:sp>
        <p:nvSpPr>
          <p:cNvPr id="8" name="Text 6"/>
          <p:cNvSpPr txBox="1"/>
          <p:nvPr/>
        </p:nvSpPr>
        <p:spPr>
          <a:xfrm>
            <a:off x="502920" y="713232"/>
            <a:ext cx="11185855" cy="822960"/>
          </a:xfrm>
          <a:prstGeom prst="rect">
            <a:avLst/>
          </a:prstGeom>
          <a:noFill/>
          <a:ln/>
        </p:spPr>
        <p:txBody>
          <a:bodyPr wrap="square" lIns="0" tIns="0" rIns="0" bIns="0" rtlCol="0" anchor="t"/>
          <a:lstStyle/>
          <a:p>
            <a:pPr marL="0" indent="0" algn="l">
              <a:lnSpc>
                <a:spcPct val="102000"/>
              </a:lnSpc>
              <a:buNone/>
            </a:pPr>
            <a:r>
              <a:rPr lang="en-US" sz="3200" b="1" dirty="0">
                <a:solidFill>
                  <a:srgbClr val="1A1A1A"/>
                </a:solidFill>
                <a:latin typeface="Arial" pitchFamily="34" charset="0"/>
                <a:cs typeface="Arial" pitchFamily="34" charset="-120"/>
              </a:rPr>
              <a:t>SELF HOSTED AI AGENTS</a:t>
            </a:r>
            <a:endParaRPr lang="en-US" sz="3200" dirty="0"/>
          </a:p>
        </p:txBody>
      </p:sp>
      <p:sp>
        <p:nvSpPr>
          <p:cNvPr id="9" name="Text 7"/>
          <p:cNvSpPr txBox="1"/>
          <p:nvPr/>
        </p:nvSpPr>
        <p:spPr>
          <a:xfrm>
            <a:off x="502920" y="1481328"/>
            <a:ext cx="11185855" cy="365760"/>
          </a:xfrm>
          <a:prstGeom prst="rect">
            <a:avLst/>
          </a:prstGeom>
          <a:noFill/>
          <a:ln/>
        </p:spPr>
        <p:txBody>
          <a:bodyPr wrap="square" lIns="0" tIns="0" rIns="0" bIns="0" rtlCol="0" anchor="t"/>
          <a:lstStyle/>
          <a:p>
            <a:pPr marL="0" indent="0" algn="l">
              <a:buNone/>
            </a:pPr>
            <a:r>
              <a:rPr lang="en-US" sz="1350" i="1" dirty="0">
                <a:solidFill>
                  <a:srgbClr val="6E6A60"/>
                </a:solidFill>
                <a:latin typeface="Arial" pitchFamily="34" charset="0"/>
                <a:ea typeface="Arial" pitchFamily="34" charset="-122"/>
                <a:cs typeface="Arial" pitchFamily="34" charset="-120"/>
              </a:rPr>
              <a:t>Four tools putting computer-hosted AI into practice in 2026.</a:t>
            </a:r>
            <a:endParaRPr lang="en-US" sz="1350" dirty="0"/>
          </a:p>
        </p:txBody>
      </p:sp>
      <p:sp>
        <p:nvSpPr>
          <p:cNvPr id="10" name="Shape 8"/>
          <p:cNvSpPr/>
          <p:nvPr/>
        </p:nvSpPr>
        <p:spPr>
          <a:xfrm>
            <a:off x="502920" y="1965960"/>
            <a:ext cx="5432908" cy="1965960"/>
          </a:xfrm>
          <a:prstGeom prst="roundRect">
            <a:avLst>
              <a:gd name="adj" fmla="val 2791"/>
            </a:avLst>
          </a:prstGeom>
          <a:solidFill>
            <a:srgbClr val="EDE9DE"/>
          </a:solidFill>
          <a:ln w="12700">
            <a:solidFill>
              <a:srgbClr val="D8D3C5"/>
            </a:solidFill>
            <a:prstDash val="solid"/>
          </a:ln>
        </p:spPr>
      </p:sp>
      <p:sp>
        <p:nvSpPr>
          <p:cNvPr id="11" name="Text 9"/>
          <p:cNvSpPr txBox="1"/>
          <p:nvPr/>
        </p:nvSpPr>
        <p:spPr>
          <a:xfrm>
            <a:off x="740664" y="2130552"/>
            <a:ext cx="4957420" cy="292608"/>
          </a:xfrm>
          <a:prstGeom prst="rect">
            <a:avLst/>
          </a:prstGeom>
          <a:noFill/>
          <a:ln/>
        </p:spPr>
        <p:txBody>
          <a:bodyPr wrap="square" lIns="0" tIns="0" rIns="0" bIns="0" rtlCol="0" anchor="t"/>
          <a:lstStyle/>
          <a:p>
            <a:pPr marL="0" indent="0" algn="l">
              <a:buNone/>
            </a:pPr>
            <a:r>
              <a:rPr lang="en-US" sz="1500" b="1" dirty="0">
                <a:solidFill>
                  <a:srgbClr val="1A1A1A"/>
                </a:solidFill>
                <a:latin typeface="Arial" pitchFamily="34" charset="0"/>
                <a:ea typeface="Arial" pitchFamily="34" charset="-122"/>
                <a:cs typeface="Arial" pitchFamily="34" charset="-120"/>
              </a:rPr>
              <a:t>OpenClaw</a:t>
            </a:r>
            <a:endParaRPr lang="en-US" sz="1500" dirty="0"/>
          </a:p>
        </p:txBody>
      </p:sp>
      <p:sp>
        <p:nvSpPr>
          <p:cNvPr id="12" name="Text 10"/>
          <p:cNvSpPr txBox="1"/>
          <p:nvPr/>
        </p:nvSpPr>
        <p:spPr>
          <a:xfrm>
            <a:off x="740664" y="2423160"/>
            <a:ext cx="4957420" cy="237744"/>
          </a:xfrm>
          <a:prstGeom prst="rect">
            <a:avLst/>
          </a:prstGeom>
          <a:noFill/>
          <a:ln/>
        </p:spPr>
        <p:txBody>
          <a:bodyPr wrap="square" lIns="0" tIns="0" rIns="0" bIns="0" rtlCol="0" anchor="t"/>
          <a:lstStyle/>
          <a:p>
            <a:pPr marL="0" indent="0" algn="l">
              <a:buNone/>
            </a:pPr>
            <a:r>
              <a:rPr lang="en-US" sz="950" b="1" kern="0" spc="50" dirty="0">
                <a:solidFill>
                  <a:srgbClr val="6E6A60"/>
                </a:solidFill>
                <a:latin typeface="Arial" pitchFamily="34" charset="0"/>
                <a:ea typeface="Arial" pitchFamily="34" charset="-122"/>
                <a:cs typeface="Arial" pitchFamily="34" charset="-120"/>
              </a:rPr>
              <a:t>OPEN-SOURCE · RUNS ON YOUR COMPUTER</a:t>
            </a:r>
            <a:endParaRPr lang="en-US" sz="950" dirty="0"/>
          </a:p>
        </p:txBody>
      </p:sp>
      <p:sp>
        <p:nvSpPr>
          <p:cNvPr id="13" name="Text 11"/>
          <p:cNvSpPr txBox="1"/>
          <p:nvPr/>
        </p:nvSpPr>
        <p:spPr>
          <a:xfrm>
            <a:off x="740664" y="2679192"/>
            <a:ext cx="4957420" cy="329184"/>
          </a:xfrm>
          <a:prstGeom prst="rect">
            <a:avLst/>
          </a:prstGeom>
          <a:noFill/>
          <a:ln/>
        </p:spPr>
        <p:txBody>
          <a:bodyPr wrap="square" lIns="0" tIns="0" rIns="0" bIns="0" rtlCol="0" anchor="t"/>
          <a:lstStyle/>
          <a:p>
            <a:pPr marL="0" indent="0" algn="l">
              <a:lnSpc>
                <a:spcPct val="108000"/>
              </a:lnSpc>
              <a:buNone/>
            </a:pPr>
            <a:r>
              <a:rPr lang="en-US" sz="1000" b="1" dirty="0">
                <a:solidFill>
                  <a:srgbClr val="1E4FFF"/>
                </a:solidFill>
                <a:latin typeface="Arial" pitchFamily="34" charset="0"/>
                <a:ea typeface="Arial" pitchFamily="34" charset="-122"/>
                <a:cs typeface="Arial" pitchFamily="34" charset="-120"/>
              </a:rPr>
              <a:t>Free software (you separately pay for the AI model it calls, e.g. Claude or GPT)</a:t>
            </a:r>
            <a:endParaRPr lang="en-US" sz="1000" dirty="0"/>
          </a:p>
        </p:txBody>
      </p:sp>
      <p:sp>
        <p:nvSpPr>
          <p:cNvPr id="14" name="Text 12"/>
          <p:cNvSpPr txBox="1"/>
          <p:nvPr/>
        </p:nvSpPr>
        <p:spPr>
          <a:xfrm>
            <a:off x="740664" y="3044952"/>
            <a:ext cx="4957420" cy="758952"/>
          </a:xfrm>
          <a:prstGeom prst="rect">
            <a:avLst/>
          </a:prstGeom>
          <a:noFill/>
          <a:ln/>
        </p:spPr>
        <p:txBody>
          <a:bodyPr wrap="square" lIns="0" tIns="0" rIns="0" bIns="0" rtlCol="0" anchor="t"/>
          <a:lstStyle/>
          <a:p>
            <a:pPr marL="0" indent="0" algn="l">
              <a:lnSpc>
                <a:spcPct val="110000"/>
              </a:lnSpc>
              <a:buNone/>
            </a:pPr>
            <a:r>
              <a:rPr lang="en-US" sz="1000" dirty="0">
                <a:solidFill>
                  <a:srgbClr val="262626"/>
                </a:solidFill>
                <a:latin typeface="Arial" pitchFamily="34" charset="0"/>
                <a:ea typeface="Arial" pitchFamily="34" charset="-122"/>
                <a:cs typeface="Arial" pitchFamily="34" charset="-120"/>
              </a:rPr>
              <a:t>Built by one developer in late 2025 and now one of the fastest-growing open-source projects ever. Controlled through WhatsApp, Telegram, Discord or Signal, it can read and write files, use your browser while logged in as you, and run terminal commands — fully unsupervised once set up.</a:t>
            </a:r>
            <a:endParaRPr lang="en-US" sz="1000" dirty="0"/>
          </a:p>
        </p:txBody>
      </p:sp>
      <p:sp>
        <p:nvSpPr>
          <p:cNvPr id="15" name="Shape 13"/>
          <p:cNvSpPr/>
          <p:nvPr/>
        </p:nvSpPr>
        <p:spPr>
          <a:xfrm>
            <a:off x="6255868" y="1965960"/>
            <a:ext cx="5432908" cy="1965960"/>
          </a:xfrm>
          <a:prstGeom prst="roundRect">
            <a:avLst>
              <a:gd name="adj" fmla="val 2791"/>
            </a:avLst>
          </a:prstGeom>
          <a:solidFill>
            <a:srgbClr val="EDE9DE"/>
          </a:solidFill>
          <a:ln w="12700">
            <a:solidFill>
              <a:srgbClr val="D8D3C5"/>
            </a:solidFill>
            <a:prstDash val="solid"/>
          </a:ln>
        </p:spPr>
      </p:sp>
      <p:sp>
        <p:nvSpPr>
          <p:cNvPr id="16" name="Text 14"/>
          <p:cNvSpPr txBox="1"/>
          <p:nvPr/>
        </p:nvSpPr>
        <p:spPr>
          <a:xfrm>
            <a:off x="6493612" y="2130552"/>
            <a:ext cx="4957420" cy="292608"/>
          </a:xfrm>
          <a:prstGeom prst="rect">
            <a:avLst/>
          </a:prstGeom>
          <a:noFill/>
          <a:ln/>
        </p:spPr>
        <p:txBody>
          <a:bodyPr wrap="square" lIns="0" tIns="0" rIns="0" bIns="0" rtlCol="0" anchor="t"/>
          <a:lstStyle/>
          <a:p>
            <a:pPr marL="0" indent="0" algn="l">
              <a:buNone/>
            </a:pPr>
            <a:r>
              <a:rPr lang="en-US" sz="1500" b="1" dirty="0">
                <a:solidFill>
                  <a:srgbClr val="1A1A1A"/>
                </a:solidFill>
                <a:latin typeface="Arial" pitchFamily="34" charset="0"/>
                <a:ea typeface="Arial" pitchFamily="34" charset="-122"/>
                <a:cs typeface="Arial" pitchFamily="34" charset="-120"/>
              </a:rPr>
              <a:t>Perplexity Computer</a:t>
            </a:r>
            <a:endParaRPr lang="en-US" sz="1500" dirty="0"/>
          </a:p>
        </p:txBody>
      </p:sp>
      <p:sp>
        <p:nvSpPr>
          <p:cNvPr id="17" name="Text 15"/>
          <p:cNvSpPr txBox="1"/>
          <p:nvPr/>
        </p:nvSpPr>
        <p:spPr>
          <a:xfrm>
            <a:off x="6493612" y="2423160"/>
            <a:ext cx="4957420" cy="237744"/>
          </a:xfrm>
          <a:prstGeom prst="rect">
            <a:avLst/>
          </a:prstGeom>
          <a:noFill/>
          <a:ln/>
        </p:spPr>
        <p:txBody>
          <a:bodyPr wrap="square" lIns="0" tIns="0" rIns="0" bIns="0" rtlCol="0" anchor="t"/>
          <a:lstStyle/>
          <a:p>
            <a:pPr marL="0" indent="0" algn="l">
              <a:buNone/>
            </a:pPr>
            <a:r>
              <a:rPr lang="en-US" sz="950" b="1" kern="0" spc="50" dirty="0">
                <a:solidFill>
                  <a:srgbClr val="6E6A60"/>
                </a:solidFill>
                <a:latin typeface="Arial" pitchFamily="34" charset="0"/>
                <a:ea typeface="Arial" pitchFamily="34" charset="-122"/>
                <a:cs typeface="Arial" pitchFamily="34" charset="-120"/>
              </a:rPr>
              <a:t>CLOUD-HOSTED · MAX SUBSCRIBERS ONLY</a:t>
            </a:r>
            <a:endParaRPr lang="en-US" sz="950" dirty="0"/>
          </a:p>
        </p:txBody>
      </p:sp>
      <p:sp>
        <p:nvSpPr>
          <p:cNvPr id="18" name="Text 16"/>
          <p:cNvSpPr txBox="1"/>
          <p:nvPr/>
        </p:nvSpPr>
        <p:spPr>
          <a:xfrm>
            <a:off x="6493612" y="2679192"/>
            <a:ext cx="4957420" cy="329184"/>
          </a:xfrm>
          <a:prstGeom prst="rect">
            <a:avLst/>
          </a:prstGeom>
          <a:noFill/>
          <a:ln/>
        </p:spPr>
        <p:txBody>
          <a:bodyPr wrap="square" lIns="0" tIns="0" rIns="0" bIns="0" rtlCol="0" anchor="t"/>
          <a:lstStyle/>
          <a:p>
            <a:pPr marL="0" indent="0" algn="l">
              <a:lnSpc>
                <a:spcPct val="108000"/>
              </a:lnSpc>
              <a:buNone/>
            </a:pPr>
            <a:r>
              <a:rPr lang="en-US" sz="1000" b="1" dirty="0">
                <a:solidFill>
                  <a:srgbClr val="1E4FFF"/>
                </a:solidFill>
                <a:latin typeface="Arial" pitchFamily="34" charset="0"/>
                <a:ea typeface="Arial" pitchFamily="34" charset="-122"/>
                <a:cs typeface="Arial" pitchFamily="34" charset="-120"/>
              </a:rPr>
              <a:t>$200/month — no free tier, no trial</a:t>
            </a:r>
            <a:endParaRPr lang="en-US" sz="1000" dirty="0"/>
          </a:p>
        </p:txBody>
      </p:sp>
      <p:sp>
        <p:nvSpPr>
          <p:cNvPr id="19" name="Text 17"/>
          <p:cNvSpPr txBox="1"/>
          <p:nvPr/>
        </p:nvSpPr>
        <p:spPr>
          <a:xfrm>
            <a:off x="6493612" y="3044952"/>
            <a:ext cx="4957420" cy="758952"/>
          </a:xfrm>
          <a:prstGeom prst="rect">
            <a:avLst/>
          </a:prstGeom>
          <a:noFill/>
          <a:ln/>
        </p:spPr>
        <p:txBody>
          <a:bodyPr wrap="square" lIns="0" tIns="0" rIns="0" bIns="0" rtlCol="0" anchor="t"/>
          <a:lstStyle/>
          <a:p>
            <a:pPr marL="0" indent="0" algn="l">
              <a:lnSpc>
                <a:spcPct val="110000"/>
              </a:lnSpc>
              <a:buNone/>
            </a:pPr>
            <a:r>
              <a:rPr lang="en-US" sz="1000" dirty="0">
                <a:solidFill>
                  <a:srgbClr val="262626"/>
                </a:solidFill>
                <a:latin typeface="Arial" pitchFamily="34" charset="0"/>
                <a:ea typeface="Arial" pitchFamily="34" charset="-122"/>
                <a:cs typeface="Arial" pitchFamily="34" charset="-120"/>
              </a:rPr>
              <a:t>Launched February 2026. Describe an outcome, and it orchestrates roughly 19 different AI models across an isolated cloud sandbox — browser, files, terminal — to research, write, and build for hours or even months at a time.</a:t>
            </a:r>
            <a:endParaRPr lang="en-US" sz="1000" dirty="0"/>
          </a:p>
        </p:txBody>
      </p:sp>
      <p:sp>
        <p:nvSpPr>
          <p:cNvPr id="20" name="Shape 18"/>
          <p:cNvSpPr/>
          <p:nvPr/>
        </p:nvSpPr>
        <p:spPr>
          <a:xfrm>
            <a:off x="502920" y="4187952"/>
            <a:ext cx="5432908" cy="1965960"/>
          </a:xfrm>
          <a:prstGeom prst="roundRect">
            <a:avLst>
              <a:gd name="adj" fmla="val 2791"/>
            </a:avLst>
          </a:prstGeom>
          <a:solidFill>
            <a:srgbClr val="EDE9DE"/>
          </a:solidFill>
          <a:ln w="12700">
            <a:solidFill>
              <a:srgbClr val="D8D3C5"/>
            </a:solidFill>
            <a:prstDash val="solid"/>
          </a:ln>
        </p:spPr>
      </p:sp>
      <p:sp>
        <p:nvSpPr>
          <p:cNvPr id="21" name="Text 19"/>
          <p:cNvSpPr txBox="1"/>
          <p:nvPr/>
        </p:nvSpPr>
        <p:spPr>
          <a:xfrm>
            <a:off x="740664" y="4352544"/>
            <a:ext cx="4957420" cy="292608"/>
          </a:xfrm>
          <a:prstGeom prst="rect">
            <a:avLst/>
          </a:prstGeom>
          <a:noFill/>
          <a:ln/>
        </p:spPr>
        <p:txBody>
          <a:bodyPr wrap="square" lIns="0" tIns="0" rIns="0" bIns="0" rtlCol="0" anchor="t"/>
          <a:lstStyle/>
          <a:p>
            <a:pPr marL="0" indent="0" algn="l">
              <a:buNone/>
            </a:pPr>
            <a:r>
              <a:rPr lang="en-US" sz="1500" b="1" dirty="0">
                <a:solidFill>
                  <a:srgbClr val="1A1A1A"/>
                </a:solidFill>
                <a:latin typeface="Arial" pitchFamily="34" charset="0"/>
                <a:ea typeface="Arial" pitchFamily="34" charset="-122"/>
                <a:cs typeface="Arial" pitchFamily="34" charset="-120"/>
              </a:rPr>
              <a:t>Claude Cowork</a:t>
            </a:r>
            <a:endParaRPr lang="en-US" sz="1500" dirty="0"/>
          </a:p>
        </p:txBody>
      </p:sp>
      <p:sp>
        <p:nvSpPr>
          <p:cNvPr id="22" name="Text 20"/>
          <p:cNvSpPr txBox="1"/>
          <p:nvPr/>
        </p:nvSpPr>
        <p:spPr>
          <a:xfrm>
            <a:off x="740664" y="4645152"/>
            <a:ext cx="4957420" cy="237744"/>
          </a:xfrm>
          <a:prstGeom prst="rect">
            <a:avLst/>
          </a:prstGeom>
          <a:noFill/>
          <a:ln/>
        </p:spPr>
        <p:txBody>
          <a:bodyPr wrap="square" lIns="0" tIns="0" rIns="0" bIns="0" rtlCol="0" anchor="t"/>
          <a:lstStyle/>
          <a:p>
            <a:pPr marL="0" indent="0" algn="l">
              <a:buNone/>
            </a:pPr>
            <a:r>
              <a:rPr lang="en-US" sz="950" b="1" kern="0" spc="50" dirty="0">
                <a:solidFill>
                  <a:srgbClr val="6E6A60"/>
                </a:solidFill>
                <a:latin typeface="Arial" pitchFamily="34" charset="0"/>
                <a:ea typeface="Arial" pitchFamily="34" charset="-122"/>
                <a:cs typeface="Arial" pitchFamily="34" charset="-120"/>
              </a:rPr>
              <a:t>ANTHROPIC · RUNS ON YOUR DESKTOP</a:t>
            </a:r>
            <a:endParaRPr lang="en-US" sz="950" dirty="0"/>
          </a:p>
        </p:txBody>
      </p:sp>
      <p:sp>
        <p:nvSpPr>
          <p:cNvPr id="23" name="Text 21"/>
          <p:cNvSpPr txBox="1"/>
          <p:nvPr/>
        </p:nvSpPr>
        <p:spPr>
          <a:xfrm>
            <a:off x="740664" y="4901184"/>
            <a:ext cx="4957420" cy="329184"/>
          </a:xfrm>
          <a:prstGeom prst="rect">
            <a:avLst/>
          </a:prstGeom>
          <a:noFill/>
          <a:ln/>
        </p:spPr>
        <p:txBody>
          <a:bodyPr wrap="square" lIns="0" tIns="0" rIns="0" bIns="0" rtlCol="0" anchor="t"/>
          <a:lstStyle/>
          <a:p>
            <a:pPr marL="0" indent="0" algn="l">
              <a:lnSpc>
                <a:spcPct val="108000"/>
              </a:lnSpc>
              <a:buNone/>
            </a:pPr>
            <a:r>
              <a:rPr lang="en-US" sz="1000" b="1" dirty="0">
                <a:solidFill>
                  <a:srgbClr val="1E4FFF"/>
                </a:solidFill>
                <a:latin typeface="Arial" pitchFamily="34" charset="0"/>
                <a:ea typeface="Arial" pitchFamily="34" charset="-122"/>
                <a:cs typeface="Arial" pitchFamily="34" charset="-120"/>
              </a:rPr>
              <a:t>Included with a Claude subscription</a:t>
            </a:r>
            <a:endParaRPr lang="en-US" sz="1000" dirty="0"/>
          </a:p>
        </p:txBody>
      </p:sp>
      <p:sp>
        <p:nvSpPr>
          <p:cNvPr id="24" name="Text 22"/>
          <p:cNvSpPr txBox="1"/>
          <p:nvPr/>
        </p:nvSpPr>
        <p:spPr>
          <a:xfrm>
            <a:off x="740664" y="5266944"/>
            <a:ext cx="4957420" cy="758952"/>
          </a:xfrm>
          <a:prstGeom prst="rect">
            <a:avLst/>
          </a:prstGeom>
          <a:noFill/>
          <a:ln/>
        </p:spPr>
        <p:txBody>
          <a:bodyPr wrap="square" lIns="0" tIns="0" rIns="0" bIns="0" rtlCol="0" anchor="t"/>
          <a:lstStyle/>
          <a:p>
            <a:pPr marL="0" indent="0" algn="l">
              <a:lnSpc>
                <a:spcPct val="110000"/>
              </a:lnSpc>
              <a:buNone/>
            </a:pPr>
            <a:r>
              <a:rPr lang="en-US" sz="1000" dirty="0">
                <a:solidFill>
                  <a:srgbClr val="262626"/>
                </a:solidFill>
                <a:latin typeface="Arial" pitchFamily="34" charset="0"/>
                <a:ea typeface="Arial" pitchFamily="34" charset="-122"/>
                <a:cs typeface="Arial" pitchFamily="34" charset="-120"/>
              </a:rPr>
              <a:t>A sandboxed desktop AI that works across your local files and apps to handle multi-step tasks — built with Anthropic's own safety guardrails, aimed at people who want automation without leaving their usual desktop environment.</a:t>
            </a:r>
            <a:endParaRPr lang="en-US" sz="1000" dirty="0"/>
          </a:p>
        </p:txBody>
      </p:sp>
      <p:sp>
        <p:nvSpPr>
          <p:cNvPr id="25" name="Shape 23"/>
          <p:cNvSpPr/>
          <p:nvPr/>
        </p:nvSpPr>
        <p:spPr>
          <a:xfrm>
            <a:off x="6255868" y="4187952"/>
            <a:ext cx="5432908" cy="1965960"/>
          </a:xfrm>
          <a:prstGeom prst="roundRect">
            <a:avLst>
              <a:gd name="adj" fmla="val 2791"/>
            </a:avLst>
          </a:prstGeom>
          <a:solidFill>
            <a:srgbClr val="EDE9DE"/>
          </a:solidFill>
          <a:ln w="12700">
            <a:solidFill>
              <a:srgbClr val="D8D3C5"/>
            </a:solidFill>
            <a:prstDash val="solid"/>
          </a:ln>
        </p:spPr>
      </p:sp>
      <p:sp>
        <p:nvSpPr>
          <p:cNvPr id="26" name="Text 24"/>
          <p:cNvSpPr txBox="1"/>
          <p:nvPr/>
        </p:nvSpPr>
        <p:spPr>
          <a:xfrm>
            <a:off x="6493612" y="4352544"/>
            <a:ext cx="4957420" cy="292608"/>
          </a:xfrm>
          <a:prstGeom prst="rect">
            <a:avLst/>
          </a:prstGeom>
          <a:noFill/>
          <a:ln/>
        </p:spPr>
        <p:txBody>
          <a:bodyPr wrap="square" lIns="0" tIns="0" rIns="0" bIns="0" rtlCol="0" anchor="t"/>
          <a:lstStyle/>
          <a:p>
            <a:pPr marL="0" indent="0" algn="l">
              <a:buNone/>
            </a:pPr>
            <a:r>
              <a:rPr lang="en-US" sz="1500" b="1" dirty="0">
                <a:solidFill>
                  <a:srgbClr val="1A1A1A"/>
                </a:solidFill>
                <a:latin typeface="Arial" pitchFamily="34" charset="0"/>
                <a:ea typeface="Arial" pitchFamily="34" charset="-122"/>
                <a:cs typeface="Arial" pitchFamily="34" charset="-120"/>
              </a:rPr>
              <a:t>Manus</a:t>
            </a:r>
            <a:endParaRPr lang="en-US" sz="1500" dirty="0"/>
          </a:p>
        </p:txBody>
      </p:sp>
      <p:sp>
        <p:nvSpPr>
          <p:cNvPr id="27" name="Text 25"/>
          <p:cNvSpPr txBox="1"/>
          <p:nvPr/>
        </p:nvSpPr>
        <p:spPr>
          <a:xfrm>
            <a:off x="6493612" y="4645152"/>
            <a:ext cx="4957420" cy="237744"/>
          </a:xfrm>
          <a:prstGeom prst="rect">
            <a:avLst/>
          </a:prstGeom>
          <a:noFill/>
          <a:ln/>
        </p:spPr>
        <p:txBody>
          <a:bodyPr wrap="square" lIns="0" tIns="0" rIns="0" bIns="0" rtlCol="0" anchor="t"/>
          <a:lstStyle/>
          <a:p>
            <a:pPr marL="0" indent="0" algn="l">
              <a:buNone/>
            </a:pPr>
            <a:r>
              <a:rPr lang="en-US" sz="950" b="1" kern="0" spc="50" dirty="0">
                <a:solidFill>
                  <a:srgbClr val="6E6A60"/>
                </a:solidFill>
                <a:latin typeface="Arial" pitchFamily="34" charset="0"/>
                <a:ea typeface="Arial" pitchFamily="34" charset="-122"/>
                <a:cs typeface="Arial" pitchFamily="34" charset="-120"/>
              </a:rPr>
              <a:t>CLOUD SANDBOX AGENT</a:t>
            </a:r>
            <a:endParaRPr lang="en-US" sz="950" dirty="0"/>
          </a:p>
        </p:txBody>
      </p:sp>
      <p:sp>
        <p:nvSpPr>
          <p:cNvPr id="28" name="Text 26"/>
          <p:cNvSpPr txBox="1"/>
          <p:nvPr/>
        </p:nvSpPr>
        <p:spPr>
          <a:xfrm>
            <a:off x="6493612" y="4901184"/>
            <a:ext cx="4957420" cy="329184"/>
          </a:xfrm>
          <a:prstGeom prst="rect">
            <a:avLst/>
          </a:prstGeom>
          <a:noFill/>
          <a:ln/>
        </p:spPr>
        <p:txBody>
          <a:bodyPr wrap="square" lIns="0" tIns="0" rIns="0" bIns="0" rtlCol="0" anchor="t"/>
          <a:lstStyle/>
          <a:p>
            <a:pPr marL="0" indent="0" algn="l">
              <a:lnSpc>
                <a:spcPct val="108000"/>
              </a:lnSpc>
              <a:buNone/>
            </a:pPr>
            <a:r>
              <a:rPr lang="en-US" sz="1000" b="1" dirty="0">
                <a:solidFill>
                  <a:srgbClr val="1E4FFF"/>
                </a:solidFill>
                <a:latin typeface="Arial" pitchFamily="34" charset="0"/>
                <a:ea typeface="Arial" pitchFamily="34" charset="-122"/>
                <a:cs typeface="Arial" pitchFamily="34" charset="-120"/>
              </a:rPr>
              <a:t>Free plan with a small daily credit allowance; paid from ~$20/month</a:t>
            </a:r>
            <a:endParaRPr lang="en-US" sz="1000" dirty="0"/>
          </a:p>
        </p:txBody>
      </p:sp>
      <p:sp>
        <p:nvSpPr>
          <p:cNvPr id="29" name="Text 27"/>
          <p:cNvSpPr txBox="1"/>
          <p:nvPr/>
        </p:nvSpPr>
        <p:spPr>
          <a:xfrm>
            <a:off x="6493612" y="5266944"/>
            <a:ext cx="4957420" cy="758952"/>
          </a:xfrm>
          <a:prstGeom prst="rect">
            <a:avLst/>
          </a:prstGeom>
          <a:noFill/>
          <a:ln/>
        </p:spPr>
        <p:txBody>
          <a:bodyPr wrap="square" lIns="0" tIns="0" rIns="0" bIns="0" rtlCol="0" anchor="t"/>
          <a:lstStyle/>
          <a:p>
            <a:pPr marL="0" indent="0" algn="l">
              <a:lnSpc>
                <a:spcPct val="110000"/>
              </a:lnSpc>
              <a:buNone/>
            </a:pPr>
            <a:r>
              <a:rPr lang="en-US" sz="1000" dirty="0">
                <a:solidFill>
                  <a:srgbClr val="262626"/>
                </a:solidFill>
                <a:latin typeface="Arial" pitchFamily="34" charset="0"/>
                <a:ea typeface="Arial" pitchFamily="34" charset="-122"/>
                <a:cs typeface="Arial" pitchFamily="34" charset="-120"/>
              </a:rPr>
              <a:t>Give it a goal and Manus plans the steps, then executes them with its own browser, terminal, and file system — handing back a finished report, spreadsheet, or working web app instead of just an answer.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lgn="l">
              <a:buNone/>
            </a:pPr>
            <a:r>
              <a:rPr lang="en-US" sz="1050" b="1" kern="0" spc="200" dirty="0">
                <a:solidFill>
                  <a:srgbClr val="6E6A60"/>
                </a:solidFill>
                <a:latin typeface="Arial" pitchFamily="34" charset="0"/>
                <a:ea typeface="Arial" pitchFamily="34" charset="-122"/>
                <a:cs typeface="Arial" pitchFamily="34" charset="-120"/>
              </a:rPr>
              <a:t>AI CONCEPTS · TOOLS · CASE STUDIES</a:t>
            </a:r>
            <a:endParaRPr lang="en-US" sz="1050" dirty="0"/>
          </a:p>
        </p:txBody>
      </p:sp>
      <p:sp>
        <p:nvSpPr>
          <p:cNvPr id="3" name="Shape 1"/>
          <p:cNvSpPr/>
          <p:nvPr/>
        </p:nvSpPr>
        <p:spPr>
          <a:xfrm>
            <a:off x="9905695" y="256032"/>
            <a:ext cx="1783080" cy="384048"/>
          </a:xfrm>
          <a:prstGeom prst="roundRect">
            <a:avLst>
              <a:gd name="adj" fmla="val 21429"/>
            </a:avLst>
          </a:prstGeom>
          <a:solidFill>
            <a:srgbClr val="1E4FFF"/>
          </a:solidFill>
          <a:ln/>
        </p:spPr>
      </p:sp>
      <p:sp>
        <p:nvSpPr>
          <p:cNvPr id="4" name="Text 2"/>
          <p:cNvSpPr txBox="1"/>
          <p:nvPr/>
        </p:nvSpPr>
        <p:spPr>
          <a:xfrm>
            <a:off x="9905695" y="256032"/>
            <a:ext cx="17830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CASE STUDY</a:t>
            </a:r>
            <a:endParaRPr lang="en-US" sz="1200" dirty="0"/>
          </a:p>
        </p:txBody>
      </p:sp>
      <p:sp>
        <p:nvSpPr>
          <p:cNvPr id="5" name="Shape 3"/>
          <p:cNvSpPr/>
          <p:nvPr/>
        </p:nvSpPr>
        <p:spPr>
          <a:xfrm>
            <a:off x="502920" y="6446520"/>
            <a:ext cx="11185855" cy="0"/>
          </a:xfrm>
          <a:prstGeom prst="line">
            <a:avLst/>
          </a:prstGeom>
          <a:noFill/>
          <a:ln w="9525">
            <a:solidFill>
              <a:srgbClr val="D8D3C5"/>
            </a:solidFill>
            <a:prstDash val="solid"/>
          </a:ln>
        </p:spPr>
      </p:sp>
      <p:sp>
        <p:nvSpPr>
          <p:cNvPr id="7" name="Text 5"/>
          <p:cNvSpPr txBox="1"/>
          <p:nvPr/>
        </p:nvSpPr>
        <p:spPr>
          <a:xfrm>
            <a:off x="10591495"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05 / 08</a:t>
            </a:r>
            <a:endParaRPr lang="en-US" sz="900" dirty="0"/>
          </a:p>
        </p:txBody>
      </p:sp>
      <p:sp>
        <p:nvSpPr>
          <p:cNvPr id="8" name="Text 6"/>
          <p:cNvSpPr txBox="1"/>
          <p:nvPr/>
        </p:nvSpPr>
        <p:spPr>
          <a:xfrm>
            <a:off x="502920" y="713232"/>
            <a:ext cx="11185855" cy="822960"/>
          </a:xfrm>
          <a:prstGeom prst="rect">
            <a:avLst/>
          </a:prstGeom>
          <a:noFill/>
          <a:ln/>
        </p:spPr>
        <p:txBody>
          <a:bodyPr wrap="square" lIns="0" tIns="0" rIns="0" bIns="0" rtlCol="0" anchor="t"/>
          <a:lstStyle/>
          <a:p>
            <a:pPr marL="0" indent="0" algn="l">
              <a:lnSpc>
                <a:spcPct val="102000"/>
              </a:lnSpc>
              <a:buNone/>
            </a:pPr>
            <a:r>
              <a:rPr lang="en-US" sz="3200" b="1" dirty="0">
                <a:solidFill>
                  <a:srgbClr val="1A1A1A"/>
                </a:solidFill>
                <a:latin typeface="Arial" pitchFamily="34" charset="0"/>
                <a:ea typeface="Arial" pitchFamily="34" charset="-122"/>
                <a:cs typeface="Arial" pitchFamily="34" charset="-120"/>
              </a:rPr>
              <a:t>Case Study: Base44</a:t>
            </a:r>
            <a:endParaRPr lang="en-US" sz="3200" dirty="0"/>
          </a:p>
        </p:txBody>
      </p:sp>
      <p:sp>
        <p:nvSpPr>
          <p:cNvPr id="9" name="Text 7"/>
          <p:cNvSpPr txBox="1"/>
          <p:nvPr/>
        </p:nvSpPr>
        <p:spPr>
          <a:xfrm>
            <a:off x="502920" y="1481328"/>
            <a:ext cx="11185855" cy="365760"/>
          </a:xfrm>
          <a:prstGeom prst="rect">
            <a:avLst/>
          </a:prstGeom>
          <a:noFill/>
          <a:ln/>
        </p:spPr>
        <p:txBody>
          <a:bodyPr wrap="square" lIns="0" tIns="0" rIns="0" bIns="0" rtlCol="0" anchor="t"/>
          <a:lstStyle/>
          <a:p>
            <a:pPr marL="0" indent="0" algn="l">
              <a:buNone/>
            </a:pPr>
            <a:r>
              <a:rPr lang="en-US" sz="1350" i="1" dirty="0">
                <a:solidFill>
                  <a:srgbClr val="6E6A60"/>
                </a:solidFill>
                <a:latin typeface="Arial" pitchFamily="34" charset="0"/>
                <a:ea typeface="Arial" pitchFamily="34" charset="-122"/>
                <a:cs typeface="Arial" pitchFamily="34" charset="-120"/>
              </a:rPr>
              <a:t>One founder, six months, an $80M acquisition.</a:t>
            </a:r>
            <a:endParaRPr lang="en-US" sz="1350" dirty="0"/>
          </a:p>
        </p:txBody>
      </p:sp>
      <p:sp>
        <p:nvSpPr>
          <p:cNvPr id="10" name="Shape 8"/>
          <p:cNvSpPr/>
          <p:nvPr/>
        </p:nvSpPr>
        <p:spPr>
          <a:xfrm>
            <a:off x="502920" y="2057400"/>
            <a:ext cx="3429000" cy="3931920"/>
          </a:xfrm>
          <a:prstGeom prst="roundRect">
            <a:avLst>
              <a:gd name="adj" fmla="val 1333"/>
            </a:avLst>
          </a:prstGeom>
          <a:solidFill>
            <a:srgbClr val="1E4FFF"/>
          </a:solidFill>
          <a:ln/>
        </p:spPr>
      </p:sp>
      <p:sp>
        <p:nvSpPr>
          <p:cNvPr id="11" name="Text 9"/>
          <p:cNvSpPr txBox="1"/>
          <p:nvPr/>
        </p:nvSpPr>
        <p:spPr>
          <a:xfrm>
            <a:off x="777240" y="2423160"/>
            <a:ext cx="2880360" cy="1005840"/>
          </a:xfrm>
          <a:prstGeom prst="rect">
            <a:avLst/>
          </a:prstGeom>
          <a:noFill/>
          <a:ln/>
        </p:spPr>
        <p:txBody>
          <a:bodyPr wrap="square" lIns="0" tIns="0" rIns="0" bIns="0" rtlCol="0" anchor="t"/>
          <a:lstStyle/>
          <a:p>
            <a:pPr marL="0" indent="0" algn="l">
              <a:buNone/>
            </a:pPr>
            <a:r>
              <a:rPr lang="en-US" sz="4600" b="1" dirty="0">
                <a:solidFill>
                  <a:srgbClr val="FFFFFF"/>
                </a:solidFill>
                <a:latin typeface="Arial" pitchFamily="34" charset="0"/>
                <a:ea typeface="Arial" pitchFamily="34" charset="-122"/>
                <a:cs typeface="Arial" pitchFamily="34" charset="-120"/>
              </a:rPr>
              <a:t>$80M</a:t>
            </a:r>
            <a:endParaRPr lang="en-US" sz="4600" dirty="0"/>
          </a:p>
        </p:txBody>
      </p:sp>
      <p:sp>
        <p:nvSpPr>
          <p:cNvPr id="12" name="Text 10"/>
          <p:cNvSpPr txBox="1"/>
          <p:nvPr/>
        </p:nvSpPr>
        <p:spPr>
          <a:xfrm>
            <a:off x="777240" y="3474720"/>
            <a:ext cx="2880360" cy="1371600"/>
          </a:xfrm>
          <a:prstGeom prst="rect">
            <a:avLst/>
          </a:prstGeom>
          <a:noFill/>
          <a:ln/>
        </p:spPr>
        <p:txBody>
          <a:bodyPr wrap="square" lIns="0" tIns="0" rIns="0" bIns="0" rtlCol="0" anchor="t"/>
          <a:lstStyle/>
          <a:p>
            <a:pPr marL="0" indent="0" algn="l">
              <a:lnSpc>
                <a:spcPct val="120000"/>
              </a:lnSpc>
              <a:buNone/>
            </a:pPr>
            <a:r>
              <a:rPr lang="en-US" sz="1400" dirty="0">
                <a:solidFill>
                  <a:srgbClr val="E4EAFF"/>
                </a:solidFill>
                <a:latin typeface="Arial" pitchFamily="34" charset="0"/>
                <a:ea typeface="Arial" pitchFamily="34" charset="-122"/>
                <a:cs typeface="Arial" pitchFamily="34" charset="-120"/>
              </a:rPr>
              <a:t>cash acquisition by Wix, six months after Maor Shlomo started building</a:t>
            </a:r>
            <a:endParaRPr lang="en-US" sz="1400" dirty="0"/>
          </a:p>
        </p:txBody>
      </p:sp>
      <p:sp>
        <p:nvSpPr>
          <p:cNvPr id="13" name="Text 11"/>
          <p:cNvSpPr txBox="1"/>
          <p:nvPr/>
        </p:nvSpPr>
        <p:spPr>
          <a:xfrm>
            <a:off x="4389120" y="2057400"/>
            <a:ext cx="7299655" cy="457200"/>
          </a:xfrm>
          <a:prstGeom prst="rect">
            <a:avLst/>
          </a:prstGeom>
          <a:noFill/>
          <a:ln/>
        </p:spPr>
        <p:txBody>
          <a:bodyPr wrap="square" lIns="0" tIns="0" rIns="0" bIns="0" rtlCol="0" anchor="t"/>
          <a:lstStyle/>
          <a:p>
            <a:pPr marL="0" indent="0" algn="l">
              <a:buNone/>
            </a:pPr>
            <a:r>
              <a:rPr lang="en-US" sz="1800" b="1" dirty="0">
                <a:solidFill>
                  <a:srgbClr val="1A1A1A"/>
                </a:solidFill>
                <a:latin typeface="Arial" pitchFamily="34" charset="0"/>
                <a:ea typeface="Arial" pitchFamily="34" charset="-122"/>
                <a:cs typeface="Arial" pitchFamily="34" charset="-120"/>
              </a:rPr>
              <a:t>A solo founder built software that builds software.</a:t>
            </a:r>
            <a:endParaRPr lang="en-US" sz="1800" dirty="0"/>
          </a:p>
        </p:txBody>
      </p:sp>
      <p:sp>
        <p:nvSpPr>
          <p:cNvPr id="14" name="Text 12"/>
          <p:cNvSpPr txBox="1"/>
          <p:nvPr/>
        </p:nvSpPr>
        <p:spPr>
          <a:xfrm>
            <a:off x="4389120" y="2587752"/>
            <a:ext cx="7299655" cy="2331720"/>
          </a:xfrm>
          <a:prstGeom prst="rect">
            <a:avLst/>
          </a:prstGeom>
          <a:noFill/>
          <a:ln/>
        </p:spPr>
        <p:txBody>
          <a:bodyPr wrap="square" lIns="0" tIns="0" rIns="0" bIns="0" rtlCol="0" anchor="t"/>
          <a:lstStyle/>
          <a:p>
            <a:pPr marL="0" indent="0" algn="l">
              <a:lnSpc>
                <a:spcPct val="122000"/>
              </a:lnSpc>
              <a:buNone/>
            </a:pPr>
            <a:r>
              <a:rPr lang="en-US" sz="1250" dirty="0">
                <a:solidFill>
                  <a:srgbClr val="262626"/>
                </a:solidFill>
                <a:latin typeface="Arial" pitchFamily="34" charset="0"/>
                <a:ea typeface="Arial" pitchFamily="34" charset="-122"/>
                <a:cs typeface="Arial" pitchFamily="34" charset="-120"/>
              </a:rPr>
              <a:t>In late 2024, Maor Shlomo — a former startup CTO— started Base44 as a side project: describe the app you want in plain language, and it generates the working product — interface, database, logins, hosting — automatically. He built it largely alone, with no outside funding. By June 2025, Wix had acquired Base44 for $80 million in cash. Nine months later, under Wix, it was reportedly running at roughly $100 million a year in revenue, with 250,000+ users.</a:t>
            </a:r>
            <a:endParaRPr lang="en-US" sz="1250" dirty="0"/>
          </a:p>
        </p:txBody>
      </p:sp>
      <p:sp>
        <p:nvSpPr>
          <p:cNvPr id="15" name="Shape 13"/>
          <p:cNvSpPr/>
          <p:nvPr/>
        </p:nvSpPr>
        <p:spPr>
          <a:xfrm>
            <a:off x="4389120" y="5074920"/>
            <a:ext cx="2633472" cy="402336"/>
          </a:xfrm>
          <a:prstGeom prst="roundRect">
            <a:avLst>
              <a:gd name="adj" fmla="val 18182"/>
            </a:avLst>
          </a:prstGeom>
          <a:ln w="19050">
            <a:solidFill>
              <a:srgbClr val="1E4FFF"/>
            </a:solidFill>
            <a:prstDash val="solid"/>
          </a:ln>
        </p:spPr>
      </p:sp>
      <p:sp>
        <p:nvSpPr>
          <p:cNvPr id="16" name="Text 14"/>
          <p:cNvSpPr txBox="1"/>
          <p:nvPr/>
        </p:nvSpPr>
        <p:spPr>
          <a:xfrm>
            <a:off x="4389120" y="5074920"/>
            <a:ext cx="2633472" cy="402336"/>
          </a:xfrm>
          <a:prstGeom prst="rect">
            <a:avLst/>
          </a:prstGeom>
          <a:noFill/>
          <a:ln/>
        </p:spPr>
        <p:txBody>
          <a:bodyPr wrap="square" lIns="0" tIns="0" rIns="0" bIns="0" rtlCol="0" anchor="ctr"/>
          <a:lstStyle/>
          <a:p>
            <a:pPr marL="0" indent="0" algn="ctr">
              <a:buNone/>
            </a:pPr>
            <a:r>
              <a:rPr lang="en-US" sz="1150" b="1" dirty="0">
                <a:solidFill>
                  <a:srgbClr val="1E4FFF"/>
                </a:solidFill>
                <a:latin typeface="Arial" pitchFamily="34" charset="0"/>
                <a:ea typeface="Arial" pitchFamily="34" charset="-122"/>
                <a:cs typeface="Arial" pitchFamily="34" charset="-120"/>
              </a:rPr>
              <a:t>BUILT ON: Claude (Anthropic)</a:t>
            </a:r>
            <a:endParaRPr lang="en-US" sz="1150" dirty="0"/>
          </a:p>
        </p:txBody>
      </p:sp>
      <p:sp>
        <p:nvSpPr>
          <p:cNvPr id="17" name="Text 15"/>
          <p:cNvSpPr txBox="1"/>
          <p:nvPr/>
        </p:nvSpPr>
        <p:spPr>
          <a:xfrm>
            <a:off x="4389120" y="5568696"/>
            <a:ext cx="7299655" cy="502920"/>
          </a:xfrm>
          <a:prstGeom prst="rect">
            <a:avLst/>
          </a:prstGeom>
          <a:noFill/>
          <a:ln/>
        </p:spPr>
        <p:txBody>
          <a:bodyPr wrap="square" lIns="0" tIns="0" rIns="0" bIns="0" rtlCol="0" anchor="t"/>
          <a:lstStyle/>
          <a:p>
            <a:pPr marL="0" indent="0" algn="l">
              <a:lnSpc>
                <a:spcPct val="112000"/>
              </a:lnSpc>
              <a:buNone/>
            </a:pPr>
            <a:r>
              <a:rPr lang="en-US" sz="1030" i="1" dirty="0">
                <a:solidFill>
                  <a:srgbClr val="6E6A60"/>
                </a:solidFill>
                <a:latin typeface="Arial" pitchFamily="34" charset="0"/>
                <a:ea typeface="Arial" pitchFamily="34" charset="-122"/>
                <a:cs typeface="Arial" pitchFamily="34" charset="-120"/>
              </a:rPr>
              <a:t>Claude Sonnet was Base44's default “creative engine” for turning a written request into working code and interface — the platform later added GPT and Gemini as options too.</a:t>
            </a:r>
            <a:endParaRPr lang="en-US" sz="10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lgn="l">
              <a:buNone/>
            </a:pPr>
            <a:r>
              <a:rPr lang="en-US" sz="1050" b="1" kern="0" spc="200" dirty="0">
                <a:solidFill>
                  <a:srgbClr val="A9A59A"/>
                </a:solidFill>
                <a:latin typeface="Arial" pitchFamily="34" charset="0"/>
                <a:ea typeface="Arial" pitchFamily="34" charset="-122"/>
                <a:cs typeface="Arial" pitchFamily="34" charset="-120"/>
              </a:rPr>
              <a:t>AI CONCEPTS · TOOLS · CASE STUDIES</a:t>
            </a:r>
            <a:endParaRPr lang="en-US" sz="1050" dirty="0"/>
          </a:p>
        </p:txBody>
      </p:sp>
      <p:sp>
        <p:nvSpPr>
          <p:cNvPr id="3" name="Shape 1"/>
          <p:cNvSpPr/>
          <p:nvPr/>
        </p:nvSpPr>
        <p:spPr>
          <a:xfrm>
            <a:off x="9905695" y="256032"/>
            <a:ext cx="1783080" cy="384048"/>
          </a:xfrm>
          <a:prstGeom prst="roundRect">
            <a:avLst>
              <a:gd name="adj" fmla="val 21429"/>
            </a:avLst>
          </a:prstGeom>
          <a:solidFill>
            <a:srgbClr val="1E4FFF"/>
          </a:solidFill>
          <a:ln/>
        </p:spPr>
      </p:sp>
      <p:sp>
        <p:nvSpPr>
          <p:cNvPr id="4" name="Text 2"/>
          <p:cNvSpPr txBox="1"/>
          <p:nvPr/>
        </p:nvSpPr>
        <p:spPr>
          <a:xfrm>
            <a:off x="9905695" y="256032"/>
            <a:ext cx="17830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CASE STUDY</a:t>
            </a:r>
            <a:endParaRPr lang="en-US" sz="1200" dirty="0"/>
          </a:p>
        </p:txBody>
      </p:sp>
      <p:sp>
        <p:nvSpPr>
          <p:cNvPr id="5" name="Shape 3"/>
          <p:cNvSpPr/>
          <p:nvPr/>
        </p:nvSpPr>
        <p:spPr>
          <a:xfrm>
            <a:off x="502920" y="6446520"/>
            <a:ext cx="11185855" cy="0"/>
          </a:xfrm>
          <a:prstGeom prst="line">
            <a:avLst/>
          </a:prstGeom>
          <a:noFill/>
          <a:ln w="9525">
            <a:solidFill>
              <a:srgbClr val="3A3A3A"/>
            </a:solidFill>
            <a:prstDash val="solid"/>
          </a:ln>
        </p:spPr>
      </p:sp>
      <p:sp>
        <p:nvSpPr>
          <p:cNvPr id="7" name="Text 5"/>
          <p:cNvSpPr txBox="1"/>
          <p:nvPr/>
        </p:nvSpPr>
        <p:spPr>
          <a:xfrm>
            <a:off x="10591495" y="6492240"/>
            <a:ext cx="1097280" cy="274320"/>
          </a:xfrm>
          <a:prstGeom prst="rect">
            <a:avLst/>
          </a:prstGeom>
          <a:noFill/>
          <a:ln/>
        </p:spPr>
        <p:txBody>
          <a:bodyPr wrap="square" lIns="0" tIns="0" rIns="0" bIns="0" rtlCol="0" anchor="ctr"/>
          <a:lstStyle/>
          <a:p>
            <a:pPr marL="0" indent="0" algn="r">
              <a:buNone/>
            </a:pPr>
            <a:r>
              <a:rPr lang="en-US" sz="900" dirty="0">
                <a:solidFill>
                  <a:srgbClr val="A9A59A"/>
                </a:solidFill>
                <a:latin typeface="Arial" pitchFamily="34" charset="0"/>
                <a:ea typeface="Arial" pitchFamily="34" charset="-122"/>
                <a:cs typeface="Arial" pitchFamily="34" charset="-120"/>
              </a:rPr>
              <a:t>06 / 08</a:t>
            </a:r>
            <a:endParaRPr lang="en-US" sz="900" dirty="0"/>
          </a:p>
        </p:txBody>
      </p:sp>
      <p:sp>
        <p:nvSpPr>
          <p:cNvPr id="8" name="Text 6"/>
          <p:cNvSpPr txBox="1"/>
          <p:nvPr/>
        </p:nvSpPr>
        <p:spPr>
          <a:xfrm>
            <a:off x="502920" y="713232"/>
            <a:ext cx="11185855" cy="822960"/>
          </a:xfrm>
          <a:prstGeom prst="rect">
            <a:avLst/>
          </a:prstGeom>
          <a:noFill/>
          <a:ln/>
        </p:spPr>
        <p:txBody>
          <a:bodyPr wrap="square" lIns="0" tIns="0" rIns="0" bIns="0" rtlCol="0" anchor="t"/>
          <a:lstStyle/>
          <a:p>
            <a:pPr>
              <a:lnSpc>
                <a:spcPct val="102000"/>
              </a:lnSpc>
            </a:pPr>
            <a:r>
              <a:rPr lang="en-US" sz="3200" b="1" dirty="0">
                <a:solidFill>
                  <a:srgbClr val="1A1A1A"/>
                </a:solidFill>
                <a:latin typeface="Arial" pitchFamily="34" charset="0"/>
                <a:ea typeface="Arial" pitchFamily="34" charset="-122"/>
                <a:cs typeface="Arial" pitchFamily="34" charset="-120"/>
              </a:rPr>
              <a:t>Case Study: </a:t>
            </a:r>
            <a:r>
              <a:rPr lang="en-US" sz="3200" b="1" dirty="0" err="1">
                <a:solidFill>
                  <a:srgbClr val="1A1A1A"/>
                </a:solidFill>
                <a:latin typeface="Arial" pitchFamily="34" charset="0"/>
                <a:ea typeface="Arial" pitchFamily="34" charset="-122"/>
                <a:cs typeface="Arial" pitchFamily="34" charset="-120"/>
              </a:rPr>
              <a:t>Chatbase</a:t>
            </a:r>
            <a:endParaRPr lang="en-US" sz="3200" dirty="0"/>
          </a:p>
          <a:p>
            <a:pPr marL="0" indent="0" algn="l">
              <a:lnSpc>
                <a:spcPct val="102000"/>
              </a:lnSpc>
              <a:buNone/>
            </a:pPr>
            <a:r>
              <a:rPr lang="en-US" sz="3200" b="1" dirty="0">
                <a:solidFill>
                  <a:srgbClr val="FFFFFF"/>
                </a:solidFill>
                <a:latin typeface="Arial" pitchFamily="34" charset="0"/>
                <a:ea typeface="Arial" pitchFamily="34" charset="-122"/>
                <a:cs typeface="Arial" pitchFamily="34" charset="-120"/>
              </a:rPr>
              <a:t> Chatbase</a:t>
            </a:r>
            <a:endParaRPr lang="en-US" sz="3200" dirty="0"/>
          </a:p>
        </p:txBody>
      </p:sp>
      <p:sp>
        <p:nvSpPr>
          <p:cNvPr id="9" name="Text 7"/>
          <p:cNvSpPr txBox="1"/>
          <p:nvPr/>
        </p:nvSpPr>
        <p:spPr>
          <a:xfrm>
            <a:off x="502920" y="1481328"/>
            <a:ext cx="11185855" cy="365760"/>
          </a:xfrm>
          <a:prstGeom prst="rect">
            <a:avLst/>
          </a:prstGeom>
          <a:noFill/>
          <a:ln/>
        </p:spPr>
        <p:txBody>
          <a:bodyPr wrap="square" lIns="0" tIns="0" rIns="0" bIns="0" rtlCol="0" anchor="t"/>
          <a:lstStyle/>
          <a:p>
            <a:pPr marL="0" indent="0" algn="l">
              <a:buNone/>
            </a:pPr>
            <a:r>
              <a:rPr lang="en-US" sz="1350" i="1" dirty="0">
                <a:latin typeface="Arial" pitchFamily="34" charset="0"/>
                <a:ea typeface="Arial" pitchFamily="34" charset="-122"/>
                <a:cs typeface="Arial" pitchFamily="34" charset="-120"/>
              </a:rPr>
              <a:t>A weekend project that hit $1M a year in about four months</a:t>
            </a:r>
            <a:r>
              <a:rPr lang="en-US" sz="1350" i="1" dirty="0">
                <a:solidFill>
                  <a:srgbClr val="A9A59A"/>
                </a:solidFill>
                <a:latin typeface="Arial" pitchFamily="34" charset="0"/>
                <a:ea typeface="Arial" pitchFamily="34" charset="-122"/>
                <a:cs typeface="Arial" pitchFamily="34" charset="-120"/>
              </a:rPr>
              <a:t>.</a:t>
            </a:r>
            <a:endParaRPr lang="en-US" sz="1350" dirty="0"/>
          </a:p>
        </p:txBody>
      </p:sp>
      <p:sp>
        <p:nvSpPr>
          <p:cNvPr id="10" name="Shape 8"/>
          <p:cNvSpPr/>
          <p:nvPr/>
        </p:nvSpPr>
        <p:spPr>
          <a:xfrm>
            <a:off x="502920" y="2057400"/>
            <a:ext cx="3429000" cy="3931920"/>
          </a:xfrm>
          <a:prstGeom prst="roundRect">
            <a:avLst>
              <a:gd name="adj" fmla="val 1333"/>
            </a:avLst>
          </a:prstGeom>
          <a:solidFill>
            <a:srgbClr val="1E4FFF"/>
          </a:solidFill>
          <a:ln/>
        </p:spPr>
      </p:sp>
      <p:sp>
        <p:nvSpPr>
          <p:cNvPr id="11" name="Text 9"/>
          <p:cNvSpPr txBox="1"/>
          <p:nvPr/>
        </p:nvSpPr>
        <p:spPr>
          <a:xfrm>
            <a:off x="777240" y="2423160"/>
            <a:ext cx="2880360" cy="1005840"/>
          </a:xfrm>
          <a:prstGeom prst="rect">
            <a:avLst/>
          </a:prstGeom>
          <a:noFill/>
          <a:ln/>
        </p:spPr>
        <p:txBody>
          <a:bodyPr wrap="square" lIns="0" tIns="0" rIns="0" bIns="0" rtlCol="0" anchor="t"/>
          <a:lstStyle/>
          <a:p>
            <a:pPr marL="0" indent="0" algn="l">
              <a:buNone/>
            </a:pPr>
            <a:r>
              <a:rPr lang="en-US" sz="4600" b="1" dirty="0">
                <a:solidFill>
                  <a:srgbClr val="FFFFFF"/>
                </a:solidFill>
                <a:latin typeface="Arial" pitchFamily="34" charset="0"/>
                <a:ea typeface="Arial" pitchFamily="34" charset="-122"/>
                <a:cs typeface="Arial" pitchFamily="34" charset="-120"/>
              </a:rPr>
              <a:t>$1M+</a:t>
            </a:r>
            <a:endParaRPr lang="en-US" sz="4600" dirty="0"/>
          </a:p>
        </p:txBody>
      </p:sp>
      <p:sp>
        <p:nvSpPr>
          <p:cNvPr id="12" name="Text 10"/>
          <p:cNvSpPr txBox="1"/>
          <p:nvPr/>
        </p:nvSpPr>
        <p:spPr>
          <a:xfrm>
            <a:off x="777240" y="3474720"/>
            <a:ext cx="2880360" cy="1371600"/>
          </a:xfrm>
          <a:prstGeom prst="rect">
            <a:avLst/>
          </a:prstGeom>
          <a:noFill/>
          <a:ln/>
        </p:spPr>
        <p:txBody>
          <a:bodyPr wrap="square" lIns="0" tIns="0" rIns="0" bIns="0" rtlCol="0" anchor="t"/>
          <a:lstStyle/>
          <a:p>
            <a:pPr marL="0" indent="0" algn="l">
              <a:lnSpc>
                <a:spcPct val="120000"/>
              </a:lnSpc>
              <a:buNone/>
            </a:pPr>
            <a:r>
              <a:rPr lang="en-US" sz="1400" dirty="0">
                <a:solidFill>
                  <a:srgbClr val="E4EAFF"/>
                </a:solidFill>
                <a:latin typeface="Arial" pitchFamily="34" charset="0"/>
                <a:ea typeface="Arial" pitchFamily="34" charset="-122"/>
                <a:cs typeface="Arial" pitchFamily="34" charset="-120"/>
              </a:rPr>
              <a:t>in annualized revenue within roughly four months of launch</a:t>
            </a:r>
            <a:endParaRPr lang="en-US" sz="1400" dirty="0"/>
          </a:p>
        </p:txBody>
      </p:sp>
      <p:sp>
        <p:nvSpPr>
          <p:cNvPr id="13" name="Text 11"/>
          <p:cNvSpPr txBox="1"/>
          <p:nvPr/>
        </p:nvSpPr>
        <p:spPr>
          <a:xfrm>
            <a:off x="4389120" y="2057400"/>
            <a:ext cx="7299655" cy="457200"/>
          </a:xfrm>
          <a:prstGeom prst="rect">
            <a:avLst/>
          </a:prstGeom>
          <a:noFill/>
          <a:ln/>
        </p:spPr>
        <p:txBody>
          <a:bodyPr wrap="square" lIns="0" tIns="0" rIns="0" bIns="0" rtlCol="0" anchor="t"/>
          <a:lstStyle/>
          <a:p>
            <a:pPr marL="0" indent="0" algn="l">
              <a:buNone/>
            </a:pPr>
            <a:r>
              <a:rPr lang="en-US" sz="1800" b="1" dirty="0">
                <a:solidFill>
                  <a:srgbClr val="FFFFFF"/>
                </a:solidFill>
                <a:latin typeface="Arial" pitchFamily="34" charset="0"/>
                <a:ea typeface="Arial" pitchFamily="34" charset="-122"/>
                <a:cs typeface="Arial" pitchFamily="34" charset="-120"/>
              </a:rPr>
              <a:t>A rescinded job offer became a seven-figure side project.</a:t>
            </a:r>
            <a:endParaRPr lang="en-US" sz="1800" dirty="0"/>
          </a:p>
        </p:txBody>
      </p:sp>
      <p:sp>
        <p:nvSpPr>
          <p:cNvPr id="14" name="Text 12"/>
          <p:cNvSpPr txBox="1"/>
          <p:nvPr/>
        </p:nvSpPr>
        <p:spPr>
          <a:xfrm>
            <a:off x="4389120" y="2587752"/>
            <a:ext cx="7299655" cy="2331720"/>
          </a:xfrm>
          <a:prstGeom prst="rect">
            <a:avLst/>
          </a:prstGeom>
          <a:noFill/>
          <a:ln/>
        </p:spPr>
        <p:txBody>
          <a:bodyPr wrap="square" lIns="0" tIns="0" rIns="0" bIns="0" rtlCol="0" anchor="t"/>
          <a:lstStyle/>
          <a:p>
            <a:pPr marL="0" indent="0" algn="l">
              <a:lnSpc>
                <a:spcPct val="122000"/>
              </a:lnSpc>
              <a:buNone/>
            </a:pPr>
            <a:r>
              <a:rPr lang="en-US" sz="1250" dirty="0">
                <a:latin typeface="Arial" pitchFamily="34" charset="0"/>
                <a:ea typeface="Arial" pitchFamily="34" charset="-122"/>
                <a:cs typeface="Arial" pitchFamily="34" charset="-120"/>
              </a:rPr>
              <a:t>In late 2022, Yasser Elsaid — a computer-science student — had a new-grad job offer pulled in a round of tech layoffs. He started experimenting with OpenAI's newly released GPT API and, in about two weeks, built Chatbase: point it at a PDF or a website, and it trains a ChatGPT-style chatbot on that content, ready to embed anywhere. He tweeted a demo to 13 followers. It went viral. By May 2023, roughly three months after launch, Chatbase was earning $60,000 a month; it has since grown past $8 million a year with a team of under 20 people.</a:t>
            </a:r>
            <a:endParaRPr lang="en-US" sz="1250" dirty="0"/>
          </a:p>
        </p:txBody>
      </p:sp>
      <p:sp>
        <p:nvSpPr>
          <p:cNvPr id="15" name="Shape 13"/>
          <p:cNvSpPr/>
          <p:nvPr/>
        </p:nvSpPr>
        <p:spPr>
          <a:xfrm>
            <a:off x="4389120" y="5074920"/>
            <a:ext cx="3739896" cy="402336"/>
          </a:xfrm>
          <a:prstGeom prst="roundRect">
            <a:avLst>
              <a:gd name="adj" fmla="val 18182"/>
            </a:avLst>
          </a:prstGeom>
          <a:ln w="19050">
            <a:solidFill>
              <a:srgbClr val="1E4FFF"/>
            </a:solidFill>
            <a:prstDash val="solid"/>
          </a:ln>
        </p:spPr>
      </p:sp>
      <p:sp>
        <p:nvSpPr>
          <p:cNvPr id="16" name="Text 14"/>
          <p:cNvSpPr txBox="1"/>
          <p:nvPr/>
        </p:nvSpPr>
        <p:spPr>
          <a:xfrm>
            <a:off x="4389120" y="5074920"/>
            <a:ext cx="3739896" cy="402336"/>
          </a:xfrm>
          <a:prstGeom prst="rect">
            <a:avLst/>
          </a:prstGeom>
          <a:noFill/>
          <a:ln/>
        </p:spPr>
        <p:txBody>
          <a:bodyPr wrap="square" lIns="0" tIns="0" rIns="0" bIns="0" rtlCol="0" anchor="ctr"/>
          <a:lstStyle/>
          <a:p>
            <a:pPr marL="0" indent="0" algn="ctr">
              <a:buNone/>
            </a:pPr>
            <a:r>
              <a:rPr lang="en-US" sz="1150" b="1" dirty="0">
                <a:solidFill>
                  <a:srgbClr val="1E4FFF"/>
                </a:solidFill>
                <a:latin typeface="Arial" pitchFamily="34" charset="0"/>
                <a:ea typeface="Arial" pitchFamily="34" charset="-122"/>
                <a:cs typeface="Arial" pitchFamily="34" charset="-120"/>
              </a:rPr>
              <a:t>BUILT ON: OpenAI's GPT models (via API)</a:t>
            </a:r>
            <a:endParaRPr lang="en-US" sz="1150" dirty="0"/>
          </a:p>
        </p:txBody>
      </p:sp>
      <p:sp>
        <p:nvSpPr>
          <p:cNvPr id="17" name="Text 15"/>
          <p:cNvSpPr txBox="1"/>
          <p:nvPr/>
        </p:nvSpPr>
        <p:spPr>
          <a:xfrm>
            <a:off x="4389120" y="5568696"/>
            <a:ext cx="7299655" cy="502920"/>
          </a:xfrm>
          <a:prstGeom prst="rect">
            <a:avLst/>
          </a:prstGeom>
          <a:noFill/>
          <a:ln/>
        </p:spPr>
        <p:txBody>
          <a:bodyPr wrap="square" lIns="0" tIns="0" rIns="0" bIns="0" rtlCol="0" anchor="t"/>
          <a:lstStyle/>
          <a:p>
            <a:pPr marL="0" indent="0" algn="l">
              <a:lnSpc>
                <a:spcPct val="112000"/>
              </a:lnSpc>
              <a:buNone/>
            </a:pPr>
            <a:r>
              <a:rPr lang="en-US" sz="1030" i="1" dirty="0">
                <a:latin typeface="Arial" pitchFamily="34" charset="0"/>
                <a:ea typeface="Arial" pitchFamily="34" charset="-122"/>
                <a:cs typeface="Arial" pitchFamily="34" charset="-120"/>
              </a:rPr>
              <a:t>Chatbase is, at its core, OpenAI's language model plus a vector database of the customer's own content — a clean example of “generative AI” repackaged as a specific business tool.</a:t>
            </a:r>
            <a:endParaRPr lang="en-US" sz="10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lgn="l">
              <a:buNone/>
            </a:pPr>
            <a:r>
              <a:rPr lang="en-US" sz="1050" b="1" kern="0" spc="200" dirty="0">
                <a:solidFill>
                  <a:srgbClr val="6E6A60"/>
                </a:solidFill>
                <a:latin typeface="Arial" pitchFamily="34" charset="0"/>
                <a:ea typeface="Arial" pitchFamily="34" charset="-122"/>
                <a:cs typeface="Arial" pitchFamily="34" charset="-120"/>
              </a:rPr>
              <a:t>AI CONCEPTS · TOOLS · CASE STUDIES</a:t>
            </a:r>
            <a:endParaRPr lang="en-US" sz="1050" dirty="0"/>
          </a:p>
        </p:txBody>
      </p:sp>
      <p:sp>
        <p:nvSpPr>
          <p:cNvPr id="3" name="Shape 1"/>
          <p:cNvSpPr/>
          <p:nvPr/>
        </p:nvSpPr>
        <p:spPr>
          <a:xfrm>
            <a:off x="9905695" y="256032"/>
            <a:ext cx="1783080" cy="384048"/>
          </a:xfrm>
          <a:prstGeom prst="roundRect">
            <a:avLst>
              <a:gd name="adj" fmla="val 21429"/>
            </a:avLst>
          </a:prstGeom>
          <a:solidFill>
            <a:srgbClr val="1E4FFF"/>
          </a:solidFill>
          <a:ln/>
        </p:spPr>
      </p:sp>
      <p:sp>
        <p:nvSpPr>
          <p:cNvPr id="4" name="Text 2"/>
          <p:cNvSpPr txBox="1"/>
          <p:nvPr/>
        </p:nvSpPr>
        <p:spPr>
          <a:xfrm>
            <a:off x="9905695" y="256032"/>
            <a:ext cx="17830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CASE STUDY</a:t>
            </a:r>
            <a:endParaRPr lang="en-US" sz="1200" dirty="0"/>
          </a:p>
        </p:txBody>
      </p:sp>
      <p:sp>
        <p:nvSpPr>
          <p:cNvPr id="5" name="Shape 3"/>
          <p:cNvSpPr/>
          <p:nvPr/>
        </p:nvSpPr>
        <p:spPr>
          <a:xfrm>
            <a:off x="502920" y="6446520"/>
            <a:ext cx="11185855" cy="0"/>
          </a:xfrm>
          <a:prstGeom prst="line">
            <a:avLst/>
          </a:prstGeom>
          <a:noFill/>
          <a:ln w="9525">
            <a:solidFill>
              <a:srgbClr val="D8D3C5"/>
            </a:solidFill>
            <a:prstDash val="solid"/>
          </a:ln>
        </p:spPr>
      </p:sp>
      <p:sp>
        <p:nvSpPr>
          <p:cNvPr id="7" name="Text 5"/>
          <p:cNvSpPr txBox="1"/>
          <p:nvPr/>
        </p:nvSpPr>
        <p:spPr>
          <a:xfrm>
            <a:off x="10591495"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07 / 08</a:t>
            </a:r>
            <a:endParaRPr lang="en-US" sz="900" dirty="0"/>
          </a:p>
        </p:txBody>
      </p:sp>
      <p:sp>
        <p:nvSpPr>
          <p:cNvPr id="8" name="Text 6"/>
          <p:cNvSpPr txBox="1"/>
          <p:nvPr/>
        </p:nvSpPr>
        <p:spPr>
          <a:xfrm>
            <a:off x="502920" y="713232"/>
            <a:ext cx="11185855" cy="822960"/>
          </a:xfrm>
          <a:prstGeom prst="rect">
            <a:avLst/>
          </a:prstGeom>
          <a:noFill/>
          <a:ln/>
        </p:spPr>
        <p:txBody>
          <a:bodyPr wrap="square" lIns="0" tIns="0" rIns="0" bIns="0" rtlCol="0" anchor="t"/>
          <a:lstStyle/>
          <a:p>
            <a:pPr marL="0" indent="0" algn="l">
              <a:lnSpc>
                <a:spcPct val="102000"/>
              </a:lnSpc>
              <a:buNone/>
            </a:pPr>
            <a:r>
              <a:rPr lang="en-US" sz="3200" b="1" dirty="0">
                <a:solidFill>
                  <a:srgbClr val="1A1A1A"/>
                </a:solidFill>
                <a:latin typeface="Arial" pitchFamily="34" charset="0"/>
                <a:ea typeface="Arial" pitchFamily="34" charset="-122"/>
                <a:cs typeface="Arial" pitchFamily="34" charset="-120"/>
              </a:rPr>
              <a:t>Case Study: HeadshotPro</a:t>
            </a:r>
            <a:endParaRPr lang="en-US" sz="3200" dirty="0"/>
          </a:p>
        </p:txBody>
      </p:sp>
      <p:sp>
        <p:nvSpPr>
          <p:cNvPr id="9" name="Text 7"/>
          <p:cNvSpPr txBox="1"/>
          <p:nvPr/>
        </p:nvSpPr>
        <p:spPr>
          <a:xfrm>
            <a:off x="502920" y="1481328"/>
            <a:ext cx="11185855" cy="365760"/>
          </a:xfrm>
          <a:prstGeom prst="rect">
            <a:avLst/>
          </a:prstGeom>
          <a:noFill/>
          <a:ln/>
        </p:spPr>
        <p:txBody>
          <a:bodyPr wrap="square" lIns="0" tIns="0" rIns="0" bIns="0" rtlCol="0" anchor="t"/>
          <a:lstStyle/>
          <a:p>
            <a:pPr marL="0" indent="0" algn="l">
              <a:buNone/>
            </a:pPr>
            <a:r>
              <a:rPr lang="en-US" sz="1350" i="1" dirty="0">
                <a:solidFill>
                  <a:srgbClr val="6E6A60"/>
                </a:solidFill>
                <a:latin typeface="Arial" pitchFamily="34" charset="0"/>
                <a:ea typeface="Arial" pitchFamily="34" charset="-122"/>
                <a:cs typeface="Arial" pitchFamily="34" charset="-120"/>
              </a:rPr>
              <a:t>A team of one, $10M+ in revenue, built on an image model.</a:t>
            </a:r>
            <a:endParaRPr lang="en-US" sz="1350" dirty="0"/>
          </a:p>
        </p:txBody>
      </p:sp>
      <p:sp>
        <p:nvSpPr>
          <p:cNvPr id="10" name="Shape 8"/>
          <p:cNvSpPr/>
          <p:nvPr/>
        </p:nvSpPr>
        <p:spPr>
          <a:xfrm>
            <a:off x="502920" y="2057400"/>
            <a:ext cx="3429000" cy="3931920"/>
          </a:xfrm>
          <a:prstGeom prst="roundRect">
            <a:avLst>
              <a:gd name="adj" fmla="val 1333"/>
            </a:avLst>
          </a:prstGeom>
          <a:solidFill>
            <a:srgbClr val="1E4FFF"/>
          </a:solidFill>
          <a:ln/>
        </p:spPr>
      </p:sp>
      <p:sp>
        <p:nvSpPr>
          <p:cNvPr id="11" name="Text 9"/>
          <p:cNvSpPr txBox="1"/>
          <p:nvPr/>
        </p:nvSpPr>
        <p:spPr>
          <a:xfrm>
            <a:off x="777240" y="2423160"/>
            <a:ext cx="2880360" cy="1005840"/>
          </a:xfrm>
          <a:prstGeom prst="rect">
            <a:avLst/>
          </a:prstGeom>
          <a:noFill/>
          <a:ln/>
        </p:spPr>
        <p:txBody>
          <a:bodyPr wrap="square" lIns="0" tIns="0" rIns="0" bIns="0" rtlCol="0" anchor="t"/>
          <a:lstStyle/>
          <a:p>
            <a:pPr marL="0" indent="0" algn="l">
              <a:buNone/>
            </a:pPr>
            <a:r>
              <a:rPr lang="en-US" sz="4600" b="1" dirty="0">
                <a:solidFill>
                  <a:srgbClr val="FFFFFF"/>
                </a:solidFill>
                <a:latin typeface="Arial" pitchFamily="34" charset="0"/>
                <a:ea typeface="Arial" pitchFamily="34" charset="-122"/>
                <a:cs typeface="Arial" pitchFamily="34" charset="-120"/>
              </a:rPr>
              <a:t>$10M+</a:t>
            </a:r>
            <a:endParaRPr lang="en-US" sz="4600" dirty="0"/>
          </a:p>
        </p:txBody>
      </p:sp>
      <p:sp>
        <p:nvSpPr>
          <p:cNvPr id="12" name="Text 10"/>
          <p:cNvSpPr txBox="1"/>
          <p:nvPr/>
        </p:nvSpPr>
        <p:spPr>
          <a:xfrm>
            <a:off x="777240" y="3474720"/>
            <a:ext cx="2880360" cy="1371600"/>
          </a:xfrm>
          <a:prstGeom prst="rect">
            <a:avLst/>
          </a:prstGeom>
          <a:noFill/>
          <a:ln/>
        </p:spPr>
        <p:txBody>
          <a:bodyPr wrap="square" lIns="0" tIns="0" rIns="0" bIns="0" rtlCol="0" anchor="t"/>
          <a:lstStyle/>
          <a:p>
            <a:pPr marL="0" indent="0" algn="l">
              <a:lnSpc>
                <a:spcPct val="120000"/>
              </a:lnSpc>
              <a:buNone/>
            </a:pPr>
            <a:r>
              <a:rPr lang="en-US" sz="1400" dirty="0">
                <a:solidFill>
                  <a:srgbClr val="E4EAFF"/>
                </a:solidFill>
                <a:latin typeface="Arial" pitchFamily="34" charset="0"/>
                <a:ea typeface="Arial" pitchFamily="34" charset="-122"/>
                <a:cs typeface="Arial" pitchFamily="34" charset="-120"/>
              </a:rPr>
              <a:t>in total revenue since launch, generated by a one-person team</a:t>
            </a:r>
            <a:endParaRPr lang="en-US" sz="1400" dirty="0"/>
          </a:p>
        </p:txBody>
      </p:sp>
      <p:sp>
        <p:nvSpPr>
          <p:cNvPr id="13" name="Text 11"/>
          <p:cNvSpPr txBox="1"/>
          <p:nvPr/>
        </p:nvSpPr>
        <p:spPr>
          <a:xfrm>
            <a:off x="4389120" y="2057400"/>
            <a:ext cx="7299655" cy="457200"/>
          </a:xfrm>
          <a:prstGeom prst="rect">
            <a:avLst/>
          </a:prstGeom>
          <a:noFill/>
          <a:ln/>
        </p:spPr>
        <p:txBody>
          <a:bodyPr wrap="square" lIns="0" tIns="0" rIns="0" bIns="0" rtlCol="0" anchor="t"/>
          <a:lstStyle/>
          <a:p>
            <a:pPr marL="0" indent="0" algn="l">
              <a:buNone/>
            </a:pPr>
            <a:r>
              <a:rPr lang="en-US" sz="1800" b="1" dirty="0">
                <a:solidFill>
                  <a:srgbClr val="1A1A1A"/>
                </a:solidFill>
                <a:latin typeface="Arial" pitchFamily="34" charset="0"/>
                <a:ea typeface="Arial" pitchFamily="34" charset="-122"/>
                <a:cs typeface="Arial" pitchFamily="34" charset="-120"/>
              </a:rPr>
              <a:t>He turned a boring problem into a business.</a:t>
            </a:r>
            <a:endParaRPr lang="en-US" sz="1800" dirty="0"/>
          </a:p>
        </p:txBody>
      </p:sp>
      <p:sp>
        <p:nvSpPr>
          <p:cNvPr id="14" name="Text 12"/>
          <p:cNvSpPr txBox="1"/>
          <p:nvPr/>
        </p:nvSpPr>
        <p:spPr>
          <a:xfrm>
            <a:off x="4389120" y="2587752"/>
            <a:ext cx="7299655" cy="2331720"/>
          </a:xfrm>
          <a:prstGeom prst="rect">
            <a:avLst/>
          </a:prstGeom>
          <a:noFill/>
          <a:ln/>
        </p:spPr>
        <p:txBody>
          <a:bodyPr wrap="square" lIns="0" tIns="0" rIns="0" bIns="0" rtlCol="0" anchor="t"/>
          <a:lstStyle/>
          <a:p>
            <a:pPr marL="0" indent="0" algn="l">
              <a:lnSpc>
                <a:spcPct val="122000"/>
              </a:lnSpc>
              <a:buNone/>
            </a:pPr>
            <a:r>
              <a:rPr lang="en-US" sz="1250" dirty="0">
                <a:solidFill>
                  <a:srgbClr val="262626"/>
                </a:solidFill>
                <a:latin typeface="Arial" pitchFamily="34" charset="0"/>
                <a:ea typeface="Arial" pitchFamily="34" charset="-122"/>
                <a:cs typeface="Arial" pitchFamily="34" charset="-120"/>
              </a:rPr>
              <a:t>Danny Postma had already built and sold one AI startup for seven figures when Stable Diffusion's image-generation models arrived in 2022. After a couple of quick, flashy experiments, he bet on something unglamorous: professional headshots. Upload a few selfies, and a custom-trained image model returns studio-quality corporate photos — no photographer, no studio required. HeadshotPro has since generated more than 17 million headshots across 200,000+ shoots, and is used by sales teams at companies including HubSpot — largely run solo.</a:t>
            </a:r>
            <a:endParaRPr lang="en-US" sz="1250" dirty="0"/>
          </a:p>
        </p:txBody>
      </p:sp>
      <p:sp>
        <p:nvSpPr>
          <p:cNvPr id="15" name="Shape 13"/>
          <p:cNvSpPr/>
          <p:nvPr/>
        </p:nvSpPr>
        <p:spPr>
          <a:xfrm>
            <a:off x="4389120" y="5074920"/>
            <a:ext cx="4142232" cy="402336"/>
          </a:xfrm>
          <a:prstGeom prst="roundRect">
            <a:avLst>
              <a:gd name="adj" fmla="val 18182"/>
            </a:avLst>
          </a:prstGeom>
          <a:ln w="19050">
            <a:solidFill>
              <a:srgbClr val="1E4FFF"/>
            </a:solidFill>
            <a:prstDash val="solid"/>
          </a:ln>
        </p:spPr>
      </p:sp>
      <p:sp>
        <p:nvSpPr>
          <p:cNvPr id="16" name="Text 14"/>
          <p:cNvSpPr txBox="1"/>
          <p:nvPr/>
        </p:nvSpPr>
        <p:spPr>
          <a:xfrm>
            <a:off x="4389120" y="5074920"/>
            <a:ext cx="4142232" cy="402336"/>
          </a:xfrm>
          <a:prstGeom prst="rect">
            <a:avLst/>
          </a:prstGeom>
          <a:noFill/>
          <a:ln/>
        </p:spPr>
        <p:txBody>
          <a:bodyPr wrap="square" lIns="0" tIns="0" rIns="0" bIns="0" rtlCol="0" anchor="ctr"/>
          <a:lstStyle/>
          <a:p>
            <a:pPr marL="0" indent="0" algn="ctr">
              <a:buNone/>
            </a:pPr>
            <a:r>
              <a:rPr lang="en-US" sz="1150" b="1" dirty="0">
                <a:solidFill>
                  <a:srgbClr val="1E4FFF"/>
                </a:solidFill>
                <a:latin typeface="Arial" pitchFamily="34" charset="0"/>
                <a:ea typeface="Arial" pitchFamily="34" charset="-122"/>
                <a:cs typeface="Arial" pitchFamily="34" charset="-120"/>
              </a:rPr>
              <a:t>BUILT ON: Stable Diffusion (custom-trained)</a:t>
            </a:r>
            <a:endParaRPr lang="en-US" sz="1150" dirty="0"/>
          </a:p>
        </p:txBody>
      </p:sp>
      <p:sp>
        <p:nvSpPr>
          <p:cNvPr id="17" name="Text 15"/>
          <p:cNvSpPr txBox="1"/>
          <p:nvPr/>
        </p:nvSpPr>
        <p:spPr>
          <a:xfrm>
            <a:off x="4389120" y="5568696"/>
            <a:ext cx="7299655" cy="502920"/>
          </a:xfrm>
          <a:prstGeom prst="rect">
            <a:avLst/>
          </a:prstGeom>
          <a:noFill/>
          <a:ln/>
        </p:spPr>
        <p:txBody>
          <a:bodyPr wrap="square" lIns="0" tIns="0" rIns="0" bIns="0" rtlCol="0" anchor="t"/>
          <a:lstStyle/>
          <a:p>
            <a:pPr marL="0" indent="0" algn="l">
              <a:lnSpc>
                <a:spcPct val="112000"/>
              </a:lnSpc>
              <a:buNone/>
            </a:pPr>
            <a:r>
              <a:rPr lang="en-US" sz="1030" i="1" dirty="0">
                <a:solidFill>
                  <a:srgbClr val="6E6A60"/>
                </a:solidFill>
                <a:latin typeface="Arial" pitchFamily="34" charset="0"/>
                <a:ea typeface="Arial" pitchFamily="34" charset="-122"/>
                <a:cs typeface="Arial" pitchFamily="34" charset="-120"/>
              </a:rPr>
              <a:t>Instead of calling a generic image API, HeadshotPro fine-tuned its own model on headshot-specific data — a reminder that “everyday AI platform” can mean the open model underneath a product, not just the product itself.</a:t>
            </a:r>
            <a:endParaRPr lang="en-US" sz="10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
    <p:bg>
      <p:bgPr>
        <a:solidFill>
          <a:srgbClr val="F7F4EC"/>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6E6A60"/>
                </a:solidFill>
                <a:latin typeface="Arial" pitchFamily="34" charset="0"/>
                <a:ea typeface="Arial" pitchFamily="34" charset="-122"/>
                <a:cs typeface="Arial" pitchFamily="34" charset="-120"/>
              </a:rPr>
              <a:t>CLASS 1 · AI AS A BUSINESS TOOL</a:t>
            </a:r>
            <a:endParaRPr lang="en-US" sz="1050" dirty="0"/>
          </a:p>
        </p:txBody>
      </p:sp>
      <p:sp>
        <p:nvSpPr>
          <p:cNvPr id="3" name="Shape 1"/>
          <p:cNvSpPr/>
          <p:nvPr/>
        </p:nvSpPr>
        <p:spPr>
          <a:xfrm>
            <a:off x="10561320" y="256032"/>
            <a:ext cx="1170432" cy="384048"/>
          </a:xfrm>
          <a:prstGeom prst="roundRect">
            <a:avLst>
              <a:gd name="adj" fmla="val 19048"/>
            </a:avLst>
          </a:prstGeom>
          <a:solidFill>
            <a:srgbClr val="1E4FFF"/>
          </a:solidFill>
          <a:ln/>
        </p:spPr>
      </p:sp>
      <p:sp>
        <p:nvSpPr>
          <p:cNvPr id="4" name="Text 2"/>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02–06</a:t>
            </a:r>
            <a:endParaRPr lang="en-US" sz="1300" dirty="0"/>
          </a:p>
        </p:txBody>
      </p:sp>
      <p:sp>
        <p:nvSpPr>
          <p:cNvPr id="5" name="Shape 3"/>
          <p:cNvSpPr/>
          <p:nvPr/>
        </p:nvSpPr>
        <p:spPr>
          <a:xfrm>
            <a:off x="502920" y="6446520"/>
            <a:ext cx="11183112" cy="0"/>
          </a:xfrm>
          <a:prstGeom prst="line">
            <a:avLst/>
          </a:prstGeom>
          <a:noFill/>
          <a:ln w="9525">
            <a:solidFill>
              <a:srgbClr val="D8D3C5"/>
            </a:solidFill>
            <a:prstDash val="solid"/>
          </a:ln>
        </p:spPr>
      </p:sp>
      <p:sp>
        <p:nvSpPr>
          <p:cNvPr id="6" name="Text 4"/>
          <p:cNvSpPr txBox="1"/>
          <p:nvPr/>
        </p:nvSpPr>
        <p:spPr>
          <a:xfrm>
            <a:off x="502920" y="6492240"/>
            <a:ext cx="7315200" cy="274320"/>
          </a:xfrm>
          <a:prstGeom prst="rect">
            <a:avLst/>
          </a:prstGeom>
          <a:noFill/>
          <a:ln/>
        </p:spPr>
        <p:txBody>
          <a:bodyPr wrap="square" lIns="0" tIns="0" rIns="0" bIns="0" rtlCol="0" anchor="ctr"/>
          <a:lstStyle/>
          <a:p>
            <a:pPr marL="0" indent="0">
              <a:buNone/>
            </a:pPr>
            <a:r>
              <a:rPr lang="en-US" sz="900" kern="0" spc="100" dirty="0">
                <a:solidFill>
                  <a:srgbClr val="6E6A60"/>
                </a:solidFill>
                <a:latin typeface="Arial" pitchFamily="34" charset="0"/>
                <a:ea typeface="Arial" pitchFamily="34" charset="-122"/>
                <a:cs typeface="Arial" pitchFamily="34" charset="-120"/>
              </a:rPr>
              <a:t>·  IUT DHAKA</a:t>
            </a:r>
            <a:endParaRPr lang="en-US" sz="900" dirty="0"/>
          </a:p>
        </p:txBody>
      </p:sp>
      <p:sp>
        <p:nvSpPr>
          <p:cNvPr id="7" name="Text 5"/>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03</a:t>
            </a:r>
            <a:endParaRPr lang="en-US" sz="900" dirty="0"/>
          </a:p>
        </p:txBody>
      </p:sp>
      <p:sp>
        <p:nvSpPr>
          <p:cNvPr id="8" name="Text 6"/>
          <p:cNvSpPr txBox="1"/>
          <p:nvPr/>
        </p:nvSpPr>
        <p:spPr>
          <a:xfrm>
            <a:off x="502920" y="713232"/>
            <a:ext cx="10607040" cy="868680"/>
          </a:xfrm>
          <a:prstGeom prst="rect">
            <a:avLst/>
          </a:prstGeom>
          <a:noFill/>
          <a:ln/>
        </p:spPr>
        <p:txBody>
          <a:bodyPr wrap="square" lIns="0" tIns="0" rIns="0" bIns="0" rtlCol="0" anchor="ctr"/>
          <a:lstStyle/>
          <a:p>
            <a:pPr marL="0" indent="0">
              <a:lnSpc>
                <a:spcPct val="102000"/>
              </a:lnSpc>
              <a:buNone/>
            </a:pPr>
            <a:r>
              <a:rPr lang="en-US" sz="3400" b="1" dirty="0">
                <a:solidFill>
                  <a:srgbClr val="1A1A1A"/>
                </a:solidFill>
                <a:latin typeface="Arial" pitchFamily="34" charset="0"/>
                <a:ea typeface="Arial" pitchFamily="34" charset="-122"/>
                <a:cs typeface="Arial" pitchFamily="34" charset="-120"/>
              </a:rPr>
              <a:t>Meet Your Co-Pilot</a:t>
            </a:r>
            <a:endParaRPr lang="en-US" sz="3400" dirty="0"/>
          </a:p>
        </p:txBody>
      </p:sp>
      <p:sp>
        <p:nvSpPr>
          <p:cNvPr id="9" name="Shape 7"/>
          <p:cNvSpPr/>
          <p:nvPr/>
        </p:nvSpPr>
        <p:spPr>
          <a:xfrm>
            <a:off x="502920" y="1828800"/>
            <a:ext cx="5212080" cy="2331720"/>
          </a:xfrm>
          <a:prstGeom prst="roundRect">
            <a:avLst>
              <a:gd name="adj" fmla="val 3137"/>
            </a:avLst>
          </a:prstGeom>
          <a:solidFill>
            <a:srgbClr val="EDE9DE"/>
          </a:solidFill>
          <a:ln/>
        </p:spPr>
      </p:sp>
      <p:sp>
        <p:nvSpPr>
          <p:cNvPr id="10" name="Shape 8"/>
          <p:cNvSpPr/>
          <p:nvPr/>
        </p:nvSpPr>
        <p:spPr>
          <a:xfrm>
            <a:off x="777240" y="2084832"/>
            <a:ext cx="1417320" cy="329184"/>
          </a:xfrm>
          <a:prstGeom prst="roundRect">
            <a:avLst>
              <a:gd name="adj" fmla="val 50000"/>
            </a:avLst>
          </a:prstGeom>
          <a:solidFill>
            <a:srgbClr val="1E4FFF"/>
          </a:solidFill>
          <a:ln/>
        </p:spPr>
      </p:sp>
      <p:sp>
        <p:nvSpPr>
          <p:cNvPr id="11" name="Text 9"/>
          <p:cNvSpPr txBox="1"/>
          <p:nvPr/>
        </p:nvSpPr>
        <p:spPr>
          <a:xfrm>
            <a:off x="777240" y="2084832"/>
            <a:ext cx="1417320" cy="329184"/>
          </a:xfrm>
          <a:prstGeom prst="rect">
            <a:avLst/>
          </a:prstGeom>
          <a:noFill/>
          <a:ln/>
        </p:spPr>
        <p:txBody>
          <a:bodyPr wrap="square" lIns="0" tIns="0" rIns="0" bIns="0" rtlCol="0" anchor="ctr"/>
          <a:lstStyle/>
          <a:p>
            <a:pPr marL="0" indent="0" algn="ctr">
              <a:buNone/>
            </a:pPr>
            <a:endParaRPr lang="en-US" sz="1100" dirty="0"/>
          </a:p>
        </p:txBody>
      </p:sp>
      <p:sp>
        <p:nvSpPr>
          <p:cNvPr id="12" name="Text 10"/>
          <p:cNvSpPr txBox="1"/>
          <p:nvPr/>
        </p:nvSpPr>
        <p:spPr>
          <a:xfrm>
            <a:off x="777240" y="2606040"/>
            <a:ext cx="4663440" cy="365760"/>
          </a:xfrm>
          <a:prstGeom prst="rect">
            <a:avLst/>
          </a:prstGeom>
          <a:noFill/>
          <a:ln/>
        </p:spPr>
        <p:txBody>
          <a:bodyPr wrap="square" lIns="0" tIns="0" rIns="0" bIns="0" rtlCol="0" anchor="ctr"/>
          <a:lstStyle/>
          <a:p>
            <a:pPr marL="0" indent="0">
              <a:buNone/>
            </a:pPr>
            <a:r>
              <a:rPr lang="en-US" sz="1600" b="1" dirty="0">
                <a:solidFill>
                  <a:srgbClr val="1A1A1A"/>
                </a:solidFill>
                <a:latin typeface="Arial" pitchFamily="34" charset="0"/>
                <a:ea typeface="Arial" pitchFamily="34" charset="-122"/>
                <a:cs typeface="Arial" pitchFamily="34" charset="-120"/>
              </a:rPr>
              <a:t>Tell your partner:</a:t>
            </a:r>
            <a:endParaRPr lang="en-US" sz="1600" dirty="0"/>
          </a:p>
        </p:txBody>
      </p:sp>
      <p:sp>
        <p:nvSpPr>
          <p:cNvPr id="13" name="Text 11"/>
          <p:cNvSpPr txBox="1"/>
          <p:nvPr/>
        </p:nvSpPr>
        <p:spPr>
          <a:xfrm>
            <a:off x="777240" y="2999232"/>
            <a:ext cx="4663440" cy="100584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Your name</a:t>
            </a:r>
            <a:endParaRPr lang="en-US" sz="1500" dirty="0"/>
          </a:p>
          <a:p>
            <a:pPr marL="228600" indent="-2286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Your role or study area</a:t>
            </a:r>
            <a:endParaRPr lang="en-US" sz="1500" dirty="0"/>
          </a:p>
          <a:p>
            <a:pPr marL="228600" indent="-2286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One task you do repeatedly</a:t>
            </a:r>
            <a:endParaRPr lang="en-US" sz="1500" dirty="0"/>
          </a:p>
        </p:txBody>
      </p:sp>
      <p:sp>
        <p:nvSpPr>
          <p:cNvPr id="14" name="Shape 12"/>
          <p:cNvSpPr/>
          <p:nvPr/>
        </p:nvSpPr>
        <p:spPr>
          <a:xfrm>
            <a:off x="5989320" y="1828800"/>
            <a:ext cx="5715000" cy="2331720"/>
          </a:xfrm>
          <a:prstGeom prst="roundRect">
            <a:avLst>
              <a:gd name="adj" fmla="val 3137"/>
            </a:avLst>
          </a:prstGeom>
          <a:solidFill>
            <a:srgbClr val="1A1A1A"/>
          </a:solidFill>
          <a:ln/>
        </p:spPr>
      </p:sp>
      <p:sp>
        <p:nvSpPr>
          <p:cNvPr id="15" name="Text 13"/>
          <p:cNvSpPr txBox="1"/>
          <p:nvPr/>
        </p:nvSpPr>
        <p:spPr>
          <a:xfrm>
            <a:off x="6263640" y="2029968"/>
            <a:ext cx="5212080" cy="36576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Which describes you?</a:t>
            </a:r>
            <a:endParaRPr lang="en-US" sz="1500" dirty="0"/>
          </a:p>
        </p:txBody>
      </p:sp>
      <p:sp>
        <p:nvSpPr>
          <p:cNvPr id="16" name="Shape 14"/>
          <p:cNvSpPr/>
          <p:nvPr/>
        </p:nvSpPr>
        <p:spPr>
          <a:xfrm>
            <a:off x="6309360" y="2542032"/>
            <a:ext cx="128016" cy="128016"/>
          </a:xfrm>
          <a:prstGeom prst="ellipse">
            <a:avLst/>
          </a:prstGeom>
          <a:solidFill>
            <a:srgbClr val="1E4FFF"/>
          </a:solidFill>
          <a:ln/>
        </p:spPr>
      </p:sp>
      <p:sp>
        <p:nvSpPr>
          <p:cNvPr id="17" name="Text 15"/>
          <p:cNvSpPr txBox="1"/>
          <p:nvPr/>
        </p:nvSpPr>
        <p:spPr>
          <a:xfrm>
            <a:off x="6565392" y="2432304"/>
            <a:ext cx="4846320" cy="320040"/>
          </a:xfrm>
          <a:prstGeom prst="rect">
            <a:avLst/>
          </a:prstGeom>
          <a:noFill/>
          <a:ln/>
        </p:spPr>
        <p:txBody>
          <a:bodyPr wrap="square" lIns="0" tIns="0" rIns="0" bIns="0" rtlCol="0" anchor="ctr"/>
          <a:lstStyle/>
          <a:p>
            <a:pPr marL="0" indent="0">
              <a:buNone/>
            </a:pPr>
            <a:r>
              <a:rPr lang="en-US" sz="1350" dirty="0">
                <a:solidFill>
                  <a:srgbClr val="E6E3D8"/>
                </a:solidFill>
                <a:latin typeface="Arial" pitchFamily="34" charset="0"/>
                <a:ea typeface="Arial" pitchFamily="34" charset="-122"/>
                <a:cs typeface="Arial" pitchFamily="34" charset="-120"/>
              </a:rPr>
              <a:t>Never used AI</a:t>
            </a:r>
            <a:endParaRPr lang="en-US" sz="1350" dirty="0"/>
          </a:p>
        </p:txBody>
      </p:sp>
      <p:sp>
        <p:nvSpPr>
          <p:cNvPr id="18" name="Shape 16"/>
          <p:cNvSpPr/>
          <p:nvPr/>
        </p:nvSpPr>
        <p:spPr>
          <a:xfrm>
            <a:off x="6309360" y="2944368"/>
            <a:ext cx="128016" cy="128016"/>
          </a:xfrm>
          <a:prstGeom prst="ellipse">
            <a:avLst/>
          </a:prstGeom>
          <a:solidFill>
            <a:srgbClr val="1E4FFF"/>
          </a:solidFill>
          <a:ln/>
        </p:spPr>
      </p:sp>
      <p:sp>
        <p:nvSpPr>
          <p:cNvPr id="19" name="Text 17"/>
          <p:cNvSpPr txBox="1"/>
          <p:nvPr/>
        </p:nvSpPr>
        <p:spPr>
          <a:xfrm>
            <a:off x="6565392" y="2834640"/>
            <a:ext cx="4846320" cy="320040"/>
          </a:xfrm>
          <a:prstGeom prst="rect">
            <a:avLst/>
          </a:prstGeom>
          <a:noFill/>
          <a:ln/>
        </p:spPr>
        <p:txBody>
          <a:bodyPr wrap="square" lIns="0" tIns="0" rIns="0" bIns="0" rtlCol="0" anchor="ctr"/>
          <a:lstStyle/>
          <a:p>
            <a:pPr marL="0" indent="0">
              <a:buNone/>
            </a:pPr>
            <a:r>
              <a:rPr lang="en-US" sz="1350" dirty="0">
                <a:solidFill>
                  <a:srgbClr val="E6E3D8"/>
                </a:solidFill>
                <a:latin typeface="Arial" pitchFamily="34" charset="0"/>
                <a:ea typeface="Arial" pitchFamily="34" charset="-122"/>
                <a:cs typeface="Arial" pitchFamily="34" charset="-120"/>
              </a:rPr>
              <a:t>Tried it occasionally</a:t>
            </a:r>
            <a:endParaRPr lang="en-US" sz="1350" dirty="0"/>
          </a:p>
        </p:txBody>
      </p:sp>
      <p:sp>
        <p:nvSpPr>
          <p:cNvPr id="20" name="Shape 18"/>
          <p:cNvSpPr/>
          <p:nvPr/>
        </p:nvSpPr>
        <p:spPr>
          <a:xfrm>
            <a:off x="6309360" y="3346704"/>
            <a:ext cx="128016" cy="128016"/>
          </a:xfrm>
          <a:prstGeom prst="ellipse">
            <a:avLst/>
          </a:prstGeom>
          <a:solidFill>
            <a:srgbClr val="1E4FFF"/>
          </a:solidFill>
          <a:ln/>
        </p:spPr>
      </p:sp>
      <p:sp>
        <p:nvSpPr>
          <p:cNvPr id="21" name="Text 19"/>
          <p:cNvSpPr txBox="1"/>
          <p:nvPr/>
        </p:nvSpPr>
        <p:spPr>
          <a:xfrm>
            <a:off x="6565392" y="3236976"/>
            <a:ext cx="4846320" cy="320040"/>
          </a:xfrm>
          <a:prstGeom prst="rect">
            <a:avLst/>
          </a:prstGeom>
          <a:noFill/>
          <a:ln/>
        </p:spPr>
        <p:txBody>
          <a:bodyPr wrap="square" lIns="0" tIns="0" rIns="0" bIns="0" rtlCol="0" anchor="ctr"/>
          <a:lstStyle/>
          <a:p>
            <a:pPr marL="0" indent="0">
              <a:buNone/>
            </a:pPr>
            <a:r>
              <a:rPr lang="en-US" sz="1350" dirty="0">
                <a:solidFill>
                  <a:srgbClr val="E6E3D8"/>
                </a:solidFill>
                <a:latin typeface="Arial" pitchFamily="34" charset="0"/>
                <a:ea typeface="Arial" pitchFamily="34" charset="-122"/>
                <a:cs typeface="Arial" pitchFamily="34" charset="-120"/>
              </a:rPr>
              <a:t>Use it regularly</a:t>
            </a:r>
            <a:endParaRPr lang="en-US" sz="1350" dirty="0"/>
          </a:p>
        </p:txBody>
      </p:sp>
      <p:sp>
        <p:nvSpPr>
          <p:cNvPr id="22" name="Shape 20"/>
          <p:cNvSpPr/>
          <p:nvPr/>
        </p:nvSpPr>
        <p:spPr>
          <a:xfrm>
            <a:off x="6309360" y="3749040"/>
            <a:ext cx="128016" cy="128016"/>
          </a:xfrm>
          <a:prstGeom prst="ellipse">
            <a:avLst/>
          </a:prstGeom>
          <a:solidFill>
            <a:srgbClr val="1E4FFF"/>
          </a:solidFill>
          <a:ln/>
        </p:spPr>
      </p:sp>
      <p:sp>
        <p:nvSpPr>
          <p:cNvPr id="23" name="Text 21"/>
          <p:cNvSpPr txBox="1"/>
          <p:nvPr/>
        </p:nvSpPr>
        <p:spPr>
          <a:xfrm>
            <a:off x="6565392" y="3639312"/>
            <a:ext cx="4846320" cy="320040"/>
          </a:xfrm>
          <a:prstGeom prst="rect">
            <a:avLst/>
          </a:prstGeom>
          <a:noFill/>
          <a:ln/>
        </p:spPr>
        <p:txBody>
          <a:bodyPr wrap="square" lIns="0" tIns="0" rIns="0" bIns="0" rtlCol="0" anchor="ctr"/>
          <a:lstStyle/>
          <a:p>
            <a:pPr marL="0" indent="0">
              <a:buNone/>
            </a:pPr>
            <a:r>
              <a:rPr lang="en-US" sz="1350" dirty="0">
                <a:solidFill>
                  <a:srgbClr val="E6E3D8"/>
                </a:solidFill>
                <a:latin typeface="Arial" pitchFamily="34" charset="0"/>
                <a:ea typeface="Arial" pitchFamily="34" charset="-122"/>
                <a:cs typeface="Arial" pitchFamily="34" charset="-120"/>
              </a:rPr>
              <a:t>Use multiple tools</a:t>
            </a:r>
            <a:endParaRPr lang="en-US" sz="1350" dirty="0"/>
          </a:p>
        </p:txBody>
      </p:sp>
      <p:sp>
        <p:nvSpPr>
          <p:cNvPr id="24" name="Text 22"/>
          <p:cNvSpPr txBox="1"/>
          <p:nvPr/>
        </p:nvSpPr>
        <p:spPr>
          <a:xfrm>
            <a:off x="502920" y="4434840"/>
            <a:ext cx="2926080" cy="320040"/>
          </a:xfrm>
          <a:prstGeom prst="rect">
            <a:avLst/>
          </a:prstGeom>
          <a:noFill/>
          <a:ln/>
        </p:spPr>
        <p:txBody>
          <a:bodyPr wrap="square" lIns="0" tIns="0" rIns="0" bIns="0" rtlCol="0" anchor="ctr"/>
          <a:lstStyle/>
          <a:p>
            <a:pPr marL="0" indent="0">
              <a:buNone/>
            </a:pPr>
            <a:r>
              <a:rPr lang="en-US" sz="1350" b="1" dirty="0">
                <a:solidFill>
                  <a:srgbClr val="6E6A60"/>
                </a:solidFill>
                <a:latin typeface="Arial" pitchFamily="34" charset="0"/>
                <a:ea typeface="Arial" pitchFamily="34" charset="-122"/>
                <a:cs typeface="Arial" pitchFamily="34" charset="-120"/>
              </a:rPr>
              <a:t>Confidence today, 1–5:</a:t>
            </a:r>
            <a:endParaRPr lang="en-US" sz="1350" dirty="0"/>
          </a:p>
        </p:txBody>
      </p:sp>
      <p:sp>
        <p:nvSpPr>
          <p:cNvPr id="25" name="Shape 23"/>
          <p:cNvSpPr/>
          <p:nvPr/>
        </p:nvSpPr>
        <p:spPr>
          <a:xfrm>
            <a:off x="3520440" y="4389120"/>
            <a:ext cx="438912" cy="438912"/>
          </a:xfrm>
          <a:prstGeom prst="ellipse">
            <a:avLst/>
          </a:prstGeom>
          <a:solidFill>
            <a:srgbClr val="EDE9DE"/>
          </a:solidFill>
          <a:ln w="19050">
            <a:solidFill>
              <a:srgbClr val="1E4FFF"/>
            </a:solidFill>
            <a:prstDash val="solid"/>
          </a:ln>
        </p:spPr>
      </p:sp>
      <p:sp>
        <p:nvSpPr>
          <p:cNvPr id="26" name="Text 24"/>
          <p:cNvSpPr txBox="1"/>
          <p:nvPr/>
        </p:nvSpPr>
        <p:spPr>
          <a:xfrm>
            <a:off x="3520440" y="4389120"/>
            <a:ext cx="438912" cy="438912"/>
          </a:xfrm>
          <a:prstGeom prst="rect">
            <a:avLst/>
          </a:prstGeom>
          <a:noFill/>
          <a:ln/>
        </p:spPr>
        <p:txBody>
          <a:bodyPr wrap="square" lIns="0" tIns="0" rIns="0" bIns="0" rtlCol="0" anchor="ctr"/>
          <a:lstStyle/>
          <a:p>
            <a:pPr marL="0" indent="0" algn="ctr">
              <a:buNone/>
            </a:pPr>
            <a:r>
              <a:rPr lang="en-US" sz="1300" b="1" dirty="0">
                <a:solidFill>
                  <a:srgbClr val="1E4FFF"/>
                </a:solidFill>
                <a:latin typeface="Arial" pitchFamily="34" charset="0"/>
                <a:ea typeface="Arial" pitchFamily="34" charset="-122"/>
                <a:cs typeface="Arial" pitchFamily="34" charset="-120"/>
              </a:rPr>
              <a:t>1</a:t>
            </a:r>
            <a:endParaRPr lang="en-US" sz="1300" dirty="0"/>
          </a:p>
        </p:txBody>
      </p:sp>
      <p:sp>
        <p:nvSpPr>
          <p:cNvPr id="27" name="Shape 25"/>
          <p:cNvSpPr/>
          <p:nvPr/>
        </p:nvSpPr>
        <p:spPr>
          <a:xfrm>
            <a:off x="4087368" y="4389120"/>
            <a:ext cx="438912" cy="438912"/>
          </a:xfrm>
          <a:prstGeom prst="ellipse">
            <a:avLst/>
          </a:prstGeom>
          <a:solidFill>
            <a:srgbClr val="EDE9DE"/>
          </a:solidFill>
          <a:ln w="19050">
            <a:solidFill>
              <a:srgbClr val="1E4FFF"/>
            </a:solidFill>
            <a:prstDash val="solid"/>
          </a:ln>
        </p:spPr>
      </p:sp>
      <p:sp>
        <p:nvSpPr>
          <p:cNvPr id="28" name="Text 26"/>
          <p:cNvSpPr txBox="1"/>
          <p:nvPr/>
        </p:nvSpPr>
        <p:spPr>
          <a:xfrm>
            <a:off x="4087368" y="4389120"/>
            <a:ext cx="438912" cy="438912"/>
          </a:xfrm>
          <a:prstGeom prst="rect">
            <a:avLst/>
          </a:prstGeom>
          <a:noFill/>
          <a:ln/>
        </p:spPr>
        <p:txBody>
          <a:bodyPr wrap="square" lIns="0" tIns="0" rIns="0" bIns="0" rtlCol="0" anchor="ctr"/>
          <a:lstStyle/>
          <a:p>
            <a:pPr marL="0" indent="0" algn="ctr">
              <a:buNone/>
            </a:pPr>
            <a:r>
              <a:rPr lang="en-US" sz="1300" b="1" dirty="0">
                <a:solidFill>
                  <a:srgbClr val="1E4FFF"/>
                </a:solidFill>
                <a:latin typeface="Arial" pitchFamily="34" charset="0"/>
                <a:ea typeface="Arial" pitchFamily="34" charset="-122"/>
                <a:cs typeface="Arial" pitchFamily="34" charset="-120"/>
              </a:rPr>
              <a:t>2</a:t>
            </a:r>
            <a:endParaRPr lang="en-US" sz="1300" dirty="0"/>
          </a:p>
        </p:txBody>
      </p:sp>
      <p:sp>
        <p:nvSpPr>
          <p:cNvPr id="29" name="Shape 27"/>
          <p:cNvSpPr/>
          <p:nvPr/>
        </p:nvSpPr>
        <p:spPr>
          <a:xfrm>
            <a:off x="4654296" y="4389120"/>
            <a:ext cx="438912" cy="438912"/>
          </a:xfrm>
          <a:prstGeom prst="ellipse">
            <a:avLst/>
          </a:prstGeom>
          <a:solidFill>
            <a:srgbClr val="EDE9DE"/>
          </a:solidFill>
          <a:ln w="19050">
            <a:solidFill>
              <a:srgbClr val="1E4FFF"/>
            </a:solidFill>
            <a:prstDash val="solid"/>
          </a:ln>
        </p:spPr>
      </p:sp>
      <p:sp>
        <p:nvSpPr>
          <p:cNvPr id="30" name="Text 28"/>
          <p:cNvSpPr txBox="1"/>
          <p:nvPr/>
        </p:nvSpPr>
        <p:spPr>
          <a:xfrm>
            <a:off x="4654296" y="4389120"/>
            <a:ext cx="438912" cy="438912"/>
          </a:xfrm>
          <a:prstGeom prst="rect">
            <a:avLst/>
          </a:prstGeom>
          <a:noFill/>
          <a:ln/>
        </p:spPr>
        <p:txBody>
          <a:bodyPr wrap="square" lIns="0" tIns="0" rIns="0" bIns="0" rtlCol="0" anchor="ctr"/>
          <a:lstStyle/>
          <a:p>
            <a:pPr marL="0" indent="0" algn="ctr">
              <a:buNone/>
            </a:pPr>
            <a:r>
              <a:rPr lang="en-US" sz="1300" b="1" dirty="0">
                <a:solidFill>
                  <a:srgbClr val="1E4FFF"/>
                </a:solidFill>
                <a:latin typeface="Arial" pitchFamily="34" charset="0"/>
                <a:ea typeface="Arial" pitchFamily="34" charset="-122"/>
                <a:cs typeface="Arial" pitchFamily="34" charset="-120"/>
              </a:rPr>
              <a:t>3</a:t>
            </a:r>
            <a:endParaRPr lang="en-US" sz="1300" dirty="0"/>
          </a:p>
        </p:txBody>
      </p:sp>
      <p:sp>
        <p:nvSpPr>
          <p:cNvPr id="31" name="Shape 29"/>
          <p:cNvSpPr/>
          <p:nvPr/>
        </p:nvSpPr>
        <p:spPr>
          <a:xfrm>
            <a:off x="5221224" y="4389120"/>
            <a:ext cx="438912" cy="438912"/>
          </a:xfrm>
          <a:prstGeom prst="ellipse">
            <a:avLst/>
          </a:prstGeom>
          <a:solidFill>
            <a:srgbClr val="EDE9DE"/>
          </a:solidFill>
          <a:ln w="19050">
            <a:solidFill>
              <a:srgbClr val="1E4FFF"/>
            </a:solidFill>
            <a:prstDash val="solid"/>
          </a:ln>
        </p:spPr>
      </p:sp>
      <p:sp>
        <p:nvSpPr>
          <p:cNvPr id="32" name="Text 30"/>
          <p:cNvSpPr txBox="1"/>
          <p:nvPr/>
        </p:nvSpPr>
        <p:spPr>
          <a:xfrm>
            <a:off x="5221224" y="4389120"/>
            <a:ext cx="438912" cy="438912"/>
          </a:xfrm>
          <a:prstGeom prst="rect">
            <a:avLst/>
          </a:prstGeom>
          <a:noFill/>
          <a:ln/>
        </p:spPr>
        <p:txBody>
          <a:bodyPr wrap="square" lIns="0" tIns="0" rIns="0" bIns="0" rtlCol="0" anchor="ctr"/>
          <a:lstStyle/>
          <a:p>
            <a:pPr marL="0" indent="0" algn="ctr">
              <a:buNone/>
            </a:pPr>
            <a:r>
              <a:rPr lang="en-US" sz="1300" b="1" dirty="0">
                <a:solidFill>
                  <a:srgbClr val="1E4FFF"/>
                </a:solidFill>
                <a:latin typeface="Arial" pitchFamily="34" charset="0"/>
                <a:ea typeface="Arial" pitchFamily="34" charset="-122"/>
                <a:cs typeface="Arial" pitchFamily="34" charset="-120"/>
              </a:rPr>
              <a:t>4</a:t>
            </a:r>
            <a:endParaRPr lang="en-US" sz="1300" dirty="0"/>
          </a:p>
        </p:txBody>
      </p:sp>
      <p:sp>
        <p:nvSpPr>
          <p:cNvPr id="33" name="Shape 31"/>
          <p:cNvSpPr/>
          <p:nvPr/>
        </p:nvSpPr>
        <p:spPr>
          <a:xfrm>
            <a:off x="5788152" y="4389120"/>
            <a:ext cx="438912" cy="438912"/>
          </a:xfrm>
          <a:prstGeom prst="ellipse">
            <a:avLst/>
          </a:prstGeom>
          <a:solidFill>
            <a:srgbClr val="EDE9DE"/>
          </a:solidFill>
          <a:ln w="19050">
            <a:solidFill>
              <a:srgbClr val="1E4FFF"/>
            </a:solidFill>
            <a:prstDash val="solid"/>
          </a:ln>
        </p:spPr>
      </p:sp>
      <p:sp>
        <p:nvSpPr>
          <p:cNvPr id="34" name="Text 32"/>
          <p:cNvSpPr txBox="1"/>
          <p:nvPr/>
        </p:nvSpPr>
        <p:spPr>
          <a:xfrm>
            <a:off x="5788152" y="4389120"/>
            <a:ext cx="438912" cy="438912"/>
          </a:xfrm>
          <a:prstGeom prst="rect">
            <a:avLst/>
          </a:prstGeom>
          <a:noFill/>
          <a:ln/>
        </p:spPr>
        <p:txBody>
          <a:bodyPr wrap="square" lIns="0" tIns="0" rIns="0" bIns="0" rtlCol="0" anchor="ctr"/>
          <a:lstStyle/>
          <a:p>
            <a:pPr marL="0" indent="0" algn="ctr">
              <a:buNone/>
            </a:pPr>
            <a:r>
              <a:rPr lang="en-US" sz="1300" b="1" dirty="0">
                <a:solidFill>
                  <a:srgbClr val="1E4FFF"/>
                </a:solidFill>
                <a:latin typeface="Arial" pitchFamily="34" charset="0"/>
                <a:ea typeface="Arial" pitchFamily="34" charset="-122"/>
                <a:cs typeface="Arial" pitchFamily="34" charset="-120"/>
              </a:rPr>
              <a:t>5</a:t>
            </a:r>
            <a:endParaRPr lang="en-US" sz="1300" dirty="0"/>
          </a:p>
        </p:txBody>
      </p:sp>
      <p:sp>
        <p:nvSpPr>
          <p:cNvPr id="35" name="Text 33"/>
          <p:cNvSpPr txBox="1"/>
          <p:nvPr/>
        </p:nvSpPr>
        <p:spPr>
          <a:xfrm>
            <a:off x="502920" y="5257800"/>
            <a:ext cx="10241280" cy="548640"/>
          </a:xfrm>
          <a:prstGeom prst="rect">
            <a:avLst/>
          </a:prstGeom>
          <a:noFill/>
          <a:ln/>
        </p:spPr>
        <p:txBody>
          <a:bodyPr wrap="square" lIns="0" tIns="0" rIns="0" bIns="0" rtlCol="0" anchor="ctr"/>
          <a:lstStyle/>
          <a:p>
            <a:pPr marL="0" indent="0">
              <a:buNone/>
            </a:pPr>
            <a:r>
              <a:rPr lang="en-US" sz="1300" i="1" dirty="0">
                <a:solidFill>
                  <a:srgbClr val="6E6A60"/>
                </a:solidFill>
                <a:latin typeface="Arial" pitchFamily="34" charset="0"/>
                <a:ea typeface="Arial" pitchFamily="34" charset="-122"/>
                <a:cs typeface="Arial" pitchFamily="34" charset="-120"/>
              </a:rPr>
              <a:t>All experience levels are welcome in this room — you'll each do your own work, and partners help each other check it.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a:extLst>
            <a:ext uri="{FF2B5EF4-FFF2-40B4-BE49-F238E27FC236}">
              <a16:creationId xmlns:a16="http://schemas.microsoft.com/office/drawing/2014/main" id="{E08908CB-0C8C-3500-24F7-203B763D34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8415E31-5FAE-9F1B-7D59-2B68F7300106}"/>
              </a:ext>
            </a:extLst>
          </p:cNvPr>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6E6A60"/>
                </a:solidFill>
                <a:latin typeface="Arial" pitchFamily="34" charset="0"/>
                <a:ea typeface="Arial" pitchFamily="34" charset="-122"/>
                <a:cs typeface="Arial" pitchFamily="34" charset="-120"/>
              </a:rPr>
              <a:t>CLASS 1 · AI AS A BUSINESS TOOL</a:t>
            </a:r>
            <a:endParaRPr lang="en-US" sz="1050" dirty="0"/>
          </a:p>
        </p:txBody>
      </p:sp>
      <p:sp>
        <p:nvSpPr>
          <p:cNvPr id="3" name="Shape 1">
            <a:extLst>
              <a:ext uri="{FF2B5EF4-FFF2-40B4-BE49-F238E27FC236}">
                <a16:creationId xmlns:a16="http://schemas.microsoft.com/office/drawing/2014/main" id="{5EDF88F9-5F80-30E4-0D84-6D4192F8EBA6}"/>
              </a:ext>
            </a:extLst>
          </p:cNvPr>
          <p:cNvSpPr/>
          <p:nvPr/>
        </p:nvSpPr>
        <p:spPr>
          <a:xfrm>
            <a:off x="10561320" y="256032"/>
            <a:ext cx="1170432" cy="384048"/>
          </a:xfrm>
          <a:prstGeom prst="roundRect">
            <a:avLst>
              <a:gd name="adj" fmla="val 19048"/>
            </a:avLst>
          </a:prstGeom>
          <a:solidFill>
            <a:srgbClr val="1E4FFF"/>
          </a:solidFill>
          <a:ln/>
        </p:spPr>
      </p:sp>
      <p:sp>
        <p:nvSpPr>
          <p:cNvPr id="4" name="Text 2">
            <a:extLst>
              <a:ext uri="{FF2B5EF4-FFF2-40B4-BE49-F238E27FC236}">
                <a16:creationId xmlns:a16="http://schemas.microsoft.com/office/drawing/2014/main" id="{39C6C299-0825-F401-0C89-39FD35DF1DB8}"/>
              </a:ext>
            </a:extLst>
          </p:cNvPr>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02–06</a:t>
            </a:r>
            <a:endParaRPr lang="en-US" sz="1300" dirty="0"/>
          </a:p>
        </p:txBody>
      </p:sp>
      <p:sp>
        <p:nvSpPr>
          <p:cNvPr id="5" name="Shape 3">
            <a:extLst>
              <a:ext uri="{FF2B5EF4-FFF2-40B4-BE49-F238E27FC236}">
                <a16:creationId xmlns:a16="http://schemas.microsoft.com/office/drawing/2014/main" id="{4467A752-96A4-97CA-E3BD-A22862769C20}"/>
              </a:ext>
            </a:extLst>
          </p:cNvPr>
          <p:cNvSpPr/>
          <p:nvPr/>
        </p:nvSpPr>
        <p:spPr>
          <a:xfrm>
            <a:off x="502920" y="6446520"/>
            <a:ext cx="11183112" cy="0"/>
          </a:xfrm>
          <a:prstGeom prst="line">
            <a:avLst/>
          </a:prstGeom>
          <a:noFill/>
          <a:ln w="9525">
            <a:solidFill>
              <a:srgbClr val="D8D3C5"/>
            </a:solidFill>
            <a:prstDash val="solid"/>
          </a:ln>
        </p:spPr>
      </p:sp>
      <p:sp>
        <p:nvSpPr>
          <p:cNvPr id="6" name="Text 4">
            <a:extLst>
              <a:ext uri="{FF2B5EF4-FFF2-40B4-BE49-F238E27FC236}">
                <a16:creationId xmlns:a16="http://schemas.microsoft.com/office/drawing/2014/main" id="{E3ED8E65-84D8-0B99-3B5C-560850612D4A}"/>
              </a:ext>
            </a:extLst>
          </p:cNvPr>
          <p:cNvSpPr txBox="1"/>
          <p:nvPr/>
        </p:nvSpPr>
        <p:spPr>
          <a:xfrm>
            <a:off x="502920" y="6492240"/>
            <a:ext cx="7315200" cy="274320"/>
          </a:xfrm>
          <a:prstGeom prst="rect">
            <a:avLst/>
          </a:prstGeom>
          <a:noFill/>
          <a:ln/>
        </p:spPr>
        <p:txBody>
          <a:bodyPr wrap="square" lIns="0" tIns="0" rIns="0" bIns="0" rtlCol="0" anchor="ctr"/>
          <a:lstStyle/>
          <a:p>
            <a:pPr marL="0" indent="0">
              <a:buNone/>
            </a:pPr>
            <a:r>
              <a:rPr lang="en-US" sz="900" kern="0" spc="100" dirty="0">
                <a:solidFill>
                  <a:srgbClr val="6E6A60"/>
                </a:solidFill>
                <a:latin typeface="Arial" pitchFamily="34" charset="0"/>
                <a:ea typeface="Arial" pitchFamily="34" charset="-122"/>
                <a:cs typeface="Arial" pitchFamily="34" charset="-120"/>
              </a:rPr>
              <a:t>·  IUT DHAKA</a:t>
            </a:r>
            <a:endParaRPr lang="en-US" sz="900" dirty="0"/>
          </a:p>
        </p:txBody>
      </p:sp>
      <p:sp>
        <p:nvSpPr>
          <p:cNvPr id="7" name="Text 5">
            <a:extLst>
              <a:ext uri="{FF2B5EF4-FFF2-40B4-BE49-F238E27FC236}">
                <a16:creationId xmlns:a16="http://schemas.microsoft.com/office/drawing/2014/main" id="{D90CD739-241B-DD97-267A-8AE7E5CA0501}"/>
              </a:ext>
            </a:extLst>
          </p:cNvPr>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03</a:t>
            </a:r>
            <a:endParaRPr lang="en-US" sz="900" dirty="0"/>
          </a:p>
        </p:txBody>
      </p:sp>
      <p:sp>
        <p:nvSpPr>
          <p:cNvPr id="8" name="Text 6">
            <a:extLst>
              <a:ext uri="{FF2B5EF4-FFF2-40B4-BE49-F238E27FC236}">
                <a16:creationId xmlns:a16="http://schemas.microsoft.com/office/drawing/2014/main" id="{B287CDB9-D256-9FB1-105F-CF54958FD5D1}"/>
              </a:ext>
            </a:extLst>
          </p:cNvPr>
          <p:cNvSpPr txBox="1"/>
          <p:nvPr/>
        </p:nvSpPr>
        <p:spPr>
          <a:xfrm>
            <a:off x="502920" y="713232"/>
            <a:ext cx="10607040" cy="868680"/>
          </a:xfrm>
          <a:prstGeom prst="rect">
            <a:avLst/>
          </a:prstGeom>
          <a:noFill/>
          <a:ln/>
        </p:spPr>
        <p:txBody>
          <a:bodyPr wrap="square" lIns="0" tIns="0" rIns="0" bIns="0" rtlCol="0" anchor="ctr"/>
          <a:lstStyle/>
          <a:p>
            <a:pPr marL="0" indent="0">
              <a:lnSpc>
                <a:spcPct val="102000"/>
              </a:lnSpc>
              <a:buNone/>
            </a:pPr>
            <a:r>
              <a:rPr lang="en-US" sz="3400" b="1" dirty="0">
                <a:solidFill>
                  <a:srgbClr val="1A1A1A"/>
                </a:solidFill>
                <a:latin typeface="Arial" pitchFamily="34" charset="0"/>
                <a:ea typeface="Arial" pitchFamily="34" charset="-122"/>
                <a:cs typeface="Arial" pitchFamily="34" charset="-120"/>
              </a:rPr>
              <a:t>Which AI Platform do you Use on an Everyday Basis? </a:t>
            </a:r>
            <a:endParaRPr lang="en-US" sz="3400" dirty="0"/>
          </a:p>
        </p:txBody>
      </p:sp>
      <p:sp>
        <p:nvSpPr>
          <p:cNvPr id="9" name="Shape 7">
            <a:extLst>
              <a:ext uri="{FF2B5EF4-FFF2-40B4-BE49-F238E27FC236}">
                <a16:creationId xmlns:a16="http://schemas.microsoft.com/office/drawing/2014/main" id="{500B7094-CAFF-96A4-1BE2-CD6F88CE587E}"/>
              </a:ext>
            </a:extLst>
          </p:cNvPr>
          <p:cNvSpPr/>
          <p:nvPr/>
        </p:nvSpPr>
        <p:spPr>
          <a:xfrm>
            <a:off x="502920" y="1828800"/>
            <a:ext cx="5212080" cy="2331720"/>
          </a:xfrm>
          <a:prstGeom prst="roundRect">
            <a:avLst>
              <a:gd name="adj" fmla="val 3137"/>
            </a:avLst>
          </a:prstGeom>
          <a:solidFill>
            <a:srgbClr val="EDE9DE"/>
          </a:solidFill>
          <a:ln/>
        </p:spPr>
      </p:sp>
      <p:sp>
        <p:nvSpPr>
          <p:cNvPr id="10" name="Shape 8">
            <a:extLst>
              <a:ext uri="{FF2B5EF4-FFF2-40B4-BE49-F238E27FC236}">
                <a16:creationId xmlns:a16="http://schemas.microsoft.com/office/drawing/2014/main" id="{63A241B2-960F-77D6-9204-C43CEA2E8774}"/>
              </a:ext>
            </a:extLst>
          </p:cNvPr>
          <p:cNvSpPr/>
          <p:nvPr/>
        </p:nvSpPr>
        <p:spPr>
          <a:xfrm>
            <a:off x="716280" y="1892808"/>
            <a:ext cx="1417320" cy="329184"/>
          </a:xfrm>
          <a:prstGeom prst="roundRect">
            <a:avLst>
              <a:gd name="adj" fmla="val 50000"/>
            </a:avLst>
          </a:prstGeom>
          <a:solidFill>
            <a:srgbClr val="1E4FFF"/>
          </a:solidFill>
          <a:ln/>
        </p:spPr>
      </p:sp>
      <p:sp>
        <p:nvSpPr>
          <p:cNvPr id="12" name="Text 10">
            <a:extLst>
              <a:ext uri="{FF2B5EF4-FFF2-40B4-BE49-F238E27FC236}">
                <a16:creationId xmlns:a16="http://schemas.microsoft.com/office/drawing/2014/main" id="{FBABE057-73A4-333F-93F5-54333D7577FA}"/>
              </a:ext>
            </a:extLst>
          </p:cNvPr>
          <p:cNvSpPr txBox="1"/>
          <p:nvPr/>
        </p:nvSpPr>
        <p:spPr>
          <a:xfrm>
            <a:off x="777240" y="2459735"/>
            <a:ext cx="4663440" cy="1700785"/>
          </a:xfrm>
          <a:prstGeom prst="rect">
            <a:avLst/>
          </a:prstGeom>
          <a:noFill/>
          <a:ln/>
        </p:spPr>
        <p:txBody>
          <a:bodyPr wrap="square" lIns="0" tIns="0" rIns="0" bIns="0" rtlCol="0" anchor="ctr"/>
          <a:lstStyle/>
          <a:p>
            <a:pPr marL="0" indent="0">
              <a:buNone/>
            </a:pPr>
            <a:r>
              <a:rPr lang="en-US" sz="1600" b="1" dirty="0">
                <a:solidFill>
                  <a:srgbClr val="1A1A1A"/>
                </a:solidFill>
                <a:latin typeface="Arial" pitchFamily="34" charset="0"/>
                <a:ea typeface="Arial" pitchFamily="34" charset="-122"/>
                <a:cs typeface="Arial" pitchFamily="34" charset="-120"/>
              </a:rPr>
              <a:t>Gemini</a:t>
            </a:r>
          </a:p>
          <a:p>
            <a:pPr marL="0" indent="0">
              <a:buNone/>
            </a:pPr>
            <a:r>
              <a:rPr lang="en-US" sz="1600" b="1" dirty="0">
                <a:solidFill>
                  <a:srgbClr val="1A1A1A"/>
                </a:solidFill>
                <a:latin typeface="Arial" pitchFamily="34" charset="0"/>
                <a:ea typeface="Arial" pitchFamily="34" charset="-122"/>
                <a:cs typeface="Arial" pitchFamily="34" charset="-120"/>
              </a:rPr>
              <a:t>Manus</a:t>
            </a:r>
          </a:p>
          <a:p>
            <a:pPr marL="0" indent="0">
              <a:buNone/>
            </a:pPr>
            <a:r>
              <a:rPr lang="en-US" sz="1600" b="1" dirty="0">
                <a:solidFill>
                  <a:srgbClr val="1A1A1A"/>
                </a:solidFill>
                <a:latin typeface="Arial" pitchFamily="34" charset="0"/>
                <a:ea typeface="Arial" pitchFamily="34" charset="-122"/>
                <a:cs typeface="Arial" pitchFamily="34" charset="-120"/>
              </a:rPr>
              <a:t>Canva</a:t>
            </a:r>
          </a:p>
          <a:p>
            <a:pPr marL="0" indent="0">
              <a:buNone/>
            </a:pPr>
            <a:r>
              <a:rPr lang="en-US" sz="1600" b="1" dirty="0">
                <a:solidFill>
                  <a:srgbClr val="1A1A1A"/>
                </a:solidFill>
                <a:latin typeface="Arial" pitchFamily="34" charset="0"/>
                <a:ea typeface="Arial" pitchFamily="34" charset="-122"/>
                <a:cs typeface="Arial" pitchFamily="34" charset="-120"/>
              </a:rPr>
              <a:t>Claude</a:t>
            </a:r>
          </a:p>
          <a:p>
            <a:pPr marL="0" indent="0">
              <a:buNone/>
            </a:pPr>
            <a:r>
              <a:rPr lang="en-US" sz="1600" b="1" dirty="0">
                <a:solidFill>
                  <a:srgbClr val="1A1A1A"/>
                </a:solidFill>
                <a:latin typeface="Arial" pitchFamily="34" charset="0"/>
                <a:ea typeface="Arial" pitchFamily="34" charset="-122"/>
                <a:cs typeface="Arial" pitchFamily="34" charset="-120"/>
              </a:rPr>
              <a:t>Perplexity</a:t>
            </a:r>
          </a:p>
          <a:p>
            <a:pPr marL="0" indent="0">
              <a:buNone/>
            </a:pPr>
            <a:r>
              <a:rPr lang="en-US" sz="1600" b="1" dirty="0" err="1">
                <a:solidFill>
                  <a:srgbClr val="1A1A1A"/>
                </a:solidFill>
                <a:latin typeface="Arial" pitchFamily="34" charset="0"/>
                <a:cs typeface="Arial" pitchFamily="34" charset="-120"/>
              </a:rPr>
              <a:t>Chatgpt</a:t>
            </a:r>
            <a:endParaRPr lang="en-US" sz="1600" b="1" dirty="0">
              <a:solidFill>
                <a:srgbClr val="1A1A1A"/>
              </a:solidFill>
              <a:latin typeface="Arial" pitchFamily="34" charset="0"/>
              <a:cs typeface="Arial" pitchFamily="34" charset="-120"/>
            </a:endParaRPr>
          </a:p>
          <a:p>
            <a:pPr marL="0" indent="0">
              <a:buNone/>
            </a:pPr>
            <a:r>
              <a:rPr lang="en-US" sz="1600" b="1" dirty="0" err="1">
                <a:solidFill>
                  <a:srgbClr val="1A1A1A"/>
                </a:solidFill>
                <a:latin typeface="Arial" pitchFamily="34" charset="0"/>
                <a:cs typeface="Arial" pitchFamily="34" charset="-120"/>
              </a:rPr>
              <a:t>Deepseek</a:t>
            </a:r>
            <a:endParaRPr lang="en-US" sz="1600" b="1" dirty="0">
              <a:solidFill>
                <a:srgbClr val="1A1A1A"/>
              </a:solidFill>
              <a:latin typeface="Arial" pitchFamily="34" charset="0"/>
              <a:cs typeface="Arial" pitchFamily="34" charset="-120"/>
            </a:endParaRPr>
          </a:p>
          <a:p>
            <a:pPr marL="0" indent="0">
              <a:buNone/>
            </a:pPr>
            <a:r>
              <a:rPr lang="en-US" sz="1600" b="1" dirty="0">
                <a:solidFill>
                  <a:srgbClr val="1A1A1A"/>
                </a:solidFill>
                <a:latin typeface="Arial" pitchFamily="34" charset="0"/>
                <a:cs typeface="Arial" pitchFamily="34" charset="-120"/>
              </a:rPr>
              <a:t>Cursor</a:t>
            </a:r>
          </a:p>
          <a:p>
            <a:pPr marL="0" indent="0">
              <a:buNone/>
            </a:pPr>
            <a:endParaRPr lang="en-US" sz="1600" dirty="0"/>
          </a:p>
        </p:txBody>
      </p:sp>
      <p:sp>
        <p:nvSpPr>
          <p:cNvPr id="14" name="Shape 12">
            <a:extLst>
              <a:ext uri="{FF2B5EF4-FFF2-40B4-BE49-F238E27FC236}">
                <a16:creationId xmlns:a16="http://schemas.microsoft.com/office/drawing/2014/main" id="{B7EE8F1F-8EC3-CE21-0C51-E0C95C32DD6B}"/>
              </a:ext>
            </a:extLst>
          </p:cNvPr>
          <p:cNvSpPr/>
          <p:nvPr/>
        </p:nvSpPr>
        <p:spPr>
          <a:xfrm>
            <a:off x="5989320" y="1828800"/>
            <a:ext cx="5715000" cy="2331720"/>
          </a:xfrm>
          <a:prstGeom prst="roundRect">
            <a:avLst>
              <a:gd name="adj" fmla="val 3137"/>
            </a:avLst>
          </a:prstGeom>
          <a:solidFill>
            <a:srgbClr val="1A1A1A"/>
          </a:solidFill>
          <a:ln/>
        </p:spPr>
      </p:sp>
      <p:sp>
        <p:nvSpPr>
          <p:cNvPr id="15" name="Text 13">
            <a:extLst>
              <a:ext uri="{FF2B5EF4-FFF2-40B4-BE49-F238E27FC236}">
                <a16:creationId xmlns:a16="http://schemas.microsoft.com/office/drawing/2014/main" id="{DA060B42-7E06-A21C-9B9D-8A0917B953AF}"/>
              </a:ext>
            </a:extLst>
          </p:cNvPr>
          <p:cNvSpPr txBox="1"/>
          <p:nvPr/>
        </p:nvSpPr>
        <p:spPr>
          <a:xfrm>
            <a:off x="6263640" y="2029968"/>
            <a:ext cx="5212080" cy="36576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How Long have you been using it for? </a:t>
            </a:r>
            <a:endParaRPr lang="en-US" sz="1500" dirty="0"/>
          </a:p>
        </p:txBody>
      </p:sp>
      <p:sp>
        <p:nvSpPr>
          <p:cNvPr id="16" name="Shape 14">
            <a:extLst>
              <a:ext uri="{FF2B5EF4-FFF2-40B4-BE49-F238E27FC236}">
                <a16:creationId xmlns:a16="http://schemas.microsoft.com/office/drawing/2014/main" id="{5D312DC6-588E-DF9D-7379-2E048BBAD023}"/>
              </a:ext>
            </a:extLst>
          </p:cNvPr>
          <p:cNvSpPr/>
          <p:nvPr/>
        </p:nvSpPr>
        <p:spPr>
          <a:xfrm>
            <a:off x="6309360" y="2542032"/>
            <a:ext cx="128016" cy="128016"/>
          </a:xfrm>
          <a:prstGeom prst="ellipse">
            <a:avLst/>
          </a:prstGeom>
          <a:solidFill>
            <a:srgbClr val="1E4FFF"/>
          </a:solidFill>
          <a:ln/>
        </p:spPr>
      </p:sp>
      <p:sp>
        <p:nvSpPr>
          <p:cNvPr id="17" name="Text 15">
            <a:extLst>
              <a:ext uri="{FF2B5EF4-FFF2-40B4-BE49-F238E27FC236}">
                <a16:creationId xmlns:a16="http://schemas.microsoft.com/office/drawing/2014/main" id="{AE04944B-D443-18AD-931E-E27195F48406}"/>
              </a:ext>
            </a:extLst>
          </p:cNvPr>
          <p:cNvSpPr txBox="1"/>
          <p:nvPr/>
        </p:nvSpPr>
        <p:spPr>
          <a:xfrm>
            <a:off x="6565392" y="2432304"/>
            <a:ext cx="4846320" cy="320040"/>
          </a:xfrm>
          <a:prstGeom prst="rect">
            <a:avLst/>
          </a:prstGeom>
          <a:noFill/>
          <a:ln/>
        </p:spPr>
        <p:txBody>
          <a:bodyPr wrap="square" lIns="0" tIns="0" rIns="0" bIns="0" rtlCol="0" anchor="ctr"/>
          <a:lstStyle/>
          <a:p>
            <a:pPr marL="0" indent="0">
              <a:buNone/>
            </a:pPr>
            <a:r>
              <a:rPr lang="en-US" sz="1350" dirty="0">
                <a:solidFill>
                  <a:srgbClr val="E6E3D8"/>
                </a:solidFill>
                <a:latin typeface="Arial" pitchFamily="34" charset="0"/>
                <a:cs typeface="Arial" pitchFamily="34" charset="-120"/>
              </a:rPr>
              <a:t>&lt;6 Months</a:t>
            </a:r>
            <a:endParaRPr lang="en-US" sz="1350" dirty="0"/>
          </a:p>
        </p:txBody>
      </p:sp>
      <p:sp>
        <p:nvSpPr>
          <p:cNvPr id="18" name="Shape 16">
            <a:extLst>
              <a:ext uri="{FF2B5EF4-FFF2-40B4-BE49-F238E27FC236}">
                <a16:creationId xmlns:a16="http://schemas.microsoft.com/office/drawing/2014/main" id="{D7E1B28E-F979-EEB7-732C-121F1AE57217}"/>
              </a:ext>
            </a:extLst>
          </p:cNvPr>
          <p:cNvSpPr/>
          <p:nvPr/>
        </p:nvSpPr>
        <p:spPr>
          <a:xfrm>
            <a:off x="6309360" y="2944368"/>
            <a:ext cx="128016" cy="128016"/>
          </a:xfrm>
          <a:prstGeom prst="ellipse">
            <a:avLst/>
          </a:prstGeom>
          <a:solidFill>
            <a:srgbClr val="1E4FFF"/>
          </a:solidFill>
          <a:ln/>
        </p:spPr>
      </p:sp>
      <p:sp>
        <p:nvSpPr>
          <p:cNvPr id="19" name="Text 17">
            <a:extLst>
              <a:ext uri="{FF2B5EF4-FFF2-40B4-BE49-F238E27FC236}">
                <a16:creationId xmlns:a16="http://schemas.microsoft.com/office/drawing/2014/main" id="{18234E47-5851-7302-ED0E-5054AE733486}"/>
              </a:ext>
            </a:extLst>
          </p:cNvPr>
          <p:cNvSpPr txBox="1"/>
          <p:nvPr/>
        </p:nvSpPr>
        <p:spPr>
          <a:xfrm>
            <a:off x="6565392" y="2834640"/>
            <a:ext cx="4846320" cy="320040"/>
          </a:xfrm>
          <a:prstGeom prst="rect">
            <a:avLst/>
          </a:prstGeom>
          <a:noFill/>
          <a:ln/>
        </p:spPr>
        <p:txBody>
          <a:bodyPr wrap="square" lIns="0" tIns="0" rIns="0" bIns="0" rtlCol="0" anchor="ctr"/>
          <a:lstStyle/>
          <a:p>
            <a:pPr marL="0" indent="0">
              <a:buNone/>
            </a:pPr>
            <a:r>
              <a:rPr lang="en-US" sz="1350" dirty="0">
                <a:solidFill>
                  <a:srgbClr val="E6E3D8"/>
                </a:solidFill>
                <a:latin typeface="Arial" pitchFamily="34" charset="0"/>
                <a:cs typeface="Arial" pitchFamily="34" charset="-120"/>
              </a:rPr>
              <a:t>6-12 Months</a:t>
            </a:r>
            <a:endParaRPr lang="en-US" sz="1350" dirty="0"/>
          </a:p>
        </p:txBody>
      </p:sp>
      <p:sp>
        <p:nvSpPr>
          <p:cNvPr id="20" name="Shape 18">
            <a:extLst>
              <a:ext uri="{FF2B5EF4-FFF2-40B4-BE49-F238E27FC236}">
                <a16:creationId xmlns:a16="http://schemas.microsoft.com/office/drawing/2014/main" id="{248837A7-7DCA-6CCB-A375-5A3DF0A2F036}"/>
              </a:ext>
            </a:extLst>
          </p:cNvPr>
          <p:cNvSpPr/>
          <p:nvPr/>
        </p:nvSpPr>
        <p:spPr>
          <a:xfrm>
            <a:off x="6309360" y="3346704"/>
            <a:ext cx="128016" cy="128016"/>
          </a:xfrm>
          <a:prstGeom prst="ellipse">
            <a:avLst/>
          </a:prstGeom>
          <a:solidFill>
            <a:srgbClr val="1E4FFF"/>
          </a:solidFill>
          <a:ln/>
        </p:spPr>
      </p:sp>
      <p:sp>
        <p:nvSpPr>
          <p:cNvPr id="21" name="Text 19">
            <a:extLst>
              <a:ext uri="{FF2B5EF4-FFF2-40B4-BE49-F238E27FC236}">
                <a16:creationId xmlns:a16="http://schemas.microsoft.com/office/drawing/2014/main" id="{3328D229-263B-E344-D36E-F5480CE8DD30}"/>
              </a:ext>
            </a:extLst>
          </p:cNvPr>
          <p:cNvSpPr txBox="1"/>
          <p:nvPr/>
        </p:nvSpPr>
        <p:spPr>
          <a:xfrm>
            <a:off x="6565392" y="3236976"/>
            <a:ext cx="4846320" cy="320040"/>
          </a:xfrm>
          <a:prstGeom prst="rect">
            <a:avLst/>
          </a:prstGeom>
          <a:noFill/>
          <a:ln/>
        </p:spPr>
        <p:txBody>
          <a:bodyPr wrap="square" lIns="0" tIns="0" rIns="0" bIns="0" rtlCol="0" anchor="ctr"/>
          <a:lstStyle/>
          <a:p>
            <a:pPr marL="0" indent="0">
              <a:buNone/>
            </a:pPr>
            <a:r>
              <a:rPr lang="en-US" sz="1350" dirty="0">
                <a:solidFill>
                  <a:srgbClr val="E6E3D8"/>
                </a:solidFill>
                <a:latin typeface="Arial" pitchFamily="34" charset="0"/>
                <a:ea typeface="Arial" pitchFamily="34" charset="-122"/>
                <a:cs typeface="Arial" pitchFamily="34" charset="-120"/>
              </a:rPr>
              <a:t>1-1.5 Years</a:t>
            </a:r>
            <a:endParaRPr lang="en-US" sz="1350" dirty="0"/>
          </a:p>
        </p:txBody>
      </p:sp>
      <p:sp>
        <p:nvSpPr>
          <p:cNvPr id="22" name="Shape 20">
            <a:extLst>
              <a:ext uri="{FF2B5EF4-FFF2-40B4-BE49-F238E27FC236}">
                <a16:creationId xmlns:a16="http://schemas.microsoft.com/office/drawing/2014/main" id="{BA63D480-D0E2-1FE7-146A-844053F658F6}"/>
              </a:ext>
            </a:extLst>
          </p:cNvPr>
          <p:cNvSpPr/>
          <p:nvPr/>
        </p:nvSpPr>
        <p:spPr>
          <a:xfrm>
            <a:off x="6309360" y="3749040"/>
            <a:ext cx="128016" cy="128016"/>
          </a:xfrm>
          <a:prstGeom prst="ellipse">
            <a:avLst/>
          </a:prstGeom>
          <a:solidFill>
            <a:srgbClr val="1E4FFF"/>
          </a:solidFill>
          <a:ln/>
        </p:spPr>
      </p:sp>
      <p:sp>
        <p:nvSpPr>
          <p:cNvPr id="23" name="Text 21">
            <a:extLst>
              <a:ext uri="{FF2B5EF4-FFF2-40B4-BE49-F238E27FC236}">
                <a16:creationId xmlns:a16="http://schemas.microsoft.com/office/drawing/2014/main" id="{50302355-47B6-82D4-4044-FC323D35BDBE}"/>
              </a:ext>
            </a:extLst>
          </p:cNvPr>
          <p:cNvSpPr txBox="1"/>
          <p:nvPr/>
        </p:nvSpPr>
        <p:spPr>
          <a:xfrm>
            <a:off x="6565392" y="3639312"/>
            <a:ext cx="4846320" cy="320040"/>
          </a:xfrm>
          <a:prstGeom prst="rect">
            <a:avLst/>
          </a:prstGeom>
          <a:noFill/>
          <a:ln/>
        </p:spPr>
        <p:txBody>
          <a:bodyPr wrap="square" lIns="0" tIns="0" rIns="0" bIns="0" rtlCol="0" anchor="ctr"/>
          <a:lstStyle/>
          <a:p>
            <a:pPr marL="0" indent="0">
              <a:buNone/>
            </a:pPr>
            <a:r>
              <a:rPr lang="en-US" sz="1350" dirty="0">
                <a:solidFill>
                  <a:srgbClr val="E6E3D8"/>
                </a:solidFill>
                <a:latin typeface="Arial" pitchFamily="34" charset="0"/>
                <a:cs typeface="Arial" pitchFamily="34" charset="-120"/>
              </a:rPr>
              <a:t>More</a:t>
            </a:r>
            <a:endParaRPr lang="en-US" sz="1350" dirty="0"/>
          </a:p>
        </p:txBody>
      </p:sp>
      <p:sp>
        <p:nvSpPr>
          <p:cNvPr id="24" name="Text 22">
            <a:extLst>
              <a:ext uri="{FF2B5EF4-FFF2-40B4-BE49-F238E27FC236}">
                <a16:creationId xmlns:a16="http://schemas.microsoft.com/office/drawing/2014/main" id="{119D1AA6-B82C-7049-5304-3DA5DD4C7942}"/>
              </a:ext>
            </a:extLst>
          </p:cNvPr>
          <p:cNvSpPr txBox="1"/>
          <p:nvPr/>
        </p:nvSpPr>
        <p:spPr>
          <a:xfrm>
            <a:off x="502920" y="4434840"/>
            <a:ext cx="2926080" cy="320040"/>
          </a:xfrm>
          <a:prstGeom prst="rect">
            <a:avLst/>
          </a:prstGeom>
          <a:noFill/>
          <a:ln/>
        </p:spPr>
        <p:txBody>
          <a:bodyPr wrap="square" lIns="0" tIns="0" rIns="0" bIns="0" rtlCol="0" anchor="ctr"/>
          <a:lstStyle/>
          <a:p>
            <a:pPr marL="0" indent="0">
              <a:buNone/>
            </a:pPr>
            <a:r>
              <a:rPr lang="en-US" sz="1350" b="1" dirty="0">
                <a:solidFill>
                  <a:srgbClr val="6E6A60"/>
                </a:solidFill>
                <a:latin typeface="Arial" pitchFamily="34" charset="0"/>
                <a:ea typeface="Arial" pitchFamily="34" charset="-122"/>
                <a:cs typeface="Arial" pitchFamily="34" charset="-120"/>
              </a:rPr>
              <a:t>Rate Yourself out of 5 in each Platform:</a:t>
            </a:r>
            <a:endParaRPr lang="en-US" sz="1350" dirty="0"/>
          </a:p>
        </p:txBody>
      </p:sp>
      <p:sp>
        <p:nvSpPr>
          <p:cNvPr id="25" name="Shape 23">
            <a:extLst>
              <a:ext uri="{FF2B5EF4-FFF2-40B4-BE49-F238E27FC236}">
                <a16:creationId xmlns:a16="http://schemas.microsoft.com/office/drawing/2014/main" id="{31E831AB-242E-61C5-1329-4B4594F6B1BE}"/>
              </a:ext>
            </a:extLst>
          </p:cNvPr>
          <p:cNvSpPr/>
          <p:nvPr/>
        </p:nvSpPr>
        <p:spPr>
          <a:xfrm>
            <a:off x="3520440" y="4389120"/>
            <a:ext cx="438912" cy="438912"/>
          </a:xfrm>
          <a:prstGeom prst="ellipse">
            <a:avLst/>
          </a:prstGeom>
          <a:solidFill>
            <a:srgbClr val="EDE9DE"/>
          </a:solidFill>
          <a:ln w="19050">
            <a:solidFill>
              <a:srgbClr val="1E4FFF"/>
            </a:solidFill>
            <a:prstDash val="solid"/>
          </a:ln>
        </p:spPr>
      </p:sp>
      <p:sp>
        <p:nvSpPr>
          <p:cNvPr id="26" name="Text 24">
            <a:extLst>
              <a:ext uri="{FF2B5EF4-FFF2-40B4-BE49-F238E27FC236}">
                <a16:creationId xmlns:a16="http://schemas.microsoft.com/office/drawing/2014/main" id="{81D55D6C-BBA5-833F-3808-668BC69A74DD}"/>
              </a:ext>
            </a:extLst>
          </p:cNvPr>
          <p:cNvSpPr txBox="1"/>
          <p:nvPr/>
        </p:nvSpPr>
        <p:spPr>
          <a:xfrm>
            <a:off x="3520440" y="4389120"/>
            <a:ext cx="438912" cy="438912"/>
          </a:xfrm>
          <a:prstGeom prst="rect">
            <a:avLst/>
          </a:prstGeom>
          <a:noFill/>
          <a:ln/>
        </p:spPr>
        <p:txBody>
          <a:bodyPr wrap="square" lIns="0" tIns="0" rIns="0" bIns="0" rtlCol="0" anchor="ctr"/>
          <a:lstStyle/>
          <a:p>
            <a:pPr marL="0" indent="0" algn="ctr">
              <a:buNone/>
            </a:pPr>
            <a:r>
              <a:rPr lang="en-US" sz="1300" b="1" dirty="0">
                <a:solidFill>
                  <a:srgbClr val="1E4FFF"/>
                </a:solidFill>
                <a:latin typeface="Arial" pitchFamily="34" charset="0"/>
                <a:ea typeface="Arial" pitchFamily="34" charset="-122"/>
                <a:cs typeface="Arial" pitchFamily="34" charset="-120"/>
              </a:rPr>
              <a:t>1</a:t>
            </a:r>
            <a:endParaRPr lang="en-US" sz="1300" dirty="0"/>
          </a:p>
        </p:txBody>
      </p:sp>
      <p:sp>
        <p:nvSpPr>
          <p:cNvPr id="27" name="Shape 25">
            <a:extLst>
              <a:ext uri="{FF2B5EF4-FFF2-40B4-BE49-F238E27FC236}">
                <a16:creationId xmlns:a16="http://schemas.microsoft.com/office/drawing/2014/main" id="{DF055192-44C9-EC20-A937-5E136641E187}"/>
              </a:ext>
            </a:extLst>
          </p:cNvPr>
          <p:cNvSpPr/>
          <p:nvPr/>
        </p:nvSpPr>
        <p:spPr>
          <a:xfrm>
            <a:off x="4087368" y="4389120"/>
            <a:ext cx="438912" cy="438912"/>
          </a:xfrm>
          <a:prstGeom prst="ellipse">
            <a:avLst/>
          </a:prstGeom>
          <a:solidFill>
            <a:srgbClr val="EDE9DE"/>
          </a:solidFill>
          <a:ln w="19050">
            <a:solidFill>
              <a:srgbClr val="1E4FFF"/>
            </a:solidFill>
            <a:prstDash val="solid"/>
          </a:ln>
        </p:spPr>
      </p:sp>
      <p:sp>
        <p:nvSpPr>
          <p:cNvPr id="28" name="Text 26">
            <a:extLst>
              <a:ext uri="{FF2B5EF4-FFF2-40B4-BE49-F238E27FC236}">
                <a16:creationId xmlns:a16="http://schemas.microsoft.com/office/drawing/2014/main" id="{CCE9CEFC-98B3-E1FF-2860-ED00AB14B3EF}"/>
              </a:ext>
            </a:extLst>
          </p:cNvPr>
          <p:cNvSpPr txBox="1"/>
          <p:nvPr/>
        </p:nvSpPr>
        <p:spPr>
          <a:xfrm>
            <a:off x="4087368" y="4389120"/>
            <a:ext cx="438912" cy="438912"/>
          </a:xfrm>
          <a:prstGeom prst="rect">
            <a:avLst/>
          </a:prstGeom>
          <a:noFill/>
          <a:ln/>
        </p:spPr>
        <p:txBody>
          <a:bodyPr wrap="square" lIns="0" tIns="0" rIns="0" bIns="0" rtlCol="0" anchor="ctr"/>
          <a:lstStyle/>
          <a:p>
            <a:pPr marL="0" indent="0" algn="ctr">
              <a:buNone/>
            </a:pPr>
            <a:r>
              <a:rPr lang="en-US" sz="1300" b="1" dirty="0">
                <a:solidFill>
                  <a:srgbClr val="1E4FFF"/>
                </a:solidFill>
                <a:latin typeface="Arial" pitchFamily="34" charset="0"/>
                <a:ea typeface="Arial" pitchFamily="34" charset="-122"/>
                <a:cs typeface="Arial" pitchFamily="34" charset="-120"/>
              </a:rPr>
              <a:t>2</a:t>
            </a:r>
            <a:endParaRPr lang="en-US" sz="1300" dirty="0"/>
          </a:p>
        </p:txBody>
      </p:sp>
      <p:sp>
        <p:nvSpPr>
          <p:cNvPr id="29" name="Shape 27">
            <a:extLst>
              <a:ext uri="{FF2B5EF4-FFF2-40B4-BE49-F238E27FC236}">
                <a16:creationId xmlns:a16="http://schemas.microsoft.com/office/drawing/2014/main" id="{9B4E5405-F08C-3114-8A8C-9536E859E291}"/>
              </a:ext>
            </a:extLst>
          </p:cNvPr>
          <p:cNvSpPr/>
          <p:nvPr/>
        </p:nvSpPr>
        <p:spPr>
          <a:xfrm>
            <a:off x="4654296" y="4389120"/>
            <a:ext cx="438912" cy="438912"/>
          </a:xfrm>
          <a:prstGeom prst="ellipse">
            <a:avLst/>
          </a:prstGeom>
          <a:solidFill>
            <a:srgbClr val="EDE9DE"/>
          </a:solidFill>
          <a:ln w="19050">
            <a:solidFill>
              <a:srgbClr val="1E4FFF"/>
            </a:solidFill>
            <a:prstDash val="solid"/>
          </a:ln>
        </p:spPr>
      </p:sp>
      <p:sp>
        <p:nvSpPr>
          <p:cNvPr id="30" name="Text 28">
            <a:extLst>
              <a:ext uri="{FF2B5EF4-FFF2-40B4-BE49-F238E27FC236}">
                <a16:creationId xmlns:a16="http://schemas.microsoft.com/office/drawing/2014/main" id="{5399A147-C92F-A7D2-0342-8D51C328731B}"/>
              </a:ext>
            </a:extLst>
          </p:cNvPr>
          <p:cNvSpPr txBox="1"/>
          <p:nvPr/>
        </p:nvSpPr>
        <p:spPr>
          <a:xfrm>
            <a:off x="4654296" y="4389120"/>
            <a:ext cx="438912" cy="438912"/>
          </a:xfrm>
          <a:prstGeom prst="rect">
            <a:avLst/>
          </a:prstGeom>
          <a:noFill/>
          <a:ln/>
        </p:spPr>
        <p:txBody>
          <a:bodyPr wrap="square" lIns="0" tIns="0" rIns="0" bIns="0" rtlCol="0" anchor="ctr"/>
          <a:lstStyle/>
          <a:p>
            <a:pPr marL="0" indent="0" algn="ctr">
              <a:buNone/>
            </a:pPr>
            <a:r>
              <a:rPr lang="en-US" sz="1300" b="1" dirty="0">
                <a:solidFill>
                  <a:srgbClr val="1E4FFF"/>
                </a:solidFill>
                <a:latin typeface="Arial" pitchFamily="34" charset="0"/>
                <a:ea typeface="Arial" pitchFamily="34" charset="-122"/>
                <a:cs typeface="Arial" pitchFamily="34" charset="-120"/>
              </a:rPr>
              <a:t>3</a:t>
            </a:r>
            <a:endParaRPr lang="en-US" sz="1300" dirty="0"/>
          </a:p>
        </p:txBody>
      </p:sp>
      <p:sp>
        <p:nvSpPr>
          <p:cNvPr id="31" name="Shape 29">
            <a:extLst>
              <a:ext uri="{FF2B5EF4-FFF2-40B4-BE49-F238E27FC236}">
                <a16:creationId xmlns:a16="http://schemas.microsoft.com/office/drawing/2014/main" id="{1A234A36-A8C4-C4A7-FD11-A94114DD333C}"/>
              </a:ext>
            </a:extLst>
          </p:cNvPr>
          <p:cNvSpPr/>
          <p:nvPr/>
        </p:nvSpPr>
        <p:spPr>
          <a:xfrm>
            <a:off x="5221224" y="4389120"/>
            <a:ext cx="438912" cy="438912"/>
          </a:xfrm>
          <a:prstGeom prst="ellipse">
            <a:avLst/>
          </a:prstGeom>
          <a:solidFill>
            <a:srgbClr val="EDE9DE"/>
          </a:solidFill>
          <a:ln w="19050">
            <a:solidFill>
              <a:srgbClr val="1E4FFF"/>
            </a:solidFill>
            <a:prstDash val="solid"/>
          </a:ln>
        </p:spPr>
      </p:sp>
      <p:sp>
        <p:nvSpPr>
          <p:cNvPr id="32" name="Text 30">
            <a:extLst>
              <a:ext uri="{FF2B5EF4-FFF2-40B4-BE49-F238E27FC236}">
                <a16:creationId xmlns:a16="http://schemas.microsoft.com/office/drawing/2014/main" id="{6822EFA2-6B23-37AB-06B8-C8191BB5D909}"/>
              </a:ext>
            </a:extLst>
          </p:cNvPr>
          <p:cNvSpPr txBox="1"/>
          <p:nvPr/>
        </p:nvSpPr>
        <p:spPr>
          <a:xfrm>
            <a:off x="5221224" y="4389120"/>
            <a:ext cx="438912" cy="438912"/>
          </a:xfrm>
          <a:prstGeom prst="rect">
            <a:avLst/>
          </a:prstGeom>
          <a:noFill/>
          <a:ln/>
        </p:spPr>
        <p:txBody>
          <a:bodyPr wrap="square" lIns="0" tIns="0" rIns="0" bIns="0" rtlCol="0" anchor="ctr"/>
          <a:lstStyle/>
          <a:p>
            <a:pPr marL="0" indent="0" algn="ctr">
              <a:buNone/>
            </a:pPr>
            <a:r>
              <a:rPr lang="en-US" sz="1300" b="1" dirty="0">
                <a:solidFill>
                  <a:srgbClr val="1E4FFF"/>
                </a:solidFill>
                <a:latin typeface="Arial" pitchFamily="34" charset="0"/>
                <a:ea typeface="Arial" pitchFamily="34" charset="-122"/>
                <a:cs typeface="Arial" pitchFamily="34" charset="-120"/>
              </a:rPr>
              <a:t>4</a:t>
            </a:r>
            <a:endParaRPr lang="en-US" sz="1300" dirty="0"/>
          </a:p>
        </p:txBody>
      </p:sp>
      <p:sp>
        <p:nvSpPr>
          <p:cNvPr id="33" name="Shape 31">
            <a:extLst>
              <a:ext uri="{FF2B5EF4-FFF2-40B4-BE49-F238E27FC236}">
                <a16:creationId xmlns:a16="http://schemas.microsoft.com/office/drawing/2014/main" id="{5BED6D48-2BCB-79C4-35C0-D692FA28310D}"/>
              </a:ext>
            </a:extLst>
          </p:cNvPr>
          <p:cNvSpPr/>
          <p:nvPr/>
        </p:nvSpPr>
        <p:spPr>
          <a:xfrm>
            <a:off x="5788152" y="4389120"/>
            <a:ext cx="438912" cy="438912"/>
          </a:xfrm>
          <a:prstGeom prst="ellipse">
            <a:avLst/>
          </a:prstGeom>
          <a:solidFill>
            <a:srgbClr val="EDE9DE"/>
          </a:solidFill>
          <a:ln w="19050">
            <a:solidFill>
              <a:srgbClr val="1E4FFF"/>
            </a:solidFill>
            <a:prstDash val="solid"/>
          </a:ln>
        </p:spPr>
      </p:sp>
      <p:sp>
        <p:nvSpPr>
          <p:cNvPr id="34" name="Text 32">
            <a:extLst>
              <a:ext uri="{FF2B5EF4-FFF2-40B4-BE49-F238E27FC236}">
                <a16:creationId xmlns:a16="http://schemas.microsoft.com/office/drawing/2014/main" id="{4708D648-04C5-C074-4F8C-63E1803B1649}"/>
              </a:ext>
            </a:extLst>
          </p:cNvPr>
          <p:cNvSpPr txBox="1"/>
          <p:nvPr/>
        </p:nvSpPr>
        <p:spPr>
          <a:xfrm>
            <a:off x="5788152" y="4389120"/>
            <a:ext cx="438912" cy="438912"/>
          </a:xfrm>
          <a:prstGeom prst="rect">
            <a:avLst/>
          </a:prstGeom>
          <a:noFill/>
          <a:ln/>
        </p:spPr>
        <p:txBody>
          <a:bodyPr wrap="square" lIns="0" tIns="0" rIns="0" bIns="0" rtlCol="0" anchor="ctr"/>
          <a:lstStyle/>
          <a:p>
            <a:pPr marL="0" indent="0" algn="ctr">
              <a:buNone/>
            </a:pPr>
            <a:r>
              <a:rPr lang="en-US" sz="1300" b="1" dirty="0">
                <a:solidFill>
                  <a:srgbClr val="1E4FFF"/>
                </a:solidFill>
                <a:latin typeface="Arial" pitchFamily="34" charset="0"/>
                <a:ea typeface="Arial" pitchFamily="34" charset="-122"/>
                <a:cs typeface="Arial" pitchFamily="34" charset="-120"/>
              </a:rPr>
              <a:t>5</a:t>
            </a:r>
            <a:endParaRPr lang="en-US" sz="1300" dirty="0"/>
          </a:p>
        </p:txBody>
      </p:sp>
    </p:spTree>
    <p:extLst>
      <p:ext uri="{BB962C8B-B14F-4D97-AF65-F5344CB8AC3E}">
        <p14:creationId xmlns:p14="http://schemas.microsoft.com/office/powerpoint/2010/main" val="1390747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4">
    <p:bg>
      <p:bgPr>
        <a:solidFill>
          <a:srgbClr val="F7F4EC"/>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6E6A60"/>
                </a:solidFill>
                <a:latin typeface="Arial" pitchFamily="34" charset="0"/>
                <a:ea typeface="Arial" pitchFamily="34" charset="-122"/>
                <a:cs typeface="Arial" pitchFamily="34" charset="-120"/>
              </a:rPr>
              <a:t>CLASS 1 · AI AS A BUSINESS TOOL</a:t>
            </a:r>
            <a:endParaRPr lang="en-US" sz="1050" dirty="0"/>
          </a:p>
        </p:txBody>
      </p:sp>
      <p:sp>
        <p:nvSpPr>
          <p:cNvPr id="3" name="Shape 1"/>
          <p:cNvSpPr/>
          <p:nvPr/>
        </p:nvSpPr>
        <p:spPr>
          <a:xfrm>
            <a:off x="10561320" y="256032"/>
            <a:ext cx="1170432" cy="384048"/>
          </a:xfrm>
          <a:prstGeom prst="roundRect">
            <a:avLst>
              <a:gd name="adj" fmla="val 19048"/>
            </a:avLst>
          </a:prstGeom>
          <a:solidFill>
            <a:srgbClr val="1E4FFF"/>
          </a:solidFill>
          <a:ln/>
        </p:spPr>
      </p:sp>
      <p:sp>
        <p:nvSpPr>
          <p:cNvPr id="4" name="Text 2"/>
          <p:cNvSpPr txBox="1"/>
          <p:nvPr/>
        </p:nvSpPr>
        <p:spPr>
          <a:xfrm>
            <a:off x="10561320" y="256032"/>
            <a:ext cx="1170432" cy="384048"/>
          </a:xfrm>
          <a:prstGeom prst="rect">
            <a:avLst/>
          </a:prstGeom>
          <a:noFill/>
          <a:ln/>
        </p:spPr>
        <p:txBody>
          <a:bodyPr wrap="square" lIns="0" tIns="0" rIns="0" bIns="0" rtlCol="0" anchor="ctr"/>
          <a:lstStyle/>
          <a:p>
            <a:pPr marL="0" indent="0" algn="ctr">
              <a:buNone/>
            </a:pPr>
            <a:endParaRPr lang="en-US" sz="1300" dirty="0"/>
          </a:p>
        </p:txBody>
      </p:sp>
      <p:sp>
        <p:nvSpPr>
          <p:cNvPr id="5" name="Shape 3"/>
          <p:cNvSpPr/>
          <p:nvPr/>
        </p:nvSpPr>
        <p:spPr>
          <a:xfrm>
            <a:off x="502920" y="6446520"/>
            <a:ext cx="11183112" cy="0"/>
          </a:xfrm>
          <a:prstGeom prst="line">
            <a:avLst/>
          </a:prstGeom>
          <a:noFill/>
          <a:ln w="9525">
            <a:solidFill>
              <a:srgbClr val="D8D3C5"/>
            </a:solidFill>
            <a:prstDash val="solid"/>
          </a:ln>
        </p:spPr>
      </p:sp>
      <p:sp>
        <p:nvSpPr>
          <p:cNvPr id="6" name="Text 4"/>
          <p:cNvSpPr txBox="1"/>
          <p:nvPr/>
        </p:nvSpPr>
        <p:spPr>
          <a:xfrm>
            <a:off x="502920" y="6492240"/>
            <a:ext cx="7315200" cy="274320"/>
          </a:xfrm>
          <a:prstGeom prst="rect">
            <a:avLst/>
          </a:prstGeom>
          <a:noFill/>
          <a:ln/>
        </p:spPr>
        <p:txBody>
          <a:bodyPr wrap="square" lIns="0" tIns="0" rIns="0" bIns="0" rtlCol="0" anchor="ctr"/>
          <a:lstStyle/>
          <a:p>
            <a:pPr marL="0" indent="0">
              <a:buNone/>
            </a:pPr>
            <a:r>
              <a:rPr lang="en-US" sz="900" kern="0" spc="100" dirty="0">
                <a:solidFill>
                  <a:srgbClr val="6E6A60"/>
                </a:solidFill>
                <a:latin typeface="Arial" pitchFamily="34" charset="0"/>
                <a:ea typeface="Arial" pitchFamily="34" charset="-122"/>
                <a:cs typeface="Arial" pitchFamily="34" charset="-120"/>
              </a:rPr>
              <a:t>·  IUT DHAKA</a:t>
            </a:r>
            <a:endParaRPr lang="en-US" sz="900" dirty="0"/>
          </a:p>
        </p:txBody>
      </p:sp>
      <p:sp>
        <p:nvSpPr>
          <p:cNvPr id="7" name="Text 5"/>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04</a:t>
            </a:r>
            <a:endParaRPr lang="en-US" sz="900" dirty="0"/>
          </a:p>
        </p:txBody>
      </p:sp>
      <p:sp>
        <p:nvSpPr>
          <p:cNvPr id="8" name="Text 6"/>
          <p:cNvSpPr txBox="1"/>
          <p:nvPr/>
        </p:nvSpPr>
        <p:spPr>
          <a:xfrm>
            <a:off x="502920" y="713232"/>
            <a:ext cx="10607040" cy="868680"/>
          </a:xfrm>
          <a:prstGeom prst="rect">
            <a:avLst/>
          </a:prstGeom>
          <a:noFill/>
          <a:ln/>
        </p:spPr>
        <p:txBody>
          <a:bodyPr wrap="square" lIns="0" tIns="0" rIns="0" bIns="0" rtlCol="0" anchor="ctr"/>
          <a:lstStyle/>
          <a:p>
            <a:pPr marL="0" indent="0">
              <a:lnSpc>
                <a:spcPct val="102000"/>
              </a:lnSpc>
              <a:buNone/>
            </a:pPr>
            <a:r>
              <a:rPr lang="en-US" sz="3400" b="1" dirty="0">
                <a:solidFill>
                  <a:srgbClr val="1A1A1A"/>
                </a:solidFill>
                <a:latin typeface="Arial" pitchFamily="34" charset="0"/>
                <a:ea typeface="Arial" pitchFamily="34" charset="-122"/>
                <a:cs typeface="Arial" pitchFamily="34" charset="-120"/>
              </a:rPr>
              <a:t>What's in Your Toolbox?</a:t>
            </a:r>
            <a:endParaRPr lang="en-US" sz="3400" dirty="0"/>
          </a:p>
        </p:txBody>
      </p:sp>
      <p:sp>
        <p:nvSpPr>
          <p:cNvPr id="9" name="Text 7"/>
          <p:cNvSpPr txBox="1"/>
          <p:nvPr/>
        </p:nvSpPr>
        <p:spPr>
          <a:xfrm>
            <a:off x="502920" y="1691640"/>
            <a:ext cx="10515600" cy="411480"/>
          </a:xfrm>
          <a:prstGeom prst="rect">
            <a:avLst/>
          </a:prstGeom>
          <a:noFill/>
          <a:ln/>
        </p:spPr>
        <p:txBody>
          <a:bodyPr wrap="square" lIns="0" tIns="0" rIns="0" bIns="0" rtlCol="0" anchor="ctr"/>
          <a:lstStyle/>
          <a:p>
            <a:pPr marL="0" indent="0">
              <a:buNone/>
            </a:pPr>
            <a:r>
              <a:rPr lang="en-US" sz="1500" b="1" dirty="0">
                <a:solidFill>
                  <a:srgbClr val="1A1A1A"/>
                </a:solidFill>
                <a:latin typeface="Arial" pitchFamily="34" charset="0"/>
                <a:ea typeface="Arial" pitchFamily="34" charset="-122"/>
                <a:cs typeface="Arial" pitchFamily="34" charset="-120"/>
              </a:rPr>
              <a:t>Tools you use.  What frustrates you.  </a:t>
            </a:r>
            <a:r>
              <a:rPr lang="en-US" sz="1500" b="1" dirty="0">
                <a:solidFill>
                  <a:srgbClr val="1E4FFF"/>
                </a:solidFill>
                <a:latin typeface="Arial" pitchFamily="34" charset="0"/>
                <a:ea typeface="Arial" pitchFamily="34" charset="-122"/>
                <a:cs typeface="Arial" pitchFamily="34" charset="-120"/>
              </a:rPr>
              <a:t>What would make today useful.</a:t>
            </a:r>
            <a:endParaRPr lang="en-US" sz="1500" dirty="0"/>
          </a:p>
        </p:txBody>
      </p:sp>
      <p:sp>
        <p:nvSpPr>
          <p:cNvPr id="10" name="Shape 8"/>
          <p:cNvSpPr/>
          <p:nvPr/>
        </p:nvSpPr>
        <p:spPr>
          <a:xfrm>
            <a:off x="502920" y="2331720"/>
            <a:ext cx="2578608" cy="822960"/>
          </a:xfrm>
          <a:prstGeom prst="roundRect">
            <a:avLst>
              <a:gd name="adj" fmla="val 7778"/>
            </a:avLst>
          </a:prstGeom>
          <a:solidFill>
            <a:srgbClr val="EDE9DE"/>
          </a:solidFill>
          <a:ln/>
        </p:spPr>
      </p:sp>
      <p:sp>
        <p:nvSpPr>
          <p:cNvPr id="11" name="Shape 9"/>
          <p:cNvSpPr/>
          <p:nvPr/>
        </p:nvSpPr>
        <p:spPr>
          <a:xfrm>
            <a:off x="649224" y="2478024"/>
            <a:ext cx="219456" cy="219456"/>
          </a:xfrm>
          <a:prstGeom prst="roundRect">
            <a:avLst>
              <a:gd name="adj" fmla="val 16667"/>
            </a:avLst>
          </a:prstGeom>
          <a:ln w="19050">
            <a:solidFill>
              <a:srgbClr val="1E4FFF"/>
            </a:solidFill>
            <a:prstDash val="solid"/>
          </a:ln>
        </p:spPr>
      </p:sp>
      <p:sp>
        <p:nvSpPr>
          <p:cNvPr id="12" name="Text 10"/>
          <p:cNvSpPr txBox="1"/>
          <p:nvPr/>
        </p:nvSpPr>
        <p:spPr>
          <a:xfrm>
            <a:off x="649224" y="2715768"/>
            <a:ext cx="2304288" cy="384048"/>
          </a:xfrm>
          <a:prstGeom prst="rect">
            <a:avLst/>
          </a:prstGeom>
          <a:noFill/>
          <a:ln/>
        </p:spPr>
        <p:txBody>
          <a:bodyPr wrap="square" lIns="0" tIns="0" rIns="0" bIns="0" rtlCol="0" anchor="t"/>
          <a:lstStyle/>
          <a:p>
            <a:pPr marL="0" indent="0">
              <a:buNone/>
            </a:pPr>
            <a:r>
              <a:rPr lang="en-US" sz="1250" dirty="0">
                <a:solidFill>
                  <a:srgbClr val="1A1A1A"/>
                </a:solidFill>
                <a:latin typeface="Arial" pitchFamily="34" charset="0"/>
                <a:ea typeface="Arial" pitchFamily="34" charset="-122"/>
                <a:cs typeface="Arial" pitchFamily="34" charset="-120"/>
              </a:rPr>
              <a:t>General searching</a:t>
            </a:r>
            <a:endParaRPr lang="en-US" sz="1250" dirty="0"/>
          </a:p>
        </p:txBody>
      </p:sp>
      <p:sp>
        <p:nvSpPr>
          <p:cNvPr id="13" name="Shape 11"/>
          <p:cNvSpPr/>
          <p:nvPr/>
        </p:nvSpPr>
        <p:spPr>
          <a:xfrm>
            <a:off x="3227832" y="2331720"/>
            <a:ext cx="2578608" cy="822960"/>
          </a:xfrm>
          <a:prstGeom prst="roundRect">
            <a:avLst>
              <a:gd name="adj" fmla="val 7778"/>
            </a:avLst>
          </a:prstGeom>
          <a:solidFill>
            <a:srgbClr val="EDE9DE"/>
          </a:solidFill>
          <a:ln/>
        </p:spPr>
      </p:sp>
      <p:sp>
        <p:nvSpPr>
          <p:cNvPr id="14" name="Shape 12"/>
          <p:cNvSpPr/>
          <p:nvPr/>
        </p:nvSpPr>
        <p:spPr>
          <a:xfrm>
            <a:off x="3374136" y="2478024"/>
            <a:ext cx="219456" cy="219456"/>
          </a:xfrm>
          <a:prstGeom prst="roundRect">
            <a:avLst>
              <a:gd name="adj" fmla="val 16667"/>
            </a:avLst>
          </a:prstGeom>
          <a:ln w="19050">
            <a:solidFill>
              <a:srgbClr val="1E4FFF"/>
            </a:solidFill>
            <a:prstDash val="solid"/>
          </a:ln>
        </p:spPr>
      </p:sp>
      <p:sp>
        <p:nvSpPr>
          <p:cNvPr id="15" name="Text 13"/>
          <p:cNvSpPr txBox="1"/>
          <p:nvPr/>
        </p:nvSpPr>
        <p:spPr>
          <a:xfrm>
            <a:off x="3374136" y="2715768"/>
            <a:ext cx="2304288" cy="384048"/>
          </a:xfrm>
          <a:prstGeom prst="rect">
            <a:avLst/>
          </a:prstGeom>
          <a:noFill/>
          <a:ln/>
        </p:spPr>
        <p:txBody>
          <a:bodyPr wrap="square" lIns="0" tIns="0" rIns="0" bIns="0" rtlCol="0" anchor="t"/>
          <a:lstStyle/>
          <a:p>
            <a:pPr marL="0" indent="0">
              <a:buNone/>
            </a:pPr>
            <a:r>
              <a:rPr lang="en-US" sz="1250" dirty="0">
                <a:solidFill>
                  <a:srgbClr val="1A1A1A"/>
                </a:solidFill>
                <a:latin typeface="Arial" pitchFamily="34" charset="0"/>
                <a:ea typeface="Arial" pitchFamily="34" charset="-122"/>
                <a:cs typeface="Arial" pitchFamily="34" charset="-120"/>
              </a:rPr>
              <a:t>Research</a:t>
            </a:r>
            <a:endParaRPr lang="en-US" sz="1250" dirty="0"/>
          </a:p>
        </p:txBody>
      </p:sp>
      <p:sp>
        <p:nvSpPr>
          <p:cNvPr id="16" name="Shape 14"/>
          <p:cNvSpPr/>
          <p:nvPr/>
        </p:nvSpPr>
        <p:spPr>
          <a:xfrm>
            <a:off x="5952744" y="2331720"/>
            <a:ext cx="2578608" cy="822960"/>
          </a:xfrm>
          <a:prstGeom prst="roundRect">
            <a:avLst>
              <a:gd name="adj" fmla="val 7778"/>
            </a:avLst>
          </a:prstGeom>
          <a:solidFill>
            <a:srgbClr val="EDE9DE"/>
          </a:solidFill>
          <a:ln/>
        </p:spPr>
      </p:sp>
      <p:sp>
        <p:nvSpPr>
          <p:cNvPr id="17" name="Shape 15"/>
          <p:cNvSpPr/>
          <p:nvPr/>
        </p:nvSpPr>
        <p:spPr>
          <a:xfrm>
            <a:off x="6099048" y="2478024"/>
            <a:ext cx="219456" cy="219456"/>
          </a:xfrm>
          <a:prstGeom prst="roundRect">
            <a:avLst>
              <a:gd name="adj" fmla="val 16667"/>
            </a:avLst>
          </a:prstGeom>
          <a:ln w="19050">
            <a:solidFill>
              <a:srgbClr val="1E4FFF"/>
            </a:solidFill>
            <a:prstDash val="solid"/>
          </a:ln>
        </p:spPr>
      </p:sp>
      <p:sp>
        <p:nvSpPr>
          <p:cNvPr id="18" name="Text 16"/>
          <p:cNvSpPr txBox="1"/>
          <p:nvPr/>
        </p:nvSpPr>
        <p:spPr>
          <a:xfrm>
            <a:off x="6099048" y="2715768"/>
            <a:ext cx="2304288" cy="384048"/>
          </a:xfrm>
          <a:prstGeom prst="rect">
            <a:avLst/>
          </a:prstGeom>
          <a:noFill/>
          <a:ln/>
        </p:spPr>
        <p:txBody>
          <a:bodyPr wrap="square" lIns="0" tIns="0" rIns="0" bIns="0" rtlCol="0" anchor="t"/>
          <a:lstStyle/>
          <a:p>
            <a:pPr marL="0" indent="0">
              <a:buNone/>
            </a:pPr>
            <a:r>
              <a:rPr lang="en-US" sz="1250" dirty="0">
                <a:solidFill>
                  <a:srgbClr val="1A1A1A"/>
                </a:solidFill>
                <a:latin typeface="Arial" pitchFamily="34" charset="0"/>
                <a:ea typeface="Arial" pitchFamily="34" charset="-122"/>
                <a:cs typeface="Arial" pitchFamily="34" charset="-120"/>
              </a:rPr>
              <a:t>Deep research</a:t>
            </a:r>
            <a:endParaRPr lang="en-US" sz="1250" dirty="0"/>
          </a:p>
        </p:txBody>
      </p:sp>
      <p:sp>
        <p:nvSpPr>
          <p:cNvPr id="19" name="Shape 17"/>
          <p:cNvSpPr/>
          <p:nvPr/>
        </p:nvSpPr>
        <p:spPr>
          <a:xfrm>
            <a:off x="8677656" y="2331720"/>
            <a:ext cx="2578608" cy="822960"/>
          </a:xfrm>
          <a:prstGeom prst="roundRect">
            <a:avLst>
              <a:gd name="adj" fmla="val 7778"/>
            </a:avLst>
          </a:prstGeom>
          <a:solidFill>
            <a:srgbClr val="EDE9DE"/>
          </a:solidFill>
          <a:ln/>
        </p:spPr>
      </p:sp>
      <p:sp>
        <p:nvSpPr>
          <p:cNvPr id="20" name="Shape 18"/>
          <p:cNvSpPr/>
          <p:nvPr/>
        </p:nvSpPr>
        <p:spPr>
          <a:xfrm>
            <a:off x="8823960" y="2478024"/>
            <a:ext cx="219456" cy="219456"/>
          </a:xfrm>
          <a:prstGeom prst="roundRect">
            <a:avLst>
              <a:gd name="adj" fmla="val 16667"/>
            </a:avLst>
          </a:prstGeom>
          <a:ln w="19050">
            <a:solidFill>
              <a:srgbClr val="1E4FFF"/>
            </a:solidFill>
            <a:prstDash val="solid"/>
          </a:ln>
        </p:spPr>
      </p:sp>
      <p:sp>
        <p:nvSpPr>
          <p:cNvPr id="21" name="Text 19"/>
          <p:cNvSpPr txBox="1"/>
          <p:nvPr/>
        </p:nvSpPr>
        <p:spPr>
          <a:xfrm>
            <a:off x="8823960" y="2715768"/>
            <a:ext cx="2304288" cy="384048"/>
          </a:xfrm>
          <a:prstGeom prst="rect">
            <a:avLst/>
          </a:prstGeom>
          <a:noFill/>
          <a:ln/>
        </p:spPr>
        <p:txBody>
          <a:bodyPr wrap="square" lIns="0" tIns="0" rIns="0" bIns="0" rtlCol="0" anchor="t"/>
          <a:lstStyle/>
          <a:p>
            <a:pPr marL="0" indent="0">
              <a:buNone/>
            </a:pPr>
            <a:r>
              <a:rPr lang="en-US" sz="1250" dirty="0">
                <a:solidFill>
                  <a:srgbClr val="1A1A1A"/>
                </a:solidFill>
                <a:latin typeface="Arial" pitchFamily="34" charset="0"/>
                <a:ea typeface="Arial" pitchFamily="34" charset="-122"/>
                <a:cs typeface="Arial" pitchFamily="34" charset="-120"/>
              </a:rPr>
              <a:t>Writing or rewriting</a:t>
            </a:r>
            <a:endParaRPr lang="en-US" sz="1250" dirty="0"/>
          </a:p>
        </p:txBody>
      </p:sp>
      <p:sp>
        <p:nvSpPr>
          <p:cNvPr id="22" name="Shape 20"/>
          <p:cNvSpPr/>
          <p:nvPr/>
        </p:nvSpPr>
        <p:spPr>
          <a:xfrm>
            <a:off x="502920" y="3300984"/>
            <a:ext cx="2578608" cy="822960"/>
          </a:xfrm>
          <a:prstGeom prst="roundRect">
            <a:avLst>
              <a:gd name="adj" fmla="val 7778"/>
            </a:avLst>
          </a:prstGeom>
          <a:solidFill>
            <a:srgbClr val="EDE9DE"/>
          </a:solidFill>
          <a:ln/>
        </p:spPr>
      </p:sp>
      <p:sp>
        <p:nvSpPr>
          <p:cNvPr id="23" name="Shape 21"/>
          <p:cNvSpPr/>
          <p:nvPr/>
        </p:nvSpPr>
        <p:spPr>
          <a:xfrm>
            <a:off x="649224" y="3447288"/>
            <a:ext cx="219456" cy="219456"/>
          </a:xfrm>
          <a:prstGeom prst="roundRect">
            <a:avLst>
              <a:gd name="adj" fmla="val 16667"/>
            </a:avLst>
          </a:prstGeom>
          <a:ln w="19050">
            <a:solidFill>
              <a:srgbClr val="1E4FFF"/>
            </a:solidFill>
            <a:prstDash val="solid"/>
          </a:ln>
        </p:spPr>
      </p:sp>
      <p:sp>
        <p:nvSpPr>
          <p:cNvPr id="24" name="Text 22"/>
          <p:cNvSpPr txBox="1"/>
          <p:nvPr/>
        </p:nvSpPr>
        <p:spPr>
          <a:xfrm>
            <a:off x="649224" y="3685032"/>
            <a:ext cx="2304288" cy="384048"/>
          </a:xfrm>
          <a:prstGeom prst="rect">
            <a:avLst/>
          </a:prstGeom>
          <a:noFill/>
          <a:ln/>
        </p:spPr>
        <p:txBody>
          <a:bodyPr wrap="square" lIns="0" tIns="0" rIns="0" bIns="0" rtlCol="0" anchor="t"/>
          <a:lstStyle/>
          <a:p>
            <a:pPr marL="0" indent="0">
              <a:buNone/>
            </a:pPr>
            <a:r>
              <a:rPr lang="en-US" sz="1250" dirty="0">
                <a:solidFill>
                  <a:srgbClr val="1A1A1A"/>
                </a:solidFill>
                <a:latin typeface="Arial" pitchFamily="34" charset="0"/>
                <a:ea typeface="Arial" pitchFamily="34" charset="-122"/>
                <a:cs typeface="Arial" pitchFamily="34" charset="-120"/>
              </a:rPr>
              <a:t>Summarizing</a:t>
            </a:r>
            <a:endParaRPr lang="en-US" sz="1250" dirty="0"/>
          </a:p>
        </p:txBody>
      </p:sp>
      <p:sp>
        <p:nvSpPr>
          <p:cNvPr id="25" name="Shape 23"/>
          <p:cNvSpPr/>
          <p:nvPr/>
        </p:nvSpPr>
        <p:spPr>
          <a:xfrm>
            <a:off x="3227832" y="3300984"/>
            <a:ext cx="2578608" cy="822960"/>
          </a:xfrm>
          <a:prstGeom prst="roundRect">
            <a:avLst>
              <a:gd name="adj" fmla="val 7778"/>
            </a:avLst>
          </a:prstGeom>
          <a:solidFill>
            <a:srgbClr val="EDE9DE"/>
          </a:solidFill>
          <a:ln/>
        </p:spPr>
      </p:sp>
      <p:sp>
        <p:nvSpPr>
          <p:cNvPr id="26" name="Shape 24"/>
          <p:cNvSpPr/>
          <p:nvPr/>
        </p:nvSpPr>
        <p:spPr>
          <a:xfrm>
            <a:off x="3374136" y="3447288"/>
            <a:ext cx="219456" cy="219456"/>
          </a:xfrm>
          <a:prstGeom prst="roundRect">
            <a:avLst>
              <a:gd name="adj" fmla="val 16667"/>
            </a:avLst>
          </a:prstGeom>
          <a:ln w="19050">
            <a:solidFill>
              <a:srgbClr val="1E4FFF"/>
            </a:solidFill>
            <a:prstDash val="solid"/>
          </a:ln>
        </p:spPr>
      </p:sp>
      <p:sp>
        <p:nvSpPr>
          <p:cNvPr id="27" name="Text 25"/>
          <p:cNvSpPr txBox="1"/>
          <p:nvPr/>
        </p:nvSpPr>
        <p:spPr>
          <a:xfrm>
            <a:off x="3374136" y="3685032"/>
            <a:ext cx="2304288" cy="384048"/>
          </a:xfrm>
          <a:prstGeom prst="rect">
            <a:avLst/>
          </a:prstGeom>
          <a:noFill/>
          <a:ln/>
        </p:spPr>
        <p:txBody>
          <a:bodyPr wrap="square" lIns="0" tIns="0" rIns="0" bIns="0" rtlCol="0" anchor="t"/>
          <a:lstStyle/>
          <a:p>
            <a:pPr marL="0" indent="0">
              <a:buNone/>
            </a:pPr>
            <a:r>
              <a:rPr lang="en-US" sz="1250" dirty="0">
                <a:solidFill>
                  <a:srgbClr val="1A1A1A"/>
                </a:solidFill>
                <a:latin typeface="Arial" pitchFamily="34" charset="0"/>
                <a:ea typeface="Arial" pitchFamily="34" charset="-122"/>
                <a:cs typeface="Arial" pitchFamily="34" charset="-120"/>
              </a:rPr>
              <a:t>Presentations</a:t>
            </a:r>
            <a:endParaRPr lang="en-US" sz="1250" dirty="0"/>
          </a:p>
        </p:txBody>
      </p:sp>
      <p:sp>
        <p:nvSpPr>
          <p:cNvPr id="28" name="Shape 26"/>
          <p:cNvSpPr/>
          <p:nvPr/>
        </p:nvSpPr>
        <p:spPr>
          <a:xfrm>
            <a:off x="5952744" y="3300984"/>
            <a:ext cx="2578608" cy="822960"/>
          </a:xfrm>
          <a:prstGeom prst="roundRect">
            <a:avLst>
              <a:gd name="adj" fmla="val 7778"/>
            </a:avLst>
          </a:prstGeom>
          <a:solidFill>
            <a:srgbClr val="EDE9DE"/>
          </a:solidFill>
          <a:ln/>
        </p:spPr>
      </p:sp>
      <p:sp>
        <p:nvSpPr>
          <p:cNvPr id="29" name="Shape 27"/>
          <p:cNvSpPr/>
          <p:nvPr/>
        </p:nvSpPr>
        <p:spPr>
          <a:xfrm>
            <a:off x="6099048" y="3447288"/>
            <a:ext cx="219456" cy="219456"/>
          </a:xfrm>
          <a:prstGeom prst="roundRect">
            <a:avLst>
              <a:gd name="adj" fmla="val 16667"/>
            </a:avLst>
          </a:prstGeom>
          <a:ln w="19050">
            <a:solidFill>
              <a:srgbClr val="1E4FFF"/>
            </a:solidFill>
            <a:prstDash val="solid"/>
          </a:ln>
        </p:spPr>
      </p:sp>
      <p:sp>
        <p:nvSpPr>
          <p:cNvPr id="30" name="Text 28"/>
          <p:cNvSpPr txBox="1"/>
          <p:nvPr/>
        </p:nvSpPr>
        <p:spPr>
          <a:xfrm>
            <a:off x="6099048" y="3685032"/>
            <a:ext cx="2304288" cy="384048"/>
          </a:xfrm>
          <a:prstGeom prst="rect">
            <a:avLst/>
          </a:prstGeom>
          <a:noFill/>
          <a:ln/>
        </p:spPr>
        <p:txBody>
          <a:bodyPr wrap="square" lIns="0" tIns="0" rIns="0" bIns="0" rtlCol="0" anchor="t"/>
          <a:lstStyle/>
          <a:p>
            <a:pPr marL="0" indent="0">
              <a:buNone/>
            </a:pPr>
            <a:r>
              <a:rPr lang="en-US" sz="1250" dirty="0">
                <a:solidFill>
                  <a:srgbClr val="1A1A1A"/>
                </a:solidFill>
                <a:latin typeface="Arial" pitchFamily="34" charset="0"/>
                <a:ea typeface="Arial" pitchFamily="34" charset="-122"/>
                <a:cs typeface="Arial" pitchFamily="34" charset="-120"/>
              </a:rPr>
              <a:t>Images or videos</a:t>
            </a:r>
            <a:endParaRPr lang="en-US" sz="1250" dirty="0"/>
          </a:p>
        </p:txBody>
      </p:sp>
      <p:sp>
        <p:nvSpPr>
          <p:cNvPr id="31" name="Shape 29"/>
          <p:cNvSpPr/>
          <p:nvPr/>
        </p:nvSpPr>
        <p:spPr>
          <a:xfrm>
            <a:off x="8677656" y="3300984"/>
            <a:ext cx="2578608" cy="822960"/>
          </a:xfrm>
          <a:prstGeom prst="roundRect">
            <a:avLst>
              <a:gd name="adj" fmla="val 7778"/>
            </a:avLst>
          </a:prstGeom>
          <a:solidFill>
            <a:srgbClr val="EDE9DE"/>
          </a:solidFill>
          <a:ln/>
        </p:spPr>
      </p:sp>
      <p:sp>
        <p:nvSpPr>
          <p:cNvPr id="32" name="Shape 30"/>
          <p:cNvSpPr/>
          <p:nvPr/>
        </p:nvSpPr>
        <p:spPr>
          <a:xfrm>
            <a:off x="8823960" y="3447288"/>
            <a:ext cx="219456" cy="219456"/>
          </a:xfrm>
          <a:prstGeom prst="roundRect">
            <a:avLst>
              <a:gd name="adj" fmla="val 16667"/>
            </a:avLst>
          </a:prstGeom>
          <a:ln w="19050">
            <a:solidFill>
              <a:srgbClr val="1E4FFF"/>
            </a:solidFill>
            <a:prstDash val="solid"/>
          </a:ln>
        </p:spPr>
      </p:sp>
      <p:sp>
        <p:nvSpPr>
          <p:cNvPr id="33" name="Text 31"/>
          <p:cNvSpPr txBox="1"/>
          <p:nvPr/>
        </p:nvSpPr>
        <p:spPr>
          <a:xfrm>
            <a:off x="8823960" y="3685032"/>
            <a:ext cx="2304288" cy="384048"/>
          </a:xfrm>
          <a:prstGeom prst="rect">
            <a:avLst/>
          </a:prstGeom>
          <a:noFill/>
          <a:ln/>
        </p:spPr>
        <p:txBody>
          <a:bodyPr wrap="square" lIns="0" tIns="0" rIns="0" bIns="0" rtlCol="0" anchor="t"/>
          <a:lstStyle/>
          <a:p>
            <a:pPr marL="0" indent="0">
              <a:buNone/>
            </a:pPr>
            <a:r>
              <a:rPr lang="en-US" sz="1250" dirty="0">
                <a:solidFill>
                  <a:srgbClr val="1A1A1A"/>
                </a:solidFill>
                <a:latin typeface="Arial" pitchFamily="34" charset="0"/>
                <a:ea typeface="Arial" pitchFamily="34" charset="-122"/>
                <a:cs typeface="Arial" pitchFamily="34" charset="-120"/>
              </a:rPr>
              <a:t>Coding or apps</a:t>
            </a:r>
            <a:endParaRPr lang="en-US" sz="1250" dirty="0"/>
          </a:p>
        </p:txBody>
      </p:sp>
      <p:sp>
        <p:nvSpPr>
          <p:cNvPr id="34" name="Shape 32"/>
          <p:cNvSpPr/>
          <p:nvPr/>
        </p:nvSpPr>
        <p:spPr>
          <a:xfrm>
            <a:off x="502920" y="4270248"/>
            <a:ext cx="2578608" cy="822960"/>
          </a:xfrm>
          <a:prstGeom prst="roundRect">
            <a:avLst>
              <a:gd name="adj" fmla="val 7778"/>
            </a:avLst>
          </a:prstGeom>
          <a:solidFill>
            <a:srgbClr val="EDE9DE"/>
          </a:solidFill>
          <a:ln/>
        </p:spPr>
      </p:sp>
      <p:sp>
        <p:nvSpPr>
          <p:cNvPr id="35" name="Shape 33"/>
          <p:cNvSpPr/>
          <p:nvPr/>
        </p:nvSpPr>
        <p:spPr>
          <a:xfrm>
            <a:off x="649224" y="4416552"/>
            <a:ext cx="219456" cy="219456"/>
          </a:xfrm>
          <a:prstGeom prst="roundRect">
            <a:avLst>
              <a:gd name="adj" fmla="val 16667"/>
            </a:avLst>
          </a:prstGeom>
          <a:ln w="19050">
            <a:solidFill>
              <a:srgbClr val="1E4FFF"/>
            </a:solidFill>
            <a:prstDash val="solid"/>
          </a:ln>
        </p:spPr>
      </p:sp>
      <p:sp>
        <p:nvSpPr>
          <p:cNvPr id="36" name="Text 34"/>
          <p:cNvSpPr txBox="1"/>
          <p:nvPr/>
        </p:nvSpPr>
        <p:spPr>
          <a:xfrm>
            <a:off x="649224" y="4654296"/>
            <a:ext cx="2304288" cy="384048"/>
          </a:xfrm>
          <a:prstGeom prst="rect">
            <a:avLst/>
          </a:prstGeom>
          <a:noFill/>
          <a:ln/>
        </p:spPr>
        <p:txBody>
          <a:bodyPr wrap="square" lIns="0" tIns="0" rIns="0" bIns="0" rtlCol="0" anchor="t"/>
          <a:lstStyle/>
          <a:p>
            <a:pPr marL="0" indent="0">
              <a:buNone/>
            </a:pPr>
            <a:r>
              <a:rPr lang="en-US" sz="1250" dirty="0">
                <a:solidFill>
                  <a:srgbClr val="1A1A1A"/>
                </a:solidFill>
                <a:latin typeface="Arial" pitchFamily="34" charset="0"/>
                <a:ea typeface="Arial" pitchFamily="34" charset="-122"/>
                <a:cs typeface="Arial" pitchFamily="34" charset="-120"/>
              </a:rPr>
              <a:t>Data analysis</a:t>
            </a:r>
            <a:endParaRPr lang="en-US" sz="1250" dirty="0"/>
          </a:p>
        </p:txBody>
      </p:sp>
      <p:sp>
        <p:nvSpPr>
          <p:cNvPr id="37" name="Shape 35"/>
          <p:cNvSpPr/>
          <p:nvPr/>
        </p:nvSpPr>
        <p:spPr>
          <a:xfrm>
            <a:off x="3227832" y="4270248"/>
            <a:ext cx="2578608" cy="822960"/>
          </a:xfrm>
          <a:prstGeom prst="roundRect">
            <a:avLst>
              <a:gd name="adj" fmla="val 7778"/>
            </a:avLst>
          </a:prstGeom>
          <a:solidFill>
            <a:srgbClr val="EDE9DE"/>
          </a:solidFill>
          <a:ln/>
        </p:spPr>
      </p:sp>
      <p:sp>
        <p:nvSpPr>
          <p:cNvPr id="38" name="Shape 36"/>
          <p:cNvSpPr/>
          <p:nvPr/>
        </p:nvSpPr>
        <p:spPr>
          <a:xfrm>
            <a:off x="3374136" y="4416552"/>
            <a:ext cx="219456" cy="219456"/>
          </a:xfrm>
          <a:prstGeom prst="roundRect">
            <a:avLst>
              <a:gd name="adj" fmla="val 16667"/>
            </a:avLst>
          </a:prstGeom>
          <a:ln w="19050">
            <a:solidFill>
              <a:srgbClr val="1E4FFF"/>
            </a:solidFill>
            <a:prstDash val="solid"/>
          </a:ln>
        </p:spPr>
      </p:sp>
      <p:sp>
        <p:nvSpPr>
          <p:cNvPr id="39" name="Text 37"/>
          <p:cNvSpPr txBox="1"/>
          <p:nvPr/>
        </p:nvSpPr>
        <p:spPr>
          <a:xfrm>
            <a:off x="3374136" y="4654296"/>
            <a:ext cx="2304288" cy="384048"/>
          </a:xfrm>
          <a:prstGeom prst="rect">
            <a:avLst/>
          </a:prstGeom>
          <a:noFill/>
          <a:ln/>
        </p:spPr>
        <p:txBody>
          <a:bodyPr wrap="square" lIns="0" tIns="0" rIns="0" bIns="0" rtlCol="0" anchor="t"/>
          <a:lstStyle/>
          <a:p>
            <a:pPr marL="0" indent="0">
              <a:buNone/>
            </a:pPr>
            <a:r>
              <a:rPr lang="en-US" sz="1250" dirty="0">
                <a:solidFill>
                  <a:srgbClr val="1A1A1A"/>
                </a:solidFill>
                <a:latin typeface="Arial" pitchFamily="34" charset="0"/>
                <a:ea typeface="Arial" pitchFamily="34" charset="-122"/>
                <a:cs typeface="Arial" pitchFamily="34" charset="-120"/>
              </a:rPr>
              <a:t>Business planning</a:t>
            </a:r>
            <a:endParaRPr lang="en-US" sz="1250" dirty="0"/>
          </a:p>
        </p:txBody>
      </p:sp>
      <p:sp>
        <p:nvSpPr>
          <p:cNvPr id="40" name="Shape 38"/>
          <p:cNvSpPr/>
          <p:nvPr/>
        </p:nvSpPr>
        <p:spPr>
          <a:xfrm>
            <a:off x="5952744" y="4270248"/>
            <a:ext cx="2578608" cy="822960"/>
          </a:xfrm>
          <a:prstGeom prst="roundRect">
            <a:avLst>
              <a:gd name="adj" fmla="val 7778"/>
            </a:avLst>
          </a:prstGeom>
          <a:solidFill>
            <a:srgbClr val="EDE9DE"/>
          </a:solidFill>
          <a:ln/>
        </p:spPr>
      </p:sp>
      <p:sp>
        <p:nvSpPr>
          <p:cNvPr id="41" name="Shape 39"/>
          <p:cNvSpPr/>
          <p:nvPr/>
        </p:nvSpPr>
        <p:spPr>
          <a:xfrm>
            <a:off x="6099048" y="4416552"/>
            <a:ext cx="219456" cy="219456"/>
          </a:xfrm>
          <a:prstGeom prst="roundRect">
            <a:avLst>
              <a:gd name="adj" fmla="val 16667"/>
            </a:avLst>
          </a:prstGeom>
          <a:ln w="19050">
            <a:solidFill>
              <a:srgbClr val="1E4FFF"/>
            </a:solidFill>
            <a:prstDash val="solid"/>
          </a:ln>
        </p:spPr>
      </p:sp>
      <p:sp>
        <p:nvSpPr>
          <p:cNvPr id="42" name="Text 40"/>
          <p:cNvSpPr txBox="1"/>
          <p:nvPr/>
        </p:nvSpPr>
        <p:spPr>
          <a:xfrm>
            <a:off x="6099048" y="4654296"/>
            <a:ext cx="2304288" cy="384048"/>
          </a:xfrm>
          <a:prstGeom prst="rect">
            <a:avLst/>
          </a:prstGeom>
          <a:noFill/>
          <a:ln/>
        </p:spPr>
        <p:txBody>
          <a:bodyPr wrap="square" lIns="0" tIns="0" rIns="0" bIns="0" rtlCol="0" anchor="t"/>
          <a:lstStyle/>
          <a:p>
            <a:pPr marL="0" indent="0">
              <a:buNone/>
            </a:pPr>
            <a:r>
              <a:rPr lang="en-US" sz="1250" dirty="0">
                <a:solidFill>
                  <a:srgbClr val="1A1A1A"/>
                </a:solidFill>
                <a:latin typeface="Arial" pitchFamily="34" charset="0"/>
                <a:ea typeface="Arial" pitchFamily="34" charset="-122"/>
                <a:cs typeface="Arial" pitchFamily="34" charset="-120"/>
              </a:rPr>
              <a:t>Translation</a:t>
            </a:r>
            <a:endParaRPr lang="en-US" sz="1250" dirty="0"/>
          </a:p>
        </p:txBody>
      </p:sp>
      <p:sp>
        <p:nvSpPr>
          <p:cNvPr id="43" name="Shape 41"/>
          <p:cNvSpPr/>
          <p:nvPr/>
        </p:nvSpPr>
        <p:spPr>
          <a:xfrm>
            <a:off x="8677656" y="4270248"/>
            <a:ext cx="2578608" cy="822960"/>
          </a:xfrm>
          <a:prstGeom prst="roundRect">
            <a:avLst>
              <a:gd name="adj" fmla="val 7778"/>
            </a:avLst>
          </a:prstGeom>
          <a:solidFill>
            <a:srgbClr val="EDE9DE"/>
          </a:solidFill>
          <a:ln/>
        </p:spPr>
      </p:sp>
      <p:sp>
        <p:nvSpPr>
          <p:cNvPr id="44" name="Shape 42"/>
          <p:cNvSpPr/>
          <p:nvPr/>
        </p:nvSpPr>
        <p:spPr>
          <a:xfrm>
            <a:off x="8823960" y="4416552"/>
            <a:ext cx="219456" cy="219456"/>
          </a:xfrm>
          <a:prstGeom prst="roundRect">
            <a:avLst>
              <a:gd name="adj" fmla="val 16667"/>
            </a:avLst>
          </a:prstGeom>
          <a:ln w="19050">
            <a:solidFill>
              <a:srgbClr val="1E4FFF"/>
            </a:solidFill>
            <a:prstDash val="solid"/>
          </a:ln>
        </p:spPr>
      </p:sp>
      <p:sp>
        <p:nvSpPr>
          <p:cNvPr id="45" name="Text 43"/>
          <p:cNvSpPr txBox="1"/>
          <p:nvPr/>
        </p:nvSpPr>
        <p:spPr>
          <a:xfrm>
            <a:off x="8823960" y="4654296"/>
            <a:ext cx="2304288" cy="384048"/>
          </a:xfrm>
          <a:prstGeom prst="rect">
            <a:avLst/>
          </a:prstGeom>
          <a:noFill/>
          <a:ln/>
        </p:spPr>
        <p:txBody>
          <a:bodyPr wrap="square" lIns="0" tIns="0" rIns="0" bIns="0" rtlCol="0" anchor="t"/>
          <a:lstStyle/>
          <a:p>
            <a:pPr marL="0" indent="0">
              <a:buNone/>
            </a:pPr>
            <a:r>
              <a:rPr lang="en-US" sz="1250" dirty="0">
                <a:solidFill>
                  <a:srgbClr val="1A1A1A"/>
                </a:solidFill>
                <a:latin typeface="Arial" pitchFamily="34" charset="0"/>
                <a:ea typeface="Arial" pitchFamily="34" charset="-122"/>
                <a:cs typeface="Arial" pitchFamily="34" charset="-120"/>
              </a:rPr>
              <a:t>Study support</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
    <p:bg>
      <p:bgPr>
        <a:solidFill>
          <a:srgbClr val="F7F4EC"/>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6E6A60"/>
                </a:solidFill>
                <a:latin typeface="Arial" pitchFamily="34" charset="0"/>
                <a:ea typeface="Arial" pitchFamily="34" charset="-122"/>
                <a:cs typeface="Arial" pitchFamily="34" charset="-120"/>
              </a:rPr>
              <a:t>CLASS 1 · AI AS A BUSINESS TOOL</a:t>
            </a:r>
            <a:endParaRPr lang="en-US" sz="1050" dirty="0"/>
          </a:p>
        </p:txBody>
      </p:sp>
      <p:sp>
        <p:nvSpPr>
          <p:cNvPr id="3" name="Shape 1"/>
          <p:cNvSpPr/>
          <p:nvPr/>
        </p:nvSpPr>
        <p:spPr>
          <a:xfrm>
            <a:off x="10561320" y="256032"/>
            <a:ext cx="1170432" cy="384048"/>
          </a:xfrm>
          <a:prstGeom prst="roundRect">
            <a:avLst>
              <a:gd name="adj" fmla="val 19048"/>
            </a:avLst>
          </a:prstGeom>
          <a:solidFill>
            <a:srgbClr val="1E4FFF"/>
          </a:solidFill>
          <a:ln/>
        </p:spPr>
      </p:sp>
      <p:sp>
        <p:nvSpPr>
          <p:cNvPr id="4" name="Text 2"/>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10–15</a:t>
            </a:r>
            <a:endParaRPr lang="en-US" sz="1300" dirty="0"/>
          </a:p>
        </p:txBody>
      </p:sp>
      <p:sp>
        <p:nvSpPr>
          <p:cNvPr id="5" name="Shape 3"/>
          <p:cNvSpPr/>
          <p:nvPr/>
        </p:nvSpPr>
        <p:spPr>
          <a:xfrm>
            <a:off x="502920" y="6446520"/>
            <a:ext cx="11183112" cy="0"/>
          </a:xfrm>
          <a:prstGeom prst="line">
            <a:avLst/>
          </a:prstGeom>
          <a:noFill/>
          <a:ln w="9525">
            <a:solidFill>
              <a:srgbClr val="D8D3C5"/>
            </a:solidFill>
            <a:prstDash val="solid"/>
          </a:ln>
        </p:spPr>
      </p:sp>
      <p:sp>
        <p:nvSpPr>
          <p:cNvPr id="6" name="Text 4"/>
          <p:cNvSpPr txBox="1"/>
          <p:nvPr/>
        </p:nvSpPr>
        <p:spPr>
          <a:xfrm>
            <a:off x="502920" y="6492240"/>
            <a:ext cx="7315200" cy="274320"/>
          </a:xfrm>
          <a:prstGeom prst="rect">
            <a:avLst/>
          </a:prstGeom>
          <a:noFill/>
          <a:ln/>
        </p:spPr>
        <p:txBody>
          <a:bodyPr wrap="square" lIns="0" tIns="0" rIns="0" bIns="0" rtlCol="0" anchor="ctr"/>
          <a:lstStyle/>
          <a:p>
            <a:pPr marL="0" indent="0">
              <a:buNone/>
            </a:pPr>
            <a:r>
              <a:rPr lang="en-US" sz="900" kern="0" spc="100" dirty="0">
                <a:solidFill>
                  <a:srgbClr val="6E6A60"/>
                </a:solidFill>
                <a:latin typeface="Arial" pitchFamily="34" charset="0"/>
                <a:ea typeface="Arial" pitchFamily="34" charset="-122"/>
                <a:cs typeface="Arial" pitchFamily="34" charset="-120"/>
              </a:rPr>
              <a:t>IUT DHAKA</a:t>
            </a:r>
            <a:endParaRPr lang="en-US" sz="900" dirty="0"/>
          </a:p>
        </p:txBody>
      </p:sp>
      <p:sp>
        <p:nvSpPr>
          <p:cNvPr id="7" name="Text 5"/>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05</a:t>
            </a:r>
            <a:endParaRPr lang="en-US" sz="900" dirty="0"/>
          </a:p>
        </p:txBody>
      </p:sp>
      <p:sp>
        <p:nvSpPr>
          <p:cNvPr id="8" name="Text 6"/>
          <p:cNvSpPr txBox="1"/>
          <p:nvPr/>
        </p:nvSpPr>
        <p:spPr>
          <a:xfrm>
            <a:off x="502920" y="713232"/>
            <a:ext cx="10607040" cy="868680"/>
          </a:xfrm>
          <a:prstGeom prst="rect">
            <a:avLst/>
          </a:prstGeom>
          <a:noFill/>
          <a:ln/>
        </p:spPr>
        <p:txBody>
          <a:bodyPr wrap="square" lIns="0" tIns="0" rIns="0" bIns="0" rtlCol="0" anchor="ctr"/>
          <a:lstStyle/>
          <a:p>
            <a:pPr marL="0" indent="0">
              <a:lnSpc>
                <a:spcPct val="102000"/>
              </a:lnSpc>
              <a:buNone/>
            </a:pPr>
            <a:r>
              <a:rPr lang="en-US" sz="3400" b="1" dirty="0">
                <a:solidFill>
                  <a:srgbClr val="1A1A1A"/>
                </a:solidFill>
                <a:latin typeface="Arial" pitchFamily="34" charset="0"/>
                <a:ea typeface="Arial" pitchFamily="34" charset="-122"/>
                <a:cs typeface="Arial" pitchFamily="34" charset="-120"/>
              </a:rPr>
              <a:t>Five Ways AI Helps</a:t>
            </a:r>
            <a:endParaRPr lang="en-US" sz="3400" dirty="0"/>
          </a:p>
        </p:txBody>
      </p:sp>
      <p:sp>
        <p:nvSpPr>
          <p:cNvPr id="9" name="Text 7"/>
          <p:cNvSpPr txBox="1"/>
          <p:nvPr/>
        </p:nvSpPr>
        <p:spPr>
          <a:xfrm>
            <a:off x="502920" y="1554480"/>
            <a:ext cx="9144000" cy="320040"/>
          </a:xfrm>
          <a:prstGeom prst="rect">
            <a:avLst/>
          </a:prstGeom>
          <a:noFill/>
          <a:ln/>
        </p:spPr>
        <p:txBody>
          <a:bodyPr wrap="square" lIns="0" tIns="0" rIns="0" bIns="0" rtlCol="0" anchor="ctr"/>
          <a:lstStyle/>
          <a:p>
            <a:pPr marL="0" indent="0">
              <a:buNone/>
            </a:pPr>
            <a:r>
              <a:rPr lang="en-US" sz="1350" i="1" dirty="0">
                <a:solidFill>
                  <a:srgbClr val="6E6A60"/>
                </a:solidFill>
                <a:latin typeface="Arial" pitchFamily="34" charset="0"/>
                <a:ea typeface="Arial" pitchFamily="34" charset="-122"/>
                <a:cs typeface="Arial" pitchFamily="34" charset="-120"/>
              </a:rPr>
              <a:t>One task can draw on more than one of these.</a:t>
            </a:r>
            <a:endParaRPr lang="en-US" sz="1350" dirty="0"/>
          </a:p>
        </p:txBody>
      </p:sp>
      <p:sp>
        <p:nvSpPr>
          <p:cNvPr id="10" name="Shape 8"/>
          <p:cNvSpPr/>
          <p:nvPr/>
        </p:nvSpPr>
        <p:spPr>
          <a:xfrm>
            <a:off x="502920" y="2148840"/>
            <a:ext cx="2048256" cy="3566160"/>
          </a:xfrm>
          <a:prstGeom prst="roundRect">
            <a:avLst>
              <a:gd name="adj" fmla="val 3571"/>
            </a:avLst>
          </a:prstGeom>
          <a:solidFill>
            <a:srgbClr val="EDE9DE"/>
          </a:solidFill>
          <a:ln/>
        </p:spPr>
      </p:sp>
      <p:sp>
        <p:nvSpPr>
          <p:cNvPr id="11" name="Shape 9"/>
          <p:cNvSpPr/>
          <p:nvPr/>
        </p:nvSpPr>
        <p:spPr>
          <a:xfrm>
            <a:off x="1197864" y="2404872"/>
            <a:ext cx="658368" cy="658368"/>
          </a:xfrm>
          <a:prstGeom prst="ellipse">
            <a:avLst/>
          </a:prstGeom>
          <a:solidFill>
            <a:srgbClr val="F7F4EC"/>
          </a:solidFill>
          <a:ln w="28575">
            <a:solidFill>
              <a:srgbClr val="1E4FFF"/>
            </a:solidFill>
            <a:prstDash val="solid"/>
          </a:ln>
        </p:spPr>
      </p:sp>
      <p:sp>
        <p:nvSpPr>
          <p:cNvPr id="12" name="Text 10"/>
          <p:cNvSpPr txBox="1"/>
          <p:nvPr/>
        </p:nvSpPr>
        <p:spPr>
          <a:xfrm>
            <a:off x="1197864" y="2404872"/>
            <a:ext cx="658368" cy="658368"/>
          </a:xfrm>
          <a:prstGeom prst="rect">
            <a:avLst/>
          </a:prstGeom>
          <a:noFill/>
          <a:ln/>
        </p:spPr>
        <p:txBody>
          <a:bodyPr wrap="square" lIns="0" tIns="0" rIns="0" bIns="0" rtlCol="0" anchor="ctr"/>
          <a:lstStyle/>
          <a:p>
            <a:pPr marL="0" indent="0" algn="ctr">
              <a:buNone/>
            </a:pPr>
            <a:r>
              <a:rPr lang="en-US" sz="1944" b="1" dirty="0">
                <a:solidFill>
                  <a:srgbClr val="1E4FFF"/>
                </a:solidFill>
                <a:latin typeface="Arial" pitchFamily="34" charset="0"/>
                <a:ea typeface="Arial" pitchFamily="34" charset="-122"/>
                <a:cs typeface="Arial" pitchFamily="34" charset="-120"/>
              </a:rPr>
              <a:t>S</a:t>
            </a:r>
            <a:endParaRPr lang="en-US" sz="1944" dirty="0"/>
          </a:p>
        </p:txBody>
      </p:sp>
      <p:sp>
        <p:nvSpPr>
          <p:cNvPr id="13" name="Text 11"/>
          <p:cNvSpPr txBox="1"/>
          <p:nvPr/>
        </p:nvSpPr>
        <p:spPr>
          <a:xfrm>
            <a:off x="612648" y="3227832"/>
            <a:ext cx="1828800" cy="365760"/>
          </a:xfrm>
          <a:prstGeom prst="rect">
            <a:avLst/>
          </a:prstGeom>
          <a:noFill/>
          <a:ln/>
        </p:spPr>
        <p:txBody>
          <a:bodyPr wrap="square" lIns="0" tIns="0" rIns="0" bIns="0" rtlCol="0" anchor="ctr"/>
          <a:lstStyle/>
          <a:p>
            <a:pPr marL="0" indent="0" algn="ctr">
              <a:buNone/>
            </a:pPr>
            <a:r>
              <a:rPr lang="en-US" sz="1550" b="1" dirty="0">
                <a:solidFill>
                  <a:srgbClr val="1A1A1A"/>
                </a:solidFill>
                <a:latin typeface="Arial" pitchFamily="34" charset="0"/>
                <a:ea typeface="Arial" pitchFamily="34" charset="-122"/>
                <a:cs typeface="Arial" pitchFamily="34" charset="-120"/>
              </a:rPr>
              <a:t>Search</a:t>
            </a:r>
            <a:endParaRPr lang="en-US" sz="1550" dirty="0"/>
          </a:p>
        </p:txBody>
      </p:sp>
      <p:sp>
        <p:nvSpPr>
          <p:cNvPr id="14" name="Text 12"/>
          <p:cNvSpPr txBox="1"/>
          <p:nvPr/>
        </p:nvSpPr>
        <p:spPr>
          <a:xfrm>
            <a:off x="649224" y="3657600"/>
            <a:ext cx="1755648" cy="868680"/>
          </a:xfrm>
          <a:prstGeom prst="rect">
            <a:avLst/>
          </a:prstGeom>
          <a:noFill/>
          <a:ln/>
        </p:spPr>
        <p:txBody>
          <a:bodyPr wrap="square" lIns="0" tIns="0" rIns="0" bIns="0" rtlCol="0" anchor="ctr"/>
          <a:lstStyle/>
          <a:p>
            <a:pPr marL="0" indent="0" algn="ctr">
              <a:buNone/>
            </a:pPr>
            <a:r>
              <a:rPr lang="en-US" sz="1100" dirty="0">
                <a:solidFill>
                  <a:srgbClr val="3E3B34"/>
                </a:solidFill>
                <a:latin typeface="Arial" pitchFamily="34" charset="0"/>
                <a:ea typeface="Arial" pitchFamily="34" charset="-122"/>
                <a:cs typeface="Arial" pitchFamily="34" charset="-120"/>
              </a:rPr>
              <a:t>Find relevant information or sources.</a:t>
            </a:r>
            <a:endParaRPr lang="en-US" sz="1100" dirty="0"/>
          </a:p>
        </p:txBody>
      </p:sp>
      <p:sp>
        <p:nvSpPr>
          <p:cNvPr id="15" name="Shape 13"/>
          <p:cNvSpPr/>
          <p:nvPr/>
        </p:nvSpPr>
        <p:spPr>
          <a:xfrm>
            <a:off x="777240" y="4599432"/>
            <a:ext cx="1499616" cy="0"/>
          </a:xfrm>
          <a:prstGeom prst="line">
            <a:avLst/>
          </a:prstGeom>
          <a:noFill/>
          <a:ln w="9525">
            <a:solidFill>
              <a:srgbClr val="D8D3C5"/>
            </a:solidFill>
            <a:prstDash val="solid"/>
          </a:ln>
        </p:spPr>
      </p:sp>
      <p:sp>
        <p:nvSpPr>
          <p:cNvPr id="16" name="Text 14"/>
          <p:cNvSpPr txBox="1"/>
          <p:nvPr/>
        </p:nvSpPr>
        <p:spPr>
          <a:xfrm>
            <a:off x="649224" y="4690872"/>
            <a:ext cx="1755648" cy="914400"/>
          </a:xfrm>
          <a:prstGeom prst="rect">
            <a:avLst/>
          </a:prstGeom>
          <a:noFill/>
          <a:ln/>
        </p:spPr>
        <p:txBody>
          <a:bodyPr wrap="square" lIns="0" tIns="0" rIns="0" bIns="0" rtlCol="0" anchor="ctr"/>
          <a:lstStyle/>
          <a:p>
            <a:pPr marL="0" indent="0" algn="ctr">
              <a:buNone/>
            </a:pPr>
            <a:r>
              <a:rPr lang="en-US" sz="1000" i="1" dirty="0">
                <a:solidFill>
                  <a:srgbClr val="6E6A60"/>
                </a:solidFill>
                <a:latin typeface="Arial" pitchFamily="34" charset="0"/>
                <a:ea typeface="Arial" pitchFamily="34" charset="-122"/>
                <a:cs typeface="Arial" pitchFamily="34" charset="-120"/>
              </a:rPr>
              <a:t>A result may not support the claim.</a:t>
            </a:r>
            <a:endParaRPr lang="en-US" sz="1000" dirty="0"/>
          </a:p>
        </p:txBody>
      </p:sp>
      <p:sp>
        <p:nvSpPr>
          <p:cNvPr id="17" name="Shape 15"/>
          <p:cNvSpPr/>
          <p:nvPr/>
        </p:nvSpPr>
        <p:spPr>
          <a:xfrm>
            <a:off x="2660904" y="2148840"/>
            <a:ext cx="2048256" cy="3566160"/>
          </a:xfrm>
          <a:prstGeom prst="roundRect">
            <a:avLst>
              <a:gd name="adj" fmla="val 3571"/>
            </a:avLst>
          </a:prstGeom>
          <a:solidFill>
            <a:srgbClr val="EDE9DE"/>
          </a:solidFill>
          <a:ln/>
        </p:spPr>
      </p:sp>
      <p:sp>
        <p:nvSpPr>
          <p:cNvPr id="18" name="Shape 16"/>
          <p:cNvSpPr/>
          <p:nvPr/>
        </p:nvSpPr>
        <p:spPr>
          <a:xfrm>
            <a:off x="3355848" y="2404872"/>
            <a:ext cx="658368" cy="658368"/>
          </a:xfrm>
          <a:prstGeom prst="ellipse">
            <a:avLst/>
          </a:prstGeom>
          <a:solidFill>
            <a:srgbClr val="F7F4EC"/>
          </a:solidFill>
          <a:ln w="28575">
            <a:solidFill>
              <a:srgbClr val="1E4FFF"/>
            </a:solidFill>
            <a:prstDash val="solid"/>
          </a:ln>
        </p:spPr>
      </p:sp>
      <p:sp>
        <p:nvSpPr>
          <p:cNvPr id="19" name="Text 17"/>
          <p:cNvSpPr txBox="1"/>
          <p:nvPr/>
        </p:nvSpPr>
        <p:spPr>
          <a:xfrm>
            <a:off x="3355848" y="2404872"/>
            <a:ext cx="658368" cy="658368"/>
          </a:xfrm>
          <a:prstGeom prst="rect">
            <a:avLst/>
          </a:prstGeom>
          <a:noFill/>
          <a:ln/>
        </p:spPr>
        <p:txBody>
          <a:bodyPr wrap="square" lIns="0" tIns="0" rIns="0" bIns="0" rtlCol="0" anchor="ctr"/>
          <a:lstStyle/>
          <a:p>
            <a:pPr marL="0" indent="0" algn="ctr">
              <a:buNone/>
            </a:pPr>
            <a:r>
              <a:rPr lang="en-US" sz="1944" b="1" dirty="0">
                <a:solidFill>
                  <a:srgbClr val="1E4FFF"/>
                </a:solidFill>
                <a:latin typeface="Arial" pitchFamily="34" charset="0"/>
                <a:ea typeface="Arial" pitchFamily="34" charset="-122"/>
                <a:cs typeface="Arial" pitchFamily="34" charset="-120"/>
              </a:rPr>
              <a:t>R</a:t>
            </a:r>
            <a:endParaRPr lang="en-US" sz="1944" dirty="0"/>
          </a:p>
        </p:txBody>
      </p:sp>
      <p:sp>
        <p:nvSpPr>
          <p:cNvPr id="20" name="Text 18"/>
          <p:cNvSpPr txBox="1"/>
          <p:nvPr/>
        </p:nvSpPr>
        <p:spPr>
          <a:xfrm>
            <a:off x="2770632" y="3227832"/>
            <a:ext cx="1828800" cy="365760"/>
          </a:xfrm>
          <a:prstGeom prst="rect">
            <a:avLst/>
          </a:prstGeom>
          <a:noFill/>
          <a:ln/>
        </p:spPr>
        <p:txBody>
          <a:bodyPr wrap="square" lIns="0" tIns="0" rIns="0" bIns="0" rtlCol="0" anchor="ctr"/>
          <a:lstStyle/>
          <a:p>
            <a:pPr marL="0" indent="0" algn="ctr">
              <a:buNone/>
            </a:pPr>
            <a:r>
              <a:rPr lang="en-US" sz="1550" b="1" dirty="0">
                <a:solidFill>
                  <a:srgbClr val="1A1A1A"/>
                </a:solidFill>
                <a:latin typeface="Arial" pitchFamily="34" charset="0"/>
                <a:ea typeface="Arial" pitchFamily="34" charset="-122"/>
                <a:cs typeface="Arial" pitchFamily="34" charset="-120"/>
              </a:rPr>
              <a:t>Reason</a:t>
            </a:r>
            <a:endParaRPr lang="en-US" sz="1550" dirty="0"/>
          </a:p>
        </p:txBody>
      </p:sp>
      <p:sp>
        <p:nvSpPr>
          <p:cNvPr id="21" name="Text 19"/>
          <p:cNvSpPr txBox="1"/>
          <p:nvPr/>
        </p:nvSpPr>
        <p:spPr>
          <a:xfrm>
            <a:off x="2807208" y="3657600"/>
            <a:ext cx="1755648" cy="868680"/>
          </a:xfrm>
          <a:prstGeom prst="rect">
            <a:avLst/>
          </a:prstGeom>
          <a:noFill/>
          <a:ln/>
        </p:spPr>
        <p:txBody>
          <a:bodyPr wrap="square" lIns="0" tIns="0" rIns="0" bIns="0" rtlCol="0" anchor="ctr"/>
          <a:lstStyle/>
          <a:p>
            <a:pPr marL="0" indent="0" algn="ctr">
              <a:buNone/>
            </a:pPr>
            <a:r>
              <a:rPr lang="en-US" sz="1100" dirty="0">
                <a:solidFill>
                  <a:srgbClr val="3E3B34"/>
                </a:solidFill>
                <a:latin typeface="Arial" pitchFamily="34" charset="0"/>
                <a:ea typeface="Arial" pitchFamily="34" charset="-122"/>
                <a:cs typeface="Arial" pitchFamily="34" charset="-120"/>
              </a:rPr>
              <a:t>Work through options, constraints, explanations.</a:t>
            </a:r>
            <a:endParaRPr lang="en-US" sz="1100" dirty="0"/>
          </a:p>
        </p:txBody>
      </p:sp>
      <p:sp>
        <p:nvSpPr>
          <p:cNvPr id="22" name="Shape 20"/>
          <p:cNvSpPr/>
          <p:nvPr/>
        </p:nvSpPr>
        <p:spPr>
          <a:xfrm>
            <a:off x="2935224" y="4599432"/>
            <a:ext cx="1499616" cy="0"/>
          </a:xfrm>
          <a:prstGeom prst="line">
            <a:avLst/>
          </a:prstGeom>
          <a:noFill/>
          <a:ln w="9525">
            <a:solidFill>
              <a:srgbClr val="D8D3C5"/>
            </a:solidFill>
            <a:prstDash val="solid"/>
          </a:ln>
        </p:spPr>
      </p:sp>
      <p:sp>
        <p:nvSpPr>
          <p:cNvPr id="23" name="Text 21"/>
          <p:cNvSpPr txBox="1"/>
          <p:nvPr/>
        </p:nvSpPr>
        <p:spPr>
          <a:xfrm>
            <a:off x="2807208" y="4690872"/>
            <a:ext cx="1755648" cy="914400"/>
          </a:xfrm>
          <a:prstGeom prst="rect">
            <a:avLst/>
          </a:prstGeom>
          <a:noFill/>
          <a:ln/>
        </p:spPr>
        <p:txBody>
          <a:bodyPr wrap="square" lIns="0" tIns="0" rIns="0" bIns="0" rtlCol="0" anchor="ctr"/>
          <a:lstStyle/>
          <a:p>
            <a:pPr marL="0" indent="0" algn="ctr">
              <a:buNone/>
            </a:pPr>
            <a:r>
              <a:rPr lang="en-US" sz="1000" i="1" dirty="0">
                <a:solidFill>
                  <a:srgbClr val="6E6A60"/>
                </a:solidFill>
                <a:latin typeface="Arial" pitchFamily="34" charset="0"/>
                <a:ea typeface="Arial" pitchFamily="34" charset="-122"/>
                <a:cs typeface="Arial" pitchFamily="34" charset="-120"/>
              </a:rPr>
              <a:t>Plausible reasoning can start from false assumptions.</a:t>
            </a:r>
            <a:endParaRPr lang="en-US" sz="1000" dirty="0"/>
          </a:p>
        </p:txBody>
      </p:sp>
      <p:sp>
        <p:nvSpPr>
          <p:cNvPr id="24" name="Shape 22"/>
          <p:cNvSpPr/>
          <p:nvPr/>
        </p:nvSpPr>
        <p:spPr>
          <a:xfrm>
            <a:off x="4818888" y="2148840"/>
            <a:ext cx="2048256" cy="3566160"/>
          </a:xfrm>
          <a:prstGeom prst="roundRect">
            <a:avLst>
              <a:gd name="adj" fmla="val 3571"/>
            </a:avLst>
          </a:prstGeom>
          <a:solidFill>
            <a:srgbClr val="EDE9DE"/>
          </a:solidFill>
          <a:ln/>
        </p:spPr>
      </p:sp>
      <p:sp>
        <p:nvSpPr>
          <p:cNvPr id="25" name="Shape 23"/>
          <p:cNvSpPr/>
          <p:nvPr/>
        </p:nvSpPr>
        <p:spPr>
          <a:xfrm>
            <a:off x="5513832" y="2404872"/>
            <a:ext cx="658368" cy="658368"/>
          </a:xfrm>
          <a:prstGeom prst="ellipse">
            <a:avLst/>
          </a:prstGeom>
          <a:solidFill>
            <a:srgbClr val="F7F4EC"/>
          </a:solidFill>
          <a:ln w="28575">
            <a:solidFill>
              <a:srgbClr val="1E4FFF"/>
            </a:solidFill>
            <a:prstDash val="solid"/>
          </a:ln>
        </p:spPr>
      </p:sp>
      <p:sp>
        <p:nvSpPr>
          <p:cNvPr id="26" name="Text 24"/>
          <p:cNvSpPr txBox="1"/>
          <p:nvPr/>
        </p:nvSpPr>
        <p:spPr>
          <a:xfrm>
            <a:off x="5513832" y="2404872"/>
            <a:ext cx="658368" cy="658368"/>
          </a:xfrm>
          <a:prstGeom prst="rect">
            <a:avLst/>
          </a:prstGeom>
          <a:noFill/>
          <a:ln/>
        </p:spPr>
        <p:txBody>
          <a:bodyPr wrap="square" lIns="0" tIns="0" rIns="0" bIns="0" rtlCol="0" anchor="ctr"/>
          <a:lstStyle/>
          <a:p>
            <a:pPr marL="0" indent="0" algn="ctr">
              <a:buNone/>
            </a:pPr>
            <a:r>
              <a:rPr lang="en-US" sz="1944" b="1" dirty="0">
                <a:solidFill>
                  <a:srgbClr val="1E4FFF"/>
                </a:solidFill>
                <a:latin typeface="Arial" pitchFamily="34" charset="0"/>
                <a:ea typeface="Arial" pitchFamily="34" charset="-122"/>
                <a:cs typeface="Arial" pitchFamily="34" charset="-120"/>
              </a:rPr>
              <a:t>G</a:t>
            </a:r>
            <a:endParaRPr lang="en-US" sz="1944" dirty="0"/>
          </a:p>
        </p:txBody>
      </p:sp>
      <p:sp>
        <p:nvSpPr>
          <p:cNvPr id="27" name="Text 25"/>
          <p:cNvSpPr txBox="1"/>
          <p:nvPr/>
        </p:nvSpPr>
        <p:spPr>
          <a:xfrm>
            <a:off x="4928616" y="3227832"/>
            <a:ext cx="1828800" cy="365760"/>
          </a:xfrm>
          <a:prstGeom prst="rect">
            <a:avLst/>
          </a:prstGeom>
          <a:noFill/>
          <a:ln/>
        </p:spPr>
        <p:txBody>
          <a:bodyPr wrap="square" lIns="0" tIns="0" rIns="0" bIns="0" rtlCol="0" anchor="ctr"/>
          <a:lstStyle/>
          <a:p>
            <a:pPr marL="0" indent="0" algn="ctr">
              <a:buNone/>
            </a:pPr>
            <a:r>
              <a:rPr lang="en-US" sz="1550" b="1" dirty="0">
                <a:solidFill>
                  <a:srgbClr val="1A1A1A"/>
                </a:solidFill>
                <a:latin typeface="Arial" pitchFamily="34" charset="0"/>
                <a:ea typeface="Arial" pitchFamily="34" charset="-122"/>
                <a:cs typeface="Arial" pitchFamily="34" charset="-120"/>
              </a:rPr>
              <a:t>Generate</a:t>
            </a:r>
            <a:endParaRPr lang="en-US" sz="1550" dirty="0"/>
          </a:p>
        </p:txBody>
      </p:sp>
      <p:sp>
        <p:nvSpPr>
          <p:cNvPr id="28" name="Text 26"/>
          <p:cNvSpPr txBox="1"/>
          <p:nvPr/>
        </p:nvSpPr>
        <p:spPr>
          <a:xfrm>
            <a:off x="4965192" y="3657600"/>
            <a:ext cx="1755648" cy="868680"/>
          </a:xfrm>
          <a:prstGeom prst="rect">
            <a:avLst/>
          </a:prstGeom>
          <a:noFill/>
          <a:ln/>
        </p:spPr>
        <p:txBody>
          <a:bodyPr wrap="square" lIns="0" tIns="0" rIns="0" bIns="0" rtlCol="0" anchor="ctr"/>
          <a:lstStyle/>
          <a:p>
            <a:pPr marL="0" indent="0" algn="ctr">
              <a:buNone/>
            </a:pPr>
            <a:r>
              <a:rPr lang="en-US" sz="1100" dirty="0">
                <a:solidFill>
                  <a:srgbClr val="3E3B34"/>
                </a:solidFill>
                <a:latin typeface="Arial" pitchFamily="34" charset="0"/>
                <a:ea typeface="Arial" pitchFamily="34" charset="-122"/>
                <a:cs typeface="Arial" pitchFamily="34" charset="-120"/>
              </a:rPr>
              <a:t>Produce a new draft or structure.</a:t>
            </a:r>
            <a:endParaRPr lang="en-US" sz="1100" dirty="0"/>
          </a:p>
        </p:txBody>
      </p:sp>
      <p:sp>
        <p:nvSpPr>
          <p:cNvPr id="29" name="Shape 27"/>
          <p:cNvSpPr/>
          <p:nvPr/>
        </p:nvSpPr>
        <p:spPr>
          <a:xfrm>
            <a:off x="5093208" y="4599432"/>
            <a:ext cx="1499616" cy="0"/>
          </a:xfrm>
          <a:prstGeom prst="line">
            <a:avLst/>
          </a:prstGeom>
          <a:noFill/>
          <a:ln w="9525">
            <a:solidFill>
              <a:srgbClr val="D8D3C5"/>
            </a:solidFill>
            <a:prstDash val="solid"/>
          </a:ln>
        </p:spPr>
      </p:sp>
      <p:sp>
        <p:nvSpPr>
          <p:cNvPr id="30" name="Text 28"/>
          <p:cNvSpPr txBox="1"/>
          <p:nvPr/>
        </p:nvSpPr>
        <p:spPr>
          <a:xfrm>
            <a:off x="4965192" y="4690872"/>
            <a:ext cx="1755648" cy="914400"/>
          </a:xfrm>
          <a:prstGeom prst="rect">
            <a:avLst/>
          </a:prstGeom>
          <a:noFill/>
          <a:ln/>
        </p:spPr>
        <p:txBody>
          <a:bodyPr wrap="square" lIns="0" tIns="0" rIns="0" bIns="0" rtlCol="0" anchor="ctr"/>
          <a:lstStyle/>
          <a:p>
            <a:pPr marL="0" indent="0" algn="ctr">
              <a:buNone/>
            </a:pPr>
            <a:r>
              <a:rPr lang="en-US" sz="1000" i="1" dirty="0">
                <a:solidFill>
                  <a:srgbClr val="6E6A60"/>
                </a:solidFill>
                <a:latin typeface="Arial" pitchFamily="34" charset="0"/>
                <a:ea typeface="Arial" pitchFamily="34" charset="-122"/>
                <a:cs typeface="Arial" pitchFamily="34" charset="-120"/>
              </a:rPr>
              <a:t>A polished draft may invent commitments.</a:t>
            </a:r>
            <a:endParaRPr lang="en-US" sz="1000" dirty="0"/>
          </a:p>
        </p:txBody>
      </p:sp>
      <p:sp>
        <p:nvSpPr>
          <p:cNvPr id="31" name="Shape 29"/>
          <p:cNvSpPr/>
          <p:nvPr/>
        </p:nvSpPr>
        <p:spPr>
          <a:xfrm>
            <a:off x="6976872" y="2148840"/>
            <a:ext cx="2048256" cy="3566160"/>
          </a:xfrm>
          <a:prstGeom prst="roundRect">
            <a:avLst>
              <a:gd name="adj" fmla="val 3571"/>
            </a:avLst>
          </a:prstGeom>
          <a:solidFill>
            <a:srgbClr val="EDE9DE"/>
          </a:solidFill>
          <a:ln/>
        </p:spPr>
      </p:sp>
      <p:sp>
        <p:nvSpPr>
          <p:cNvPr id="32" name="Shape 30"/>
          <p:cNvSpPr/>
          <p:nvPr/>
        </p:nvSpPr>
        <p:spPr>
          <a:xfrm>
            <a:off x="7671816" y="2404872"/>
            <a:ext cx="658368" cy="658368"/>
          </a:xfrm>
          <a:prstGeom prst="ellipse">
            <a:avLst/>
          </a:prstGeom>
          <a:solidFill>
            <a:srgbClr val="F7F4EC"/>
          </a:solidFill>
          <a:ln w="28575">
            <a:solidFill>
              <a:srgbClr val="1E4FFF"/>
            </a:solidFill>
            <a:prstDash val="solid"/>
          </a:ln>
        </p:spPr>
      </p:sp>
      <p:sp>
        <p:nvSpPr>
          <p:cNvPr id="33" name="Text 31"/>
          <p:cNvSpPr txBox="1"/>
          <p:nvPr/>
        </p:nvSpPr>
        <p:spPr>
          <a:xfrm>
            <a:off x="7671816" y="2404872"/>
            <a:ext cx="658368" cy="658368"/>
          </a:xfrm>
          <a:prstGeom prst="rect">
            <a:avLst/>
          </a:prstGeom>
          <a:noFill/>
          <a:ln/>
        </p:spPr>
        <p:txBody>
          <a:bodyPr wrap="square" lIns="0" tIns="0" rIns="0" bIns="0" rtlCol="0" anchor="ctr"/>
          <a:lstStyle/>
          <a:p>
            <a:pPr marL="0" indent="0" algn="ctr">
              <a:buNone/>
            </a:pPr>
            <a:r>
              <a:rPr lang="en-US" sz="1944" b="1" dirty="0">
                <a:solidFill>
                  <a:srgbClr val="1E4FFF"/>
                </a:solidFill>
                <a:latin typeface="Arial" pitchFamily="34" charset="0"/>
                <a:ea typeface="Arial" pitchFamily="34" charset="-122"/>
                <a:cs typeface="Arial" pitchFamily="34" charset="-120"/>
              </a:rPr>
              <a:t>A</a:t>
            </a:r>
            <a:endParaRPr lang="en-US" sz="1944" dirty="0"/>
          </a:p>
        </p:txBody>
      </p:sp>
      <p:sp>
        <p:nvSpPr>
          <p:cNvPr id="34" name="Text 32"/>
          <p:cNvSpPr txBox="1"/>
          <p:nvPr/>
        </p:nvSpPr>
        <p:spPr>
          <a:xfrm>
            <a:off x="7086600" y="3227832"/>
            <a:ext cx="1828800" cy="365760"/>
          </a:xfrm>
          <a:prstGeom prst="rect">
            <a:avLst/>
          </a:prstGeom>
          <a:noFill/>
          <a:ln/>
        </p:spPr>
        <p:txBody>
          <a:bodyPr wrap="square" lIns="0" tIns="0" rIns="0" bIns="0" rtlCol="0" anchor="ctr"/>
          <a:lstStyle/>
          <a:p>
            <a:pPr marL="0" indent="0" algn="ctr">
              <a:buNone/>
            </a:pPr>
            <a:r>
              <a:rPr lang="en-US" sz="1550" b="1" dirty="0">
                <a:solidFill>
                  <a:srgbClr val="1A1A1A"/>
                </a:solidFill>
                <a:latin typeface="Arial" pitchFamily="34" charset="0"/>
                <a:ea typeface="Arial" pitchFamily="34" charset="-122"/>
                <a:cs typeface="Arial" pitchFamily="34" charset="-120"/>
              </a:rPr>
              <a:t>Analyze</a:t>
            </a:r>
            <a:endParaRPr lang="en-US" sz="1550" dirty="0"/>
          </a:p>
        </p:txBody>
      </p:sp>
      <p:sp>
        <p:nvSpPr>
          <p:cNvPr id="35" name="Text 33"/>
          <p:cNvSpPr txBox="1"/>
          <p:nvPr/>
        </p:nvSpPr>
        <p:spPr>
          <a:xfrm>
            <a:off x="7123176" y="3657600"/>
            <a:ext cx="1755648" cy="868680"/>
          </a:xfrm>
          <a:prstGeom prst="rect">
            <a:avLst/>
          </a:prstGeom>
          <a:noFill/>
          <a:ln/>
        </p:spPr>
        <p:txBody>
          <a:bodyPr wrap="square" lIns="0" tIns="0" rIns="0" bIns="0" rtlCol="0" anchor="ctr"/>
          <a:lstStyle/>
          <a:p>
            <a:pPr marL="0" indent="0" algn="ctr">
              <a:buNone/>
            </a:pPr>
            <a:r>
              <a:rPr lang="en-US" sz="1100" dirty="0">
                <a:solidFill>
                  <a:srgbClr val="3E3B34"/>
                </a:solidFill>
                <a:latin typeface="Arial" pitchFamily="34" charset="0"/>
                <a:ea typeface="Arial" pitchFamily="34" charset="-122"/>
                <a:cs typeface="Arial" pitchFamily="34" charset="-120"/>
              </a:rPr>
              <a:t>Examine supplied information for patterns.</a:t>
            </a:r>
            <a:endParaRPr lang="en-US" sz="1100" dirty="0"/>
          </a:p>
        </p:txBody>
      </p:sp>
      <p:sp>
        <p:nvSpPr>
          <p:cNvPr id="36" name="Shape 34"/>
          <p:cNvSpPr/>
          <p:nvPr/>
        </p:nvSpPr>
        <p:spPr>
          <a:xfrm>
            <a:off x="7251192" y="4599432"/>
            <a:ext cx="1499616" cy="0"/>
          </a:xfrm>
          <a:prstGeom prst="line">
            <a:avLst/>
          </a:prstGeom>
          <a:noFill/>
          <a:ln w="9525">
            <a:solidFill>
              <a:srgbClr val="D8D3C5"/>
            </a:solidFill>
            <a:prstDash val="solid"/>
          </a:ln>
        </p:spPr>
      </p:sp>
      <p:sp>
        <p:nvSpPr>
          <p:cNvPr id="37" name="Text 35"/>
          <p:cNvSpPr txBox="1"/>
          <p:nvPr/>
        </p:nvSpPr>
        <p:spPr>
          <a:xfrm>
            <a:off x="7123176" y="4690872"/>
            <a:ext cx="1755648" cy="914400"/>
          </a:xfrm>
          <a:prstGeom prst="rect">
            <a:avLst/>
          </a:prstGeom>
          <a:noFill/>
          <a:ln/>
        </p:spPr>
        <p:txBody>
          <a:bodyPr wrap="square" lIns="0" tIns="0" rIns="0" bIns="0" rtlCol="0" anchor="ctr"/>
          <a:lstStyle/>
          <a:p>
            <a:pPr marL="0" indent="0" algn="ctr">
              <a:buNone/>
            </a:pPr>
            <a:r>
              <a:rPr lang="en-US" sz="1000" i="1" dirty="0">
                <a:solidFill>
                  <a:srgbClr val="6E6A60"/>
                </a:solidFill>
                <a:latin typeface="Arial" pitchFamily="34" charset="0"/>
                <a:ea typeface="Arial" pitchFamily="34" charset="-122"/>
                <a:cs typeface="Arial" pitchFamily="34" charset="-120"/>
              </a:rPr>
              <a:t>Check inputs, exclusions, formulas, units.</a:t>
            </a:r>
            <a:endParaRPr lang="en-US" sz="1000" dirty="0"/>
          </a:p>
        </p:txBody>
      </p:sp>
      <p:sp>
        <p:nvSpPr>
          <p:cNvPr id="38" name="Shape 36"/>
          <p:cNvSpPr/>
          <p:nvPr/>
        </p:nvSpPr>
        <p:spPr>
          <a:xfrm>
            <a:off x="9134856" y="2148840"/>
            <a:ext cx="2048256" cy="3566160"/>
          </a:xfrm>
          <a:prstGeom prst="roundRect">
            <a:avLst>
              <a:gd name="adj" fmla="val 3571"/>
            </a:avLst>
          </a:prstGeom>
          <a:solidFill>
            <a:srgbClr val="1A1A1A"/>
          </a:solidFill>
          <a:ln/>
        </p:spPr>
      </p:sp>
      <p:sp>
        <p:nvSpPr>
          <p:cNvPr id="39" name="Shape 37"/>
          <p:cNvSpPr/>
          <p:nvPr/>
        </p:nvSpPr>
        <p:spPr>
          <a:xfrm>
            <a:off x="9829800" y="2404872"/>
            <a:ext cx="658368" cy="658368"/>
          </a:xfrm>
          <a:prstGeom prst="ellipse">
            <a:avLst/>
          </a:prstGeom>
          <a:solidFill>
            <a:srgbClr val="F7F4EC"/>
          </a:solidFill>
          <a:ln w="28575">
            <a:solidFill>
              <a:srgbClr val="1E4FFF"/>
            </a:solidFill>
            <a:prstDash val="solid"/>
          </a:ln>
        </p:spPr>
      </p:sp>
      <p:sp>
        <p:nvSpPr>
          <p:cNvPr id="40" name="Text 38"/>
          <p:cNvSpPr txBox="1"/>
          <p:nvPr/>
        </p:nvSpPr>
        <p:spPr>
          <a:xfrm>
            <a:off x="9829800" y="2404872"/>
            <a:ext cx="658368" cy="658368"/>
          </a:xfrm>
          <a:prstGeom prst="rect">
            <a:avLst/>
          </a:prstGeom>
          <a:noFill/>
          <a:ln/>
        </p:spPr>
        <p:txBody>
          <a:bodyPr wrap="square" lIns="0" tIns="0" rIns="0" bIns="0" rtlCol="0" anchor="ctr"/>
          <a:lstStyle/>
          <a:p>
            <a:pPr marL="0" indent="0" algn="ctr">
              <a:buNone/>
            </a:pPr>
            <a:r>
              <a:rPr lang="en-US" sz="1944" b="1" dirty="0">
                <a:solidFill>
                  <a:srgbClr val="1E4FFF"/>
                </a:solidFill>
                <a:latin typeface="Arial" pitchFamily="34" charset="0"/>
                <a:ea typeface="Arial" pitchFamily="34" charset="-122"/>
                <a:cs typeface="Arial" pitchFamily="34" charset="-120"/>
              </a:rPr>
              <a:t>Au</a:t>
            </a:r>
            <a:endParaRPr lang="en-US" sz="1944" dirty="0"/>
          </a:p>
        </p:txBody>
      </p:sp>
      <p:sp>
        <p:nvSpPr>
          <p:cNvPr id="41" name="Text 39"/>
          <p:cNvSpPr txBox="1"/>
          <p:nvPr/>
        </p:nvSpPr>
        <p:spPr>
          <a:xfrm>
            <a:off x="9244584" y="3227832"/>
            <a:ext cx="1828800" cy="365760"/>
          </a:xfrm>
          <a:prstGeom prst="rect">
            <a:avLst/>
          </a:prstGeom>
          <a:noFill/>
          <a:ln/>
        </p:spPr>
        <p:txBody>
          <a:bodyPr wrap="square" lIns="0" tIns="0" rIns="0" bIns="0" rtlCol="0" anchor="ctr"/>
          <a:lstStyle/>
          <a:p>
            <a:pPr marL="0" indent="0" algn="ctr">
              <a:buNone/>
            </a:pPr>
            <a:r>
              <a:rPr lang="en-US" sz="1550" b="1" dirty="0">
                <a:solidFill>
                  <a:srgbClr val="FFFFFF"/>
                </a:solidFill>
                <a:latin typeface="Arial" pitchFamily="34" charset="0"/>
                <a:ea typeface="Arial" pitchFamily="34" charset="-122"/>
                <a:cs typeface="Arial" pitchFamily="34" charset="-120"/>
              </a:rPr>
              <a:t>Automate</a:t>
            </a:r>
            <a:endParaRPr lang="en-US" sz="1550" dirty="0"/>
          </a:p>
        </p:txBody>
      </p:sp>
      <p:sp>
        <p:nvSpPr>
          <p:cNvPr id="42" name="Text 40"/>
          <p:cNvSpPr txBox="1"/>
          <p:nvPr/>
        </p:nvSpPr>
        <p:spPr>
          <a:xfrm>
            <a:off x="9281160" y="3657600"/>
            <a:ext cx="1755648" cy="868680"/>
          </a:xfrm>
          <a:prstGeom prst="rect">
            <a:avLst/>
          </a:prstGeom>
          <a:noFill/>
          <a:ln/>
        </p:spPr>
        <p:txBody>
          <a:bodyPr wrap="square" lIns="0" tIns="0" rIns="0" bIns="0" rtlCol="0" anchor="ctr"/>
          <a:lstStyle/>
          <a:p>
            <a:pPr marL="0" indent="0" algn="ctr">
              <a:buNone/>
            </a:pPr>
            <a:r>
              <a:rPr lang="en-US" sz="1100" dirty="0">
                <a:solidFill>
                  <a:srgbClr val="D8D4C8"/>
                </a:solidFill>
                <a:latin typeface="Arial" pitchFamily="34" charset="0"/>
                <a:ea typeface="Arial" pitchFamily="34" charset="-122"/>
                <a:cs typeface="Arial" pitchFamily="34" charset="-120"/>
              </a:rPr>
              <a:t>Run a defined process through connected tools.</a:t>
            </a:r>
            <a:endParaRPr lang="en-US" sz="1100" dirty="0"/>
          </a:p>
        </p:txBody>
      </p:sp>
      <p:sp>
        <p:nvSpPr>
          <p:cNvPr id="43" name="Shape 41"/>
          <p:cNvSpPr/>
          <p:nvPr/>
        </p:nvSpPr>
        <p:spPr>
          <a:xfrm>
            <a:off x="9409176" y="4599432"/>
            <a:ext cx="1499616" cy="0"/>
          </a:xfrm>
          <a:prstGeom prst="line">
            <a:avLst/>
          </a:prstGeom>
          <a:noFill/>
          <a:ln w="9525">
            <a:solidFill>
              <a:srgbClr val="444444"/>
            </a:solidFill>
            <a:prstDash val="solid"/>
          </a:ln>
        </p:spPr>
      </p:sp>
      <p:sp>
        <p:nvSpPr>
          <p:cNvPr id="44" name="Text 42"/>
          <p:cNvSpPr txBox="1"/>
          <p:nvPr/>
        </p:nvSpPr>
        <p:spPr>
          <a:xfrm>
            <a:off x="9281160" y="4690872"/>
            <a:ext cx="1755648" cy="914400"/>
          </a:xfrm>
          <a:prstGeom prst="rect">
            <a:avLst/>
          </a:prstGeom>
          <a:noFill/>
          <a:ln/>
        </p:spPr>
        <p:txBody>
          <a:bodyPr wrap="square" lIns="0" tIns="0" rIns="0" bIns="0" rtlCol="0" anchor="ctr"/>
          <a:lstStyle/>
          <a:p>
            <a:pPr marL="0" indent="0" algn="ctr">
              <a:buNone/>
            </a:pPr>
            <a:r>
              <a:rPr lang="en-US" sz="1000" i="1" dirty="0">
                <a:solidFill>
                  <a:srgbClr val="A9A59A"/>
                </a:solidFill>
                <a:latin typeface="Arial" pitchFamily="34" charset="0"/>
                <a:ea typeface="Arial" pitchFamily="34" charset="-122"/>
                <a:cs typeface="Arial" pitchFamily="34" charset="-120"/>
              </a:rPr>
              <a:t>Needs permissions, testing, failure handling.</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6">
    <p:bg>
      <p:bgPr>
        <a:solidFill>
          <a:srgbClr val="F7F4EC"/>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6E6A60"/>
                </a:solidFill>
                <a:latin typeface="Arial" pitchFamily="34" charset="0"/>
                <a:ea typeface="Arial" pitchFamily="34" charset="-122"/>
                <a:cs typeface="Arial" pitchFamily="34" charset="-120"/>
              </a:rPr>
              <a:t>CLASS 1 · AI AS A BUSINESS TOOL</a:t>
            </a:r>
            <a:endParaRPr lang="en-US" sz="1050" dirty="0"/>
          </a:p>
        </p:txBody>
      </p:sp>
      <p:sp>
        <p:nvSpPr>
          <p:cNvPr id="3" name="Shape 1"/>
          <p:cNvSpPr/>
          <p:nvPr/>
        </p:nvSpPr>
        <p:spPr>
          <a:xfrm>
            <a:off x="10561320" y="256032"/>
            <a:ext cx="1170432" cy="384048"/>
          </a:xfrm>
          <a:prstGeom prst="roundRect">
            <a:avLst>
              <a:gd name="adj" fmla="val 19048"/>
            </a:avLst>
          </a:prstGeom>
          <a:solidFill>
            <a:srgbClr val="1E4FFF"/>
          </a:solidFill>
          <a:ln/>
        </p:spPr>
      </p:sp>
      <p:sp>
        <p:nvSpPr>
          <p:cNvPr id="4" name="Text 2"/>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15–20</a:t>
            </a:r>
            <a:endParaRPr lang="en-US" sz="1300" dirty="0"/>
          </a:p>
        </p:txBody>
      </p:sp>
      <p:sp>
        <p:nvSpPr>
          <p:cNvPr id="5" name="Shape 3"/>
          <p:cNvSpPr/>
          <p:nvPr/>
        </p:nvSpPr>
        <p:spPr>
          <a:xfrm>
            <a:off x="502920" y="6446520"/>
            <a:ext cx="11183112" cy="0"/>
          </a:xfrm>
          <a:prstGeom prst="line">
            <a:avLst/>
          </a:prstGeom>
          <a:noFill/>
          <a:ln w="9525">
            <a:solidFill>
              <a:srgbClr val="D8D3C5"/>
            </a:solidFill>
            <a:prstDash val="solid"/>
          </a:ln>
        </p:spPr>
      </p:sp>
      <p:sp>
        <p:nvSpPr>
          <p:cNvPr id="7" name="Text 5"/>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06</a:t>
            </a:r>
            <a:endParaRPr lang="en-US" sz="900" dirty="0"/>
          </a:p>
        </p:txBody>
      </p:sp>
      <p:sp>
        <p:nvSpPr>
          <p:cNvPr id="8" name="Text 6"/>
          <p:cNvSpPr txBox="1"/>
          <p:nvPr/>
        </p:nvSpPr>
        <p:spPr>
          <a:xfrm>
            <a:off x="502920" y="713232"/>
            <a:ext cx="10607040" cy="868680"/>
          </a:xfrm>
          <a:prstGeom prst="rect">
            <a:avLst/>
          </a:prstGeom>
          <a:noFill/>
          <a:ln/>
        </p:spPr>
        <p:txBody>
          <a:bodyPr wrap="square" lIns="0" tIns="0" rIns="0" bIns="0" rtlCol="0" anchor="ctr"/>
          <a:lstStyle/>
          <a:p>
            <a:pPr marL="0" indent="0">
              <a:lnSpc>
                <a:spcPct val="102000"/>
              </a:lnSpc>
              <a:buNone/>
            </a:pPr>
            <a:r>
              <a:rPr lang="en-US" sz="3400" b="1" dirty="0">
                <a:solidFill>
                  <a:srgbClr val="1A1A1A"/>
                </a:solidFill>
                <a:latin typeface="Arial" pitchFamily="34" charset="0"/>
                <a:ea typeface="Arial" pitchFamily="34" charset="-122"/>
                <a:cs typeface="Arial" pitchFamily="34" charset="-120"/>
              </a:rPr>
              <a:t>Different Tools, Different Fits</a:t>
            </a:r>
            <a:endParaRPr lang="en-US" sz="3400" dirty="0"/>
          </a:p>
        </p:txBody>
      </p:sp>
      <p:sp>
        <p:nvSpPr>
          <p:cNvPr id="9" name="Text 7"/>
          <p:cNvSpPr txBox="1"/>
          <p:nvPr/>
        </p:nvSpPr>
        <p:spPr>
          <a:xfrm>
            <a:off x="502920" y="1572768"/>
            <a:ext cx="10424160" cy="502920"/>
          </a:xfrm>
          <a:prstGeom prst="rect">
            <a:avLst/>
          </a:prstGeom>
          <a:noFill/>
          <a:ln/>
        </p:spPr>
        <p:txBody>
          <a:bodyPr wrap="square" lIns="0" tIns="0" rIns="0" bIns="0" rtlCol="0" anchor="ctr"/>
          <a:lstStyle/>
          <a:p>
            <a:pPr marL="0" indent="0">
              <a:buNone/>
            </a:pPr>
            <a:r>
              <a:rPr lang="en-US" sz="1450" i="1" dirty="0">
                <a:solidFill>
                  <a:srgbClr val="1A1A1A"/>
                </a:solidFill>
                <a:latin typeface="Arial" pitchFamily="34" charset="0"/>
                <a:ea typeface="Arial" pitchFamily="34" charset="-122"/>
                <a:cs typeface="Arial" pitchFamily="34" charset="-120"/>
              </a:rPr>
              <a:t>“Today we are not trying to crown one AI winner. We are learning to match a task to a tool, then check the result.”</a:t>
            </a:r>
            <a:endParaRPr lang="en-US" sz="1450" dirty="0"/>
          </a:p>
        </p:txBody>
      </p:sp>
      <p:sp>
        <p:nvSpPr>
          <p:cNvPr id="10" name="Shape 8"/>
          <p:cNvSpPr/>
          <p:nvPr/>
        </p:nvSpPr>
        <p:spPr>
          <a:xfrm>
            <a:off x="502920" y="2286000"/>
            <a:ext cx="5852160" cy="3749040"/>
          </a:xfrm>
          <a:prstGeom prst="roundRect">
            <a:avLst>
              <a:gd name="adj" fmla="val 1951"/>
            </a:avLst>
          </a:prstGeom>
          <a:solidFill>
            <a:srgbClr val="EDE9DE"/>
          </a:solidFill>
          <a:ln/>
        </p:spPr>
      </p:sp>
      <p:sp>
        <p:nvSpPr>
          <p:cNvPr id="11" name="Text 9"/>
          <p:cNvSpPr txBox="1"/>
          <p:nvPr/>
        </p:nvSpPr>
        <p:spPr>
          <a:xfrm>
            <a:off x="731520" y="2450592"/>
            <a:ext cx="5394960" cy="365760"/>
          </a:xfrm>
          <a:prstGeom prst="rect">
            <a:avLst/>
          </a:prstGeom>
          <a:noFill/>
          <a:ln/>
        </p:spPr>
        <p:txBody>
          <a:bodyPr wrap="square" lIns="0" tIns="0" rIns="0" bIns="0" rtlCol="0" anchor="ctr"/>
          <a:lstStyle/>
          <a:p>
            <a:pPr marL="0" indent="0">
              <a:buNone/>
            </a:pPr>
            <a:r>
              <a:rPr lang="en-US" sz="1450" b="1" dirty="0">
                <a:solidFill>
                  <a:srgbClr val="1A1A1A"/>
                </a:solidFill>
                <a:latin typeface="Arial" pitchFamily="34" charset="0"/>
                <a:ea typeface="Arial" pitchFamily="34" charset="-122"/>
                <a:cs typeface="Arial" pitchFamily="34" charset="-120"/>
              </a:rPr>
              <a:t>Task types worth telling apart</a:t>
            </a:r>
            <a:endParaRPr lang="en-US" sz="1450" dirty="0"/>
          </a:p>
        </p:txBody>
      </p:sp>
      <p:sp>
        <p:nvSpPr>
          <p:cNvPr id="12" name="Text 10"/>
          <p:cNvSpPr txBox="1"/>
          <p:nvPr/>
        </p:nvSpPr>
        <p:spPr>
          <a:xfrm>
            <a:off x="731520" y="2880360"/>
            <a:ext cx="5394960" cy="3017520"/>
          </a:xfrm>
          <a:prstGeom prst="rect">
            <a:avLst/>
          </a:prstGeom>
          <a:noFill/>
          <a:ln/>
        </p:spPr>
        <p:txBody>
          <a:bodyPr wrap="square" lIns="0" tIns="0" rIns="0" bIns="0" rtlCol="0" anchor="t"/>
          <a:lstStyle/>
          <a:p>
            <a:pPr marL="228600" indent="-228600">
              <a:spcAft>
                <a:spcPts val="800"/>
              </a:spcAft>
              <a:buSzPct val="100000"/>
              <a:buChar char="•"/>
            </a:pPr>
            <a:r>
              <a:rPr lang="en-US" sz="1130" dirty="0">
                <a:solidFill>
                  <a:srgbClr val="1A1A1A"/>
                </a:solidFill>
                <a:latin typeface="Arial" pitchFamily="34" charset="0"/>
                <a:ea typeface="Arial" pitchFamily="34" charset="-122"/>
                <a:cs typeface="Arial" pitchFamily="34" charset="-120"/>
              </a:rPr>
              <a:t>Ordinary search — you assemble the answer yourself</a:t>
            </a:r>
            <a:endParaRPr lang="en-US" sz="1130" dirty="0"/>
          </a:p>
          <a:p>
            <a:pPr marL="228600" indent="-228600">
              <a:spcAft>
                <a:spcPts val="800"/>
              </a:spcAft>
              <a:buSzPct val="100000"/>
              <a:buChar char="•"/>
            </a:pPr>
            <a:r>
              <a:rPr lang="en-US" sz="1130" dirty="0">
                <a:solidFill>
                  <a:srgbClr val="1A1A1A"/>
                </a:solidFill>
                <a:latin typeface="Arial" pitchFamily="34" charset="0"/>
                <a:ea typeface="Arial" pitchFamily="34" charset="-122"/>
                <a:cs typeface="Arial" pitchFamily="34" charset="-120"/>
              </a:rPr>
              <a:t>AI-assisted search — synthesized, with linked sources</a:t>
            </a:r>
            <a:endParaRPr lang="en-US" sz="1130" dirty="0"/>
          </a:p>
          <a:p>
            <a:pPr marL="228600" indent="-228600">
              <a:spcAft>
                <a:spcPts val="800"/>
              </a:spcAft>
              <a:buSzPct val="100000"/>
              <a:buChar char="•"/>
            </a:pPr>
            <a:r>
              <a:rPr lang="en-US" sz="1130" dirty="0">
                <a:solidFill>
                  <a:srgbClr val="1A1A1A"/>
                </a:solidFill>
                <a:latin typeface="Arial" pitchFamily="34" charset="0"/>
                <a:ea typeface="Arial" pitchFamily="34" charset="-122"/>
                <a:cs typeface="Arial" pitchFamily="34" charset="-120"/>
              </a:rPr>
              <a:t>Deep research — multi-step; still needs checking</a:t>
            </a:r>
            <a:endParaRPr lang="en-US" sz="1130" dirty="0"/>
          </a:p>
          <a:p>
            <a:pPr marL="228600" indent="-228600">
              <a:spcAft>
                <a:spcPts val="800"/>
              </a:spcAft>
              <a:buSzPct val="100000"/>
              <a:buChar char="•"/>
            </a:pPr>
            <a:r>
              <a:rPr lang="en-US" sz="1130" dirty="0">
                <a:solidFill>
                  <a:srgbClr val="1A1A1A"/>
                </a:solidFill>
                <a:latin typeface="Arial" pitchFamily="34" charset="0"/>
                <a:ea typeface="Arial" pitchFamily="34" charset="-122"/>
                <a:cs typeface="Arial" pitchFamily="34" charset="-120"/>
              </a:rPr>
              <a:t>Drafting — explaining or writing, not necessarily researched</a:t>
            </a:r>
            <a:endParaRPr lang="en-US" sz="1130" dirty="0"/>
          </a:p>
          <a:p>
            <a:pPr marL="228600" indent="-228600">
              <a:spcAft>
                <a:spcPts val="800"/>
              </a:spcAft>
              <a:buSzPct val="100000"/>
              <a:buChar char="•"/>
            </a:pPr>
            <a:r>
              <a:rPr lang="en-US" sz="1130" dirty="0">
                <a:solidFill>
                  <a:srgbClr val="1A1A1A"/>
                </a:solidFill>
                <a:latin typeface="Arial" pitchFamily="34" charset="0"/>
                <a:ea typeface="Arial" pitchFamily="34" charset="-122"/>
                <a:cs typeface="Arial" pitchFamily="34" charset="-120"/>
              </a:rPr>
              <a:t>File or data analysis — works from what you supply</a:t>
            </a:r>
            <a:endParaRPr lang="en-US" sz="1130" dirty="0"/>
          </a:p>
          <a:p>
            <a:pPr marL="228600" indent="-228600">
              <a:spcAft>
                <a:spcPts val="800"/>
              </a:spcAft>
              <a:buSzPct val="100000"/>
              <a:buChar char="•"/>
            </a:pPr>
            <a:r>
              <a:rPr lang="en-US" sz="1130" dirty="0">
                <a:solidFill>
                  <a:srgbClr val="1A1A1A"/>
                </a:solidFill>
                <a:latin typeface="Arial" pitchFamily="34" charset="0"/>
                <a:ea typeface="Arial" pitchFamily="34" charset="-122"/>
                <a:cs typeface="Arial" pitchFamily="34" charset="-120"/>
              </a:rPr>
              <a:t>Presentation creation — turns approved structure into slides</a:t>
            </a:r>
            <a:endParaRPr lang="en-US" sz="1130" dirty="0"/>
          </a:p>
          <a:p>
            <a:pPr marL="228600" indent="-228600">
              <a:spcAft>
                <a:spcPts val="800"/>
              </a:spcAft>
              <a:buSzPct val="100000"/>
              <a:buChar char="•"/>
            </a:pPr>
            <a:r>
              <a:rPr lang="en-US" sz="1130" dirty="0">
                <a:solidFill>
                  <a:srgbClr val="1A1A1A"/>
                </a:solidFill>
                <a:latin typeface="Arial" pitchFamily="34" charset="0"/>
                <a:ea typeface="Arial" pitchFamily="34" charset="-122"/>
                <a:cs typeface="Arial" pitchFamily="34" charset="-120"/>
              </a:rPr>
              <a:t>Coding or app creation — a prototype still needs testing</a:t>
            </a:r>
            <a:endParaRPr lang="en-US" sz="1130" dirty="0"/>
          </a:p>
          <a:p>
            <a:pPr marL="228600" indent="-228600">
              <a:spcAft>
                <a:spcPts val="800"/>
              </a:spcAft>
              <a:buSzPct val="100000"/>
              <a:buChar char="•"/>
            </a:pPr>
            <a:r>
              <a:rPr lang="en-US" sz="1130" dirty="0">
                <a:solidFill>
                  <a:srgbClr val="1A1A1A"/>
                </a:solidFill>
                <a:latin typeface="Arial" pitchFamily="34" charset="0"/>
                <a:ea typeface="Arial" pitchFamily="34" charset="-122"/>
                <a:cs typeface="Arial" pitchFamily="34" charset="-120"/>
              </a:rPr>
              <a:t>Workflow automation — executes actions on triggers</a:t>
            </a:r>
            <a:endParaRPr lang="en-US" sz="1130" dirty="0"/>
          </a:p>
        </p:txBody>
      </p:sp>
      <p:sp>
        <p:nvSpPr>
          <p:cNvPr id="13" name="Shape 11"/>
          <p:cNvSpPr/>
          <p:nvPr/>
        </p:nvSpPr>
        <p:spPr>
          <a:xfrm>
            <a:off x="6537960" y="2286000"/>
            <a:ext cx="5166360" cy="3749040"/>
          </a:xfrm>
          <a:prstGeom prst="roundRect">
            <a:avLst>
              <a:gd name="adj" fmla="val 1951"/>
            </a:avLst>
          </a:prstGeom>
          <a:solidFill>
            <a:srgbClr val="1A1A1A"/>
          </a:solidFill>
          <a:ln/>
        </p:spPr>
      </p:sp>
      <p:sp>
        <p:nvSpPr>
          <p:cNvPr id="14" name="Shape 12"/>
          <p:cNvSpPr/>
          <p:nvPr/>
        </p:nvSpPr>
        <p:spPr>
          <a:xfrm>
            <a:off x="6766560" y="2487168"/>
            <a:ext cx="1920240" cy="329184"/>
          </a:xfrm>
          <a:prstGeom prst="roundRect">
            <a:avLst>
              <a:gd name="adj" fmla="val 50000"/>
            </a:avLst>
          </a:prstGeom>
          <a:solidFill>
            <a:srgbClr val="1E4FFF"/>
          </a:solidFill>
          <a:ln/>
        </p:spPr>
      </p:sp>
      <p:sp>
        <p:nvSpPr>
          <p:cNvPr id="15" name="Text 13"/>
          <p:cNvSpPr txBox="1"/>
          <p:nvPr/>
        </p:nvSpPr>
        <p:spPr>
          <a:xfrm>
            <a:off x="6766560" y="2487168"/>
            <a:ext cx="192024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SELECTION RULE</a:t>
            </a:r>
            <a:endParaRPr lang="en-US" sz="1100" dirty="0"/>
          </a:p>
        </p:txBody>
      </p:sp>
      <p:sp>
        <p:nvSpPr>
          <p:cNvPr id="16" name="Text 14"/>
          <p:cNvSpPr txBox="1"/>
          <p:nvPr/>
        </p:nvSpPr>
        <p:spPr>
          <a:xfrm>
            <a:off x="6766560" y="2926080"/>
            <a:ext cx="4709160" cy="685800"/>
          </a:xfrm>
          <a:prstGeom prst="rect">
            <a:avLst/>
          </a:prstGeom>
          <a:noFill/>
          <a:ln/>
        </p:spPr>
        <p:txBody>
          <a:bodyPr wrap="square" lIns="0" tIns="0" rIns="0" bIns="0" rtlCol="0" anchor="ctr"/>
          <a:lstStyle/>
          <a:p>
            <a:pPr marL="0" indent="0">
              <a:buNone/>
            </a:pPr>
            <a:r>
              <a:rPr lang="en-US" sz="1300" dirty="0">
                <a:solidFill>
                  <a:srgbClr val="E6E3D8"/>
                </a:solidFill>
                <a:latin typeface="Arial" pitchFamily="34" charset="0"/>
                <a:ea typeface="Arial" pitchFamily="34" charset="-122"/>
                <a:cs typeface="Arial" pitchFamily="34" charset="-120"/>
              </a:rPr>
              <a:t>Start with the required output, sources, privacy, and how you'll check it. Then pick the tool.</a:t>
            </a:r>
            <a:endParaRPr lang="en-US" sz="1300" dirty="0"/>
          </a:p>
        </p:txBody>
      </p:sp>
      <p:sp>
        <p:nvSpPr>
          <p:cNvPr id="17" name="Shape 15"/>
          <p:cNvSpPr/>
          <p:nvPr/>
        </p:nvSpPr>
        <p:spPr>
          <a:xfrm>
            <a:off x="6766560" y="3703320"/>
            <a:ext cx="4709160" cy="0"/>
          </a:xfrm>
          <a:prstGeom prst="line">
            <a:avLst/>
          </a:prstGeom>
          <a:noFill/>
          <a:ln w="9525">
            <a:solidFill>
              <a:srgbClr val="3A3A3A"/>
            </a:solidFill>
            <a:prstDash val="solid"/>
          </a:ln>
        </p:spPr>
      </p:sp>
      <p:sp>
        <p:nvSpPr>
          <p:cNvPr id="18" name="Text 16"/>
          <p:cNvSpPr txBox="1"/>
          <p:nvPr/>
        </p:nvSpPr>
        <p:spPr>
          <a:xfrm>
            <a:off x="6766560" y="3840480"/>
            <a:ext cx="4709160" cy="2011680"/>
          </a:xfrm>
          <a:prstGeom prst="rect">
            <a:avLst/>
          </a:prstGeom>
          <a:noFill/>
          <a:ln/>
        </p:spPr>
        <p:txBody>
          <a:bodyPr wrap="square" lIns="0" tIns="0" rIns="0" bIns="0" rtlCol="0" anchor="ctr"/>
          <a:lstStyle/>
          <a:p>
            <a:pPr marL="0" indent="0">
              <a:lnSpc>
                <a:spcPct val="132000"/>
              </a:lnSpc>
              <a:buNone/>
            </a:pPr>
            <a:r>
              <a:rPr lang="en-US" sz="1180" b="1" dirty="0">
                <a:solidFill>
                  <a:srgbClr val="5C82FF"/>
                </a:solidFill>
                <a:latin typeface="Arial" pitchFamily="34" charset="0"/>
                <a:ea typeface="Arial" pitchFamily="34" charset="-122"/>
                <a:cs typeface="Arial" pitchFamily="34" charset="-120"/>
              </a:rPr>
              <a:t>Perplexity </a:t>
            </a:r>
            <a:r>
              <a:rPr lang="en-US" sz="1180" dirty="0">
                <a:solidFill>
                  <a:srgbClr val="D8D4C8"/>
                </a:solidFill>
                <a:latin typeface="Arial" pitchFamily="34" charset="0"/>
                <a:ea typeface="Arial" pitchFamily="34" charset="-122"/>
                <a:cs typeface="Arial" pitchFamily="34" charset="-120"/>
              </a:rPr>
              <a:t>— source-visible web answers
</a:t>
            </a:r>
            <a:r>
              <a:rPr lang="en-US" sz="1180" b="1" dirty="0">
                <a:solidFill>
                  <a:srgbClr val="5C82FF"/>
                </a:solidFill>
                <a:latin typeface="Arial" pitchFamily="34" charset="0"/>
                <a:ea typeface="Arial" pitchFamily="34" charset="-122"/>
                <a:cs typeface="Arial" pitchFamily="34" charset="-120"/>
              </a:rPr>
              <a:t>ChatGPT </a:t>
            </a:r>
            <a:r>
              <a:rPr lang="en-US" sz="1180" dirty="0">
                <a:solidFill>
                  <a:srgbClr val="D8D4C8"/>
                </a:solidFill>
                <a:latin typeface="Arial" pitchFamily="34" charset="0"/>
                <a:ea typeface="Arial" pitchFamily="34" charset="-122"/>
                <a:cs typeface="Arial" pitchFamily="34" charset="-120"/>
              </a:rPr>
              <a:t>— conversation, drafting, file work
</a:t>
            </a:r>
            <a:r>
              <a:rPr lang="en-US" sz="1180" b="1" dirty="0">
                <a:solidFill>
                  <a:srgbClr val="5C82FF"/>
                </a:solidFill>
                <a:latin typeface="Arial" pitchFamily="34" charset="0"/>
                <a:ea typeface="Arial" pitchFamily="34" charset="-122"/>
                <a:cs typeface="Arial" pitchFamily="34" charset="-120"/>
              </a:rPr>
              <a:t>Claude </a:t>
            </a:r>
            <a:r>
              <a:rPr lang="en-US" sz="1180" dirty="0">
                <a:solidFill>
                  <a:srgbClr val="D8D4C8"/>
                </a:solidFill>
                <a:latin typeface="Arial" pitchFamily="34" charset="0"/>
                <a:ea typeface="Arial" pitchFamily="34" charset="-122"/>
                <a:cs typeface="Arial" pitchFamily="34" charset="-120"/>
              </a:rPr>
              <a:t>— long-form writing, structured revision
</a:t>
            </a:r>
            <a:r>
              <a:rPr lang="en-US" sz="1180" b="1" dirty="0">
                <a:solidFill>
                  <a:srgbClr val="5C82FF"/>
                </a:solidFill>
                <a:latin typeface="Arial" pitchFamily="34" charset="0"/>
                <a:ea typeface="Arial" pitchFamily="34" charset="-122"/>
                <a:cs typeface="Arial" pitchFamily="34" charset="-120"/>
              </a:rPr>
              <a:t>Gemini </a:t>
            </a:r>
            <a:r>
              <a:rPr lang="en-US" sz="1180" dirty="0">
                <a:solidFill>
                  <a:srgbClr val="D8D4C8"/>
                </a:solidFill>
                <a:latin typeface="Arial" pitchFamily="34" charset="0"/>
                <a:ea typeface="Arial" pitchFamily="34" charset="-122"/>
                <a:cs typeface="Arial" pitchFamily="34" charset="-120"/>
              </a:rPr>
              <a:t>— Google-connected &amp; multimodal work
</a:t>
            </a:r>
            <a:r>
              <a:rPr lang="en-US" sz="1180" b="1" dirty="0">
                <a:solidFill>
                  <a:srgbClr val="5C82FF"/>
                </a:solidFill>
                <a:latin typeface="Arial" pitchFamily="34" charset="0"/>
                <a:ea typeface="Arial" pitchFamily="34" charset="-122"/>
                <a:cs typeface="Arial" pitchFamily="34" charset="-120"/>
              </a:rPr>
              <a:t>Presentation tools </a:t>
            </a:r>
            <a:r>
              <a:rPr lang="en-US" sz="1180" dirty="0">
                <a:solidFill>
                  <a:srgbClr val="D8D4C8"/>
                </a:solidFill>
                <a:latin typeface="Arial" pitchFamily="34" charset="0"/>
                <a:ea typeface="Arial" pitchFamily="34" charset="-122"/>
                <a:cs typeface="Arial" pitchFamily="34" charset="-120"/>
              </a:rPr>
              <a:t>— when the output is a deck</a:t>
            </a:r>
            <a:endParaRPr lang="en-US" sz="11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bg>
      <p:bgPr>
        <a:solidFill>
          <a:srgbClr val="F7F4EC"/>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6E6A60"/>
                </a:solidFill>
                <a:latin typeface="Arial" pitchFamily="34" charset="0"/>
                <a:ea typeface="Arial" pitchFamily="34" charset="-122"/>
                <a:cs typeface="Arial" pitchFamily="34" charset="-120"/>
              </a:rPr>
              <a:t>CLASS 1 · AI FOR GOOD Combination OF AI TOOLS BRING MAGIC</a:t>
            </a:r>
            <a:endParaRPr lang="en-US" sz="1050" dirty="0"/>
          </a:p>
        </p:txBody>
      </p:sp>
      <p:sp>
        <p:nvSpPr>
          <p:cNvPr id="3" name="Shape 1"/>
          <p:cNvSpPr/>
          <p:nvPr/>
        </p:nvSpPr>
        <p:spPr>
          <a:xfrm>
            <a:off x="10561320" y="256032"/>
            <a:ext cx="1170432" cy="384048"/>
          </a:xfrm>
          <a:prstGeom prst="roundRect">
            <a:avLst>
              <a:gd name="adj" fmla="val 19048"/>
            </a:avLst>
          </a:prstGeom>
          <a:solidFill>
            <a:srgbClr val="1E4FFF"/>
          </a:solidFill>
          <a:ln/>
        </p:spPr>
      </p:sp>
      <p:sp>
        <p:nvSpPr>
          <p:cNvPr id="4" name="Text 2"/>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dirty="0"/>
              <a:t>AI FOR GOOD</a:t>
            </a:r>
          </a:p>
        </p:txBody>
      </p:sp>
      <p:sp>
        <p:nvSpPr>
          <p:cNvPr id="5" name="Shape 3"/>
          <p:cNvSpPr/>
          <p:nvPr/>
        </p:nvSpPr>
        <p:spPr>
          <a:xfrm>
            <a:off x="502920" y="6446520"/>
            <a:ext cx="11183112" cy="0"/>
          </a:xfrm>
          <a:prstGeom prst="line">
            <a:avLst/>
          </a:prstGeom>
          <a:noFill/>
          <a:ln w="9525">
            <a:solidFill>
              <a:srgbClr val="D8D3C5"/>
            </a:solidFill>
            <a:prstDash val="solid"/>
          </a:ln>
        </p:spPr>
      </p:sp>
      <p:sp>
        <p:nvSpPr>
          <p:cNvPr id="6" name="Text 4"/>
          <p:cNvSpPr txBox="1"/>
          <p:nvPr/>
        </p:nvSpPr>
        <p:spPr>
          <a:xfrm>
            <a:off x="502920" y="6492240"/>
            <a:ext cx="7315200" cy="274320"/>
          </a:xfrm>
          <a:prstGeom prst="rect">
            <a:avLst/>
          </a:prstGeom>
          <a:noFill/>
          <a:ln/>
        </p:spPr>
        <p:txBody>
          <a:bodyPr wrap="square" lIns="0" tIns="0" rIns="0" bIns="0" rtlCol="0" anchor="ctr"/>
          <a:lstStyle/>
          <a:p>
            <a:pPr marL="0" indent="0">
              <a:buNone/>
            </a:pPr>
            <a:r>
              <a:rPr lang="en-US" sz="900" kern="0" spc="100" dirty="0">
                <a:solidFill>
                  <a:srgbClr val="6E6A60"/>
                </a:solidFill>
                <a:latin typeface="Arial" pitchFamily="34" charset="0"/>
                <a:ea typeface="Arial" pitchFamily="34" charset="-122"/>
                <a:cs typeface="Arial" pitchFamily="34" charset="-120"/>
              </a:rPr>
              <a:t>·  IUT DHAKA</a:t>
            </a:r>
            <a:endParaRPr lang="en-US" sz="900" dirty="0"/>
          </a:p>
        </p:txBody>
      </p:sp>
      <p:sp>
        <p:nvSpPr>
          <p:cNvPr id="7" name="Text 5"/>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13</a:t>
            </a:r>
            <a:endParaRPr lang="en-US" sz="900" dirty="0"/>
          </a:p>
        </p:txBody>
      </p:sp>
      <p:sp>
        <p:nvSpPr>
          <p:cNvPr id="10" name="Text 8"/>
          <p:cNvSpPr txBox="1"/>
          <p:nvPr/>
        </p:nvSpPr>
        <p:spPr>
          <a:xfrm>
            <a:off x="713232" y="1737360"/>
            <a:ext cx="2743200" cy="274320"/>
          </a:xfrm>
          <a:prstGeom prst="rect">
            <a:avLst/>
          </a:prstGeom>
          <a:noFill/>
          <a:ln/>
        </p:spPr>
        <p:txBody>
          <a:bodyPr wrap="square" lIns="0" tIns="0" rIns="0" bIns="0" rtlCol="0" anchor="ctr"/>
          <a:lstStyle/>
          <a:p>
            <a:pPr marL="0" indent="0">
              <a:buNone/>
            </a:pPr>
            <a:r>
              <a:rPr lang="en-US" sz="1100" b="1" kern="0" spc="150" dirty="0">
                <a:solidFill>
                  <a:srgbClr val="DCE4FF"/>
                </a:solidFill>
                <a:latin typeface="Arial" pitchFamily="34" charset="0"/>
                <a:ea typeface="Arial" pitchFamily="34" charset="-122"/>
                <a:cs typeface="Arial" pitchFamily="34" charset="-120"/>
              </a:rPr>
              <a:t>TARGET</a:t>
            </a:r>
            <a:endParaRPr lang="en-US" sz="1100" dirty="0"/>
          </a:p>
        </p:txBody>
      </p:sp>
      <p:sp>
        <p:nvSpPr>
          <p:cNvPr id="11" name="Text 9"/>
          <p:cNvSpPr txBox="1"/>
          <p:nvPr/>
        </p:nvSpPr>
        <p:spPr>
          <a:xfrm>
            <a:off x="713232" y="1993392"/>
            <a:ext cx="2834640" cy="685800"/>
          </a:xfrm>
          <a:prstGeom prst="rect">
            <a:avLst/>
          </a:prstGeom>
          <a:noFill/>
          <a:ln/>
        </p:spPr>
        <p:txBody>
          <a:bodyPr wrap="square" lIns="0" tIns="0" rIns="0" bIns="0" rtlCol="0" anchor="ctr"/>
          <a:lstStyle/>
          <a:p>
            <a:pPr marL="0" indent="0">
              <a:buNone/>
            </a:pPr>
            <a:endParaRPr lang="en-US" sz="3000" dirty="0"/>
          </a:p>
        </p:txBody>
      </p:sp>
      <p:pic>
        <p:nvPicPr>
          <p:cNvPr id="19" name="Picture 18">
            <a:extLst>
              <a:ext uri="{FF2B5EF4-FFF2-40B4-BE49-F238E27FC236}">
                <a16:creationId xmlns:a16="http://schemas.microsoft.com/office/drawing/2014/main" id="{1F366569-BF19-17B7-4728-204D3AB183EE}"/>
              </a:ext>
            </a:extLst>
          </p:cNvPr>
          <p:cNvPicPr>
            <a:picLocks noChangeAspect="1"/>
          </p:cNvPicPr>
          <p:nvPr/>
        </p:nvPicPr>
        <p:blipFill>
          <a:blip r:embed="rId3"/>
          <a:stretch>
            <a:fillRect/>
          </a:stretch>
        </p:blipFill>
        <p:spPr>
          <a:xfrm>
            <a:off x="713232" y="1042988"/>
            <a:ext cx="5000625" cy="5000625"/>
          </a:xfrm>
          <a:prstGeom prst="rect">
            <a:avLst/>
          </a:prstGeom>
        </p:spPr>
      </p:pic>
      <p:pic>
        <p:nvPicPr>
          <p:cNvPr id="21" name="Picture 20">
            <a:extLst>
              <a:ext uri="{FF2B5EF4-FFF2-40B4-BE49-F238E27FC236}">
                <a16:creationId xmlns:a16="http://schemas.microsoft.com/office/drawing/2014/main" id="{FD9858FF-AAA4-07E2-50E1-175AC413B473}"/>
              </a:ext>
            </a:extLst>
          </p:cNvPr>
          <p:cNvPicPr>
            <a:picLocks noChangeAspect="1"/>
          </p:cNvPicPr>
          <p:nvPr/>
        </p:nvPicPr>
        <p:blipFill>
          <a:blip r:embed="rId4"/>
          <a:stretch>
            <a:fillRect/>
          </a:stretch>
        </p:blipFill>
        <p:spPr>
          <a:xfrm>
            <a:off x="5810250" y="1914528"/>
            <a:ext cx="6381750" cy="317995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a:extLst>
            <a:ext uri="{FF2B5EF4-FFF2-40B4-BE49-F238E27FC236}">
              <a16:creationId xmlns:a16="http://schemas.microsoft.com/office/drawing/2014/main" id="{3B09F1A9-0F95-4215-FDB4-EF218CA22F0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FC4545E-07D4-75CD-F173-9E889B5986A7}"/>
              </a:ext>
            </a:extLst>
          </p:cNvPr>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6E6A60"/>
                </a:solidFill>
                <a:latin typeface="Arial" pitchFamily="34" charset="0"/>
                <a:ea typeface="Arial" pitchFamily="34" charset="-122"/>
                <a:cs typeface="Arial" pitchFamily="34" charset="-120"/>
              </a:rPr>
              <a:t>CLASS 1 · AI FOR GOOD Combination OF AI TOOLS BRING MAGIC</a:t>
            </a:r>
            <a:endParaRPr lang="en-US" sz="1050" dirty="0"/>
          </a:p>
        </p:txBody>
      </p:sp>
      <p:sp>
        <p:nvSpPr>
          <p:cNvPr id="3" name="Shape 1">
            <a:extLst>
              <a:ext uri="{FF2B5EF4-FFF2-40B4-BE49-F238E27FC236}">
                <a16:creationId xmlns:a16="http://schemas.microsoft.com/office/drawing/2014/main" id="{91D5E749-E40B-9758-7AEF-16CAD7163167}"/>
              </a:ext>
            </a:extLst>
          </p:cNvPr>
          <p:cNvSpPr/>
          <p:nvPr/>
        </p:nvSpPr>
        <p:spPr>
          <a:xfrm>
            <a:off x="10561320" y="256032"/>
            <a:ext cx="1170432" cy="384048"/>
          </a:xfrm>
          <a:prstGeom prst="roundRect">
            <a:avLst>
              <a:gd name="adj" fmla="val 19048"/>
            </a:avLst>
          </a:prstGeom>
          <a:solidFill>
            <a:srgbClr val="1E4FFF"/>
          </a:solidFill>
          <a:ln/>
        </p:spPr>
      </p:sp>
      <p:sp>
        <p:nvSpPr>
          <p:cNvPr id="4" name="Text 2">
            <a:extLst>
              <a:ext uri="{FF2B5EF4-FFF2-40B4-BE49-F238E27FC236}">
                <a16:creationId xmlns:a16="http://schemas.microsoft.com/office/drawing/2014/main" id="{4DA5BE29-A289-F7E9-5BDB-45BFF99C6FB7}"/>
              </a:ext>
            </a:extLst>
          </p:cNvPr>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dirty="0"/>
              <a:t>AI FOR GOOD</a:t>
            </a:r>
          </a:p>
        </p:txBody>
      </p:sp>
      <p:sp>
        <p:nvSpPr>
          <p:cNvPr id="5" name="Shape 3">
            <a:extLst>
              <a:ext uri="{FF2B5EF4-FFF2-40B4-BE49-F238E27FC236}">
                <a16:creationId xmlns:a16="http://schemas.microsoft.com/office/drawing/2014/main" id="{B28323E7-8CEE-9A63-F4CB-C14E39D17210}"/>
              </a:ext>
            </a:extLst>
          </p:cNvPr>
          <p:cNvSpPr/>
          <p:nvPr/>
        </p:nvSpPr>
        <p:spPr>
          <a:xfrm>
            <a:off x="502920" y="6446520"/>
            <a:ext cx="11183112" cy="0"/>
          </a:xfrm>
          <a:prstGeom prst="line">
            <a:avLst/>
          </a:prstGeom>
          <a:noFill/>
          <a:ln w="9525">
            <a:solidFill>
              <a:srgbClr val="D8D3C5"/>
            </a:solidFill>
            <a:prstDash val="solid"/>
          </a:ln>
        </p:spPr>
      </p:sp>
      <p:sp>
        <p:nvSpPr>
          <p:cNvPr id="6" name="Text 4">
            <a:extLst>
              <a:ext uri="{FF2B5EF4-FFF2-40B4-BE49-F238E27FC236}">
                <a16:creationId xmlns:a16="http://schemas.microsoft.com/office/drawing/2014/main" id="{539A1CB0-B8AB-00AD-72D9-DDFD30AD163A}"/>
              </a:ext>
            </a:extLst>
          </p:cNvPr>
          <p:cNvSpPr txBox="1"/>
          <p:nvPr/>
        </p:nvSpPr>
        <p:spPr>
          <a:xfrm>
            <a:off x="502920" y="6492240"/>
            <a:ext cx="7315200" cy="274320"/>
          </a:xfrm>
          <a:prstGeom prst="rect">
            <a:avLst/>
          </a:prstGeom>
          <a:noFill/>
          <a:ln/>
        </p:spPr>
        <p:txBody>
          <a:bodyPr wrap="square" lIns="0" tIns="0" rIns="0" bIns="0" rtlCol="0" anchor="ctr"/>
          <a:lstStyle/>
          <a:p>
            <a:pPr marL="0" indent="0">
              <a:buNone/>
            </a:pPr>
            <a:r>
              <a:rPr lang="en-US" sz="900" kern="0" spc="100" dirty="0">
                <a:solidFill>
                  <a:srgbClr val="6E6A60"/>
                </a:solidFill>
                <a:latin typeface="Arial" pitchFamily="34" charset="0"/>
                <a:ea typeface="Arial" pitchFamily="34" charset="-122"/>
                <a:cs typeface="Arial" pitchFamily="34" charset="-120"/>
              </a:rPr>
              <a:t>·  IUT DHAKA</a:t>
            </a:r>
            <a:endParaRPr lang="en-US" sz="900" dirty="0"/>
          </a:p>
        </p:txBody>
      </p:sp>
      <p:sp>
        <p:nvSpPr>
          <p:cNvPr id="7" name="Text 5">
            <a:extLst>
              <a:ext uri="{FF2B5EF4-FFF2-40B4-BE49-F238E27FC236}">
                <a16:creationId xmlns:a16="http://schemas.microsoft.com/office/drawing/2014/main" id="{89AEB516-22E7-2712-3A96-3208B4696B16}"/>
              </a:ext>
            </a:extLst>
          </p:cNvPr>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13</a:t>
            </a:r>
            <a:endParaRPr lang="en-US" sz="900" dirty="0"/>
          </a:p>
        </p:txBody>
      </p:sp>
      <p:sp>
        <p:nvSpPr>
          <p:cNvPr id="10" name="Text 8">
            <a:extLst>
              <a:ext uri="{FF2B5EF4-FFF2-40B4-BE49-F238E27FC236}">
                <a16:creationId xmlns:a16="http://schemas.microsoft.com/office/drawing/2014/main" id="{5E1F51FB-D10C-19B9-BB07-D203A83086CF}"/>
              </a:ext>
            </a:extLst>
          </p:cNvPr>
          <p:cNvSpPr txBox="1"/>
          <p:nvPr/>
        </p:nvSpPr>
        <p:spPr>
          <a:xfrm>
            <a:off x="713232" y="1737360"/>
            <a:ext cx="2743200" cy="274320"/>
          </a:xfrm>
          <a:prstGeom prst="rect">
            <a:avLst/>
          </a:prstGeom>
          <a:noFill/>
          <a:ln/>
        </p:spPr>
        <p:txBody>
          <a:bodyPr wrap="square" lIns="0" tIns="0" rIns="0" bIns="0" rtlCol="0" anchor="ctr"/>
          <a:lstStyle/>
          <a:p>
            <a:pPr marL="0" indent="0">
              <a:buNone/>
            </a:pPr>
            <a:r>
              <a:rPr lang="en-US" sz="1100" b="1" kern="0" spc="150" dirty="0">
                <a:solidFill>
                  <a:srgbClr val="DCE4FF"/>
                </a:solidFill>
                <a:latin typeface="Arial" pitchFamily="34" charset="0"/>
                <a:ea typeface="Arial" pitchFamily="34" charset="-122"/>
                <a:cs typeface="Arial" pitchFamily="34" charset="-120"/>
              </a:rPr>
              <a:t>TARGET</a:t>
            </a:r>
            <a:endParaRPr lang="en-US" sz="1100" dirty="0"/>
          </a:p>
        </p:txBody>
      </p:sp>
      <p:sp>
        <p:nvSpPr>
          <p:cNvPr id="11" name="Text 9">
            <a:extLst>
              <a:ext uri="{FF2B5EF4-FFF2-40B4-BE49-F238E27FC236}">
                <a16:creationId xmlns:a16="http://schemas.microsoft.com/office/drawing/2014/main" id="{A5BD6597-10C0-96F8-613D-6D7F3D8A9648}"/>
              </a:ext>
            </a:extLst>
          </p:cNvPr>
          <p:cNvSpPr txBox="1"/>
          <p:nvPr/>
        </p:nvSpPr>
        <p:spPr>
          <a:xfrm>
            <a:off x="713232" y="1993392"/>
            <a:ext cx="2834640" cy="685800"/>
          </a:xfrm>
          <a:prstGeom prst="rect">
            <a:avLst/>
          </a:prstGeom>
          <a:noFill/>
          <a:ln/>
        </p:spPr>
        <p:txBody>
          <a:bodyPr wrap="square" lIns="0" tIns="0" rIns="0" bIns="0" rtlCol="0" anchor="ctr"/>
          <a:lstStyle/>
          <a:p>
            <a:pPr marL="0" indent="0">
              <a:buNone/>
            </a:pPr>
            <a:endParaRPr lang="en-US" sz="3000" dirty="0"/>
          </a:p>
        </p:txBody>
      </p:sp>
      <p:pic>
        <p:nvPicPr>
          <p:cNvPr id="9" name="Picture 8">
            <a:extLst>
              <a:ext uri="{FF2B5EF4-FFF2-40B4-BE49-F238E27FC236}">
                <a16:creationId xmlns:a16="http://schemas.microsoft.com/office/drawing/2014/main" id="{F3AC677E-9081-978A-69A3-34B59B35ED8E}"/>
              </a:ext>
            </a:extLst>
          </p:cNvPr>
          <p:cNvPicPr>
            <a:picLocks noChangeAspect="1"/>
          </p:cNvPicPr>
          <p:nvPr/>
        </p:nvPicPr>
        <p:blipFill>
          <a:blip r:embed="rId3"/>
          <a:stretch>
            <a:fillRect/>
          </a:stretch>
        </p:blipFill>
        <p:spPr>
          <a:xfrm>
            <a:off x="621792" y="640080"/>
            <a:ext cx="2583323" cy="5600700"/>
          </a:xfrm>
          <a:prstGeom prst="rect">
            <a:avLst/>
          </a:prstGeom>
        </p:spPr>
      </p:pic>
      <p:pic>
        <p:nvPicPr>
          <p:cNvPr id="13" name="Picture 12">
            <a:extLst>
              <a:ext uri="{FF2B5EF4-FFF2-40B4-BE49-F238E27FC236}">
                <a16:creationId xmlns:a16="http://schemas.microsoft.com/office/drawing/2014/main" id="{00FAECAE-128A-048E-EB31-5561BD58230F}"/>
              </a:ext>
            </a:extLst>
          </p:cNvPr>
          <p:cNvPicPr>
            <a:picLocks noChangeAspect="1"/>
          </p:cNvPicPr>
          <p:nvPr/>
        </p:nvPicPr>
        <p:blipFill>
          <a:blip r:embed="rId4"/>
          <a:stretch>
            <a:fillRect/>
          </a:stretch>
        </p:blipFill>
        <p:spPr>
          <a:xfrm>
            <a:off x="3205115" y="635507"/>
            <a:ext cx="2553722" cy="5833873"/>
          </a:xfrm>
          <a:prstGeom prst="rect">
            <a:avLst/>
          </a:prstGeom>
        </p:spPr>
      </p:pic>
      <p:pic>
        <p:nvPicPr>
          <p:cNvPr id="15" name="Picture 14">
            <a:extLst>
              <a:ext uri="{FF2B5EF4-FFF2-40B4-BE49-F238E27FC236}">
                <a16:creationId xmlns:a16="http://schemas.microsoft.com/office/drawing/2014/main" id="{C1B85ABA-BE74-B6D7-DE40-59DF46547C73}"/>
              </a:ext>
            </a:extLst>
          </p:cNvPr>
          <p:cNvPicPr>
            <a:picLocks noChangeAspect="1"/>
          </p:cNvPicPr>
          <p:nvPr/>
        </p:nvPicPr>
        <p:blipFill>
          <a:blip r:embed="rId5"/>
          <a:stretch>
            <a:fillRect/>
          </a:stretch>
        </p:blipFill>
        <p:spPr>
          <a:xfrm>
            <a:off x="5788438" y="635507"/>
            <a:ext cx="2820567" cy="5811013"/>
          </a:xfrm>
          <a:prstGeom prst="rect">
            <a:avLst/>
          </a:prstGeom>
        </p:spPr>
      </p:pic>
      <p:pic>
        <p:nvPicPr>
          <p:cNvPr id="17" name="Picture 16">
            <a:extLst>
              <a:ext uri="{FF2B5EF4-FFF2-40B4-BE49-F238E27FC236}">
                <a16:creationId xmlns:a16="http://schemas.microsoft.com/office/drawing/2014/main" id="{1B1F5D25-9099-DD0E-98B8-C97DAB856618}"/>
              </a:ext>
            </a:extLst>
          </p:cNvPr>
          <p:cNvPicPr>
            <a:picLocks noChangeAspect="1"/>
          </p:cNvPicPr>
          <p:nvPr/>
        </p:nvPicPr>
        <p:blipFill>
          <a:blip r:embed="rId6"/>
          <a:stretch>
            <a:fillRect/>
          </a:stretch>
        </p:blipFill>
        <p:spPr>
          <a:xfrm>
            <a:off x="8705839" y="2457454"/>
            <a:ext cx="3293756" cy="3233733"/>
          </a:xfrm>
          <a:prstGeom prst="rect">
            <a:avLst/>
          </a:prstGeom>
        </p:spPr>
      </p:pic>
    </p:spTree>
    <p:extLst>
      <p:ext uri="{BB962C8B-B14F-4D97-AF65-F5344CB8AC3E}">
        <p14:creationId xmlns:p14="http://schemas.microsoft.com/office/powerpoint/2010/main" val="737428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a:extLst>
            <a:ext uri="{FF2B5EF4-FFF2-40B4-BE49-F238E27FC236}">
              <a16:creationId xmlns:a16="http://schemas.microsoft.com/office/drawing/2014/main" id="{D0729F1B-969D-341F-F1A6-1FC2FD59544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DD0B546-A328-03C8-6A0B-D399DD4E28C7}"/>
              </a:ext>
            </a:extLst>
          </p:cNvPr>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6E6A60"/>
                </a:solidFill>
                <a:latin typeface="Arial" pitchFamily="34" charset="0"/>
                <a:ea typeface="Arial" pitchFamily="34" charset="-122"/>
                <a:cs typeface="Arial" pitchFamily="34" charset="-120"/>
              </a:rPr>
              <a:t>CLASS 1 · AI FOR GOOD Combination OF AI TOOLS BRING MAGIC</a:t>
            </a:r>
            <a:endParaRPr lang="en-US" sz="1050" dirty="0"/>
          </a:p>
        </p:txBody>
      </p:sp>
      <p:sp>
        <p:nvSpPr>
          <p:cNvPr id="3" name="Shape 1">
            <a:extLst>
              <a:ext uri="{FF2B5EF4-FFF2-40B4-BE49-F238E27FC236}">
                <a16:creationId xmlns:a16="http://schemas.microsoft.com/office/drawing/2014/main" id="{B572419A-4D89-623D-FF98-8BFEB1FEC687}"/>
              </a:ext>
            </a:extLst>
          </p:cNvPr>
          <p:cNvSpPr/>
          <p:nvPr/>
        </p:nvSpPr>
        <p:spPr>
          <a:xfrm>
            <a:off x="10561320" y="256032"/>
            <a:ext cx="1170432" cy="384048"/>
          </a:xfrm>
          <a:prstGeom prst="roundRect">
            <a:avLst>
              <a:gd name="adj" fmla="val 19048"/>
            </a:avLst>
          </a:prstGeom>
          <a:solidFill>
            <a:srgbClr val="1E4FFF"/>
          </a:solidFill>
          <a:ln/>
        </p:spPr>
      </p:sp>
      <p:sp>
        <p:nvSpPr>
          <p:cNvPr id="4" name="Text 2">
            <a:extLst>
              <a:ext uri="{FF2B5EF4-FFF2-40B4-BE49-F238E27FC236}">
                <a16:creationId xmlns:a16="http://schemas.microsoft.com/office/drawing/2014/main" id="{762A3816-A999-7186-5969-B345D2338290}"/>
              </a:ext>
            </a:extLst>
          </p:cNvPr>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dirty="0"/>
              <a:t>AI FOR GOOD</a:t>
            </a:r>
          </a:p>
        </p:txBody>
      </p:sp>
      <p:sp>
        <p:nvSpPr>
          <p:cNvPr id="5" name="Shape 3">
            <a:extLst>
              <a:ext uri="{FF2B5EF4-FFF2-40B4-BE49-F238E27FC236}">
                <a16:creationId xmlns:a16="http://schemas.microsoft.com/office/drawing/2014/main" id="{D128E7D5-3B4A-0A94-BE66-E7449AC83080}"/>
              </a:ext>
            </a:extLst>
          </p:cNvPr>
          <p:cNvSpPr/>
          <p:nvPr/>
        </p:nvSpPr>
        <p:spPr>
          <a:xfrm>
            <a:off x="502920" y="6446520"/>
            <a:ext cx="11183112" cy="0"/>
          </a:xfrm>
          <a:prstGeom prst="line">
            <a:avLst/>
          </a:prstGeom>
          <a:noFill/>
          <a:ln w="9525">
            <a:solidFill>
              <a:srgbClr val="D8D3C5"/>
            </a:solidFill>
            <a:prstDash val="solid"/>
          </a:ln>
        </p:spPr>
      </p:sp>
      <p:sp>
        <p:nvSpPr>
          <p:cNvPr id="6" name="Text 4">
            <a:extLst>
              <a:ext uri="{FF2B5EF4-FFF2-40B4-BE49-F238E27FC236}">
                <a16:creationId xmlns:a16="http://schemas.microsoft.com/office/drawing/2014/main" id="{B441C937-096F-22CD-EDC2-4AF8B576D30F}"/>
              </a:ext>
            </a:extLst>
          </p:cNvPr>
          <p:cNvSpPr txBox="1"/>
          <p:nvPr/>
        </p:nvSpPr>
        <p:spPr>
          <a:xfrm>
            <a:off x="502920" y="6492240"/>
            <a:ext cx="7315200" cy="274320"/>
          </a:xfrm>
          <a:prstGeom prst="rect">
            <a:avLst/>
          </a:prstGeom>
          <a:noFill/>
          <a:ln/>
        </p:spPr>
        <p:txBody>
          <a:bodyPr wrap="square" lIns="0" tIns="0" rIns="0" bIns="0" rtlCol="0" anchor="ctr"/>
          <a:lstStyle/>
          <a:p>
            <a:pPr marL="0" indent="0">
              <a:buNone/>
            </a:pPr>
            <a:r>
              <a:rPr lang="en-US" sz="900" kern="0" spc="100" dirty="0">
                <a:solidFill>
                  <a:srgbClr val="6E6A60"/>
                </a:solidFill>
                <a:latin typeface="Arial" pitchFamily="34" charset="0"/>
                <a:ea typeface="Arial" pitchFamily="34" charset="-122"/>
                <a:cs typeface="Arial" pitchFamily="34" charset="-120"/>
              </a:rPr>
              <a:t>·  IUT DHAKA</a:t>
            </a:r>
            <a:endParaRPr lang="en-US" sz="900" dirty="0"/>
          </a:p>
        </p:txBody>
      </p:sp>
      <p:sp>
        <p:nvSpPr>
          <p:cNvPr id="7" name="Text 5">
            <a:extLst>
              <a:ext uri="{FF2B5EF4-FFF2-40B4-BE49-F238E27FC236}">
                <a16:creationId xmlns:a16="http://schemas.microsoft.com/office/drawing/2014/main" id="{0EDFEAD6-957F-6102-05C0-03E2D667B882}"/>
              </a:ext>
            </a:extLst>
          </p:cNvPr>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13</a:t>
            </a:r>
            <a:endParaRPr lang="en-US" sz="900" dirty="0"/>
          </a:p>
        </p:txBody>
      </p:sp>
      <p:sp>
        <p:nvSpPr>
          <p:cNvPr id="10" name="Text 8">
            <a:extLst>
              <a:ext uri="{FF2B5EF4-FFF2-40B4-BE49-F238E27FC236}">
                <a16:creationId xmlns:a16="http://schemas.microsoft.com/office/drawing/2014/main" id="{47876DD2-494F-20A3-8619-1F6BD9D234FC}"/>
              </a:ext>
            </a:extLst>
          </p:cNvPr>
          <p:cNvSpPr txBox="1"/>
          <p:nvPr/>
        </p:nvSpPr>
        <p:spPr>
          <a:xfrm>
            <a:off x="713232" y="1737360"/>
            <a:ext cx="2743200" cy="274320"/>
          </a:xfrm>
          <a:prstGeom prst="rect">
            <a:avLst/>
          </a:prstGeom>
          <a:noFill/>
          <a:ln/>
        </p:spPr>
        <p:txBody>
          <a:bodyPr wrap="square" lIns="0" tIns="0" rIns="0" bIns="0" rtlCol="0" anchor="ctr"/>
          <a:lstStyle/>
          <a:p>
            <a:pPr marL="0" indent="0">
              <a:buNone/>
            </a:pPr>
            <a:r>
              <a:rPr lang="en-US" sz="1100" b="1" kern="0" spc="150" dirty="0">
                <a:solidFill>
                  <a:srgbClr val="DCE4FF"/>
                </a:solidFill>
                <a:latin typeface="Arial" pitchFamily="34" charset="0"/>
                <a:ea typeface="Arial" pitchFamily="34" charset="-122"/>
                <a:cs typeface="Arial" pitchFamily="34" charset="-120"/>
              </a:rPr>
              <a:t>TARGET</a:t>
            </a:r>
            <a:endParaRPr lang="en-US" sz="1100" dirty="0"/>
          </a:p>
        </p:txBody>
      </p:sp>
      <p:sp>
        <p:nvSpPr>
          <p:cNvPr id="11" name="Text 9">
            <a:extLst>
              <a:ext uri="{FF2B5EF4-FFF2-40B4-BE49-F238E27FC236}">
                <a16:creationId xmlns:a16="http://schemas.microsoft.com/office/drawing/2014/main" id="{FA353916-D2B0-D907-5E8F-D5FCBCF1564F}"/>
              </a:ext>
            </a:extLst>
          </p:cNvPr>
          <p:cNvSpPr txBox="1"/>
          <p:nvPr/>
        </p:nvSpPr>
        <p:spPr>
          <a:xfrm>
            <a:off x="713232" y="1993392"/>
            <a:ext cx="2834640" cy="685800"/>
          </a:xfrm>
          <a:prstGeom prst="rect">
            <a:avLst/>
          </a:prstGeom>
          <a:noFill/>
          <a:ln/>
        </p:spPr>
        <p:txBody>
          <a:bodyPr wrap="square" lIns="0" tIns="0" rIns="0" bIns="0" rtlCol="0" anchor="ctr"/>
          <a:lstStyle/>
          <a:p>
            <a:pPr marL="0" indent="0">
              <a:buNone/>
            </a:pPr>
            <a:endParaRPr lang="en-US" sz="3000" dirty="0"/>
          </a:p>
        </p:txBody>
      </p:sp>
      <p:pic>
        <p:nvPicPr>
          <p:cNvPr id="12" name="Picture 11">
            <a:extLst>
              <a:ext uri="{FF2B5EF4-FFF2-40B4-BE49-F238E27FC236}">
                <a16:creationId xmlns:a16="http://schemas.microsoft.com/office/drawing/2014/main" id="{6C03FCD3-2A56-99CA-B5AB-657BB2678ED6}"/>
              </a:ext>
            </a:extLst>
          </p:cNvPr>
          <p:cNvPicPr>
            <a:picLocks noChangeAspect="1"/>
          </p:cNvPicPr>
          <p:nvPr/>
        </p:nvPicPr>
        <p:blipFill>
          <a:blip r:embed="rId3"/>
          <a:stretch>
            <a:fillRect/>
          </a:stretch>
        </p:blipFill>
        <p:spPr>
          <a:xfrm>
            <a:off x="9212" y="0"/>
            <a:ext cx="3163253" cy="6858000"/>
          </a:xfrm>
          <a:prstGeom prst="rect">
            <a:avLst/>
          </a:prstGeom>
        </p:spPr>
      </p:pic>
      <p:pic>
        <p:nvPicPr>
          <p:cNvPr id="16" name="Picture 15">
            <a:extLst>
              <a:ext uri="{FF2B5EF4-FFF2-40B4-BE49-F238E27FC236}">
                <a16:creationId xmlns:a16="http://schemas.microsoft.com/office/drawing/2014/main" id="{C36606CD-B3F9-435D-E464-34817303366F}"/>
              </a:ext>
            </a:extLst>
          </p:cNvPr>
          <p:cNvPicPr>
            <a:picLocks noChangeAspect="1"/>
          </p:cNvPicPr>
          <p:nvPr/>
        </p:nvPicPr>
        <p:blipFill>
          <a:blip r:embed="rId4"/>
          <a:stretch>
            <a:fillRect/>
          </a:stretch>
        </p:blipFill>
        <p:spPr>
          <a:xfrm>
            <a:off x="6236493" y="0"/>
            <a:ext cx="3163253" cy="6858000"/>
          </a:xfrm>
          <a:prstGeom prst="rect">
            <a:avLst/>
          </a:prstGeom>
        </p:spPr>
      </p:pic>
      <p:pic>
        <p:nvPicPr>
          <p:cNvPr id="19" name="Picture 18">
            <a:extLst>
              <a:ext uri="{FF2B5EF4-FFF2-40B4-BE49-F238E27FC236}">
                <a16:creationId xmlns:a16="http://schemas.microsoft.com/office/drawing/2014/main" id="{5CA016F7-49F4-6BEC-23F8-6689D28DFC2C}"/>
              </a:ext>
            </a:extLst>
          </p:cNvPr>
          <p:cNvPicPr>
            <a:picLocks noChangeAspect="1"/>
          </p:cNvPicPr>
          <p:nvPr/>
        </p:nvPicPr>
        <p:blipFill>
          <a:blip r:embed="rId5"/>
          <a:stretch>
            <a:fillRect/>
          </a:stretch>
        </p:blipFill>
        <p:spPr>
          <a:xfrm>
            <a:off x="3167676" y="0"/>
            <a:ext cx="3163253" cy="6858000"/>
          </a:xfrm>
          <a:prstGeom prst="rect">
            <a:avLst/>
          </a:prstGeom>
        </p:spPr>
      </p:pic>
      <p:pic>
        <p:nvPicPr>
          <p:cNvPr id="21" name="Picture 20">
            <a:extLst>
              <a:ext uri="{FF2B5EF4-FFF2-40B4-BE49-F238E27FC236}">
                <a16:creationId xmlns:a16="http://schemas.microsoft.com/office/drawing/2014/main" id="{94342D13-2BF9-720A-6ABF-AB1008AA4E8E}"/>
              </a:ext>
            </a:extLst>
          </p:cNvPr>
          <p:cNvPicPr>
            <a:picLocks noChangeAspect="1"/>
          </p:cNvPicPr>
          <p:nvPr/>
        </p:nvPicPr>
        <p:blipFill>
          <a:blip r:embed="rId6"/>
          <a:stretch>
            <a:fillRect/>
          </a:stretch>
        </p:blipFill>
        <p:spPr>
          <a:xfrm>
            <a:off x="9399746" y="2236470"/>
            <a:ext cx="2847975" cy="2847975"/>
          </a:xfrm>
          <a:prstGeom prst="rect">
            <a:avLst/>
          </a:prstGeom>
        </p:spPr>
      </p:pic>
    </p:spTree>
    <p:extLst>
      <p:ext uri="{BB962C8B-B14F-4D97-AF65-F5344CB8AC3E}">
        <p14:creationId xmlns:p14="http://schemas.microsoft.com/office/powerpoint/2010/main" val="176190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a:extLst>
            <a:ext uri="{FF2B5EF4-FFF2-40B4-BE49-F238E27FC236}">
              <a16:creationId xmlns:a16="http://schemas.microsoft.com/office/drawing/2014/main" id="{F3F18E5B-0EB5-316A-AFC2-F5387F00550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A1554F4-FF9F-7C69-16E0-B9B3BB30CDA4}"/>
              </a:ext>
            </a:extLst>
          </p:cNvPr>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6E6A60"/>
                </a:solidFill>
                <a:latin typeface="Arial" pitchFamily="34" charset="0"/>
                <a:ea typeface="Arial" pitchFamily="34" charset="-122"/>
                <a:cs typeface="Arial" pitchFamily="34" charset="-120"/>
              </a:rPr>
              <a:t>CLASS 1 · AI FOR GOOD Combination OF AI TOOLS BRING MAGIC</a:t>
            </a:r>
            <a:endParaRPr lang="en-US" sz="1050" dirty="0"/>
          </a:p>
        </p:txBody>
      </p:sp>
      <p:sp>
        <p:nvSpPr>
          <p:cNvPr id="3" name="Shape 1">
            <a:extLst>
              <a:ext uri="{FF2B5EF4-FFF2-40B4-BE49-F238E27FC236}">
                <a16:creationId xmlns:a16="http://schemas.microsoft.com/office/drawing/2014/main" id="{39AD362B-E297-11E0-0498-BA29A89137C6}"/>
              </a:ext>
            </a:extLst>
          </p:cNvPr>
          <p:cNvSpPr/>
          <p:nvPr/>
        </p:nvSpPr>
        <p:spPr>
          <a:xfrm>
            <a:off x="10561320" y="256032"/>
            <a:ext cx="1170432" cy="384048"/>
          </a:xfrm>
          <a:prstGeom prst="roundRect">
            <a:avLst>
              <a:gd name="adj" fmla="val 19048"/>
            </a:avLst>
          </a:prstGeom>
          <a:solidFill>
            <a:srgbClr val="1E4FFF"/>
          </a:solidFill>
          <a:ln/>
        </p:spPr>
      </p:sp>
      <p:sp>
        <p:nvSpPr>
          <p:cNvPr id="4" name="Text 2">
            <a:extLst>
              <a:ext uri="{FF2B5EF4-FFF2-40B4-BE49-F238E27FC236}">
                <a16:creationId xmlns:a16="http://schemas.microsoft.com/office/drawing/2014/main" id="{4F00B0DB-9328-0750-26AF-C3BDB7661ACE}"/>
              </a:ext>
            </a:extLst>
          </p:cNvPr>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dirty="0"/>
              <a:t>AI FOR ANYTHING</a:t>
            </a:r>
          </a:p>
        </p:txBody>
      </p:sp>
      <p:sp>
        <p:nvSpPr>
          <p:cNvPr id="5" name="Shape 3">
            <a:extLst>
              <a:ext uri="{FF2B5EF4-FFF2-40B4-BE49-F238E27FC236}">
                <a16:creationId xmlns:a16="http://schemas.microsoft.com/office/drawing/2014/main" id="{8C063338-F2E4-4AB7-70E8-D2489E262066}"/>
              </a:ext>
            </a:extLst>
          </p:cNvPr>
          <p:cNvSpPr/>
          <p:nvPr/>
        </p:nvSpPr>
        <p:spPr>
          <a:xfrm>
            <a:off x="502920" y="6446520"/>
            <a:ext cx="11183112" cy="0"/>
          </a:xfrm>
          <a:prstGeom prst="line">
            <a:avLst/>
          </a:prstGeom>
          <a:noFill/>
          <a:ln w="9525">
            <a:solidFill>
              <a:srgbClr val="D8D3C5"/>
            </a:solidFill>
            <a:prstDash val="solid"/>
          </a:ln>
        </p:spPr>
      </p:sp>
      <p:sp>
        <p:nvSpPr>
          <p:cNvPr id="6" name="Text 4">
            <a:extLst>
              <a:ext uri="{FF2B5EF4-FFF2-40B4-BE49-F238E27FC236}">
                <a16:creationId xmlns:a16="http://schemas.microsoft.com/office/drawing/2014/main" id="{A8541DE5-281D-EE18-4E61-4874DD39520A}"/>
              </a:ext>
            </a:extLst>
          </p:cNvPr>
          <p:cNvSpPr txBox="1"/>
          <p:nvPr/>
        </p:nvSpPr>
        <p:spPr>
          <a:xfrm>
            <a:off x="502920" y="6492240"/>
            <a:ext cx="7315200" cy="274320"/>
          </a:xfrm>
          <a:prstGeom prst="rect">
            <a:avLst/>
          </a:prstGeom>
          <a:noFill/>
          <a:ln/>
        </p:spPr>
        <p:txBody>
          <a:bodyPr wrap="square" lIns="0" tIns="0" rIns="0" bIns="0" rtlCol="0" anchor="ctr"/>
          <a:lstStyle/>
          <a:p>
            <a:pPr marL="0" indent="0">
              <a:buNone/>
            </a:pPr>
            <a:r>
              <a:rPr lang="en-US" sz="900" kern="0" spc="100" dirty="0">
                <a:solidFill>
                  <a:srgbClr val="6E6A60"/>
                </a:solidFill>
                <a:latin typeface="Arial" pitchFamily="34" charset="0"/>
                <a:ea typeface="Arial" pitchFamily="34" charset="-122"/>
                <a:cs typeface="Arial" pitchFamily="34" charset="-120"/>
              </a:rPr>
              <a:t>·  IUT DHAKA</a:t>
            </a:r>
            <a:endParaRPr lang="en-US" sz="900" dirty="0"/>
          </a:p>
        </p:txBody>
      </p:sp>
      <p:sp>
        <p:nvSpPr>
          <p:cNvPr id="7" name="Text 5">
            <a:extLst>
              <a:ext uri="{FF2B5EF4-FFF2-40B4-BE49-F238E27FC236}">
                <a16:creationId xmlns:a16="http://schemas.microsoft.com/office/drawing/2014/main" id="{9A522253-A46B-DF86-7EB1-949E085CC36E}"/>
              </a:ext>
            </a:extLst>
          </p:cNvPr>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13</a:t>
            </a:r>
            <a:endParaRPr lang="en-US" sz="900" dirty="0"/>
          </a:p>
        </p:txBody>
      </p:sp>
      <p:sp>
        <p:nvSpPr>
          <p:cNvPr id="10" name="Text 8">
            <a:extLst>
              <a:ext uri="{FF2B5EF4-FFF2-40B4-BE49-F238E27FC236}">
                <a16:creationId xmlns:a16="http://schemas.microsoft.com/office/drawing/2014/main" id="{32CD125E-D0EE-50A3-506F-FEA19F226AA7}"/>
              </a:ext>
            </a:extLst>
          </p:cNvPr>
          <p:cNvSpPr txBox="1"/>
          <p:nvPr/>
        </p:nvSpPr>
        <p:spPr>
          <a:xfrm>
            <a:off x="713232" y="1737360"/>
            <a:ext cx="2743200" cy="274320"/>
          </a:xfrm>
          <a:prstGeom prst="rect">
            <a:avLst/>
          </a:prstGeom>
          <a:noFill/>
          <a:ln/>
        </p:spPr>
        <p:txBody>
          <a:bodyPr wrap="square" lIns="0" tIns="0" rIns="0" bIns="0" rtlCol="0" anchor="ctr"/>
          <a:lstStyle/>
          <a:p>
            <a:pPr marL="0" indent="0">
              <a:buNone/>
            </a:pPr>
            <a:r>
              <a:rPr lang="en-US" sz="1100" b="1" kern="0" spc="150" dirty="0">
                <a:solidFill>
                  <a:srgbClr val="DCE4FF"/>
                </a:solidFill>
                <a:latin typeface="Arial" pitchFamily="34" charset="0"/>
                <a:ea typeface="Arial" pitchFamily="34" charset="-122"/>
                <a:cs typeface="Arial" pitchFamily="34" charset="-120"/>
              </a:rPr>
              <a:t>TARGET</a:t>
            </a:r>
            <a:endParaRPr lang="en-US" sz="1100" dirty="0"/>
          </a:p>
        </p:txBody>
      </p:sp>
      <p:sp>
        <p:nvSpPr>
          <p:cNvPr id="11" name="Text 9">
            <a:extLst>
              <a:ext uri="{FF2B5EF4-FFF2-40B4-BE49-F238E27FC236}">
                <a16:creationId xmlns:a16="http://schemas.microsoft.com/office/drawing/2014/main" id="{40DC637A-35B0-C52B-848A-6E42301A997D}"/>
              </a:ext>
            </a:extLst>
          </p:cNvPr>
          <p:cNvSpPr txBox="1"/>
          <p:nvPr/>
        </p:nvSpPr>
        <p:spPr>
          <a:xfrm>
            <a:off x="713232" y="1993392"/>
            <a:ext cx="2834640" cy="685800"/>
          </a:xfrm>
          <a:prstGeom prst="rect">
            <a:avLst/>
          </a:prstGeom>
          <a:noFill/>
          <a:ln/>
        </p:spPr>
        <p:txBody>
          <a:bodyPr wrap="square" lIns="0" tIns="0" rIns="0" bIns="0" rtlCol="0" anchor="ctr"/>
          <a:lstStyle/>
          <a:p>
            <a:pPr marL="0" indent="0">
              <a:buNone/>
            </a:pPr>
            <a:endParaRPr lang="en-US" sz="3000" dirty="0"/>
          </a:p>
        </p:txBody>
      </p:sp>
      <p:pic>
        <p:nvPicPr>
          <p:cNvPr id="12" name="Picture 11">
            <a:extLst>
              <a:ext uri="{FF2B5EF4-FFF2-40B4-BE49-F238E27FC236}">
                <a16:creationId xmlns:a16="http://schemas.microsoft.com/office/drawing/2014/main" id="{C4045554-C60D-6F1E-1273-9E48AA0D3E8B}"/>
              </a:ext>
            </a:extLst>
          </p:cNvPr>
          <p:cNvPicPr>
            <a:picLocks noChangeAspect="1"/>
          </p:cNvPicPr>
          <p:nvPr/>
        </p:nvPicPr>
        <p:blipFill>
          <a:blip r:embed="rId3"/>
          <a:stretch>
            <a:fillRect/>
          </a:stretch>
        </p:blipFill>
        <p:spPr>
          <a:xfrm>
            <a:off x="380523" y="785813"/>
            <a:ext cx="2543783" cy="5514975"/>
          </a:xfrm>
          <a:prstGeom prst="rect">
            <a:avLst/>
          </a:prstGeom>
        </p:spPr>
      </p:pic>
      <p:pic>
        <p:nvPicPr>
          <p:cNvPr id="16" name="Picture 15">
            <a:extLst>
              <a:ext uri="{FF2B5EF4-FFF2-40B4-BE49-F238E27FC236}">
                <a16:creationId xmlns:a16="http://schemas.microsoft.com/office/drawing/2014/main" id="{EF4E7E84-F747-4D7E-CC71-959F735E9F5A}"/>
              </a:ext>
            </a:extLst>
          </p:cNvPr>
          <p:cNvPicPr>
            <a:picLocks noChangeAspect="1"/>
          </p:cNvPicPr>
          <p:nvPr/>
        </p:nvPicPr>
        <p:blipFill>
          <a:blip r:embed="rId4"/>
          <a:stretch>
            <a:fillRect/>
          </a:stretch>
        </p:blipFill>
        <p:spPr>
          <a:xfrm>
            <a:off x="3519296" y="785813"/>
            <a:ext cx="2576703" cy="5583825"/>
          </a:xfrm>
          <a:prstGeom prst="rect">
            <a:avLst/>
          </a:prstGeom>
        </p:spPr>
      </p:pic>
      <p:pic>
        <p:nvPicPr>
          <p:cNvPr id="19" name="Picture 18">
            <a:extLst>
              <a:ext uri="{FF2B5EF4-FFF2-40B4-BE49-F238E27FC236}">
                <a16:creationId xmlns:a16="http://schemas.microsoft.com/office/drawing/2014/main" id="{176D797B-5878-5602-D915-A57F980B58FB}"/>
              </a:ext>
            </a:extLst>
          </p:cNvPr>
          <p:cNvPicPr>
            <a:picLocks noChangeAspect="1"/>
          </p:cNvPicPr>
          <p:nvPr/>
        </p:nvPicPr>
        <p:blipFill>
          <a:blip r:embed="rId5"/>
          <a:stretch>
            <a:fillRect/>
          </a:stretch>
        </p:blipFill>
        <p:spPr>
          <a:xfrm>
            <a:off x="6353452" y="762953"/>
            <a:ext cx="2611002" cy="5660707"/>
          </a:xfrm>
          <a:prstGeom prst="rect">
            <a:avLst/>
          </a:prstGeom>
        </p:spPr>
      </p:pic>
      <p:pic>
        <p:nvPicPr>
          <p:cNvPr id="21" name="Picture 20">
            <a:extLst>
              <a:ext uri="{FF2B5EF4-FFF2-40B4-BE49-F238E27FC236}">
                <a16:creationId xmlns:a16="http://schemas.microsoft.com/office/drawing/2014/main" id="{9FC746AC-6F78-9BBF-CCD8-2637E73084C8}"/>
              </a:ext>
            </a:extLst>
          </p:cNvPr>
          <p:cNvPicPr>
            <a:picLocks noChangeAspect="1"/>
          </p:cNvPicPr>
          <p:nvPr/>
        </p:nvPicPr>
        <p:blipFill>
          <a:blip r:embed="rId6"/>
          <a:stretch>
            <a:fillRect/>
          </a:stretch>
        </p:blipFill>
        <p:spPr>
          <a:xfrm>
            <a:off x="9034462" y="2266950"/>
            <a:ext cx="3020169" cy="3081337"/>
          </a:xfrm>
          <a:prstGeom prst="rect">
            <a:avLst/>
          </a:prstGeom>
        </p:spPr>
      </p:pic>
    </p:spTree>
    <p:extLst>
      <p:ext uri="{BB962C8B-B14F-4D97-AF65-F5344CB8AC3E}">
        <p14:creationId xmlns:p14="http://schemas.microsoft.com/office/powerpoint/2010/main" val="41721485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8">
    <p:bg>
      <p:bgPr>
        <a:solidFill>
          <a:srgbClr val="1A1A1A"/>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A9A59A"/>
                </a:solidFill>
                <a:latin typeface="Arial" pitchFamily="34" charset="0"/>
                <a:ea typeface="Arial" pitchFamily="34" charset="-122"/>
                <a:cs typeface="Arial" pitchFamily="34" charset="-120"/>
              </a:rPr>
              <a:t>CLASS 1 · AI AS A BUSINESS TOOL</a:t>
            </a:r>
            <a:endParaRPr lang="en-US" sz="1050" dirty="0"/>
          </a:p>
        </p:txBody>
      </p:sp>
      <p:sp>
        <p:nvSpPr>
          <p:cNvPr id="3" name="Shape 1"/>
          <p:cNvSpPr/>
          <p:nvPr/>
        </p:nvSpPr>
        <p:spPr>
          <a:xfrm>
            <a:off x="10561320" y="256032"/>
            <a:ext cx="1170432" cy="384048"/>
          </a:xfrm>
          <a:prstGeom prst="roundRect">
            <a:avLst>
              <a:gd name="adj" fmla="val 19048"/>
            </a:avLst>
          </a:prstGeom>
          <a:solidFill>
            <a:srgbClr val="1E4FFF"/>
          </a:solidFill>
          <a:ln/>
        </p:spPr>
      </p:sp>
      <p:sp>
        <p:nvSpPr>
          <p:cNvPr id="4" name="Text 2"/>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20–30</a:t>
            </a:r>
            <a:endParaRPr lang="en-US" sz="1300" dirty="0"/>
          </a:p>
        </p:txBody>
      </p:sp>
      <p:sp>
        <p:nvSpPr>
          <p:cNvPr id="5" name="Shape 3"/>
          <p:cNvSpPr/>
          <p:nvPr/>
        </p:nvSpPr>
        <p:spPr>
          <a:xfrm>
            <a:off x="502920" y="6446520"/>
            <a:ext cx="11183112" cy="0"/>
          </a:xfrm>
          <a:prstGeom prst="line">
            <a:avLst/>
          </a:prstGeom>
          <a:noFill/>
          <a:ln w="9525">
            <a:solidFill>
              <a:srgbClr val="3A3A3A"/>
            </a:solidFill>
            <a:prstDash val="solid"/>
          </a:ln>
        </p:spPr>
      </p:sp>
      <p:sp>
        <p:nvSpPr>
          <p:cNvPr id="6" name="Text 4"/>
          <p:cNvSpPr txBox="1"/>
          <p:nvPr/>
        </p:nvSpPr>
        <p:spPr>
          <a:xfrm>
            <a:off x="502920" y="6492240"/>
            <a:ext cx="7315200" cy="274320"/>
          </a:xfrm>
          <a:prstGeom prst="rect">
            <a:avLst/>
          </a:prstGeom>
          <a:noFill/>
          <a:ln/>
        </p:spPr>
        <p:txBody>
          <a:bodyPr wrap="square" lIns="0" tIns="0" rIns="0" bIns="0" rtlCol="0" anchor="ctr"/>
          <a:lstStyle/>
          <a:p>
            <a:pPr marL="0" indent="0">
              <a:buNone/>
            </a:pPr>
            <a:r>
              <a:rPr lang="en-US" sz="900" kern="0" spc="100" dirty="0">
                <a:solidFill>
                  <a:srgbClr val="A9A59A"/>
                </a:solidFill>
                <a:latin typeface="Arial" pitchFamily="34" charset="0"/>
                <a:ea typeface="Arial" pitchFamily="34" charset="-122"/>
                <a:cs typeface="Arial" pitchFamily="34" charset="-120"/>
              </a:rPr>
              <a:t>Best Product will be Made  ·  IUT DHAKA</a:t>
            </a:r>
            <a:endParaRPr lang="en-US" sz="900" dirty="0"/>
          </a:p>
        </p:txBody>
      </p:sp>
      <p:sp>
        <p:nvSpPr>
          <p:cNvPr id="7" name="Text 5"/>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A9A59A"/>
                </a:solidFill>
                <a:latin typeface="Arial" pitchFamily="34" charset="0"/>
                <a:ea typeface="Arial" pitchFamily="34" charset="-122"/>
                <a:cs typeface="Arial" pitchFamily="34" charset="-120"/>
              </a:rPr>
              <a:t>08</a:t>
            </a:r>
            <a:endParaRPr lang="en-US" sz="900" dirty="0"/>
          </a:p>
        </p:txBody>
      </p:sp>
      <p:sp>
        <p:nvSpPr>
          <p:cNvPr id="8" name="Text 6"/>
          <p:cNvSpPr txBox="1"/>
          <p:nvPr/>
        </p:nvSpPr>
        <p:spPr>
          <a:xfrm>
            <a:off x="502920" y="713232"/>
            <a:ext cx="10607040" cy="868680"/>
          </a:xfrm>
          <a:prstGeom prst="rect">
            <a:avLst/>
          </a:prstGeom>
          <a:noFill/>
          <a:ln/>
        </p:spPr>
        <p:txBody>
          <a:bodyPr wrap="square" lIns="0" tIns="0" rIns="0" bIns="0" rtlCol="0" anchor="ctr"/>
          <a:lstStyle/>
          <a:p>
            <a:pPr marL="0" indent="0">
              <a:lnSpc>
                <a:spcPct val="102000"/>
              </a:lnSpc>
              <a:buNone/>
            </a:pPr>
            <a:r>
              <a:rPr lang="en-US" sz="3400" b="1" dirty="0">
                <a:solidFill>
                  <a:srgbClr val="FFFFFF"/>
                </a:solidFill>
                <a:latin typeface="Arial" pitchFamily="34" charset="0"/>
                <a:ea typeface="Arial" pitchFamily="34" charset="-122"/>
                <a:cs typeface="Arial" pitchFamily="34" charset="-120"/>
              </a:rPr>
              <a:t>Which Tool Do You Want to Make?</a:t>
            </a:r>
            <a:endParaRPr lang="en-US" sz="3400" dirty="0"/>
          </a:p>
        </p:txBody>
      </p:sp>
      <p:sp>
        <p:nvSpPr>
          <p:cNvPr id="9" name="Shape 7"/>
          <p:cNvSpPr/>
          <p:nvPr/>
        </p:nvSpPr>
        <p:spPr>
          <a:xfrm>
            <a:off x="502920" y="1691640"/>
            <a:ext cx="1417320" cy="329184"/>
          </a:xfrm>
          <a:prstGeom prst="roundRect">
            <a:avLst>
              <a:gd name="adj" fmla="val 50000"/>
            </a:avLst>
          </a:prstGeom>
          <a:solidFill>
            <a:srgbClr val="1E4FFF"/>
          </a:solidFill>
          <a:ln/>
        </p:spPr>
      </p:sp>
      <p:sp>
        <p:nvSpPr>
          <p:cNvPr id="10" name="Text 8"/>
          <p:cNvSpPr txBox="1"/>
          <p:nvPr/>
        </p:nvSpPr>
        <p:spPr>
          <a:xfrm>
            <a:off x="502920" y="1691640"/>
            <a:ext cx="141732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ACTIVITY · PAIRS</a:t>
            </a:r>
            <a:endParaRPr lang="en-US" sz="1100" dirty="0"/>
          </a:p>
        </p:txBody>
      </p:sp>
      <p:sp>
        <p:nvSpPr>
          <p:cNvPr id="11" name="Text 9"/>
          <p:cNvSpPr txBox="1"/>
          <p:nvPr/>
        </p:nvSpPr>
        <p:spPr>
          <a:xfrm>
            <a:off x="502920" y="2148840"/>
            <a:ext cx="10424160" cy="54864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Choose it.   Explain it.   Check it.   Own the decision.</a:t>
            </a:r>
            <a:endParaRPr lang="en-US" sz="2200" dirty="0"/>
          </a:p>
        </p:txBody>
      </p:sp>
      <p:sp>
        <p:nvSpPr>
          <p:cNvPr id="12" name="Text 10"/>
          <p:cNvSpPr txBox="1"/>
          <p:nvPr/>
        </p:nvSpPr>
        <p:spPr>
          <a:xfrm>
            <a:off x="502920" y="2880360"/>
            <a:ext cx="5486400" cy="320040"/>
          </a:xfrm>
          <a:prstGeom prst="rect">
            <a:avLst/>
          </a:prstGeom>
          <a:noFill/>
          <a:ln/>
        </p:spPr>
        <p:txBody>
          <a:bodyPr wrap="square" lIns="0" tIns="0" rIns="0" bIns="0" rtlCol="0" anchor="ctr"/>
          <a:lstStyle/>
          <a:p>
            <a:pPr marL="0" indent="0">
              <a:buNone/>
            </a:pPr>
            <a:r>
              <a:rPr lang="en-US" sz="1350" dirty="0">
                <a:solidFill>
                  <a:srgbClr val="A9A59A"/>
                </a:solidFill>
                <a:latin typeface="Arial" pitchFamily="34" charset="0"/>
                <a:ea typeface="Arial" pitchFamily="34" charset="-122"/>
                <a:cs typeface="Arial" pitchFamily="34" charset="-120"/>
              </a:rPr>
              <a:t>Each Pair Gives Idea for their Own Product</a:t>
            </a:r>
            <a:endParaRPr lang="en-US" sz="1350" dirty="0"/>
          </a:p>
        </p:txBody>
      </p:sp>
      <p:sp>
        <p:nvSpPr>
          <p:cNvPr id="13" name="Shape 11"/>
          <p:cNvSpPr/>
          <p:nvPr/>
        </p:nvSpPr>
        <p:spPr>
          <a:xfrm>
            <a:off x="502920" y="3246120"/>
            <a:ext cx="749808" cy="1005840"/>
          </a:xfrm>
          <a:prstGeom prst="roundRect">
            <a:avLst>
              <a:gd name="adj" fmla="val 7317"/>
            </a:avLst>
          </a:prstGeom>
          <a:solidFill>
            <a:srgbClr val="1E4FFF"/>
          </a:solidFill>
          <a:ln w="9525">
            <a:solidFill>
              <a:srgbClr val="3A3A3A"/>
            </a:solidFill>
            <a:prstDash val="solid"/>
          </a:ln>
        </p:spPr>
        <p:txBody>
          <a:bodyPr/>
          <a:lstStyle/>
          <a:p>
            <a:r>
              <a:rPr lang="en-US" dirty="0"/>
              <a:t>1</a:t>
            </a:r>
          </a:p>
        </p:txBody>
      </p:sp>
      <p:sp>
        <p:nvSpPr>
          <p:cNvPr id="14" name="Shape 12"/>
          <p:cNvSpPr/>
          <p:nvPr/>
        </p:nvSpPr>
        <p:spPr>
          <a:xfrm>
            <a:off x="1371600" y="3246120"/>
            <a:ext cx="749808" cy="1005840"/>
          </a:xfrm>
          <a:prstGeom prst="roundRect">
            <a:avLst>
              <a:gd name="adj" fmla="val 7317"/>
            </a:avLst>
          </a:prstGeom>
          <a:solidFill>
            <a:srgbClr val="1E4FFF"/>
          </a:solidFill>
          <a:ln w="9525">
            <a:solidFill>
              <a:srgbClr val="3A3A3A"/>
            </a:solidFill>
            <a:prstDash val="solid"/>
          </a:ln>
        </p:spPr>
        <p:txBody>
          <a:bodyPr/>
          <a:lstStyle/>
          <a:p>
            <a:r>
              <a:rPr lang="en-US" dirty="0"/>
              <a:t>2</a:t>
            </a:r>
          </a:p>
        </p:txBody>
      </p:sp>
      <p:sp>
        <p:nvSpPr>
          <p:cNvPr id="15" name="Shape 13"/>
          <p:cNvSpPr/>
          <p:nvPr/>
        </p:nvSpPr>
        <p:spPr>
          <a:xfrm>
            <a:off x="2240280" y="3246120"/>
            <a:ext cx="749808" cy="1005840"/>
          </a:xfrm>
          <a:prstGeom prst="roundRect">
            <a:avLst>
              <a:gd name="adj" fmla="val 7317"/>
            </a:avLst>
          </a:prstGeom>
          <a:solidFill>
            <a:srgbClr val="2B2B2B"/>
          </a:solidFill>
          <a:ln w="9525">
            <a:solidFill>
              <a:srgbClr val="3A3A3A"/>
            </a:solidFill>
            <a:prstDash val="solid"/>
          </a:ln>
        </p:spPr>
        <p:txBody>
          <a:bodyPr/>
          <a:lstStyle/>
          <a:p>
            <a:r>
              <a:rPr lang="en-US" dirty="0"/>
              <a:t>3</a:t>
            </a:r>
          </a:p>
        </p:txBody>
      </p:sp>
      <p:sp>
        <p:nvSpPr>
          <p:cNvPr id="16" name="Shape 14"/>
          <p:cNvSpPr/>
          <p:nvPr/>
        </p:nvSpPr>
        <p:spPr>
          <a:xfrm>
            <a:off x="3108960" y="3246120"/>
            <a:ext cx="749808" cy="1005840"/>
          </a:xfrm>
          <a:prstGeom prst="roundRect">
            <a:avLst>
              <a:gd name="adj" fmla="val 7317"/>
            </a:avLst>
          </a:prstGeom>
          <a:solidFill>
            <a:srgbClr val="2B2B2B"/>
          </a:solidFill>
          <a:ln w="9525">
            <a:solidFill>
              <a:srgbClr val="3A3A3A"/>
            </a:solidFill>
            <a:prstDash val="solid"/>
          </a:ln>
        </p:spPr>
        <p:txBody>
          <a:bodyPr/>
          <a:lstStyle/>
          <a:p>
            <a:r>
              <a:rPr lang="en-US" dirty="0"/>
              <a:t>4</a:t>
            </a:r>
          </a:p>
        </p:txBody>
      </p:sp>
      <p:sp>
        <p:nvSpPr>
          <p:cNvPr id="17" name="Shape 15"/>
          <p:cNvSpPr/>
          <p:nvPr/>
        </p:nvSpPr>
        <p:spPr>
          <a:xfrm>
            <a:off x="3977640" y="3246120"/>
            <a:ext cx="749808" cy="1005840"/>
          </a:xfrm>
          <a:prstGeom prst="roundRect">
            <a:avLst>
              <a:gd name="adj" fmla="val 7317"/>
            </a:avLst>
          </a:prstGeom>
          <a:solidFill>
            <a:srgbClr val="2B2B2B"/>
          </a:solidFill>
          <a:ln w="9525">
            <a:solidFill>
              <a:srgbClr val="3A3A3A"/>
            </a:solidFill>
            <a:prstDash val="solid"/>
          </a:ln>
        </p:spPr>
        <p:txBody>
          <a:bodyPr/>
          <a:lstStyle/>
          <a:p>
            <a:r>
              <a:rPr lang="en-US" dirty="0"/>
              <a:t>5</a:t>
            </a:r>
          </a:p>
        </p:txBody>
      </p:sp>
      <p:sp>
        <p:nvSpPr>
          <p:cNvPr id="18" name="Shape 16"/>
          <p:cNvSpPr/>
          <p:nvPr/>
        </p:nvSpPr>
        <p:spPr>
          <a:xfrm>
            <a:off x="4846320" y="3246120"/>
            <a:ext cx="749808" cy="1005840"/>
          </a:xfrm>
          <a:prstGeom prst="roundRect">
            <a:avLst>
              <a:gd name="adj" fmla="val 7317"/>
            </a:avLst>
          </a:prstGeom>
          <a:solidFill>
            <a:srgbClr val="2B2B2B"/>
          </a:solidFill>
          <a:ln w="9525">
            <a:solidFill>
              <a:srgbClr val="3A3A3A"/>
            </a:solidFill>
            <a:prstDash val="solid"/>
          </a:ln>
        </p:spPr>
        <p:txBody>
          <a:bodyPr/>
          <a:lstStyle/>
          <a:p>
            <a:r>
              <a:rPr lang="en-US" dirty="0"/>
              <a:t>6</a:t>
            </a:r>
          </a:p>
        </p:txBody>
      </p:sp>
      <p:sp>
        <p:nvSpPr>
          <p:cNvPr id="19" name="Shape 17"/>
          <p:cNvSpPr/>
          <p:nvPr/>
        </p:nvSpPr>
        <p:spPr>
          <a:xfrm>
            <a:off x="5715000" y="3246120"/>
            <a:ext cx="749808" cy="1005840"/>
          </a:xfrm>
          <a:prstGeom prst="roundRect">
            <a:avLst>
              <a:gd name="adj" fmla="val 7317"/>
            </a:avLst>
          </a:prstGeom>
          <a:solidFill>
            <a:srgbClr val="2B2B2B"/>
          </a:solidFill>
          <a:ln w="9525">
            <a:solidFill>
              <a:srgbClr val="3A3A3A"/>
            </a:solidFill>
            <a:prstDash val="solid"/>
          </a:ln>
        </p:spPr>
        <p:txBody>
          <a:bodyPr/>
          <a:lstStyle/>
          <a:p>
            <a:r>
              <a:rPr lang="en-US" dirty="0"/>
              <a:t>7</a:t>
            </a:r>
          </a:p>
        </p:txBody>
      </p:sp>
      <p:sp>
        <p:nvSpPr>
          <p:cNvPr id="20" name="Shape 18"/>
          <p:cNvSpPr/>
          <p:nvPr/>
        </p:nvSpPr>
        <p:spPr>
          <a:xfrm>
            <a:off x="6583680" y="3246120"/>
            <a:ext cx="749808" cy="1005840"/>
          </a:xfrm>
          <a:prstGeom prst="roundRect">
            <a:avLst>
              <a:gd name="adj" fmla="val 7317"/>
            </a:avLst>
          </a:prstGeom>
          <a:solidFill>
            <a:srgbClr val="2B2B2B"/>
          </a:solidFill>
          <a:ln w="9525">
            <a:solidFill>
              <a:srgbClr val="3A3A3A"/>
            </a:solidFill>
            <a:prstDash val="solid"/>
          </a:ln>
        </p:spPr>
        <p:txBody>
          <a:bodyPr/>
          <a:lstStyle/>
          <a:p>
            <a:r>
              <a:rPr lang="en-US" dirty="0"/>
              <a:t>8</a:t>
            </a:r>
          </a:p>
        </p:txBody>
      </p:sp>
      <p:sp>
        <p:nvSpPr>
          <p:cNvPr id="21" name="Text 19"/>
          <p:cNvSpPr txBox="1"/>
          <p:nvPr/>
        </p:nvSpPr>
        <p:spPr>
          <a:xfrm>
            <a:off x="502920" y="4526280"/>
            <a:ext cx="5029200" cy="32004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For every product, rate:</a:t>
            </a:r>
            <a:endParaRPr lang="en-US" sz="1300" dirty="0"/>
          </a:p>
        </p:txBody>
      </p:sp>
      <p:sp>
        <p:nvSpPr>
          <p:cNvPr id="22" name="Text 20"/>
          <p:cNvSpPr txBox="1"/>
          <p:nvPr/>
        </p:nvSpPr>
        <p:spPr>
          <a:xfrm>
            <a:off x="502920" y="4864608"/>
            <a:ext cx="5120640" cy="1371600"/>
          </a:xfrm>
          <a:prstGeom prst="rect">
            <a:avLst/>
          </a:prstGeom>
          <a:noFill/>
          <a:ln/>
        </p:spPr>
        <p:txBody>
          <a:bodyPr wrap="square" lIns="0" tIns="0" rIns="0" bIns="0" rtlCol="0" anchor="t"/>
          <a:lstStyle/>
          <a:p>
            <a:pPr marL="228600" indent="-228600">
              <a:spcAft>
                <a:spcPts val="600"/>
              </a:spcAft>
              <a:buSzPct val="100000"/>
              <a:buChar char="•"/>
            </a:pPr>
            <a:r>
              <a:rPr lang="en-US" sz="1250" dirty="0">
                <a:solidFill>
                  <a:srgbClr val="E6E3D8"/>
                </a:solidFill>
                <a:latin typeface="Arial" pitchFamily="34" charset="0"/>
                <a:cs typeface="Arial" pitchFamily="34" charset="-120"/>
              </a:rPr>
              <a:t>How Innovative do you think the idea is?</a:t>
            </a:r>
            <a:endParaRPr lang="en-US" sz="1250" dirty="0"/>
          </a:p>
          <a:p>
            <a:pPr marL="228600" indent="-228600">
              <a:spcAft>
                <a:spcPts val="600"/>
              </a:spcAft>
              <a:buSzPct val="100000"/>
              <a:buChar char="•"/>
            </a:pPr>
            <a:r>
              <a:rPr lang="en-US" sz="1250" dirty="0">
                <a:solidFill>
                  <a:srgbClr val="E6E3D8"/>
                </a:solidFill>
                <a:latin typeface="Arial" pitchFamily="34" charset="0"/>
                <a:ea typeface="Arial" pitchFamily="34" charset="-122"/>
                <a:cs typeface="Arial" pitchFamily="34" charset="-120"/>
              </a:rPr>
              <a:t>Who Can It Help?</a:t>
            </a:r>
            <a:endParaRPr lang="en-US" sz="1250" dirty="0"/>
          </a:p>
          <a:p>
            <a:pPr marL="228600" indent="-228600">
              <a:spcAft>
                <a:spcPts val="600"/>
              </a:spcAft>
              <a:buSzPct val="100000"/>
              <a:buChar char="•"/>
            </a:pPr>
            <a:r>
              <a:rPr lang="en-US" sz="1250" dirty="0">
                <a:solidFill>
                  <a:srgbClr val="E6E3D8"/>
                </a:solidFill>
                <a:latin typeface="Arial" pitchFamily="34" charset="0"/>
                <a:ea typeface="Arial" pitchFamily="34" charset="-122"/>
                <a:cs typeface="Arial" pitchFamily="34" charset="-120"/>
              </a:rPr>
              <a:t>Would you Use it Everyday?</a:t>
            </a:r>
            <a:endParaRPr lang="en-US" sz="1250" dirty="0"/>
          </a:p>
          <a:p>
            <a:pPr marL="228600" indent="-228600">
              <a:spcAft>
                <a:spcPts val="600"/>
              </a:spcAft>
              <a:buSzPct val="100000"/>
              <a:buChar char="•"/>
            </a:pPr>
            <a:r>
              <a:rPr lang="en-US" sz="1250" dirty="0">
                <a:solidFill>
                  <a:srgbClr val="E6E3D8"/>
                </a:solidFill>
                <a:latin typeface="Arial" pitchFamily="34" charset="0"/>
                <a:ea typeface="Arial" pitchFamily="34" charset="-122"/>
                <a:cs typeface="Arial" pitchFamily="34" charset="-120"/>
              </a:rPr>
              <a:t>What do you not like about it?</a:t>
            </a:r>
            <a:endParaRPr lang="en-US" sz="1250" dirty="0"/>
          </a:p>
        </p:txBody>
      </p:sp>
      <p:sp>
        <p:nvSpPr>
          <p:cNvPr id="23" name="Shape 21"/>
          <p:cNvSpPr/>
          <p:nvPr/>
        </p:nvSpPr>
        <p:spPr>
          <a:xfrm>
            <a:off x="5989320" y="4526280"/>
            <a:ext cx="5715000" cy="1737360"/>
          </a:xfrm>
          <a:prstGeom prst="roundRect">
            <a:avLst>
              <a:gd name="adj" fmla="val 4211"/>
            </a:avLst>
          </a:prstGeom>
          <a:solidFill>
            <a:srgbClr val="2B2B2B"/>
          </a:solidFill>
          <a:ln/>
        </p:spPr>
      </p:sp>
      <p:sp>
        <p:nvSpPr>
          <p:cNvPr id="24" name="Text 22"/>
          <p:cNvSpPr txBox="1"/>
          <p:nvPr/>
        </p:nvSpPr>
        <p:spPr>
          <a:xfrm>
            <a:off x="6199632" y="4690872"/>
            <a:ext cx="777240" cy="274320"/>
          </a:xfrm>
          <a:prstGeom prst="rect">
            <a:avLst/>
          </a:prstGeom>
          <a:noFill/>
          <a:ln/>
        </p:spPr>
        <p:txBody>
          <a:bodyPr wrap="square" lIns="0" tIns="0" rIns="0" bIns="0" rtlCol="0" anchor="ctr"/>
          <a:lstStyle/>
          <a:p>
            <a:pPr marL="0" indent="0">
              <a:buNone/>
            </a:pPr>
            <a:r>
              <a:rPr lang="en-US" sz="1100" b="1" dirty="0">
                <a:solidFill>
                  <a:srgbClr val="5C82FF"/>
                </a:solidFill>
                <a:latin typeface="Arial" pitchFamily="34" charset="0"/>
                <a:ea typeface="Arial" pitchFamily="34" charset="-122"/>
                <a:cs typeface="Arial" pitchFamily="34" charset="-120"/>
              </a:rPr>
              <a:t>0–1</a:t>
            </a:r>
            <a:endParaRPr lang="en-US" sz="1100" dirty="0"/>
          </a:p>
        </p:txBody>
      </p:sp>
      <p:sp>
        <p:nvSpPr>
          <p:cNvPr id="25" name="Text 23"/>
          <p:cNvSpPr txBox="1"/>
          <p:nvPr/>
        </p:nvSpPr>
        <p:spPr>
          <a:xfrm>
            <a:off x="6949440" y="4690872"/>
            <a:ext cx="4572000" cy="274320"/>
          </a:xfrm>
          <a:prstGeom prst="rect">
            <a:avLst/>
          </a:prstGeom>
          <a:noFill/>
          <a:ln/>
        </p:spPr>
        <p:txBody>
          <a:bodyPr wrap="square" lIns="0" tIns="0" rIns="0" bIns="0" rtlCol="0" anchor="ctr"/>
          <a:lstStyle/>
          <a:p>
            <a:pPr marL="0" indent="0">
              <a:buNone/>
            </a:pPr>
            <a:r>
              <a:rPr lang="en-US" sz="1100" dirty="0">
                <a:solidFill>
                  <a:srgbClr val="D8D4C8"/>
                </a:solidFill>
                <a:latin typeface="Arial" pitchFamily="34" charset="0"/>
                <a:ea typeface="Arial" pitchFamily="34" charset="-122"/>
                <a:cs typeface="Arial" pitchFamily="34" charset="-120"/>
              </a:rPr>
              <a:t>I don’t Like it/ I don’t think it can help me/ I wont use it at all/ I hate ___</a:t>
            </a:r>
            <a:endParaRPr lang="en-US" sz="1100" dirty="0"/>
          </a:p>
        </p:txBody>
      </p:sp>
      <p:sp>
        <p:nvSpPr>
          <p:cNvPr id="26" name="Text 24"/>
          <p:cNvSpPr txBox="1"/>
          <p:nvPr/>
        </p:nvSpPr>
        <p:spPr>
          <a:xfrm>
            <a:off x="6199632" y="4997196"/>
            <a:ext cx="777240" cy="274320"/>
          </a:xfrm>
          <a:prstGeom prst="rect">
            <a:avLst/>
          </a:prstGeom>
          <a:noFill/>
          <a:ln/>
        </p:spPr>
        <p:txBody>
          <a:bodyPr wrap="square" lIns="0" tIns="0" rIns="0" bIns="0" rtlCol="0" anchor="ctr"/>
          <a:lstStyle/>
          <a:p>
            <a:pPr marL="0" indent="0">
              <a:buNone/>
            </a:pPr>
            <a:r>
              <a:rPr lang="en-US" sz="1100" b="1" dirty="0">
                <a:solidFill>
                  <a:srgbClr val="5C82FF"/>
                </a:solidFill>
                <a:latin typeface="Arial" pitchFamily="34" charset="0"/>
                <a:cs typeface="Arial" pitchFamily="34" charset="-120"/>
              </a:rPr>
              <a:t>2</a:t>
            </a:r>
            <a:endParaRPr lang="en-US" sz="1100" dirty="0"/>
          </a:p>
        </p:txBody>
      </p:sp>
      <p:sp>
        <p:nvSpPr>
          <p:cNvPr id="27" name="Text 25"/>
          <p:cNvSpPr txBox="1"/>
          <p:nvPr/>
        </p:nvSpPr>
        <p:spPr>
          <a:xfrm>
            <a:off x="6949440" y="4997196"/>
            <a:ext cx="4572000" cy="274320"/>
          </a:xfrm>
          <a:prstGeom prst="rect">
            <a:avLst/>
          </a:prstGeom>
          <a:noFill/>
          <a:ln/>
        </p:spPr>
        <p:txBody>
          <a:bodyPr wrap="square" lIns="0" tIns="0" rIns="0" bIns="0" rtlCol="0" anchor="ctr"/>
          <a:lstStyle/>
          <a:p>
            <a:pPr marL="0" indent="0">
              <a:buNone/>
            </a:pPr>
            <a:r>
              <a:rPr lang="en-US" sz="1100" dirty="0">
                <a:solidFill>
                  <a:srgbClr val="D8D4C8"/>
                </a:solidFill>
                <a:latin typeface="Arial" pitchFamily="34" charset="0"/>
                <a:cs typeface="Arial" pitchFamily="34" charset="-120"/>
              </a:rPr>
              <a:t>Slightly innovative/May Help me but not often/ I would use it once a month/ I don’t like the interface/design/etc.</a:t>
            </a:r>
            <a:endParaRPr lang="en-US" sz="1100" dirty="0"/>
          </a:p>
        </p:txBody>
      </p:sp>
      <p:sp>
        <p:nvSpPr>
          <p:cNvPr id="28" name="Text 26"/>
          <p:cNvSpPr txBox="1"/>
          <p:nvPr/>
        </p:nvSpPr>
        <p:spPr>
          <a:xfrm>
            <a:off x="6199632" y="5303520"/>
            <a:ext cx="777240" cy="274320"/>
          </a:xfrm>
          <a:prstGeom prst="rect">
            <a:avLst/>
          </a:prstGeom>
          <a:noFill/>
          <a:ln/>
        </p:spPr>
        <p:txBody>
          <a:bodyPr wrap="square" lIns="0" tIns="0" rIns="0" bIns="0" rtlCol="0" anchor="ctr"/>
          <a:lstStyle/>
          <a:p>
            <a:pPr marL="0" indent="0">
              <a:buNone/>
            </a:pPr>
            <a:r>
              <a:rPr lang="en-US" sz="1100" b="1" dirty="0">
                <a:solidFill>
                  <a:srgbClr val="5C82FF"/>
                </a:solidFill>
                <a:latin typeface="Arial" pitchFamily="34" charset="0"/>
                <a:cs typeface="Arial" pitchFamily="34" charset="-120"/>
              </a:rPr>
              <a:t>3-4</a:t>
            </a:r>
            <a:endParaRPr lang="en-US" sz="1100" dirty="0"/>
          </a:p>
        </p:txBody>
      </p:sp>
      <p:sp>
        <p:nvSpPr>
          <p:cNvPr id="29" name="Text 27"/>
          <p:cNvSpPr txBox="1"/>
          <p:nvPr/>
        </p:nvSpPr>
        <p:spPr>
          <a:xfrm>
            <a:off x="6949440" y="5303520"/>
            <a:ext cx="4572000" cy="274320"/>
          </a:xfrm>
          <a:prstGeom prst="rect">
            <a:avLst/>
          </a:prstGeom>
          <a:noFill/>
          <a:ln/>
        </p:spPr>
        <p:txBody>
          <a:bodyPr wrap="square" lIns="0" tIns="0" rIns="0" bIns="0" rtlCol="0" anchor="ctr"/>
          <a:lstStyle/>
          <a:p>
            <a:pPr marL="0" indent="0">
              <a:buNone/>
            </a:pPr>
            <a:r>
              <a:rPr lang="en-US" sz="1100" dirty="0">
                <a:solidFill>
                  <a:srgbClr val="D8D4C8"/>
                </a:solidFill>
                <a:latin typeface="Arial" pitchFamily="34" charset="0"/>
                <a:cs typeface="Arial" pitchFamily="34" charset="-120"/>
              </a:rPr>
              <a:t>I think its pretty innovative/ It will help me or someone I know on a regular basis/ I would use it at least twice a week/ I am not comfortable with _</a:t>
            </a:r>
            <a:endParaRPr lang="en-US" sz="1100" dirty="0"/>
          </a:p>
        </p:txBody>
      </p:sp>
      <p:sp>
        <p:nvSpPr>
          <p:cNvPr id="30" name="Text 28"/>
          <p:cNvSpPr txBox="1"/>
          <p:nvPr/>
        </p:nvSpPr>
        <p:spPr>
          <a:xfrm>
            <a:off x="6199632" y="5609844"/>
            <a:ext cx="777240" cy="274320"/>
          </a:xfrm>
          <a:prstGeom prst="rect">
            <a:avLst/>
          </a:prstGeom>
          <a:noFill/>
          <a:ln/>
        </p:spPr>
        <p:txBody>
          <a:bodyPr wrap="square" lIns="0" tIns="0" rIns="0" bIns="0" rtlCol="0" anchor="ctr"/>
          <a:lstStyle/>
          <a:p>
            <a:pPr marL="0" indent="0">
              <a:buNone/>
            </a:pPr>
            <a:r>
              <a:rPr lang="en-US" sz="1100" b="1" dirty="0">
                <a:solidFill>
                  <a:srgbClr val="5C82FF"/>
                </a:solidFill>
                <a:latin typeface="Arial" pitchFamily="34" charset="0"/>
                <a:cs typeface="Arial" pitchFamily="34" charset="-120"/>
              </a:rPr>
              <a:t>5</a:t>
            </a:r>
            <a:endParaRPr lang="en-US" sz="1100" dirty="0"/>
          </a:p>
        </p:txBody>
      </p:sp>
      <p:sp>
        <p:nvSpPr>
          <p:cNvPr id="31" name="Text 29"/>
          <p:cNvSpPr txBox="1"/>
          <p:nvPr/>
        </p:nvSpPr>
        <p:spPr>
          <a:xfrm>
            <a:off x="6949440" y="5609844"/>
            <a:ext cx="4572000" cy="274320"/>
          </a:xfrm>
          <a:prstGeom prst="rect">
            <a:avLst/>
          </a:prstGeom>
          <a:noFill/>
          <a:ln/>
        </p:spPr>
        <p:txBody>
          <a:bodyPr wrap="square" lIns="0" tIns="0" rIns="0" bIns="0" rtlCol="0" anchor="ctr"/>
          <a:lstStyle/>
          <a:p>
            <a:pPr marL="0" indent="0">
              <a:buNone/>
            </a:pPr>
            <a:r>
              <a:rPr lang="en-US" sz="1100" dirty="0">
                <a:solidFill>
                  <a:srgbClr val="D8D4C8"/>
                </a:solidFill>
                <a:latin typeface="Arial" pitchFamily="34" charset="0"/>
                <a:cs typeface="Arial" pitchFamily="34" charset="-120"/>
              </a:rPr>
              <a:t>Love everything about it, will use it at least 5x a week, it will help me </a:t>
            </a:r>
            <a:r>
              <a:rPr lang="en-US" sz="1100" dirty="0" err="1">
                <a:solidFill>
                  <a:srgbClr val="D8D4C8"/>
                </a:solidFill>
                <a:latin typeface="Arial" pitchFamily="34" charset="0"/>
                <a:cs typeface="Arial" pitchFamily="34" charset="-120"/>
              </a:rPr>
              <a:t>anda</a:t>
            </a:r>
            <a:r>
              <a:rPr lang="en-US" sz="1100" dirty="0">
                <a:solidFill>
                  <a:srgbClr val="D8D4C8"/>
                </a:solidFill>
                <a:latin typeface="Arial" pitchFamily="34" charset="0"/>
                <a:cs typeface="Arial" pitchFamily="34" charset="-120"/>
              </a:rPr>
              <a:t> lot of people I know, </a:t>
            </a:r>
            <a:r>
              <a:rPr lang="en-US" sz="1100" dirty="0" err="1">
                <a:solidFill>
                  <a:srgbClr val="D8D4C8"/>
                </a:solidFill>
                <a:latin typeface="Arial" pitchFamily="34" charset="0"/>
                <a:cs typeface="Arial" pitchFamily="34" charset="-120"/>
              </a:rPr>
              <a:t>theres</a:t>
            </a:r>
            <a:r>
              <a:rPr lang="en-US" sz="1100" dirty="0">
                <a:solidFill>
                  <a:srgbClr val="D8D4C8"/>
                </a:solidFill>
                <a:latin typeface="Arial" pitchFamily="34" charset="0"/>
                <a:cs typeface="Arial" pitchFamily="34" charset="-120"/>
              </a:rPr>
              <a:t> not much about it not to like. </a:t>
            </a:r>
            <a:endParaRPr lang="en-US" sz="1100" dirty="0"/>
          </a:p>
        </p:txBody>
      </p:sp>
      <p:sp>
        <p:nvSpPr>
          <p:cNvPr id="32" name="Text 30"/>
          <p:cNvSpPr txBox="1"/>
          <p:nvPr/>
        </p:nvSpPr>
        <p:spPr>
          <a:xfrm>
            <a:off x="6199632" y="5916168"/>
            <a:ext cx="777240" cy="274320"/>
          </a:xfrm>
          <a:prstGeom prst="rect">
            <a:avLst/>
          </a:prstGeom>
          <a:noFill/>
          <a:ln/>
        </p:spPr>
        <p:txBody>
          <a:bodyPr wrap="square" lIns="0" tIns="0" rIns="0" bIns="0" rtlCol="0" anchor="ctr"/>
          <a:lstStyle/>
          <a:p>
            <a:pPr marL="0" indent="0">
              <a:buNone/>
            </a:pPr>
            <a:endParaRPr lang="en-US" sz="1100" dirty="0"/>
          </a:p>
        </p:txBody>
      </p:sp>
      <p:sp>
        <p:nvSpPr>
          <p:cNvPr id="33" name="Text 31"/>
          <p:cNvSpPr txBox="1"/>
          <p:nvPr/>
        </p:nvSpPr>
        <p:spPr>
          <a:xfrm>
            <a:off x="6949440" y="5916168"/>
            <a:ext cx="4572000" cy="274320"/>
          </a:xfrm>
          <a:prstGeom prst="rect">
            <a:avLst/>
          </a:prstGeom>
          <a:noFill/>
          <a:ln/>
        </p:spPr>
        <p:txBody>
          <a:bodyPr wrap="square" lIns="0" tIns="0" rIns="0" bIns="0" rtlCol="0" anchor="ctr"/>
          <a:lstStyle/>
          <a:p>
            <a:pPr marL="0" indent="0">
              <a:buNone/>
            </a:pP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0">
    <p:bg>
      <p:bgPr>
        <a:solidFill>
          <a:srgbClr val="1A1A1A"/>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A9A59A"/>
                </a:solidFill>
                <a:latin typeface="Arial" pitchFamily="34" charset="0"/>
                <a:ea typeface="Arial" pitchFamily="34" charset="-122"/>
                <a:cs typeface="Arial" pitchFamily="34" charset="-120"/>
              </a:rPr>
              <a:t>CLASS 1 · AI AS A BUSINESS TOOL</a:t>
            </a:r>
            <a:endParaRPr lang="en-US" sz="1050" dirty="0"/>
          </a:p>
        </p:txBody>
      </p:sp>
      <p:sp>
        <p:nvSpPr>
          <p:cNvPr id="3" name="Shape 1"/>
          <p:cNvSpPr/>
          <p:nvPr/>
        </p:nvSpPr>
        <p:spPr>
          <a:xfrm>
            <a:off x="10561320" y="256032"/>
            <a:ext cx="1170432" cy="384048"/>
          </a:xfrm>
          <a:prstGeom prst="roundRect">
            <a:avLst>
              <a:gd name="adj" fmla="val 19048"/>
            </a:avLst>
          </a:prstGeom>
          <a:solidFill>
            <a:srgbClr val="1E4FFF"/>
          </a:solidFill>
          <a:ln/>
        </p:spPr>
      </p:sp>
      <p:sp>
        <p:nvSpPr>
          <p:cNvPr id="4" name="Text 2"/>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40–50</a:t>
            </a:r>
            <a:endParaRPr lang="en-US" sz="1300" dirty="0"/>
          </a:p>
        </p:txBody>
      </p:sp>
      <p:sp>
        <p:nvSpPr>
          <p:cNvPr id="5" name="Shape 3"/>
          <p:cNvSpPr/>
          <p:nvPr/>
        </p:nvSpPr>
        <p:spPr>
          <a:xfrm>
            <a:off x="502920" y="6446520"/>
            <a:ext cx="11183112" cy="0"/>
          </a:xfrm>
          <a:prstGeom prst="line">
            <a:avLst/>
          </a:prstGeom>
          <a:noFill/>
          <a:ln w="9525">
            <a:solidFill>
              <a:srgbClr val="3A3A3A"/>
            </a:solidFill>
            <a:prstDash val="solid"/>
          </a:ln>
        </p:spPr>
      </p:sp>
      <p:sp>
        <p:nvSpPr>
          <p:cNvPr id="7" name="Text 5"/>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A9A59A"/>
                </a:solidFill>
                <a:latin typeface="Arial" pitchFamily="34" charset="0"/>
                <a:ea typeface="Arial" pitchFamily="34" charset="-122"/>
                <a:cs typeface="Arial" pitchFamily="34" charset="-120"/>
              </a:rPr>
              <a:t>10</a:t>
            </a:r>
            <a:endParaRPr lang="en-US" sz="900" dirty="0"/>
          </a:p>
        </p:txBody>
      </p:sp>
      <p:sp>
        <p:nvSpPr>
          <p:cNvPr id="8" name="Text 6"/>
          <p:cNvSpPr txBox="1"/>
          <p:nvPr/>
        </p:nvSpPr>
        <p:spPr>
          <a:xfrm>
            <a:off x="502920" y="713232"/>
            <a:ext cx="10607040" cy="868680"/>
          </a:xfrm>
          <a:prstGeom prst="rect">
            <a:avLst/>
          </a:prstGeom>
          <a:noFill/>
          <a:ln/>
        </p:spPr>
        <p:txBody>
          <a:bodyPr wrap="square" lIns="0" tIns="0" rIns="0" bIns="0" rtlCol="0" anchor="ctr"/>
          <a:lstStyle/>
          <a:p>
            <a:pPr marL="0" indent="0">
              <a:lnSpc>
                <a:spcPct val="102000"/>
              </a:lnSpc>
              <a:buNone/>
            </a:pPr>
            <a:r>
              <a:rPr lang="en-US" sz="3400" b="1" dirty="0">
                <a:solidFill>
                  <a:srgbClr val="FFFFFF"/>
                </a:solidFill>
                <a:latin typeface="Arial" pitchFamily="34" charset="0"/>
                <a:ea typeface="Arial" pitchFamily="34" charset="-122"/>
                <a:cs typeface="Arial" pitchFamily="34" charset="-120"/>
              </a:rPr>
              <a:t>Prompt Relay</a:t>
            </a:r>
            <a:endParaRPr lang="en-US" sz="3400" dirty="0"/>
          </a:p>
        </p:txBody>
      </p:sp>
      <p:sp>
        <p:nvSpPr>
          <p:cNvPr id="9" name="Shape 7"/>
          <p:cNvSpPr/>
          <p:nvPr/>
        </p:nvSpPr>
        <p:spPr>
          <a:xfrm>
            <a:off x="502920" y="1691640"/>
            <a:ext cx="1417320" cy="329184"/>
          </a:xfrm>
          <a:prstGeom prst="roundRect">
            <a:avLst>
              <a:gd name="adj" fmla="val 50000"/>
            </a:avLst>
          </a:prstGeom>
          <a:solidFill>
            <a:srgbClr val="1E4FFF"/>
          </a:solidFill>
          <a:ln/>
        </p:spPr>
      </p:sp>
      <p:sp>
        <p:nvSpPr>
          <p:cNvPr id="10" name="Text 8"/>
          <p:cNvSpPr txBox="1"/>
          <p:nvPr/>
        </p:nvSpPr>
        <p:spPr>
          <a:xfrm>
            <a:off x="502920" y="1691640"/>
            <a:ext cx="141732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ACTIVITY · SOLO+PAIR</a:t>
            </a:r>
            <a:endParaRPr lang="en-US" sz="1100" dirty="0"/>
          </a:p>
        </p:txBody>
      </p:sp>
      <p:sp>
        <p:nvSpPr>
          <p:cNvPr id="11" name="Shape 9"/>
          <p:cNvSpPr/>
          <p:nvPr/>
        </p:nvSpPr>
        <p:spPr>
          <a:xfrm>
            <a:off x="502920" y="2194560"/>
            <a:ext cx="10287000" cy="777240"/>
          </a:xfrm>
          <a:prstGeom prst="roundRect">
            <a:avLst>
              <a:gd name="adj" fmla="val 8235"/>
            </a:avLst>
          </a:prstGeom>
          <a:solidFill>
            <a:srgbClr val="2B2B2B"/>
          </a:solidFill>
          <a:ln/>
        </p:spPr>
      </p:sp>
      <p:sp>
        <p:nvSpPr>
          <p:cNvPr id="12" name="Text 10"/>
          <p:cNvSpPr txBox="1"/>
          <p:nvPr/>
        </p:nvSpPr>
        <p:spPr>
          <a:xfrm>
            <a:off x="777240" y="2194560"/>
            <a:ext cx="9738360" cy="777240"/>
          </a:xfrm>
          <a:prstGeom prst="rect">
            <a:avLst/>
          </a:prstGeom>
          <a:noFill/>
          <a:ln/>
        </p:spPr>
        <p:txBody>
          <a:bodyPr wrap="square" lIns="0" tIns="0" rIns="0" bIns="0" rtlCol="0" anchor="ctr"/>
          <a:lstStyle/>
          <a:p>
            <a:pPr marL="0" indent="0">
              <a:buNone/>
            </a:pPr>
            <a:r>
              <a:rPr lang="en-US" sz="1500" i="1" dirty="0">
                <a:solidFill>
                  <a:srgbClr val="D8D4C8"/>
                </a:solidFill>
                <a:latin typeface="Arial" pitchFamily="34" charset="0"/>
                <a:cs typeface="Arial" pitchFamily="34" charset="-120"/>
              </a:rPr>
              <a:t>Make  your own Business</a:t>
            </a:r>
            <a:endParaRPr lang="en-US" sz="1500" dirty="0"/>
          </a:p>
        </p:txBody>
      </p:sp>
      <p:sp>
        <p:nvSpPr>
          <p:cNvPr id="13" name="Text 11"/>
          <p:cNvSpPr txBox="1"/>
          <p:nvPr/>
        </p:nvSpPr>
        <p:spPr>
          <a:xfrm>
            <a:off x="502920" y="3154680"/>
            <a:ext cx="10058400" cy="45720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Improve the brief. Pass the context. Check what changed.</a:t>
            </a:r>
            <a:endParaRPr lang="en-US" sz="1900" dirty="0"/>
          </a:p>
        </p:txBody>
      </p:sp>
      <p:sp>
        <p:nvSpPr>
          <p:cNvPr id="14" name="Shape 12"/>
          <p:cNvSpPr/>
          <p:nvPr/>
        </p:nvSpPr>
        <p:spPr>
          <a:xfrm>
            <a:off x="502920" y="3675888"/>
            <a:ext cx="1005840" cy="384048"/>
          </a:xfrm>
          <a:prstGeom prst="roundRect">
            <a:avLst>
              <a:gd name="adj" fmla="val 14286"/>
            </a:avLst>
          </a:prstGeom>
          <a:solidFill>
            <a:srgbClr val="1E4FFF"/>
          </a:solidFill>
          <a:ln/>
        </p:spPr>
      </p:sp>
      <p:sp>
        <p:nvSpPr>
          <p:cNvPr id="15" name="Text 13"/>
          <p:cNvSpPr txBox="1"/>
          <p:nvPr/>
        </p:nvSpPr>
        <p:spPr>
          <a:xfrm>
            <a:off x="502920" y="3675888"/>
            <a:ext cx="1005840" cy="384048"/>
          </a:xfrm>
          <a:prstGeom prst="rect">
            <a:avLst/>
          </a:prstGeom>
          <a:noFill/>
          <a:ln/>
        </p:spPr>
        <p:txBody>
          <a:bodyPr wrap="square" lIns="0" tIns="0" rIns="0" bIns="0" rtlCol="0" anchor="ctr"/>
          <a:lstStyle/>
          <a:p>
            <a:pPr marL="0" indent="0" algn="ctr">
              <a:buNone/>
            </a:pPr>
            <a:endParaRPr lang="en-US" sz="1100" dirty="0"/>
          </a:p>
        </p:txBody>
      </p:sp>
      <p:sp>
        <p:nvSpPr>
          <p:cNvPr id="16" name="Text 14"/>
          <p:cNvSpPr txBox="1"/>
          <p:nvPr/>
        </p:nvSpPr>
        <p:spPr>
          <a:xfrm>
            <a:off x="1645920" y="3675888"/>
            <a:ext cx="9144000" cy="384048"/>
          </a:xfrm>
          <a:prstGeom prst="rect">
            <a:avLst/>
          </a:prstGeom>
          <a:noFill/>
          <a:ln/>
        </p:spPr>
        <p:txBody>
          <a:bodyPr wrap="square" lIns="0" tIns="0" rIns="0" bIns="0" rtlCol="0" anchor="ctr"/>
          <a:lstStyle/>
          <a:p>
            <a:pPr marL="0" indent="0">
              <a:buNone/>
            </a:pPr>
            <a:r>
              <a:rPr lang="en-US" sz="1200" dirty="0">
                <a:solidFill>
                  <a:srgbClr val="E6E3D8"/>
                </a:solidFill>
                <a:latin typeface="Arial" pitchFamily="34" charset="0"/>
                <a:ea typeface="Arial" pitchFamily="34" charset="-122"/>
                <a:cs typeface="Arial" pitchFamily="34" charset="-120"/>
              </a:rPr>
              <a:t>Choose your Business Idea with your partner and generate a deep research prompt</a:t>
            </a:r>
            <a:endParaRPr lang="en-US" sz="1200" dirty="0"/>
          </a:p>
        </p:txBody>
      </p:sp>
      <p:sp>
        <p:nvSpPr>
          <p:cNvPr id="17" name="Shape 15"/>
          <p:cNvSpPr/>
          <p:nvPr/>
        </p:nvSpPr>
        <p:spPr>
          <a:xfrm>
            <a:off x="502920" y="4123944"/>
            <a:ext cx="1005840" cy="384048"/>
          </a:xfrm>
          <a:prstGeom prst="roundRect">
            <a:avLst>
              <a:gd name="adj" fmla="val 14286"/>
            </a:avLst>
          </a:prstGeom>
          <a:solidFill>
            <a:srgbClr val="1E4FFF"/>
          </a:solidFill>
          <a:ln/>
        </p:spPr>
      </p:sp>
      <p:sp>
        <p:nvSpPr>
          <p:cNvPr id="18" name="Text 16"/>
          <p:cNvSpPr txBox="1"/>
          <p:nvPr/>
        </p:nvSpPr>
        <p:spPr>
          <a:xfrm>
            <a:off x="502920" y="4123944"/>
            <a:ext cx="1005840" cy="384048"/>
          </a:xfrm>
          <a:prstGeom prst="rect">
            <a:avLst/>
          </a:prstGeom>
          <a:noFill/>
          <a:ln/>
        </p:spPr>
        <p:txBody>
          <a:bodyPr wrap="square" lIns="0" tIns="0" rIns="0" bIns="0" rtlCol="0" anchor="ctr"/>
          <a:lstStyle/>
          <a:p>
            <a:pPr marL="0" indent="0" algn="ctr">
              <a:buNone/>
            </a:pPr>
            <a:endParaRPr lang="en-US" sz="1100" dirty="0"/>
          </a:p>
        </p:txBody>
      </p:sp>
      <p:sp>
        <p:nvSpPr>
          <p:cNvPr id="19" name="Text 17"/>
          <p:cNvSpPr txBox="1"/>
          <p:nvPr/>
        </p:nvSpPr>
        <p:spPr>
          <a:xfrm>
            <a:off x="1645920" y="4123944"/>
            <a:ext cx="9144000" cy="384048"/>
          </a:xfrm>
          <a:prstGeom prst="rect">
            <a:avLst/>
          </a:prstGeom>
          <a:noFill/>
          <a:ln/>
        </p:spPr>
        <p:txBody>
          <a:bodyPr wrap="square" lIns="0" tIns="0" rIns="0" bIns="0" rtlCol="0" anchor="ctr"/>
          <a:lstStyle/>
          <a:p>
            <a:pPr marL="0" indent="0">
              <a:buNone/>
            </a:pPr>
            <a:r>
              <a:rPr lang="en-US" sz="1200" dirty="0">
                <a:solidFill>
                  <a:srgbClr val="E6E3D8"/>
                </a:solidFill>
                <a:latin typeface="Arial" pitchFamily="34" charset="0"/>
                <a:cs typeface="Arial" pitchFamily="34" charset="-120"/>
              </a:rPr>
              <a:t>Use GPT sol and its basic deep research prompt to train the thread.</a:t>
            </a:r>
            <a:endParaRPr lang="en-US" sz="1200" dirty="0"/>
          </a:p>
        </p:txBody>
      </p:sp>
      <p:sp>
        <p:nvSpPr>
          <p:cNvPr id="20" name="Shape 18"/>
          <p:cNvSpPr/>
          <p:nvPr/>
        </p:nvSpPr>
        <p:spPr>
          <a:xfrm>
            <a:off x="502920" y="4572000"/>
            <a:ext cx="1005840" cy="384048"/>
          </a:xfrm>
          <a:prstGeom prst="roundRect">
            <a:avLst>
              <a:gd name="adj" fmla="val 14286"/>
            </a:avLst>
          </a:prstGeom>
          <a:solidFill>
            <a:srgbClr val="1E4FFF"/>
          </a:solidFill>
          <a:ln/>
        </p:spPr>
      </p:sp>
      <p:sp>
        <p:nvSpPr>
          <p:cNvPr id="21" name="Text 19"/>
          <p:cNvSpPr txBox="1"/>
          <p:nvPr/>
        </p:nvSpPr>
        <p:spPr>
          <a:xfrm>
            <a:off x="502920" y="4572000"/>
            <a:ext cx="1005840" cy="384048"/>
          </a:xfrm>
          <a:prstGeom prst="rect">
            <a:avLst/>
          </a:prstGeom>
          <a:noFill/>
          <a:ln/>
        </p:spPr>
        <p:txBody>
          <a:bodyPr wrap="square" lIns="0" tIns="0" rIns="0" bIns="0" rtlCol="0" anchor="ctr"/>
          <a:lstStyle/>
          <a:p>
            <a:pPr marL="0" indent="0" algn="ctr">
              <a:buNone/>
            </a:pPr>
            <a:endParaRPr lang="en-US" sz="1100" dirty="0"/>
          </a:p>
        </p:txBody>
      </p:sp>
      <p:sp>
        <p:nvSpPr>
          <p:cNvPr id="22" name="Text 20"/>
          <p:cNvSpPr txBox="1"/>
          <p:nvPr/>
        </p:nvSpPr>
        <p:spPr>
          <a:xfrm>
            <a:off x="1645920" y="4572000"/>
            <a:ext cx="9144000" cy="384048"/>
          </a:xfrm>
          <a:prstGeom prst="rect">
            <a:avLst/>
          </a:prstGeom>
          <a:noFill/>
          <a:ln/>
        </p:spPr>
        <p:txBody>
          <a:bodyPr wrap="square" lIns="0" tIns="0" rIns="0" bIns="0" rtlCol="0" anchor="ctr"/>
          <a:lstStyle/>
          <a:p>
            <a:pPr marL="0" indent="0">
              <a:buNone/>
            </a:pPr>
            <a:r>
              <a:rPr lang="en-US" sz="1200" dirty="0">
                <a:solidFill>
                  <a:srgbClr val="E6E3D8"/>
                </a:solidFill>
                <a:latin typeface="Arial" pitchFamily="34" charset="0"/>
                <a:ea typeface="Arial" pitchFamily="34" charset="-122"/>
                <a:cs typeface="Arial" pitchFamily="34" charset="-120"/>
              </a:rPr>
              <a:t>Transfer improved prompt + context to a second tool and create the presentation. </a:t>
            </a:r>
            <a:endParaRPr lang="en-US" sz="1200" dirty="0"/>
          </a:p>
        </p:txBody>
      </p:sp>
      <p:sp>
        <p:nvSpPr>
          <p:cNvPr id="23" name="Shape 21"/>
          <p:cNvSpPr/>
          <p:nvPr/>
        </p:nvSpPr>
        <p:spPr>
          <a:xfrm>
            <a:off x="502920" y="5020056"/>
            <a:ext cx="1005840" cy="384048"/>
          </a:xfrm>
          <a:prstGeom prst="roundRect">
            <a:avLst>
              <a:gd name="adj" fmla="val 14286"/>
            </a:avLst>
          </a:prstGeom>
          <a:solidFill>
            <a:srgbClr val="1E4FFF"/>
          </a:solidFill>
          <a:ln/>
        </p:spPr>
      </p:sp>
      <p:sp>
        <p:nvSpPr>
          <p:cNvPr id="24" name="Text 22"/>
          <p:cNvSpPr txBox="1"/>
          <p:nvPr/>
        </p:nvSpPr>
        <p:spPr>
          <a:xfrm>
            <a:off x="502920" y="5020056"/>
            <a:ext cx="1005840" cy="384048"/>
          </a:xfrm>
          <a:prstGeom prst="rect">
            <a:avLst/>
          </a:prstGeom>
          <a:noFill/>
          <a:ln/>
        </p:spPr>
        <p:txBody>
          <a:bodyPr wrap="square" lIns="0" tIns="0" rIns="0" bIns="0" rtlCol="0" anchor="ctr"/>
          <a:lstStyle/>
          <a:p>
            <a:pPr marL="0" indent="0" algn="ctr">
              <a:buNone/>
            </a:pPr>
            <a:endParaRPr lang="en-US" sz="1100" dirty="0"/>
          </a:p>
        </p:txBody>
      </p:sp>
      <p:sp>
        <p:nvSpPr>
          <p:cNvPr id="25" name="Text 23"/>
          <p:cNvSpPr txBox="1"/>
          <p:nvPr/>
        </p:nvSpPr>
        <p:spPr>
          <a:xfrm>
            <a:off x="1645920" y="5020056"/>
            <a:ext cx="9144000" cy="384048"/>
          </a:xfrm>
          <a:prstGeom prst="rect">
            <a:avLst/>
          </a:prstGeom>
          <a:noFill/>
          <a:ln/>
        </p:spPr>
        <p:txBody>
          <a:bodyPr wrap="square" lIns="0" tIns="0" rIns="0" bIns="0" rtlCol="0" anchor="ctr"/>
          <a:lstStyle/>
          <a:p>
            <a:pPr marL="0" indent="0">
              <a:buNone/>
            </a:pPr>
            <a:r>
              <a:rPr lang="en-US" sz="1200" dirty="0">
                <a:solidFill>
                  <a:srgbClr val="E6E3D8"/>
                </a:solidFill>
                <a:latin typeface="Arial" pitchFamily="34" charset="0"/>
                <a:ea typeface="Arial" pitchFamily="34" charset="-122"/>
                <a:cs typeface="Arial" pitchFamily="34" charset="-120"/>
              </a:rPr>
              <a:t>Polish and improve output with your partner and check each other’s output. </a:t>
            </a:r>
            <a:endParaRPr lang="en-US" sz="1200" dirty="0"/>
          </a:p>
        </p:txBody>
      </p:sp>
      <p:sp>
        <p:nvSpPr>
          <p:cNvPr id="26" name="Shape 24"/>
          <p:cNvSpPr/>
          <p:nvPr/>
        </p:nvSpPr>
        <p:spPr>
          <a:xfrm>
            <a:off x="502920" y="5468112"/>
            <a:ext cx="1005840" cy="384048"/>
          </a:xfrm>
          <a:prstGeom prst="roundRect">
            <a:avLst>
              <a:gd name="adj" fmla="val 14286"/>
            </a:avLst>
          </a:prstGeom>
          <a:solidFill>
            <a:srgbClr val="1E4FFF"/>
          </a:solidFill>
          <a:ln/>
        </p:spPr>
      </p:sp>
      <p:sp>
        <p:nvSpPr>
          <p:cNvPr id="27" name="Text 25"/>
          <p:cNvSpPr txBox="1"/>
          <p:nvPr/>
        </p:nvSpPr>
        <p:spPr>
          <a:xfrm>
            <a:off x="502920" y="5468112"/>
            <a:ext cx="1005840" cy="384048"/>
          </a:xfrm>
          <a:prstGeom prst="rect">
            <a:avLst/>
          </a:prstGeom>
          <a:noFill/>
          <a:ln/>
        </p:spPr>
        <p:txBody>
          <a:bodyPr wrap="square" lIns="0" tIns="0" rIns="0" bIns="0" rtlCol="0" anchor="ctr"/>
          <a:lstStyle/>
          <a:p>
            <a:pPr marL="0" indent="0" algn="ctr">
              <a:buNone/>
            </a:pPr>
            <a:endParaRPr lang="en-US" sz="1100" dirty="0"/>
          </a:p>
        </p:txBody>
      </p:sp>
      <p:sp>
        <p:nvSpPr>
          <p:cNvPr id="28" name="Text 26"/>
          <p:cNvSpPr txBox="1"/>
          <p:nvPr/>
        </p:nvSpPr>
        <p:spPr>
          <a:xfrm>
            <a:off x="1645920" y="5468112"/>
            <a:ext cx="9144000" cy="384048"/>
          </a:xfrm>
          <a:prstGeom prst="rect">
            <a:avLst/>
          </a:prstGeom>
          <a:noFill/>
          <a:ln/>
        </p:spPr>
        <p:txBody>
          <a:bodyPr wrap="square" lIns="0" tIns="0" rIns="0" bIns="0" rtlCol="0" anchor="ctr"/>
          <a:lstStyle/>
          <a:p>
            <a:pPr marL="0" indent="0">
              <a:buNone/>
            </a:pPr>
            <a:r>
              <a:rPr lang="en-US" sz="1200" dirty="0">
                <a:solidFill>
                  <a:srgbClr val="E6E3D8"/>
                </a:solidFill>
                <a:latin typeface="Arial" pitchFamily="34" charset="0"/>
                <a:ea typeface="Arial" pitchFamily="34" charset="-122"/>
                <a:cs typeface="Arial" pitchFamily="34" charset="-120"/>
              </a:rPr>
              <a:t>Record one improvement, one problem, one verification step and launch. </a:t>
            </a:r>
            <a:endParaRPr lang="en-US" sz="1200" dirty="0"/>
          </a:p>
        </p:txBody>
      </p:sp>
      <p:sp>
        <p:nvSpPr>
          <p:cNvPr id="29" name="Text 27"/>
          <p:cNvSpPr txBox="1"/>
          <p:nvPr/>
        </p:nvSpPr>
        <p:spPr>
          <a:xfrm>
            <a:off x="502920" y="5971032"/>
            <a:ext cx="10058400" cy="274320"/>
          </a:xfrm>
          <a:prstGeom prst="rect">
            <a:avLst/>
          </a:prstGeom>
          <a:noFill/>
          <a:ln/>
        </p:spPr>
        <p:txBody>
          <a:bodyPr wrap="square" lIns="0" tIns="0" rIns="0" bIns="0" rtlCol="0" anchor="ctr"/>
          <a:lstStyle/>
          <a:p>
            <a:pPr marL="0" indent="0">
              <a:buNone/>
            </a:pPr>
            <a:r>
              <a:rPr lang="en-US" sz="1150" i="1" dirty="0">
                <a:solidFill>
                  <a:srgbClr val="A9A59A"/>
                </a:solidFill>
                <a:latin typeface="Arial" pitchFamily="34" charset="0"/>
                <a:ea typeface="Arial" pitchFamily="34" charset="-122"/>
                <a:cs typeface="Arial" pitchFamily="34" charset="-120"/>
              </a:rPr>
              <a:t>Minimum success: one useful prompt improvement and one checked output.</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6E6A60"/>
                </a:solidFill>
                <a:latin typeface="Arial" pitchFamily="34" charset="0"/>
                <a:ea typeface="Arial" pitchFamily="34" charset="-122"/>
                <a:cs typeface="Arial" pitchFamily="34" charset="-120"/>
              </a:rPr>
              <a:t>CLASS 1 · AI AS A BUSINESS TOOL</a:t>
            </a:r>
            <a:endParaRPr lang="en-US" sz="1050" dirty="0"/>
          </a:p>
        </p:txBody>
      </p:sp>
      <p:sp>
        <p:nvSpPr>
          <p:cNvPr id="3" name="Shape 1"/>
          <p:cNvSpPr/>
          <p:nvPr/>
        </p:nvSpPr>
        <p:spPr>
          <a:xfrm>
            <a:off x="10561320" y="256032"/>
            <a:ext cx="1170432" cy="384048"/>
          </a:xfrm>
          <a:prstGeom prst="roundRect">
            <a:avLst>
              <a:gd name="adj" fmla="val 19048"/>
            </a:avLst>
          </a:prstGeom>
          <a:solidFill>
            <a:srgbClr val="1E4FFF"/>
          </a:solidFill>
          <a:ln/>
        </p:spPr>
      </p:sp>
      <p:sp>
        <p:nvSpPr>
          <p:cNvPr id="4" name="Text 2"/>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50–55</a:t>
            </a:r>
            <a:endParaRPr lang="en-US" sz="1300" dirty="0"/>
          </a:p>
        </p:txBody>
      </p:sp>
      <p:sp>
        <p:nvSpPr>
          <p:cNvPr id="5" name="Shape 3"/>
          <p:cNvSpPr/>
          <p:nvPr/>
        </p:nvSpPr>
        <p:spPr>
          <a:xfrm>
            <a:off x="502920" y="6446520"/>
            <a:ext cx="11183112" cy="0"/>
          </a:xfrm>
          <a:prstGeom prst="line">
            <a:avLst/>
          </a:prstGeom>
          <a:noFill/>
          <a:ln w="9525">
            <a:solidFill>
              <a:srgbClr val="D8D3C5"/>
            </a:solidFill>
            <a:prstDash val="solid"/>
          </a:ln>
        </p:spPr>
      </p:sp>
      <p:sp>
        <p:nvSpPr>
          <p:cNvPr id="6" name="Text 4"/>
          <p:cNvSpPr txBox="1"/>
          <p:nvPr/>
        </p:nvSpPr>
        <p:spPr>
          <a:xfrm>
            <a:off x="502920" y="6492240"/>
            <a:ext cx="7315200" cy="274320"/>
          </a:xfrm>
          <a:prstGeom prst="rect">
            <a:avLst/>
          </a:prstGeom>
          <a:noFill/>
          <a:ln/>
        </p:spPr>
        <p:txBody>
          <a:bodyPr wrap="square" lIns="0" tIns="0" rIns="0" bIns="0" rtlCol="0" anchor="ctr"/>
          <a:lstStyle/>
          <a:p>
            <a:pPr marL="0" indent="0">
              <a:buNone/>
            </a:pPr>
            <a:r>
              <a:rPr lang="en-US" sz="900" kern="0" spc="100" dirty="0">
                <a:solidFill>
                  <a:srgbClr val="6E6A60"/>
                </a:solidFill>
                <a:latin typeface="Arial" pitchFamily="34" charset="0"/>
                <a:ea typeface="Arial" pitchFamily="34" charset="-122"/>
                <a:cs typeface="Arial" pitchFamily="34" charset="-120"/>
              </a:rPr>
              <a:t>MEGHNA OFFICE SUPPLIES WORKSHOP  ·  IUT DHAKA</a:t>
            </a:r>
            <a:endParaRPr lang="en-US" sz="900" dirty="0"/>
          </a:p>
        </p:txBody>
      </p:sp>
      <p:sp>
        <p:nvSpPr>
          <p:cNvPr id="7" name="Text 5"/>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11</a:t>
            </a:r>
            <a:endParaRPr lang="en-US" sz="900" dirty="0"/>
          </a:p>
        </p:txBody>
      </p:sp>
      <p:sp>
        <p:nvSpPr>
          <p:cNvPr id="8" name="Text 6"/>
          <p:cNvSpPr txBox="1"/>
          <p:nvPr/>
        </p:nvSpPr>
        <p:spPr>
          <a:xfrm>
            <a:off x="502920" y="713232"/>
            <a:ext cx="10607040" cy="868680"/>
          </a:xfrm>
          <a:prstGeom prst="rect">
            <a:avLst/>
          </a:prstGeom>
          <a:noFill/>
          <a:ln/>
        </p:spPr>
        <p:txBody>
          <a:bodyPr wrap="square" lIns="0" tIns="0" rIns="0" bIns="0" rtlCol="0" anchor="ctr"/>
          <a:lstStyle/>
          <a:p>
            <a:pPr marL="0" indent="0">
              <a:lnSpc>
                <a:spcPct val="102000"/>
              </a:lnSpc>
              <a:buNone/>
            </a:pPr>
            <a:r>
              <a:rPr lang="en-US" sz="3400" b="1" dirty="0">
                <a:solidFill>
                  <a:srgbClr val="1A1A1A"/>
                </a:solidFill>
                <a:latin typeface="Arial" pitchFamily="34" charset="0"/>
                <a:ea typeface="Arial" pitchFamily="34" charset="-122"/>
                <a:cs typeface="Arial" pitchFamily="34" charset="-120"/>
              </a:rPr>
              <a:t>One Workspace, One Purpose</a:t>
            </a:r>
            <a:endParaRPr lang="en-US" sz="3400" dirty="0"/>
          </a:p>
        </p:txBody>
      </p:sp>
      <p:sp>
        <p:nvSpPr>
          <p:cNvPr id="9" name="Shape 7"/>
          <p:cNvSpPr/>
          <p:nvPr/>
        </p:nvSpPr>
        <p:spPr>
          <a:xfrm>
            <a:off x="502920" y="1691640"/>
            <a:ext cx="10287000" cy="1051560"/>
          </a:xfrm>
          <a:prstGeom prst="roundRect">
            <a:avLst>
              <a:gd name="adj" fmla="val 6957"/>
            </a:avLst>
          </a:prstGeom>
          <a:solidFill>
            <a:srgbClr val="EDE9DE"/>
          </a:solidFill>
          <a:ln/>
        </p:spPr>
      </p:sp>
      <p:sp>
        <p:nvSpPr>
          <p:cNvPr id="10" name="Text 8"/>
          <p:cNvSpPr txBox="1"/>
          <p:nvPr/>
        </p:nvSpPr>
        <p:spPr>
          <a:xfrm>
            <a:off x="777240" y="1691640"/>
            <a:ext cx="9738360" cy="1051560"/>
          </a:xfrm>
          <a:prstGeom prst="rect">
            <a:avLst/>
          </a:prstGeom>
          <a:noFill/>
          <a:ln/>
        </p:spPr>
        <p:txBody>
          <a:bodyPr wrap="square" lIns="0" tIns="0" rIns="0" bIns="0" rtlCol="0" anchor="ctr"/>
          <a:lstStyle/>
          <a:p>
            <a:pPr marL="0" indent="0">
              <a:buNone/>
            </a:pPr>
            <a:r>
              <a:rPr lang="en-US" sz="1400" i="1" dirty="0">
                <a:solidFill>
                  <a:srgbClr val="1A1A1A"/>
                </a:solidFill>
                <a:latin typeface="Arial" pitchFamily="34" charset="0"/>
                <a:ea typeface="Arial" pitchFamily="34" charset="-122"/>
                <a:cs typeface="Arial" pitchFamily="34" charset="-120"/>
              </a:rPr>
              <a:t>“Think of an AI workspace as a temporary working partner for one objective: a clear role, relevant context, a defined output, and follow-up instructions.”</a:t>
            </a:r>
            <a:endParaRPr lang="en-US" sz="1400" dirty="0"/>
          </a:p>
        </p:txBody>
      </p:sp>
      <p:sp>
        <p:nvSpPr>
          <p:cNvPr id="11" name="Shape 9"/>
          <p:cNvSpPr/>
          <p:nvPr/>
        </p:nvSpPr>
        <p:spPr>
          <a:xfrm>
            <a:off x="502920" y="2880360"/>
            <a:ext cx="3364992" cy="914400"/>
          </a:xfrm>
          <a:prstGeom prst="roundRect">
            <a:avLst>
              <a:gd name="adj" fmla="val 7000"/>
            </a:avLst>
          </a:prstGeom>
          <a:solidFill>
            <a:srgbClr val="1A1A1A"/>
          </a:solidFill>
          <a:ln/>
        </p:spPr>
      </p:sp>
      <p:sp>
        <p:nvSpPr>
          <p:cNvPr id="12" name="Text 10"/>
          <p:cNvSpPr txBox="1"/>
          <p:nvPr/>
        </p:nvSpPr>
        <p:spPr>
          <a:xfrm>
            <a:off x="649224" y="2971800"/>
            <a:ext cx="457200" cy="292608"/>
          </a:xfrm>
          <a:prstGeom prst="rect">
            <a:avLst/>
          </a:prstGeom>
          <a:noFill/>
          <a:ln/>
        </p:spPr>
        <p:txBody>
          <a:bodyPr wrap="square" lIns="0" tIns="0" rIns="0" bIns="0" rtlCol="0" anchor="ctr"/>
          <a:lstStyle/>
          <a:p>
            <a:pPr marL="0" indent="0">
              <a:buNone/>
            </a:pPr>
            <a:r>
              <a:rPr lang="en-US" sz="1300" b="1" dirty="0">
                <a:solidFill>
                  <a:srgbClr val="5C82FF"/>
                </a:solidFill>
                <a:latin typeface="Arial" pitchFamily="34" charset="0"/>
                <a:ea typeface="Arial" pitchFamily="34" charset="-122"/>
                <a:cs typeface="Arial" pitchFamily="34" charset="-120"/>
              </a:rPr>
              <a:t>1</a:t>
            </a:r>
            <a:endParaRPr lang="en-US" sz="1300" dirty="0"/>
          </a:p>
        </p:txBody>
      </p:sp>
      <p:sp>
        <p:nvSpPr>
          <p:cNvPr id="13" name="Text 11"/>
          <p:cNvSpPr txBox="1"/>
          <p:nvPr/>
        </p:nvSpPr>
        <p:spPr>
          <a:xfrm>
            <a:off x="649224" y="3264408"/>
            <a:ext cx="3072384" cy="49377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One workspace, one purpose</a:t>
            </a:r>
            <a:endParaRPr lang="en-US" sz="1200" dirty="0"/>
          </a:p>
        </p:txBody>
      </p:sp>
      <p:sp>
        <p:nvSpPr>
          <p:cNvPr id="14" name="Shape 12"/>
          <p:cNvSpPr/>
          <p:nvPr/>
        </p:nvSpPr>
        <p:spPr>
          <a:xfrm>
            <a:off x="3995928" y="2880360"/>
            <a:ext cx="3364992" cy="914400"/>
          </a:xfrm>
          <a:prstGeom prst="roundRect">
            <a:avLst>
              <a:gd name="adj" fmla="val 7000"/>
            </a:avLst>
          </a:prstGeom>
          <a:solidFill>
            <a:srgbClr val="1A1A1A"/>
          </a:solidFill>
          <a:ln/>
        </p:spPr>
      </p:sp>
      <p:sp>
        <p:nvSpPr>
          <p:cNvPr id="15" name="Text 13"/>
          <p:cNvSpPr txBox="1"/>
          <p:nvPr/>
        </p:nvSpPr>
        <p:spPr>
          <a:xfrm>
            <a:off x="4142232" y="2971800"/>
            <a:ext cx="457200" cy="292608"/>
          </a:xfrm>
          <a:prstGeom prst="rect">
            <a:avLst/>
          </a:prstGeom>
          <a:noFill/>
          <a:ln/>
        </p:spPr>
        <p:txBody>
          <a:bodyPr wrap="square" lIns="0" tIns="0" rIns="0" bIns="0" rtlCol="0" anchor="ctr"/>
          <a:lstStyle/>
          <a:p>
            <a:pPr marL="0" indent="0">
              <a:buNone/>
            </a:pPr>
            <a:r>
              <a:rPr lang="en-US" sz="1300" b="1" dirty="0">
                <a:solidFill>
                  <a:srgbClr val="5C82FF"/>
                </a:solidFill>
                <a:latin typeface="Arial" pitchFamily="34" charset="0"/>
                <a:ea typeface="Arial" pitchFamily="34" charset="-122"/>
                <a:cs typeface="Arial" pitchFamily="34" charset="-120"/>
              </a:rPr>
              <a:t>2</a:t>
            </a:r>
            <a:endParaRPr lang="en-US" sz="1300" dirty="0"/>
          </a:p>
        </p:txBody>
      </p:sp>
      <p:sp>
        <p:nvSpPr>
          <p:cNvPr id="16" name="Text 14"/>
          <p:cNvSpPr txBox="1"/>
          <p:nvPr/>
        </p:nvSpPr>
        <p:spPr>
          <a:xfrm>
            <a:off x="4142232" y="3264408"/>
            <a:ext cx="3072384" cy="49377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Clear role</a:t>
            </a:r>
            <a:endParaRPr lang="en-US" sz="1200" dirty="0"/>
          </a:p>
        </p:txBody>
      </p:sp>
      <p:sp>
        <p:nvSpPr>
          <p:cNvPr id="17" name="Shape 15"/>
          <p:cNvSpPr/>
          <p:nvPr/>
        </p:nvSpPr>
        <p:spPr>
          <a:xfrm>
            <a:off x="7488936" y="2880360"/>
            <a:ext cx="3364992" cy="914400"/>
          </a:xfrm>
          <a:prstGeom prst="roundRect">
            <a:avLst>
              <a:gd name="adj" fmla="val 7000"/>
            </a:avLst>
          </a:prstGeom>
          <a:solidFill>
            <a:srgbClr val="1A1A1A"/>
          </a:solidFill>
          <a:ln/>
        </p:spPr>
      </p:sp>
      <p:sp>
        <p:nvSpPr>
          <p:cNvPr id="18" name="Text 16"/>
          <p:cNvSpPr txBox="1"/>
          <p:nvPr/>
        </p:nvSpPr>
        <p:spPr>
          <a:xfrm>
            <a:off x="7635240" y="2971800"/>
            <a:ext cx="457200" cy="292608"/>
          </a:xfrm>
          <a:prstGeom prst="rect">
            <a:avLst/>
          </a:prstGeom>
          <a:noFill/>
          <a:ln/>
        </p:spPr>
        <p:txBody>
          <a:bodyPr wrap="square" lIns="0" tIns="0" rIns="0" bIns="0" rtlCol="0" anchor="ctr"/>
          <a:lstStyle/>
          <a:p>
            <a:pPr marL="0" indent="0">
              <a:buNone/>
            </a:pPr>
            <a:r>
              <a:rPr lang="en-US" sz="1300" b="1" dirty="0">
                <a:solidFill>
                  <a:srgbClr val="5C82FF"/>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7635240" y="3264408"/>
            <a:ext cx="3072384" cy="49377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Stable background context</a:t>
            </a:r>
            <a:endParaRPr lang="en-US" sz="1200" dirty="0"/>
          </a:p>
        </p:txBody>
      </p:sp>
      <p:sp>
        <p:nvSpPr>
          <p:cNvPr id="20" name="Shape 18"/>
          <p:cNvSpPr/>
          <p:nvPr/>
        </p:nvSpPr>
        <p:spPr>
          <a:xfrm>
            <a:off x="502920" y="3904488"/>
            <a:ext cx="3364992" cy="914400"/>
          </a:xfrm>
          <a:prstGeom prst="roundRect">
            <a:avLst>
              <a:gd name="adj" fmla="val 7000"/>
            </a:avLst>
          </a:prstGeom>
          <a:solidFill>
            <a:srgbClr val="1A1A1A"/>
          </a:solidFill>
          <a:ln/>
        </p:spPr>
      </p:sp>
      <p:sp>
        <p:nvSpPr>
          <p:cNvPr id="21" name="Text 19"/>
          <p:cNvSpPr txBox="1"/>
          <p:nvPr/>
        </p:nvSpPr>
        <p:spPr>
          <a:xfrm>
            <a:off x="649224" y="3995928"/>
            <a:ext cx="457200" cy="292608"/>
          </a:xfrm>
          <a:prstGeom prst="rect">
            <a:avLst/>
          </a:prstGeom>
          <a:noFill/>
          <a:ln/>
        </p:spPr>
        <p:txBody>
          <a:bodyPr wrap="square" lIns="0" tIns="0" rIns="0" bIns="0" rtlCol="0" anchor="ctr"/>
          <a:lstStyle/>
          <a:p>
            <a:pPr marL="0" indent="0">
              <a:buNone/>
            </a:pPr>
            <a:r>
              <a:rPr lang="en-US" sz="1300" b="1" dirty="0">
                <a:solidFill>
                  <a:srgbClr val="5C82FF"/>
                </a:solidFill>
                <a:latin typeface="Arial" pitchFamily="34" charset="0"/>
                <a:ea typeface="Arial" pitchFamily="34" charset="-122"/>
                <a:cs typeface="Arial" pitchFamily="34" charset="-120"/>
              </a:rPr>
              <a:t>4</a:t>
            </a:r>
            <a:endParaRPr lang="en-US" sz="1300" dirty="0"/>
          </a:p>
        </p:txBody>
      </p:sp>
      <p:sp>
        <p:nvSpPr>
          <p:cNvPr id="22" name="Text 20"/>
          <p:cNvSpPr txBox="1"/>
          <p:nvPr/>
        </p:nvSpPr>
        <p:spPr>
          <a:xfrm>
            <a:off x="649224" y="4288536"/>
            <a:ext cx="3072384" cy="49377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Reusable instructions</a:t>
            </a:r>
            <a:endParaRPr lang="en-US" sz="1200" dirty="0"/>
          </a:p>
        </p:txBody>
      </p:sp>
      <p:sp>
        <p:nvSpPr>
          <p:cNvPr id="23" name="Shape 21"/>
          <p:cNvSpPr/>
          <p:nvPr/>
        </p:nvSpPr>
        <p:spPr>
          <a:xfrm>
            <a:off x="3995928" y="3904488"/>
            <a:ext cx="3364992" cy="914400"/>
          </a:xfrm>
          <a:prstGeom prst="roundRect">
            <a:avLst>
              <a:gd name="adj" fmla="val 7000"/>
            </a:avLst>
          </a:prstGeom>
          <a:solidFill>
            <a:srgbClr val="1A1A1A"/>
          </a:solidFill>
          <a:ln/>
        </p:spPr>
      </p:sp>
      <p:sp>
        <p:nvSpPr>
          <p:cNvPr id="24" name="Text 22"/>
          <p:cNvSpPr txBox="1"/>
          <p:nvPr/>
        </p:nvSpPr>
        <p:spPr>
          <a:xfrm>
            <a:off x="4142232" y="3995928"/>
            <a:ext cx="457200" cy="292608"/>
          </a:xfrm>
          <a:prstGeom prst="rect">
            <a:avLst/>
          </a:prstGeom>
          <a:noFill/>
          <a:ln/>
        </p:spPr>
        <p:txBody>
          <a:bodyPr wrap="square" lIns="0" tIns="0" rIns="0" bIns="0" rtlCol="0" anchor="ctr"/>
          <a:lstStyle/>
          <a:p>
            <a:pPr marL="0" indent="0">
              <a:buNone/>
            </a:pPr>
            <a:r>
              <a:rPr lang="en-US" sz="1300" b="1" dirty="0">
                <a:solidFill>
                  <a:srgbClr val="5C82FF"/>
                </a:solidFill>
                <a:latin typeface="Arial" pitchFamily="34" charset="0"/>
                <a:ea typeface="Arial" pitchFamily="34" charset="-122"/>
                <a:cs typeface="Arial" pitchFamily="34" charset="-120"/>
              </a:rPr>
              <a:t>5</a:t>
            </a:r>
            <a:endParaRPr lang="en-US" sz="1300" dirty="0"/>
          </a:p>
        </p:txBody>
      </p:sp>
      <p:sp>
        <p:nvSpPr>
          <p:cNvPr id="25" name="Text 23"/>
          <p:cNvSpPr txBox="1"/>
          <p:nvPr/>
        </p:nvSpPr>
        <p:spPr>
          <a:xfrm>
            <a:off x="4142232" y="4288536"/>
            <a:ext cx="3072384" cy="49377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Repeated output format</a:t>
            </a:r>
            <a:endParaRPr lang="en-US" sz="1200" dirty="0"/>
          </a:p>
        </p:txBody>
      </p:sp>
      <p:sp>
        <p:nvSpPr>
          <p:cNvPr id="26" name="Shape 24"/>
          <p:cNvSpPr/>
          <p:nvPr/>
        </p:nvSpPr>
        <p:spPr>
          <a:xfrm>
            <a:off x="7488936" y="3904488"/>
            <a:ext cx="3364992" cy="914400"/>
          </a:xfrm>
          <a:prstGeom prst="roundRect">
            <a:avLst>
              <a:gd name="adj" fmla="val 7000"/>
            </a:avLst>
          </a:prstGeom>
          <a:solidFill>
            <a:srgbClr val="1E4FFF"/>
          </a:solidFill>
          <a:ln/>
        </p:spPr>
      </p:sp>
      <p:sp>
        <p:nvSpPr>
          <p:cNvPr id="27" name="Text 25"/>
          <p:cNvSpPr txBox="1"/>
          <p:nvPr/>
        </p:nvSpPr>
        <p:spPr>
          <a:xfrm>
            <a:off x="7635240" y="3995928"/>
            <a:ext cx="457200" cy="29260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28" name="Text 26"/>
          <p:cNvSpPr txBox="1"/>
          <p:nvPr/>
        </p:nvSpPr>
        <p:spPr>
          <a:xfrm>
            <a:off x="7635240" y="4288536"/>
            <a:ext cx="3072384" cy="49377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Human approval point</a:t>
            </a:r>
            <a:endParaRPr lang="en-US" sz="1200" dirty="0"/>
          </a:p>
        </p:txBody>
      </p:sp>
      <p:sp>
        <p:nvSpPr>
          <p:cNvPr id="29" name="Text 27"/>
          <p:cNvSpPr txBox="1"/>
          <p:nvPr/>
        </p:nvSpPr>
        <p:spPr>
          <a:xfrm>
            <a:off x="502920" y="4956048"/>
            <a:ext cx="5029200" cy="1371600"/>
          </a:xfrm>
          <a:prstGeom prst="rect">
            <a:avLst/>
          </a:prstGeom>
          <a:noFill/>
          <a:ln/>
        </p:spPr>
        <p:txBody>
          <a:bodyPr wrap="square" lIns="0" tIns="0" rIns="0" bIns="0" rtlCol="0" anchor="t"/>
          <a:lstStyle/>
          <a:p>
            <a:pPr marL="0" indent="0">
              <a:buNone/>
            </a:pPr>
            <a:r>
              <a:rPr lang="en-US" sz="1150" dirty="0">
                <a:solidFill>
                  <a:srgbClr val="6E6A60"/>
                </a:solidFill>
                <a:latin typeface="Arial" pitchFamily="34" charset="0"/>
                <a:ea typeface="Arial" pitchFamily="34" charset="-122"/>
                <a:cs typeface="Arial" pitchFamily="34" charset="-120"/>
              </a:rPr>
              <a:t>A Project, thread, workspace, or document can help — but AI can still misunderstand, lose context, invent information, or overgeneralize. It does not become your brain. A person still checks important facts and decisions.</a:t>
            </a:r>
            <a:endParaRPr lang="en-US" sz="1150" dirty="0"/>
          </a:p>
        </p:txBody>
      </p:sp>
      <p:sp>
        <p:nvSpPr>
          <p:cNvPr id="30" name="Shape 28"/>
          <p:cNvSpPr/>
          <p:nvPr/>
        </p:nvSpPr>
        <p:spPr>
          <a:xfrm>
            <a:off x="5806440" y="4956048"/>
            <a:ext cx="4983480" cy="1371600"/>
          </a:xfrm>
          <a:prstGeom prst="roundRect">
            <a:avLst>
              <a:gd name="adj" fmla="val 4667"/>
            </a:avLst>
          </a:prstGeom>
          <a:solidFill>
            <a:srgbClr val="EDE9DE"/>
          </a:solidFill>
          <a:ln/>
        </p:spPr>
      </p:sp>
      <p:sp>
        <p:nvSpPr>
          <p:cNvPr id="31" name="Text 29"/>
          <p:cNvSpPr txBox="1"/>
          <p:nvPr/>
        </p:nvSpPr>
        <p:spPr>
          <a:xfrm>
            <a:off x="5989320" y="5029200"/>
            <a:ext cx="4617720" cy="274320"/>
          </a:xfrm>
          <a:prstGeom prst="rect">
            <a:avLst/>
          </a:prstGeom>
          <a:noFill/>
          <a:ln/>
        </p:spPr>
        <p:txBody>
          <a:bodyPr wrap="square" lIns="0" tIns="0" rIns="0" bIns="0" rtlCol="0" anchor="ctr"/>
          <a:lstStyle/>
          <a:p>
            <a:pPr marL="0" indent="0">
              <a:buNone/>
            </a:pPr>
            <a:r>
              <a:rPr lang="en-US" sz="1150" b="1" dirty="0">
                <a:solidFill>
                  <a:srgbClr val="1A1A1A"/>
                </a:solidFill>
                <a:latin typeface="Arial" pitchFamily="34" charset="0"/>
                <a:ea typeface="Arial" pitchFamily="34" charset="-122"/>
                <a:cs typeface="Arial" pitchFamily="34" charset="-120"/>
              </a:rPr>
              <a:t>Start a new workspace when:</a:t>
            </a:r>
            <a:endParaRPr lang="en-US" sz="1150" dirty="0"/>
          </a:p>
        </p:txBody>
      </p:sp>
      <p:sp>
        <p:nvSpPr>
          <p:cNvPr id="32" name="Text 30"/>
          <p:cNvSpPr txBox="1"/>
          <p:nvPr/>
        </p:nvSpPr>
        <p:spPr>
          <a:xfrm>
            <a:off x="5989320" y="5321808"/>
            <a:ext cx="4617720" cy="896112"/>
          </a:xfrm>
          <a:prstGeom prst="rect">
            <a:avLst/>
          </a:prstGeom>
          <a:noFill/>
          <a:ln/>
        </p:spPr>
        <p:txBody>
          <a:bodyPr wrap="square" lIns="0" tIns="0" rIns="0" bIns="0" rtlCol="0" anchor="ctr"/>
          <a:lstStyle/>
          <a:p>
            <a:pPr marL="0" indent="0">
              <a:lnSpc>
                <a:spcPct val="135000"/>
              </a:lnSpc>
              <a:buNone/>
            </a:pPr>
            <a:r>
              <a:rPr lang="en-US" sz="1030" dirty="0">
                <a:solidFill>
                  <a:srgbClr val="3E3B34"/>
                </a:solidFill>
                <a:latin typeface="Arial" pitchFamily="34" charset="0"/>
                <a:ea typeface="Arial" pitchFamily="34" charset="-122"/>
                <a:cs typeface="Arial" pitchFamily="34" charset="-120"/>
              </a:rPr>
              <a:t>different project, client, audience, or data sensitivity  ·  different objective or conflicting instructions  ·  different writing style or output format</a:t>
            </a:r>
            <a:endParaRPr lang="en-US" sz="103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2">
    <p:bg>
      <p:bgPr>
        <a:solidFill>
          <a:srgbClr val="F7F4EC"/>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6E6A60"/>
                </a:solidFill>
                <a:latin typeface="Arial" pitchFamily="34" charset="0"/>
                <a:ea typeface="Arial" pitchFamily="34" charset="-122"/>
                <a:cs typeface="Arial" pitchFamily="34" charset="-120"/>
              </a:rPr>
              <a:t>CLASS 1 · AI AS A BUSINESS TOOL</a:t>
            </a:r>
            <a:endParaRPr lang="en-US" sz="1050" dirty="0"/>
          </a:p>
        </p:txBody>
      </p:sp>
      <p:sp>
        <p:nvSpPr>
          <p:cNvPr id="3" name="Shape 1"/>
          <p:cNvSpPr/>
          <p:nvPr/>
        </p:nvSpPr>
        <p:spPr>
          <a:xfrm>
            <a:off x="10561320" y="256032"/>
            <a:ext cx="1170432" cy="384048"/>
          </a:xfrm>
          <a:prstGeom prst="roundRect">
            <a:avLst>
              <a:gd name="adj" fmla="val 19048"/>
            </a:avLst>
          </a:prstGeom>
          <a:solidFill>
            <a:srgbClr val="1E4FFF"/>
          </a:solidFill>
          <a:ln/>
        </p:spPr>
      </p:sp>
      <p:sp>
        <p:nvSpPr>
          <p:cNvPr id="4" name="Text 2"/>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55–60</a:t>
            </a:r>
            <a:endParaRPr lang="en-US" sz="1300" dirty="0"/>
          </a:p>
        </p:txBody>
      </p:sp>
      <p:sp>
        <p:nvSpPr>
          <p:cNvPr id="5" name="Shape 3"/>
          <p:cNvSpPr/>
          <p:nvPr/>
        </p:nvSpPr>
        <p:spPr>
          <a:xfrm>
            <a:off x="502920" y="6446520"/>
            <a:ext cx="11183112" cy="0"/>
          </a:xfrm>
          <a:prstGeom prst="line">
            <a:avLst/>
          </a:prstGeom>
          <a:noFill/>
          <a:ln w="9525">
            <a:solidFill>
              <a:srgbClr val="D8D3C5"/>
            </a:solidFill>
            <a:prstDash val="solid"/>
          </a:ln>
        </p:spPr>
      </p:sp>
      <p:sp>
        <p:nvSpPr>
          <p:cNvPr id="6" name="Text 4"/>
          <p:cNvSpPr txBox="1"/>
          <p:nvPr/>
        </p:nvSpPr>
        <p:spPr>
          <a:xfrm>
            <a:off x="502920" y="6492240"/>
            <a:ext cx="7315200" cy="274320"/>
          </a:xfrm>
          <a:prstGeom prst="rect">
            <a:avLst/>
          </a:prstGeom>
          <a:noFill/>
          <a:ln/>
        </p:spPr>
        <p:txBody>
          <a:bodyPr wrap="square" lIns="0" tIns="0" rIns="0" bIns="0" rtlCol="0" anchor="ctr"/>
          <a:lstStyle/>
          <a:p>
            <a:pPr marL="0" indent="0">
              <a:buNone/>
            </a:pPr>
            <a:r>
              <a:rPr lang="en-US" sz="900" kern="0" spc="100" dirty="0">
                <a:solidFill>
                  <a:srgbClr val="6E6A60"/>
                </a:solidFill>
                <a:latin typeface="Arial" pitchFamily="34" charset="0"/>
                <a:ea typeface="Arial" pitchFamily="34" charset="-122"/>
                <a:cs typeface="Arial" pitchFamily="34" charset="-120"/>
              </a:rPr>
              <a:t>MEGHNA OFFICE SUPPLIES WORKSHOP  ·  IUT DHAKA</a:t>
            </a:r>
            <a:endParaRPr lang="en-US" sz="900" dirty="0"/>
          </a:p>
        </p:txBody>
      </p:sp>
      <p:sp>
        <p:nvSpPr>
          <p:cNvPr id="7" name="Text 5"/>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12</a:t>
            </a:r>
            <a:endParaRPr lang="en-US" sz="900" dirty="0"/>
          </a:p>
        </p:txBody>
      </p:sp>
      <p:sp>
        <p:nvSpPr>
          <p:cNvPr id="8" name="Text 6"/>
          <p:cNvSpPr txBox="1"/>
          <p:nvPr/>
        </p:nvSpPr>
        <p:spPr>
          <a:xfrm>
            <a:off x="502920" y="713232"/>
            <a:ext cx="10607040" cy="868680"/>
          </a:xfrm>
          <a:prstGeom prst="rect">
            <a:avLst/>
          </a:prstGeom>
          <a:noFill/>
          <a:ln/>
        </p:spPr>
        <p:txBody>
          <a:bodyPr wrap="square" lIns="0" tIns="0" rIns="0" bIns="0" rtlCol="0" anchor="ctr"/>
          <a:lstStyle/>
          <a:p>
            <a:pPr marL="0" indent="0">
              <a:lnSpc>
                <a:spcPct val="102000"/>
              </a:lnSpc>
              <a:buNone/>
            </a:pPr>
            <a:r>
              <a:rPr lang="en-US" sz="3400" b="1" dirty="0">
                <a:solidFill>
                  <a:srgbClr val="1A1A1A"/>
                </a:solidFill>
                <a:latin typeface="Arial" pitchFamily="34" charset="0"/>
                <a:ea typeface="Arial" pitchFamily="34" charset="-122"/>
                <a:cs typeface="Arial" pitchFamily="34" charset="-120"/>
              </a:rPr>
              <a:t>Your Weekly Sales Analyst</a:t>
            </a:r>
            <a:endParaRPr lang="en-US" sz="3400" dirty="0"/>
          </a:p>
        </p:txBody>
      </p:sp>
      <p:sp>
        <p:nvSpPr>
          <p:cNvPr id="9" name="Text 7"/>
          <p:cNvSpPr txBox="1"/>
          <p:nvPr/>
        </p:nvSpPr>
        <p:spPr>
          <a:xfrm>
            <a:off x="502920" y="1536192"/>
            <a:ext cx="8229600" cy="320040"/>
          </a:xfrm>
          <a:prstGeom prst="rect">
            <a:avLst/>
          </a:prstGeom>
          <a:noFill/>
          <a:ln/>
        </p:spPr>
        <p:txBody>
          <a:bodyPr wrap="square" lIns="0" tIns="0" rIns="0" bIns="0" rtlCol="0" anchor="ctr"/>
          <a:lstStyle/>
          <a:p>
            <a:pPr marL="0" indent="0">
              <a:buNone/>
            </a:pPr>
            <a:r>
              <a:rPr lang="en-US" sz="1350" i="1" dirty="0">
                <a:solidFill>
                  <a:srgbClr val="6E6A60"/>
                </a:solidFill>
                <a:latin typeface="Arial" pitchFamily="34" charset="0"/>
                <a:ea typeface="Arial" pitchFamily="34" charset="-122"/>
                <a:cs typeface="Arial" pitchFamily="34" charset="-120"/>
              </a:rPr>
              <a:t>A worked example of one workspace, one purpose.</a:t>
            </a:r>
            <a:endParaRPr lang="en-US" sz="1350" dirty="0"/>
          </a:p>
        </p:txBody>
      </p:sp>
      <p:sp>
        <p:nvSpPr>
          <p:cNvPr id="10" name="Shape 8"/>
          <p:cNvSpPr/>
          <p:nvPr/>
        </p:nvSpPr>
        <p:spPr>
          <a:xfrm>
            <a:off x="502920" y="2011680"/>
            <a:ext cx="10287000" cy="621792"/>
          </a:xfrm>
          <a:prstGeom prst="roundRect">
            <a:avLst>
              <a:gd name="adj" fmla="val 7353"/>
            </a:avLst>
          </a:prstGeom>
          <a:solidFill>
            <a:srgbClr val="EDE9DE"/>
          </a:solidFill>
          <a:ln/>
        </p:spPr>
      </p:sp>
      <p:sp>
        <p:nvSpPr>
          <p:cNvPr id="11" name="Text 9"/>
          <p:cNvSpPr txBox="1"/>
          <p:nvPr/>
        </p:nvSpPr>
        <p:spPr>
          <a:xfrm>
            <a:off x="731520" y="2011680"/>
            <a:ext cx="2194560" cy="621792"/>
          </a:xfrm>
          <a:prstGeom prst="rect">
            <a:avLst/>
          </a:prstGeom>
          <a:noFill/>
          <a:ln/>
        </p:spPr>
        <p:txBody>
          <a:bodyPr wrap="square" lIns="0" tIns="0" rIns="0" bIns="0" rtlCol="0" anchor="ctr"/>
          <a:lstStyle/>
          <a:p>
            <a:pPr marL="0" indent="0">
              <a:buNone/>
            </a:pPr>
            <a:r>
              <a:rPr lang="en-US" sz="1300" b="1" dirty="0">
                <a:solidFill>
                  <a:srgbClr val="1E4FFF"/>
                </a:solidFill>
                <a:latin typeface="Arial" pitchFamily="34" charset="0"/>
                <a:ea typeface="Arial" pitchFamily="34" charset="-122"/>
                <a:cs typeface="Arial" pitchFamily="34" charset="-120"/>
              </a:rPr>
              <a:t>Purpose</a:t>
            </a:r>
            <a:endParaRPr lang="en-US" sz="1300" dirty="0"/>
          </a:p>
        </p:txBody>
      </p:sp>
      <p:sp>
        <p:nvSpPr>
          <p:cNvPr id="12" name="Text 10"/>
          <p:cNvSpPr txBox="1"/>
          <p:nvPr/>
        </p:nvSpPr>
        <p:spPr>
          <a:xfrm>
            <a:off x="3063240" y="2011680"/>
            <a:ext cx="7589520" cy="621792"/>
          </a:xfrm>
          <a:prstGeom prst="rect">
            <a:avLst/>
          </a:prstGeom>
          <a:noFill/>
          <a:ln/>
        </p:spPr>
        <p:txBody>
          <a:bodyPr wrap="square" lIns="0" tIns="0" rIns="0" bIns="0" rtlCol="0" anchor="ctr"/>
          <a:lstStyle/>
          <a:p>
            <a:pPr marL="0" indent="0">
              <a:buNone/>
            </a:pPr>
            <a:r>
              <a:rPr lang="en-US" sz="1250" dirty="0">
                <a:solidFill>
                  <a:srgbClr val="1A1A1A"/>
                </a:solidFill>
                <a:latin typeface="Arial" pitchFamily="34" charset="0"/>
                <a:ea typeface="Arial" pitchFamily="34" charset="-122"/>
                <a:cs typeface="Arial" pitchFamily="34" charset="-120"/>
              </a:rPr>
              <a:t>Produce a checked weekly sales update</a:t>
            </a:r>
            <a:endParaRPr lang="en-US" sz="1250" dirty="0"/>
          </a:p>
        </p:txBody>
      </p:sp>
      <p:sp>
        <p:nvSpPr>
          <p:cNvPr id="13" name="Shape 11"/>
          <p:cNvSpPr/>
          <p:nvPr/>
        </p:nvSpPr>
        <p:spPr>
          <a:xfrm>
            <a:off x="502920" y="2706624"/>
            <a:ext cx="10287000" cy="621792"/>
          </a:xfrm>
          <a:prstGeom prst="roundRect">
            <a:avLst>
              <a:gd name="adj" fmla="val 7353"/>
            </a:avLst>
          </a:prstGeom>
          <a:solidFill>
            <a:srgbClr val="F7F4EC"/>
          </a:solidFill>
          <a:ln/>
        </p:spPr>
      </p:sp>
      <p:sp>
        <p:nvSpPr>
          <p:cNvPr id="14" name="Text 12"/>
          <p:cNvSpPr txBox="1"/>
          <p:nvPr/>
        </p:nvSpPr>
        <p:spPr>
          <a:xfrm>
            <a:off x="731520" y="2706624"/>
            <a:ext cx="2194560" cy="621792"/>
          </a:xfrm>
          <a:prstGeom prst="rect">
            <a:avLst/>
          </a:prstGeom>
          <a:noFill/>
          <a:ln/>
        </p:spPr>
        <p:txBody>
          <a:bodyPr wrap="square" lIns="0" tIns="0" rIns="0" bIns="0" rtlCol="0" anchor="ctr"/>
          <a:lstStyle/>
          <a:p>
            <a:pPr marL="0" indent="0">
              <a:buNone/>
            </a:pPr>
            <a:r>
              <a:rPr lang="en-US" sz="1300" b="1" dirty="0">
                <a:solidFill>
                  <a:srgbClr val="1E4FFF"/>
                </a:solidFill>
                <a:latin typeface="Arial" pitchFamily="34" charset="0"/>
                <a:ea typeface="Arial" pitchFamily="34" charset="-122"/>
                <a:cs typeface="Arial" pitchFamily="34" charset="-120"/>
              </a:rPr>
              <a:t>Background</a:t>
            </a:r>
            <a:endParaRPr lang="en-US" sz="1300" dirty="0"/>
          </a:p>
        </p:txBody>
      </p:sp>
      <p:sp>
        <p:nvSpPr>
          <p:cNvPr id="15" name="Text 13"/>
          <p:cNvSpPr txBox="1"/>
          <p:nvPr/>
        </p:nvSpPr>
        <p:spPr>
          <a:xfrm>
            <a:off x="3063240" y="2706624"/>
            <a:ext cx="7589520" cy="621792"/>
          </a:xfrm>
          <a:prstGeom prst="rect">
            <a:avLst/>
          </a:prstGeom>
          <a:noFill/>
          <a:ln/>
        </p:spPr>
        <p:txBody>
          <a:bodyPr wrap="square" lIns="0" tIns="0" rIns="0" bIns="0" rtlCol="0" anchor="ctr"/>
          <a:lstStyle/>
          <a:p>
            <a:pPr marL="0" indent="0">
              <a:buNone/>
            </a:pPr>
            <a:r>
              <a:rPr lang="en-US" sz="1250" dirty="0">
                <a:solidFill>
                  <a:srgbClr val="1A1A1A"/>
                </a:solidFill>
                <a:latin typeface="Arial" pitchFamily="34" charset="0"/>
                <a:ea typeface="Arial" pitchFamily="34" charset="-122"/>
                <a:cs typeface="Arial" pitchFamily="34" charset="-120"/>
              </a:rPr>
              <a:t>Fictional office-supplies business; currency BDT; completed orders count toward target</a:t>
            </a:r>
            <a:endParaRPr lang="en-US" sz="1250" dirty="0"/>
          </a:p>
        </p:txBody>
      </p:sp>
      <p:sp>
        <p:nvSpPr>
          <p:cNvPr id="16" name="Shape 14"/>
          <p:cNvSpPr/>
          <p:nvPr/>
        </p:nvSpPr>
        <p:spPr>
          <a:xfrm>
            <a:off x="502920" y="3401568"/>
            <a:ext cx="10287000" cy="621792"/>
          </a:xfrm>
          <a:prstGeom prst="roundRect">
            <a:avLst>
              <a:gd name="adj" fmla="val 7353"/>
            </a:avLst>
          </a:prstGeom>
          <a:solidFill>
            <a:srgbClr val="EDE9DE"/>
          </a:solidFill>
          <a:ln/>
        </p:spPr>
      </p:sp>
      <p:sp>
        <p:nvSpPr>
          <p:cNvPr id="17" name="Text 15"/>
          <p:cNvSpPr txBox="1"/>
          <p:nvPr/>
        </p:nvSpPr>
        <p:spPr>
          <a:xfrm>
            <a:off x="731520" y="3401568"/>
            <a:ext cx="2194560" cy="621792"/>
          </a:xfrm>
          <a:prstGeom prst="rect">
            <a:avLst/>
          </a:prstGeom>
          <a:noFill/>
          <a:ln/>
        </p:spPr>
        <p:txBody>
          <a:bodyPr wrap="square" lIns="0" tIns="0" rIns="0" bIns="0" rtlCol="0" anchor="ctr"/>
          <a:lstStyle/>
          <a:p>
            <a:pPr marL="0" indent="0">
              <a:buNone/>
            </a:pPr>
            <a:r>
              <a:rPr lang="en-US" sz="1300" b="1" dirty="0">
                <a:solidFill>
                  <a:srgbClr val="1E4FFF"/>
                </a:solidFill>
                <a:latin typeface="Arial" pitchFamily="34" charset="0"/>
                <a:ea typeface="Arial" pitchFamily="34" charset="-122"/>
                <a:cs typeface="Arial" pitchFamily="34" charset="-120"/>
              </a:rPr>
              <a:t>Required output</a:t>
            </a:r>
            <a:endParaRPr lang="en-US" sz="1300" dirty="0"/>
          </a:p>
        </p:txBody>
      </p:sp>
      <p:sp>
        <p:nvSpPr>
          <p:cNvPr id="18" name="Text 16"/>
          <p:cNvSpPr txBox="1"/>
          <p:nvPr/>
        </p:nvSpPr>
        <p:spPr>
          <a:xfrm>
            <a:off x="3063240" y="3401568"/>
            <a:ext cx="7589520" cy="621792"/>
          </a:xfrm>
          <a:prstGeom prst="rect">
            <a:avLst/>
          </a:prstGeom>
          <a:noFill/>
          <a:ln/>
        </p:spPr>
        <p:txBody>
          <a:bodyPr wrap="square" lIns="0" tIns="0" rIns="0" bIns="0" rtlCol="0" anchor="ctr"/>
          <a:lstStyle/>
          <a:p>
            <a:pPr marL="0" indent="0">
              <a:buNone/>
            </a:pPr>
            <a:r>
              <a:rPr lang="en-US" sz="1250" dirty="0">
                <a:solidFill>
                  <a:srgbClr val="1A1A1A"/>
                </a:solidFill>
                <a:latin typeface="Arial" pitchFamily="34" charset="0"/>
                <a:ea typeface="Arial" pitchFamily="34" charset="-122"/>
                <a:cs typeface="Arial" pitchFamily="34" charset="-120"/>
              </a:rPr>
              <a:t>Five metrics, a 100-word update, missing information, proposed next steps</a:t>
            </a:r>
            <a:endParaRPr lang="en-US" sz="1250" dirty="0"/>
          </a:p>
        </p:txBody>
      </p:sp>
      <p:sp>
        <p:nvSpPr>
          <p:cNvPr id="19" name="Shape 17"/>
          <p:cNvSpPr/>
          <p:nvPr/>
        </p:nvSpPr>
        <p:spPr>
          <a:xfrm>
            <a:off x="502920" y="4096512"/>
            <a:ext cx="10287000" cy="621792"/>
          </a:xfrm>
          <a:prstGeom prst="roundRect">
            <a:avLst>
              <a:gd name="adj" fmla="val 7353"/>
            </a:avLst>
          </a:prstGeom>
          <a:solidFill>
            <a:srgbClr val="F7F4EC"/>
          </a:solidFill>
          <a:ln/>
        </p:spPr>
      </p:sp>
      <p:sp>
        <p:nvSpPr>
          <p:cNvPr id="20" name="Text 18"/>
          <p:cNvSpPr txBox="1"/>
          <p:nvPr/>
        </p:nvSpPr>
        <p:spPr>
          <a:xfrm>
            <a:off x="731520" y="4096512"/>
            <a:ext cx="2194560" cy="621792"/>
          </a:xfrm>
          <a:prstGeom prst="rect">
            <a:avLst/>
          </a:prstGeom>
          <a:noFill/>
          <a:ln/>
        </p:spPr>
        <p:txBody>
          <a:bodyPr wrap="square" lIns="0" tIns="0" rIns="0" bIns="0" rtlCol="0" anchor="ctr"/>
          <a:lstStyle/>
          <a:p>
            <a:pPr marL="0" indent="0">
              <a:buNone/>
            </a:pPr>
            <a:r>
              <a:rPr lang="en-US" sz="1300" b="1" dirty="0">
                <a:solidFill>
                  <a:srgbClr val="1E4FFF"/>
                </a:solidFill>
                <a:latin typeface="Arial" pitchFamily="34" charset="0"/>
                <a:ea typeface="Arial" pitchFamily="34" charset="-122"/>
                <a:cs typeface="Arial" pitchFamily="34" charset="-120"/>
              </a:rPr>
              <a:t>Rules</a:t>
            </a:r>
            <a:endParaRPr lang="en-US" sz="1300" dirty="0"/>
          </a:p>
        </p:txBody>
      </p:sp>
      <p:sp>
        <p:nvSpPr>
          <p:cNvPr id="21" name="Text 19"/>
          <p:cNvSpPr txBox="1"/>
          <p:nvPr/>
        </p:nvSpPr>
        <p:spPr>
          <a:xfrm>
            <a:off x="3063240" y="4096512"/>
            <a:ext cx="7589520" cy="621792"/>
          </a:xfrm>
          <a:prstGeom prst="rect">
            <a:avLst/>
          </a:prstGeom>
          <a:noFill/>
          <a:ln/>
        </p:spPr>
        <p:txBody>
          <a:bodyPr wrap="square" lIns="0" tIns="0" rIns="0" bIns="0" rtlCol="0" anchor="ctr"/>
          <a:lstStyle/>
          <a:p>
            <a:pPr marL="0" indent="0">
              <a:buNone/>
            </a:pPr>
            <a:r>
              <a:rPr lang="en-US" sz="1250" dirty="0">
                <a:solidFill>
                  <a:srgbClr val="1A1A1A"/>
                </a:solidFill>
                <a:latin typeface="Arial" pitchFamily="34" charset="0"/>
                <a:ea typeface="Arial" pitchFamily="34" charset="-122"/>
                <a:cs typeface="Arial" pitchFamily="34" charset="-120"/>
              </a:rPr>
              <a:t>Use supplied data only. Exclude pending &amp; cancelled orders. Never invent causes, profit, or forecasts</a:t>
            </a:r>
            <a:endParaRPr lang="en-US" sz="1250" dirty="0"/>
          </a:p>
        </p:txBody>
      </p:sp>
      <p:sp>
        <p:nvSpPr>
          <p:cNvPr id="22" name="Shape 20"/>
          <p:cNvSpPr/>
          <p:nvPr/>
        </p:nvSpPr>
        <p:spPr>
          <a:xfrm>
            <a:off x="502920" y="4791456"/>
            <a:ext cx="10287000" cy="621792"/>
          </a:xfrm>
          <a:prstGeom prst="roundRect">
            <a:avLst>
              <a:gd name="adj" fmla="val 7353"/>
            </a:avLst>
          </a:prstGeom>
          <a:solidFill>
            <a:srgbClr val="EDE9DE"/>
          </a:solidFill>
          <a:ln/>
        </p:spPr>
      </p:sp>
      <p:sp>
        <p:nvSpPr>
          <p:cNvPr id="23" name="Text 21"/>
          <p:cNvSpPr txBox="1"/>
          <p:nvPr/>
        </p:nvSpPr>
        <p:spPr>
          <a:xfrm>
            <a:off x="731520" y="4791456"/>
            <a:ext cx="2194560" cy="621792"/>
          </a:xfrm>
          <a:prstGeom prst="rect">
            <a:avLst/>
          </a:prstGeom>
          <a:noFill/>
          <a:ln/>
        </p:spPr>
        <p:txBody>
          <a:bodyPr wrap="square" lIns="0" tIns="0" rIns="0" bIns="0" rtlCol="0" anchor="ctr"/>
          <a:lstStyle/>
          <a:p>
            <a:pPr marL="0" indent="0">
              <a:buNone/>
            </a:pPr>
            <a:r>
              <a:rPr lang="en-US" sz="1300" b="1" dirty="0">
                <a:solidFill>
                  <a:srgbClr val="1E4FFF"/>
                </a:solidFill>
                <a:latin typeface="Arial" pitchFamily="34" charset="0"/>
                <a:ea typeface="Arial" pitchFamily="34" charset="-122"/>
                <a:cs typeface="Arial" pitchFamily="34" charset="-120"/>
              </a:rPr>
              <a:t>Checking method</a:t>
            </a:r>
            <a:endParaRPr lang="en-US" sz="1300" dirty="0"/>
          </a:p>
        </p:txBody>
      </p:sp>
      <p:sp>
        <p:nvSpPr>
          <p:cNvPr id="24" name="Text 22"/>
          <p:cNvSpPr txBox="1"/>
          <p:nvPr/>
        </p:nvSpPr>
        <p:spPr>
          <a:xfrm>
            <a:off x="3063240" y="4791456"/>
            <a:ext cx="7589520" cy="621792"/>
          </a:xfrm>
          <a:prstGeom prst="rect">
            <a:avLst/>
          </a:prstGeom>
          <a:noFill/>
          <a:ln/>
        </p:spPr>
        <p:txBody>
          <a:bodyPr wrap="square" lIns="0" tIns="0" rIns="0" bIns="0" rtlCol="0" anchor="ctr"/>
          <a:lstStyle/>
          <a:p>
            <a:pPr marL="0" indent="0">
              <a:buNone/>
            </a:pPr>
            <a:r>
              <a:rPr lang="en-US" sz="1250" dirty="0">
                <a:solidFill>
                  <a:srgbClr val="1A1A1A"/>
                </a:solidFill>
                <a:latin typeface="Arial" pitchFamily="34" charset="0"/>
                <a:ea typeface="Arial" pitchFamily="34" charset="-122"/>
                <a:cs typeface="Arial" pitchFamily="34" charset="-120"/>
              </a:rPr>
              <a:t>Recalculate totals and percentages; inspect row inclusion and reporting period</a:t>
            </a:r>
            <a:endParaRPr lang="en-US" sz="1250" dirty="0"/>
          </a:p>
        </p:txBody>
      </p:sp>
      <p:sp>
        <p:nvSpPr>
          <p:cNvPr id="25" name="Shape 23"/>
          <p:cNvSpPr/>
          <p:nvPr/>
        </p:nvSpPr>
        <p:spPr>
          <a:xfrm>
            <a:off x="502920" y="5486400"/>
            <a:ext cx="10287000" cy="621792"/>
          </a:xfrm>
          <a:prstGeom prst="roundRect">
            <a:avLst>
              <a:gd name="adj" fmla="val 7353"/>
            </a:avLst>
          </a:prstGeom>
          <a:solidFill>
            <a:srgbClr val="F7F4EC"/>
          </a:solidFill>
          <a:ln/>
        </p:spPr>
      </p:sp>
      <p:sp>
        <p:nvSpPr>
          <p:cNvPr id="26" name="Text 24"/>
          <p:cNvSpPr txBox="1"/>
          <p:nvPr/>
        </p:nvSpPr>
        <p:spPr>
          <a:xfrm>
            <a:off x="731520" y="5486400"/>
            <a:ext cx="2194560" cy="621792"/>
          </a:xfrm>
          <a:prstGeom prst="rect">
            <a:avLst/>
          </a:prstGeom>
          <a:noFill/>
          <a:ln/>
        </p:spPr>
        <p:txBody>
          <a:bodyPr wrap="square" lIns="0" tIns="0" rIns="0" bIns="0" rtlCol="0" anchor="ctr"/>
          <a:lstStyle/>
          <a:p>
            <a:pPr marL="0" indent="0">
              <a:buNone/>
            </a:pPr>
            <a:r>
              <a:rPr lang="en-US" sz="1300" b="1" dirty="0">
                <a:solidFill>
                  <a:srgbClr val="1E4FFF"/>
                </a:solidFill>
                <a:latin typeface="Arial" pitchFamily="34" charset="0"/>
                <a:ea typeface="Arial" pitchFamily="34" charset="-122"/>
                <a:cs typeface="Arial" pitchFamily="34" charset="-120"/>
              </a:rPr>
              <a:t>Human approval</a:t>
            </a:r>
            <a:endParaRPr lang="en-US" sz="1300" dirty="0"/>
          </a:p>
        </p:txBody>
      </p:sp>
      <p:sp>
        <p:nvSpPr>
          <p:cNvPr id="27" name="Text 25"/>
          <p:cNvSpPr txBox="1"/>
          <p:nvPr/>
        </p:nvSpPr>
        <p:spPr>
          <a:xfrm>
            <a:off x="3063240" y="5486400"/>
            <a:ext cx="7589520" cy="621792"/>
          </a:xfrm>
          <a:prstGeom prst="rect">
            <a:avLst/>
          </a:prstGeom>
          <a:noFill/>
          <a:ln/>
        </p:spPr>
        <p:txBody>
          <a:bodyPr wrap="square" lIns="0" tIns="0" rIns="0" bIns="0" rtlCol="0" anchor="ctr"/>
          <a:lstStyle/>
          <a:p>
            <a:pPr marL="0" indent="0">
              <a:buNone/>
            </a:pPr>
            <a:r>
              <a:rPr lang="en-US" sz="1250" dirty="0">
                <a:solidFill>
                  <a:srgbClr val="1A1A1A"/>
                </a:solidFill>
                <a:latin typeface="Arial" pitchFamily="34" charset="0"/>
                <a:ea typeface="Arial" pitchFamily="34" charset="-122"/>
                <a:cs typeface="Arial" pitchFamily="34" charset="-120"/>
              </a:rPr>
              <a:t>Manager approves the update — and any action — before it circulates</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5">
    <p:bg>
      <p:bgPr>
        <a:solidFill>
          <a:srgbClr val="F7F4EC"/>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6E6A60"/>
                </a:solidFill>
                <a:latin typeface="Arial" pitchFamily="34" charset="0"/>
                <a:ea typeface="Arial" pitchFamily="34" charset="-122"/>
                <a:cs typeface="Arial" pitchFamily="34" charset="-120"/>
              </a:rPr>
              <a:t>CLASS 1 · AI AS A BUSINESS TOOL</a:t>
            </a:r>
            <a:endParaRPr lang="en-US" sz="1050" dirty="0"/>
          </a:p>
        </p:txBody>
      </p:sp>
      <p:sp>
        <p:nvSpPr>
          <p:cNvPr id="3" name="Shape 1"/>
          <p:cNvSpPr/>
          <p:nvPr/>
        </p:nvSpPr>
        <p:spPr>
          <a:xfrm>
            <a:off x="10561320" y="256032"/>
            <a:ext cx="1170432" cy="384048"/>
          </a:xfrm>
          <a:prstGeom prst="roundRect">
            <a:avLst>
              <a:gd name="adj" fmla="val 19048"/>
            </a:avLst>
          </a:prstGeom>
          <a:solidFill>
            <a:srgbClr val="1E4FFF"/>
          </a:solidFill>
          <a:ln/>
        </p:spPr>
      </p:sp>
      <p:sp>
        <p:nvSpPr>
          <p:cNvPr id="4" name="Text 2"/>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70–80</a:t>
            </a:r>
            <a:endParaRPr lang="en-US" sz="1300" dirty="0"/>
          </a:p>
        </p:txBody>
      </p:sp>
      <p:sp>
        <p:nvSpPr>
          <p:cNvPr id="5" name="Shape 3"/>
          <p:cNvSpPr/>
          <p:nvPr/>
        </p:nvSpPr>
        <p:spPr>
          <a:xfrm>
            <a:off x="502920" y="6446520"/>
            <a:ext cx="11183112" cy="0"/>
          </a:xfrm>
          <a:prstGeom prst="line">
            <a:avLst/>
          </a:prstGeom>
          <a:noFill/>
          <a:ln w="9525">
            <a:solidFill>
              <a:srgbClr val="D8D3C5"/>
            </a:solidFill>
            <a:prstDash val="solid"/>
          </a:ln>
        </p:spPr>
      </p:sp>
      <p:sp>
        <p:nvSpPr>
          <p:cNvPr id="6" name="Text 4"/>
          <p:cNvSpPr txBox="1"/>
          <p:nvPr/>
        </p:nvSpPr>
        <p:spPr>
          <a:xfrm>
            <a:off x="502920" y="6492240"/>
            <a:ext cx="7315200" cy="274320"/>
          </a:xfrm>
          <a:prstGeom prst="rect">
            <a:avLst/>
          </a:prstGeom>
          <a:noFill/>
          <a:ln/>
        </p:spPr>
        <p:txBody>
          <a:bodyPr wrap="square" lIns="0" tIns="0" rIns="0" bIns="0" rtlCol="0" anchor="ctr"/>
          <a:lstStyle/>
          <a:p>
            <a:pPr marL="0" indent="0">
              <a:buNone/>
            </a:pPr>
            <a:r>
              <a:rPr lang="en-US" sz="900" kern="0" spc="100" dirty="0">
                <a:solidFill>
                  <a:srgbClr val="6E6A60"/>
                </a:solidFill>
                <a:latin typeface="Arial" pitchFamily="34" charset="0"/>
                <a:ea typeface="Arial" pitchFamily="34" charset="-122"/>
                <a:cs typeface="Arial" pitchFamily="34" charset="-120"/>
              </a:rPr>
              <a:t>·  IUT DHAKA</a:t>
            </a:r>
            <a:endParaRPr lang="en-US" sz="900" dirty="0"/>
          </a:p>
        </p:txBody>
      </p:sp>
      <p:sp>
        <p:nvSpPr>
          <p:cNvPr id="7" name="Text 5"/>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15</a:t>
            </a:r>
            <a:endParaRPr lang="en-US" sz="900" dirty="0"/>
          </a:p>
        </p:txBody>
      </p:sp>
      <p:sp>
        <p:nvSpPr>
          <p:cNvPr id="8" name="Text 6"/>
          <p:cNvSpPr txBox="1"/>
          <p:nvPr/>
        </p:nvSpPr>
        <p:spPr>
          <a:xfrm>
            <a:off x="502920" y="713232"/>
            <a:ext cx="10607040" cy="868680"/>
          </a:xfrm>
          <a:prstGeom prst="rect">
            <a:avLst/>
          </a:prstGeom>
          <a:noFill/>
          <a:ln/>
        </p:spPr>
        <p:txBody>
          <a:bodyPr wrap="square" lIns="0" tIns="0" rIns="0" bIns="0" rtlCol="0" anchor="ctr"/>
          <a:lstStyle/>
          <a:p>
            <a:pPr marL="0" indent="0">
              <a:lnSpc>
                <a:spcPct val="102000"/>
              </a:lnSpc>
              <a:buNone/>
            </a:pPr>
            <a:r>
              <a:rPr lang="en-US" sz="3400" b="1" dirty="0">
                <a:solidFill>
                  <a:srgbClr val="1A1A1A"/>
                </a:solidFill>
                <a:latin typeface="Arial" pitchFamily="34" charset="0"/>
                <a:ea typeface="Arial" pitchFamily="34" charset="-122"/>
                <a:cs typeface="Arial" pitchFamily="34" charset="-120"/>
              </a:rPr>
              <a:t>Would Anyone Want This?</a:t>
            </a:r>
            <a:endParaRPr lang="en-US" sz="3400" dirty="0"/>
          </a:p>
        </p:txBody>
      </p:sp>
      <p:sp>
        <p:nvSpPr>
          <p:cNvPr id="9" name="Text 7"/>
          <p:cNvSpPr txBox="1"/>
          <p:nvPr/>
        </p:nvSpPr>
        <p:spPr>
          <a:xfrm>
            <a:off x="502920" y="1536192"/>
            <a:ext cx="10058400" cy="320040"/>
          </a:xfrm>
          <a:prstGeom prst="rect">
            <a:avLst/>
          </a:prstGeom>
          <a:noFill/>
          <a:ln/>
        </p:spPr>
        <p:txBody>
          <a:bodyPr wrap="square" lIns="0" tIns="0" rIns="0" bIns="0" rtlCol="0" anchor="ctr"/>
          <a:lstStyle/>
          <a:p>
            <a:pPr marL="0" indent="0">
              <a:buNone/>
            </a:pPr>
            <a:r>
              <a:rPr lang="en-US" sz="1350" i="1" dirty="0">
                <a:solidFill>
                  <a:srgbClr val="6E6A60"/>
                </a:solidFill>
                <a:latin typeface="Arial" pitchFamily="34" charset="0"/>
                <a:ea typeface="Arial" pitchFamily="34" charset="-122"/>
                <a:cs typeface="Arial" pitchFamily="34" charset="-120"/>
              </a:rPr>
              <a:t>We're developing a hypothesis, not proving a business will succeed.</a:t>
            </a:r>
            <a:endParaRPr lang="en-US" sz="1350" dirty="0"/>
          </a:p>
        </p:txBody>
      </p:sp>
      <p:sp>
        <p:nvSpPr>
          <p:cNvPr id="10" name="Shape 8"/>
          <p:cNvSpPr/>
          <p:nvPr/>
        </p:nvSpPr>
        <p:spPr>
          <a:xfrm>
            <a:off x="502920" y="2148840"/>
            <a:ext cx="3364992" cy="2240280"/>
          </a:xfrm>
          <a:prstGeom prst="roundRect">
            <a:avLst>
              <a:gd name="adj" fmla="val 3265"/>
            </a:avLst>
          </a:prstGeom>
          <a:solidFill>
            <a:srgbClr val="EDE9DE"/>
          </a:solidFill>
          <a:ln/>
        </p:spPr>
      </p:sp>
      <p:sp>
        <p:nvSpPr>
          <p:cNvPr id="11" name="Shape 9"/>
          <p:cNvSpPr/>
          <p:nvPr/>
        </p:nvSpPr>
        <p:spPr>
          <a:xfrm>
            <a:off x="685800" y="2331720"/>
            <a:ext cx="914400" cy="329184"/>
          </a:xfrm>
          <a:prstGeom prst="roundRect">
            <a:avLst>
              <a:gd name="adj" fmla="val 50000"/>
            </a:avLst>
          </a:prstGeom>
          <a:solidFill>
            <a:srgbClr val="1E4FFF"/>
          </a:solidFill>
          <a:ln/>
        </p:spPr>
      </p:sp>
      <p:sp>
        <p:nvSpPr>
          <p:cNvPr id="12" name="Text 10"/>
          <p:cNvSpPr txBox="1"/>
          <p:nvPr/>
        </p:nvSpPr>
        <p:spPr>
          <a:xfrm>
            <a:off x="685800" y="2331720"/>
            <a:ext cx="91440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IDEA 1</a:t>
            </a:r>
            <a:endParaRPr lang="en-US" sz="1000" dirty="0"/>
          </a:p>
        </p:txBody>
      </p:sp>
      <p:sp>
        <p:nvSpPr>
          <p:cNvPr id="13" name="Text 11"/>
          <p:cNvSpPr txBox="1"/>
          <p:nvPr/>
        </p:nvSpPr>
        <p:spPr>
          <a:xfrm>
            <a:off x="685800" y="2834640"/>
            <a:ext cx="2999232" cy="548640"/>
          </a:xfrm>
          <a:prstGeom prst="rect">
            <a:avLst/>
          </a:prstGeom>
          <a:noFill/>
          <a:ln/>
        </p:spPr>
        <p:txBody>
          <a:bodyPr wrap="square" lIns="0" tIns="0" rIns="0" bIns="0" rtlCol="0" anchor="ctr"/>
          <a:lstStyle/>
          <a:p>
            <a:pPr marL="0" indent="0">
              <a:buNone/>
            </a:pPr>
            <a:r>
              <a:rPr lang="en-US" sz="1500" b="1" dirty="0">
                <a:solidFill>
                  <a:srgbClr val="1A1A1A"/>
                </a:solidFill>
                <a:latin typeface="Arial" pitchFamily="34" charset="0"/>
                <a:ea typeface="Arial" pitchFamily="34" charset="-122"/>
                <a:cs typeface="Arial" pitchFamily="34" charset="-120"/>
              </a:rPr>
              <a:t>Campus lunch preorder</a:t>
            </a:r>
            <a:endParaRPr lang="en-US" sz="1500" dirty="0"/>
          </a:p>
        </p:txBody>
      </p:sp>
      <p:sp>
        <p:nvSpPr>
          <p:cNvPr id="14" name="Text 12"/>
          <p:cNvSpPr txBox="1"/>
          <p:nvPr/>
        </p:nvSpPr>
        <p:spPr>
          <a:xfrm>
            <a:off x="685800" y="3383280"/>
            <a:ext cx="2999232" cy="822960"/>
          </a:xfrm>
          <a:prstGeom prst="rect">
            <a:avLst/>
          </a:prstGeom>
          <a:noFill/>
          <a:ln/>
        </p:spPr>
        <p:txBody>
          <a:bodyPr wrap="square" lIns="0" tIns="0" rIns="0" bIns="0" rtlCol="0" anchor="ctr"/>
          <a:lstStyle/>
          <a:p>
            <a:pPr marL="0" indent="0">
              <a:buNone/>
            </a:pPr>
            <a:r>
              <a:rPr lang="en-US" sz="1200" dirty="0">
                <a:solidFill>
                  <a:srgbClr val="3E3B34"/>
                </a:solidFill>
                <a:latin typeface="Arial" pitchFamily="34" charset="0"/>
                <a:ea typeface="Arial" pitchFamily="34" charset="-122"/>
                <a:cs typeface="Arial" pitchFamily="34" charset="-120"/>
              </a:rPr>
              <a:t>A scheduled collection point for a limited menu</a:t>
            </a:r>
            <a:endParaRPr lang="en-US" sz="1200" dirty="0"/>
          </a:p>
        </p:txBody>
      </p:sp>
      <p:sp>
        <p:nvSpPr>
          <p:cNvPr id="15" name="Shape 13"/>
          <p:cNvSpPr/>
          <p:nvPr/>
        </p:nvSpPr>
        <p:spPr>
          <a:xfrm>
            <a:off x="3995928" y="2148840"/>
            <a:ext cx="3364992" cy="2240280"/>
          </a:xfrm>
          <a:prstGeom prst="roundRect">
            <a:avLst>
              <a:gd name="adj" fmla="val 3265"/>
            </a:avLst>
          </a:prstGeom>
          <a:solidFill>
            <a:srgbClr val="EDE9DE"/>
          </a:solidFill>
          <a:ln/>
        </p:spPr>
      </p:sp>
      <p:sp>
        <p:nvSpPr>
          <p:cNvPr id="16" name="Shape 14"/>
          <p:cNvSpPr/>
          <p:nvPr/>
        </p:nvSpPr>
        <p:spPr>
          <a:xfrm>
            <a:off x="4178808" y="2331720"/>
            <a:ext cx="914400" cy="329184"/>
          </a:xfrm>
          <a:prstGeom prst="roundRect">
            <a:avLst>
              <a:gd name="adj" fmla="val 50000"/>
            </a:avLst>
          </a:prstGeom>
          <a:solidFill>
            <a:srgbClr val="1E4FFF"/>
          </a:solidFill>
          <a:ln/>
        </p:spPr>
      </p:sp>
      <p:sp>
        <p:nvSpPr>
          <p:cNvPr id="17" name="Text 15"/>
          <p:cNvSpPr txBox="1"/>
          <p:nvPr/>
        </p:nvSpPr>
        <p:spPr>
          <a:xfrm>
            <a:off x="4178808" y="2331720"/>
            <a:ext cx="91440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IDEA 2</a:t>
            </a:r>
            <a:endParaRPr lang="en-US" sz="1000" dirty="0"/>
          </a:p>
        </p:txBody>
      </p:sp>
      <p:sp>
        <p:nvSpPr>
          <p:cNvPr id="18" name="Text 16"/>
          <p:cNvSpPr txBox="1"/>
          <p:nvPr/>
        </p:nvSpPr>
        <p:spPr>
          <a:xfrm>
            <a:off x="4178808" y="2834640"/>
            <a:ext cx="2999232" cy="548640"/>
          </a:xfrm>
          <a:prstGeom prst="rect">
            <a:avLst/>
          </a:prstGeom>
          <a:noFill/>
          <a:ln/>
        </p:spPr>
        <p:txBody>
          <a:bodyPr wrap="square" lIns="0" tIns="0" rIns="0" bIns="0" rtlCol="0" anchor="ctr"/>
          <a:lstStyle/>
          <a:p>
            <a:pPr marL="0" indent="0">
              <a:buNone/>
            </a:pPr>
            <a:r>
              <a:rPr lang="en-US" sz="1500" b="1" dirty="0">
                <a:solidFill>
                  <a:srgbClr val="1A1A1A"/>
                </a:solidFill>
                <a:latin typeface="Arial" pitchFamily="34" charset="0"/>
                <a:ea typeface="Arial" pitchFamily="34" charset="-122"/>
                <a:cs typeface="Arial" pitchFamily="34" charset="-120"/>
              </a:rPr>
              <a:t>Stationery replenishment</a:t>
            </a:r>
            <a:endParaRPr lang="en-US" sz="1500" dirty="0"/>
          </a:p>
        </p:txBody>
      </p:sp>
      <p:sp>
        <p:nvSpPr>
          <p:cNvPr id="19" name="Text 17"/>
          <p:cNvSpPr txBox="1"/>
          <p:nvPr/>
        </p:nvSpPr>
        <p:spPr>
          <a:xfrm>
            <a:off x="4178808" y="3383280"/>
            <a:ext cx="2999232" cy="822960"/>
          </a:xfrm>
          <a:prstGeom prst="rect">
            <a:avLst/>
          </a:prstGeom>
          <a:noFill/>
          <a:ln/>
        </p:spPr>
        <p:txBody>
          <a:bodyPr wrap="square" lIns="0" tIns="0" rIns="0" bIns="0" rtlCol="0" anchor="ctr"/>
          <a:lstStyle/>
          <a:p>
            <a:pPr marL="0" indent="0">
              <a:buNone/>
            </a:pPr>
            <a:r>
              <a:rPr lang="en-US" sz="1200" dirty="0">
                <a:solidFill>
                  <a:srgbClr val="3E3B34"/>
                </a:solidFill>
                <a:latin typeface="Arial" pitchFamily="34" charset="0"/>
                <a:ea typeface="Arial" pitchFamily="34" charset="-122"/>
                <a:cs typeface="Arial" pitchFamily="34" charset="-120"/>
              </a:rPr>
              <a:t>A simple restock service for office supplies</a:t>
            </a:r>
            <a:endParaRPr lang="en-US" sz="1200" dirty="0"/>
          </a:p>
        </p:txBody>
      </p:sp>
      <p:sp>
        <p:nvSpPr>
          <p:cNvPr id="20" name="Shape 18"/>
          <p:cNvSpPr/>
          <p:nvPr/>
        </p:nvSpPr>
        <p:spPr>
          <a:xfrm>
            <a:off x="7488936" y="2148840"/>
            <a:ext cx="3364992" cy="2240280"/>
          </a:xfrm>
          <a:prstGeom prst="roundRect">
            <a:avLst>
              <a:gd name="adj" fmla="val 3265"/>
            </a:avLst>
          </a:prstGeom>
          <a:solidFill>
            <a:srgbClr val="EDE9DE"/>
          </a:solidFill>
          <a:ln/>
        </p:spPr>
      </p:sp>
      <p:sp>
        <p:nvSpPr>
          <p:cNvPr id="21" name="Shape 19"/>
          <p:cNvSpPr/>
          <p:nvPr/>
        </p:nvSpPr>
        <p:spPr>
          <a:xfrm>
            <a:off x="7671816" y="2331720"/>
            <a:ext cx="914400" cy="329184"/>
          </a:xfrm>
          <a:prstGeom prst="roundRect">
            <a:avLst>
              <a:gd name="adj" fmla="val 50000"/>
            </a:avLst>
          </a:prstGeom>
          <a:solidFill>
            <a:srgbClr val="1E4FFF"/>
          </a:solidFill>
          <a:ln/>
        </p:spPr>
      </p:sp>
      <p:sp>
        <p:nvSpPr>
          <p:cNvPr id="22" name="Text 20"/>
          <p:cNvSpPr txBox="1"/>
          <p:nvPr/>
        </p:nvSpPr>
        <p:spPr>
          <a:xfrm>
            <a:off x="7671816" y="2331720"/>
            <a:ext cx="91440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IDEA 3</a:t>
            </a:r>
            <a:endParaRPr lang="en-US" sz="1000" dirty="0"/>
          </a:p>
        </p:txBody>
      </p:sp>
      <p:sp>
        <p:nvSpPr>
          <p:cNvPr id="23" name="Text 21"/>
          <p:cNvSpPr txBox="1"/>
          <p:nvPr/>
        </p:nvSpPr>
        <p:spPr>
          <a:xfrm>
            <a:off x="7671816" y="2834640"/>
            <a:ext cx="2999232" cy="548640"/>
          </a:xfrm>
          <a:prstGeom prst="rect">
            <a:avLst/>
          </a:prstGeom>
          <a:noFill/>
          <a:ln/>
        </p:spPr>
        <p:txBody>
          <a:bodyPr wrap="square" lIns="0" tIns="0" rIns="0" bIns="0" rtlCol="0" anchor="ctr"/>
          <a:lstStyle/>
          <a:p>
            <a:pPr marL="0" indent="0">
              <a:buNone/>
            </a:pPr>
            <a:r>
              <a:rPr lang="en-US" sz="1500" b="1" dirty="0">
                <a:solidFill>
                  <a:srgbClr val="1A1A1A"/>
                </a:solidFill>
                <a:latin typeface="Arial" pitchFamily="34" charset="0"/>
                <a:ea typeface="Arial" pitchFamily="34" charset="-122"/>
                <a:cs typeface="Arial" pitchFamily="34" charset="-120"/>
              </a:rPr>
              <a:t>Tutoring coordination</a:t>
            </a:r>
            <a:endParaRPr lang="en-US" sz="1500" dirty="0"/>
          </a:p>
        </p:txBody>
      </p:sp>
      <p:sp>
        <p:nvSpPr>
          <p:cNvPr id="24" name="Text 22"/>
          <p:cNvSpPr txBox="1"/>
          <p:nvPr/>
        </p:nvSpPr>
        <p:spPr>
          <a:xfrm>
            <a:off x="7671816" y="3383280"/>
            <a:ext cx="2999232" cy="822960"/>
          </a:xfrm>
          <a:prstGeom prst="rect">
            <a:avLst/>
          </a:prstGeom>
          <a:noFill/>
          <a:ln/>
        </p:spPr>
        <p:txBody>
          <a:bodyPr wrap="square" lIns="0" tIns="0" rIns="0" bIns="0" rtlCol="0" anchor="ctr"/>
          <a:lstStyle/>
          <a:p>
            <a:pPr marL="0" indent="0">
              <a:buNone/>
            </a:pPr>
            <a:r>
              <a:rPr lang="en-US" sz="1200" dirty="0">
                <a:solidFill>
                  <a:srgbClr val="3E3B34"/>
                </a:solidFill>
                <a:latin typeface="Arial" pitchFamily="34" charset="0"/>
                <a:ea typeface="Arial" pitchFamily="34" charset="-122"/>
                <a:cs typeface="Arial" pitchFamily="34" charset="-120"/>
              </a:rPr>
              <a:t>Matching students who need help with those who can give it</a:t>
            </a:r>
            <a:endParaRPr lang="en-US" sz="1200" dirty="0"/>
          </a:p>
        </p:txBody>
      </p:sp>
      <p:sp>
        <p:nvSpPr>
          <p:cNvPr id="25" name="Shape 23"/>
          <p:cNvSpPr/>
          <p:nvPr/>
        </p:nvSpPr>
        <p:spPr>
          <a:xfrm>
            <a:off x="502920" y="4617720"/>
            <a:ext cx="10287000" cy="777240"/>
          </a:xfrm>
          <a:prstGeom prst="roundRect">
            <a:avLst>
              <a:gd name="adj" fmla="val 8235"/>
            </a:avLst>
          </a:prstGeom>
          <a:solidFill>
            <a:srgbClr val="1A1A1A"/>
          </a:solidFill>
          <a:ln/>
        </p:spPr>
      </p:sp>
      <p:sp>
        <p:nvSpPr>
          <p:cNvPr id="26" name="Text 24"/>
          <p:cNvSpPr txBox="1"/>
          <p:nvPr/>
        </p:nvSpPr>
        <p:spPr>
          <a:xfrm>
            <a:off x="731520" y="4617720"/>
            <a:ext cx="9784080" cy="777240"/>
          </a:xfrm>
          <a:prstGeom prst="rect">
            <a:avLst/>
          </a:prstGeom>
          <a:noFill/>
          <a:ln/>
        </p:spPr>
        <p:txBody>
          <a:bodyPr wrap="square" lIns="0" tIns="0" rIns="0" bIns="0" rtlCol="0" anchor="ctr"/>
          <a:lstStyle/>
          <a:p>
            <a:pPr marL="0" indent="0">
              <a:buNone/>
            </a:pPr>
            <a:r>
              <a:rPr lang="en-US" sz="1350" b="1" dirty="0">
                <a:solidFill>
                  <a:srgbClr val="5C82FF"/>
                </a:solidFill>
                <a:latin typeface="Arial" pitchFamily="34" charset="0"/>
                <a:ea typeface="Arial" pitchFamily="34" charset="-122"/>
                <a:cs typeface="Arial" pitchFamily="34" charset="-120"/>
              </a:rPr>
              <a:t>AI generates hypotheses, not demand evidence. </a:t>
            </a:r>
            <a:r>
              <a:rPr lang="en-US" sz="1350" dirty="0">
                <a:solidFill>
                  <a:srgbClr val="D8D4C8"/>
                </a:solidFill>
                <a:latin typeface="Arial" pitchFamily="34" charset="0"/>
                <a:ea typeface="Arial" pitchFamily="34" charset="-122"/>
                <a:cs typeface="Arial" pitchFamily="34" charset="-120"/>
              </a:rPr>
              <a:t>“Interesting” is not the same as “validated.”</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lgn="l">
              <a:buNone/>
            </a:pPr>
            <a:r>
              <a:rPr lang="en-US" sz="1050" b="1" kern="0" spc="200" dirty="0">
                <a:solidFill>
                  <a:srgbClr val="6E6A60"/>
                </a:solidFill>
                <a:latin typeface="Arial" pitchFamily="34" charset="0"/>
                <a:ea typeface="Arial" pitchFamily="34" charset="-122"/>
                <a:cs typeface="Arial" pitchFamily="34" charset="-120"/>
              </a:rPr>
              <a:t>AI CONCEPTS · TOOLS · CASE STUDIES</a:t>
            </a:r>
            <a:endParaRPr lang="en-US" sz="1050" dirty="0"/>
          </a:p>
        </p:txBody>
      </p:sp>
      <p:sp>
        <p:nvSpPr>
          <p:cNvPr id="3" name="Shape 1"/>
          <p:cNvSpPr/>
          <p:nvPr/>
        </p:nvSpPr>
        <p:spPr>
          <a:xfrm>
            <a:off x="9905695" y="256032"/>
            <a:ext cx="1783080" cy="384048"/>
          </a:xfrm>
          <a:prstGeom prst="roundRect">
            <a:avLst>
              <a:gd name="adj" fmla="val 21429"/>
            </a:avLst>
          </a:prstGeom>
          <a:solidFill>
            <a:srgbClr val="1E4FFF"/>
          </a:solidFill>
          <a:ln/>
        </p:spPr>
      </p:sp>
      <p:sp>
        <p:nvSpPr>
          <p:cNvPr id="4" name="Text 2"/>
          <p:cNvSpPr txBox="1"/>
          <p:nvPr/>
        </p:nvSpPr>
        <p:spPr>
          <a:xfrm>
            <a:off x="9905695" y="256032"/>
            <a:ext cx="17830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FREE TOOLS</a:t>
            </a:r>
            <a:endParaRPr lang="en-US" sz="1200" dirty="0"/>
          </a:p>
        </p:txBody>
      </p:sp>
      <p:sp>
        <p:nvSpPr>
          <p:cNvPr id="5" name="Shape 3"/>
          <p:cNvSpPr/>
          <p:nvPr/>
        </p:nvSpPr>
        <p:spPr>
          <a:xfrm>
            <a:off x="502920" y="6446520"/>
            <a:ext cx="11185855" cy="0"/>
          </a:xfrm>
          <a:prstGeom prst="line">
            <a:avLst/>
          </a:prstGeom>
          <a:noFill/>
          <a:ln w="9525">
            <a:solidFill>
              <a:srgbClr val="D8D3C5"/>
            </a:solidFill>
            <a:prstDash val="solid"/>
          </a:ln>
        </p:spPr>
      </p:sp>
      <p:sp>
        <p:nvSpPr>
          <p:cNvPr id="6" name="Text 4"/>
          <p:cNvSpPr txBox="1"/>
          <p:nvPr/>
        </p:nvSpPr>
        <p:spPr>
          <a:xfrm>
            <a:off x="502920" y="6492240"/>
            <a:ext cx="7315200" cy="274320"/>
          </a:xfrm>
          <a:prstGeom prst="rect">
            <a:avLst/>
          </a:prstGeom>
          <a:noFill/>
          <a:ln/>
        </p:spPr>
        <p:txBody>
          <a:bodyPr wrap="square" lIns="0" tIns="0" rIns="0" bIns="0" rtlCol="0" anchor="ctr"/>
          <a:lstStyle/>
          <a:p>
            <a:pPr marL="0" indent="0" algn="l">
              <a:buNone/>
            </a:pPr>
            <a:r>
              <a:rPr lang="en-US" sz="900" dirty="0">
                <a:solidFill>
                  <a:srgbClr val="6E6A60"/>
                </a:solidFill>
                <a:latin typeface="Arial" pitchFamily="34" charset="0"/>
                <a:ea typeface="Arial" pitchFamily="34" charset="-122"/>
                <a:cs typeface="Arial" pitchFamily="34" charset="-120"/>
              </a:rPr>
              <a:t>MEGHNA OFFICE SUPPLIES WORKSHOP  ·  IUT DHAKA</a:t>
            </a:r>
            <a:endParaRPr lang="en-US" sz="900" dirty="0"/>
          </a:p>
        </p:txBody>
      </p:sp>
      <p:sp>
        <p:nvSpPr>
          <p:cNvPr id="7" name="Text 5"/>
          <p:cNvSpPr txBox="1"/>
          <p:nvPr/>
        </p:nvSpPr>
        <p:spPr>
          <a:xfrm>
            <a:off x="10591495"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08 / 08</a:t>
            </a:r>
            <a:endParaRPr lang="en-US" sz="900" dirty="0"/>
          </a:p>
        </p:txBody>
      </p:sp>
      <p:sp>
        <p:nvSpPr>
          <p:cNvPr id="8" name="Text 6"/>
          <p:cNvSpPr txBox="1"/>
          <p:nvPr/>
        </p:nvSpPr>
        <p:spPr>
          <a:xfrm>
            <a:off x="502920" y="713232"/>
            <a:ext cx="11185855" cy="822960"/>
          </a:xfrm>
          <a:prstGeom prst="rect">
            <a:avLst/>
          </a:prstGeom>
          <a:noFill/>
          <a:ln/>
        </p:spPr>
        <p:txBody>
          <a:bodyPr wrap="square" lIns="0" tIns="0" rIns="0" bIns="0" rtlCol="0" anchor="t"/>
          <a:lstStyle/>
          <a:p>
            <a:pPr marL="0" indent="0" algn="l">
              <a:lnSpc>
                <a:spcPct val="102000"/>
              </a:lnSpc>
              <a:buNone/>
            </a:pPr>
            <a:r>
              <a:rPr lang="en-US" sz="3200" b="1" dirty="0">
                <a:solidFill>
                  <a:srgbClr val="1A1A1A"/>
                </a:solidFill>
                <a:latin typeface="Arial" pitchFamily="34" charset="0"/>
                <a:ea typeface="Arial" pitchFamily="34" charset="-122"/>
                <a:cs typeface="Arial" pitchFamily="34" charset="-120"/>
              </a:rPr>
              <a:t>Free Tools, Real Differences</a:t>
            </a:r>
            <a:endParaRPr lang="en-US" sz="3200" dirty="0"/>
          </a:p>
        </p:txBody>
      </p:sp>
      <p:sp>
        <p:nvSpPr>
          <p:cNvPr id="9" name="Text 7"/>
          <p:cNvSpPr txBox="1"/>
          <p:nvPr/>
        </p:nvSpPr>
        <p:spPr>
          <a:xfrm>
            <a:off x="502920" y="1481328"/>
            <a:ext cx="11185855" cy="365760"/>
          </a:xfrm>
          <a:prstGeom prst="rect">
            <a:avLst/>
          </a:prstGeom>
          <a:noFill/>
          <a:ln/>
        </p:spPr>
        <p:txBody>
          <a:bodyPr wrap="square" lIns="0" tIns="0" rIns="0" bIns="0" rtlCol="0" anchor="t"/>
          <a:lstStyle/>
          <a:p>
            <a:pPr marL="0" indent="0" algn="l">
              <a:buNone/>
            </a:pPr>
            <a:r>
              <a:rPr lang="en-US" sz="1350" i="1" dirty="0">
                <a:solidFill>
                  <a:srgbClr val="6E6A60"/>
                </a:solidFill>
                <a:latin typeface="Arial" pitchFamily="34" charset="0"/>
                <a:ea typeface="Arial" pitchFamily="34" charset="-122"/>
                <a:cs typeface="Arial" pitchFamily="34" charset="-120"/>
              </a:rPr>
              <a:t>Five everyday AI platforms — what their free plan actually gives you.</a:t>
            </a:r>
            <a:endParaRPr lang="en-US" sz="1350" dirty="0"/>
          </a:p>
        </p:txBody>
      </p:sp>
      <p:sp>
        <p:nvSpPr>
          <p:cNvPr id="10" name="Text 8"/>
          <p:cNvSpPr txBox="1"/>
          <p:nvPr/>
        </p:nvSpPr>
        <p:spPr>
          <a:xfrm>
            <a:off x="502920" y="1828800"/>
            <a:ext cx="11185855" cy="219456"/>
          </a:xfrm>
          <a:prstGeom prst="rect">
            <a:avLst/>
          </a:prstGeom>
          <a:noFill/>
          <a:ln/>
        </p:spPr>
        <p:txBody>
          <a:bodyPr wrap="square" lIns="0" tIns="0" rIns="0" bIns="0" rtlCol="0" anchor="t"/>
          <a:lstStyle/>
          <a:p>
            <a:pPr marL="0" indent="0" algn="l">
              <a:buNone/>
            </a:pPr>
            <a:r>
              <a:rPr lang="en-US" sz="850" i="1" dirty="0">
                <a:solidFill>
                  <a:srgbClr val="6E6A60"/>
                </a:solidFill>
                <a:latin typeface="Arial" pitchFamily="34" charset="0"/>
                <a:ea typeface="Arial" pitchFamily="34" charset="-122"/>
                <a:cs typeface="Arial" pitchFamily="34" charset="-120"/>
              </a:rPr>
              <a:t>Badges show initials in a brand-adjacent color, not the companies' official logos.</a:t>
            </a:r>
            <a:endParaRPr lang="en-US" sz="850" dirty="0"/>
          </a:p>
        </p:txBody>
      </p:sp>
      <p:sp>
        <p:nvSpPr>
          <p:cNvPr id="11" name="Shape 9"/>
          <p:cNvSpPr/>
          <p:nvPr/>
        </p:nvSpPr>
        <p:spPr>
          <a:xfrm>
            <a:off x="502920" y="2121408"/>
            <a:ext cx="3545738" cy="1993392"/>
          </a:xfrm>
          <a:prstGeom prst="roundRect">
            <a:avLst>
              <a:gd name="adj" fmla="val 2752"/>
            </a:avLst>
          </a:prstGeom>
          <a:solidFill>
            <a:srgbClr val="EDE9DE"/>
          </a:solidFill>
          <a:ln w="12700">
            <a:solidFill>
              <a:srgbClr val="D8D3C5"/>
            </a:solidFill>
            <a:prstDash val="solid"/>
          </a:ln>
        </p:spPr>
      </p:sp>
      <p:sp>
        <p:nvSpPr>
          <p:cNvPr id="12" name="Shape 10"/>
          <p:cNvSpPr/>
          <p:nvPr/>
        </p:nvSpPr>
        <p:spPr>
          <a:xfrm>
            <a:off x="704088" y="2304288"/>
            <a:ext cx="402336" cy="402336"/>
          </a:xfrm>
          <a:prstGeom prst="roundRect">
            <a:avLst>
              <a:gd name="adj" fmla="val 22727"/>
            </a:avLst>
          </a:prstGeom>
          <a:solidFill>
            <a:srgbClr val="10A37F"/>
          </a:solidFill>
          <a:ln/>
        </p:spPr>
      </p:sp>
      <p:sp>
        <p:nvSpPr>
          <p:cNvPr id="13" name="Text 11"/>
          <p:cNvSpPr txBox="1"/>
          <p:nvPr/>
        </p:nvSpPr>
        <p:spPr>
          <a:xfrm>
            <a:off x="704088" y="2304288"/>
            <a:ext cx="402336"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GPT</a:t>
            </a:r>
            <a:endParaRPr lang="en-US" sz="1250" dirty="0"/>
          </a:p>
        </p:txBody>
      </p:sp>
      <p:sp>
        <p:nvSpPr>
          <p:cNvPr id="14" name="Text 12"/>
          <p:cNvSpPr txBox="1"/>
          <p:nvPr/>
        </p:nvSpPr>
        <p:spPr>
          <a:xfrm>
            <a:off x="1234440" y="2304288"/>
            <a:ext cx="2613050" cy="237744"/>
          </a:xfrm>
          <a:prstGeom prst="rect">
            <a:avLst/>
          </a:prstGeom>
          <a:noFill/>
          <a:ln/>
        </p:spPr>
        <p:txBody>
          <a:bodyPr wrap="square" lIns="0" tIns="0" rIns="0" bIns="0" rtlCol="0" anchor="t"/>
          <a:lstStyle/>
          <a:p>
            <a:pPr marL="0" indent="0" algn="l">
              <a:buNone/>
            </a:pPr>
            <a:r>
              <a:rPr lang="en-US" sz="1350" b="1" dirty="0">
                <a:solidFill>
                  <a:srgbClr val="1A1A1A"/>
                </a:solidFill>
                <a:latin typeface="Arial" pitchFamily="34" charset="0"/>
                <a:ea typeface="Arial" pitchFamily="34" charset="-122"/>
                <a:cs typeface="Arial" pitchFamily="34" charset="-120"/>
              </a:rPr>
              <a:t>ChatGPT</a:t>
            </a:r>
            <a:endParaRPr lang="en-US" sz="1350" dirty="0"/>
          </a:p>
        </p:txBody>
      </p:sp>
      <p:sp>
        <p:nvSpPr>
          <p:cNvPr id="15" name="Text 13"/>
          <p:cNvSpPr txBox="1"/>
          <p:nvPr/>
        </p:nvSpPr>
        <p:spPr>
          <a:xfrm>
            <a:off x="1234440" y="2542032"/>
            <a:ext cx="2613050" cy="182880"/>
          </a:xfrm>
          <a:prstGeom prst="rect">
            <a:avLst/>
          </a:prstGeom>
          <a:noFill/>
          <a:ln/>
        </p:spPr>
        <p:txBody>
          <a:bodyPr wrap="square" lIns="0" tIns="0" rIns="0" bIns="0" rtlCol="0" anchor="t"/>
          <a:lstStyle/>
          <a:p>
            <a:pPr marL="0" indent="0" algn="l">
              <a:buNone/>
            </a:pPr>
            <a:r>
              <a:rPr lang="en-US" sz="850" b="1" kern="0" spc="50" dirty="0">
                <a:solidFill>
                  <a:srgbClr val="6E6A60"/>
                </a:solidFill>
                <a:latin typeface="Arial" pitchFamily="34" charset="0"/>
                <a:ea typeface="Arial" pitchFamily="34" charset="-122"/>
                <a:cs typeface="Arial" pitchFamily="34" charset="-120"/>
              </a:rPr>
              <a:t>OPENAI</a:t>
            </a:r>
            <a:endParaRPr lang="en-US" sz="850" dirty="0"/>
          </a:p>
        </p:txBody>
      </p:sp>
      <p:sp>
        <p:nvSpPr>
          <p:cNvPr id="16" name="Text 14"/>
          <p:cNvSpPr txBox="1"/>
          <p:nvPr/>
        </p:nvSpPr>
        <p:spPr>
          <a:xfrm>
            <a:off x="704088" y="2834640"/>
            <a:ext cx="3143402" cy="960120"/>
          </a:xfrm>
          <a:prstGeom prst="rect">
            <a:avLst/>
          </a:prstGeom>
          <a:noFill/>
          <a:ln/>
        </p:spPr>
        <p:txBody>
          <a:bodyPr wrap="square" lIns="0" tIns="0" rIns="0" bIns="0" rtlCol="0" anchor="t"/>
          <a:lstStyle/>
          <a:p>
            <a:pPr marL="0" indent="0" algn="l">
              <a:lnSpc>
                <a:spcPct val="118000"/>
              </a:lnSpc>
              <a:spcAft>
                <a:spcPts val="200"/>
              </a:spcAft>
              <a:buNone/>
            </a:pPr>
            <a:r>
              <a:rPr lang="en-US" sz="930" dirty="0">
                <a:solidFill>
                  <a:srgbClr val="262626"/>
                </a:solidFill>
                <a:latin typeface="Arial" pitchFamily="34" charset="0"/>
                <a:ea typeface="Arial" pitchFamily="34" charset="-122"/>
                <a:cs typeface="Arial" pitchFamily="34" charset="-120"/>
              </a:rPr>
              <a:t>•  Unlimited chat on GPT-5.6 Luna</a:t>
            </a:r>
            <a:endParaRPr lang="en-US" sz="930" dirty="0"/>
          </a:p>
          <a:p>
            <a:pPr marL="0" indent="0" algn="l">
              <a:lnSpc>
                <a:spcPct val="118000"/>
              </a:lnSpc>
              <a:spcAft>
                <a:spcPts val="200"/>
              </a:spcAft>
              <a:buNone/>
            </a:pPr>
            <a:r>
              <a:rPr lang="en-US" sz="930" dirty="0">
                <a:solidFill>
                  <a:srgbClr val="262626"/>
                </a:solidFill>
                <a:latin typeface="Arial" pitchFamily="34" charset="0"/>
                <a:ea typeface="Arial" pitchFamily="34" charset="-122"/>
                <a:cs typeface="Arial" pitchFamily="34" charset="-120"/>
              </a:rPr>
              <a:t>•  Web search &amp; image generation</a:t>
            </a:r>
            <a:endParaRPr lang="en-US" sz="930" dirty="0"/>
          </a:p>
          <a:p>
            <a:pPr marL="0" indent="0" algn="l">
              <a:lnSpc>
                <a:spcPct val="118000"/>
              </a:lnSpc>
              <a:spcAft>
                <a:spcPts val="200"/>
              </a:spcAft>
              <a:buNone/>
            </a:pPr>
            <a:r>
              <a:rPr lang="en-US" sz="930" dirty="0">
                <a:solidFill>
                  <a:srgbClr val="262626"/>
                </a:solidFill>
                <a:latin typeface="Arial" pitchFamily="34" charset="0"/>
                <a:ea typeface="Arial" pitchFamily="34" charset="-122"/>
                <a:cs typeface="Arial" pitchFamily="34" charset="-120"/>
              </a:rPr>
              <a:t>•  Limited Deep Research, Codex</a:t>
            </a:r>
            <a:endParaRPr lang="en-US" sz="930" dirty="0"/>
          </a:p>
        </p:txBody>
      </p:sp>
      <p:sp>
        <p:nvSpPr>
          <p:cNvPr id="17" name="Shape 15"/>
          <p:cNvSpPr/>
          <p:nvPr/>
        </p:nvSpPr>
        <p:spPr>
          <a:xfrm>
            <a:off x="704088" y="3675888"/>
            <a:ext cx="3143402" cy="0"/>
          </a:xfrm>
          <a:prstGeom prst="line">
            <a:avLst/>
          </a:prstGeom>
          <a:noFill/>
          <a:ln w="9525">
            <a:solidFill>
              <a:srgbClr val="D8D3C5"/>
            </a:solidFill>
            <a:prstDash val="solid"/>
          </a:ln>
        </p:spPr>
      </p:sp>
      <p:sp>
        <p:nvSpPr>
          <p:cNvPr id="18" name="Text 16"/>
          <p:cNvSpPr txBox="1"/>
          <p:nvPr/>
        </p:nvSpPr>
        <p:spPr>
          <a:xfrm>
            <a:off x="704088" y="3749040"/>
            <a:ext cx="3143402" cy="310896"/>
          </a:xfrm>
          <a:prstGeom prst="rect">
            <a:avLst/>
          </a:prstGeom>
          <a:noFill/>
          <a:ln/>
        </p:spPr>
        <p:txBody>
          <a:bodyPr wrap="square" lIns="0" tIns="0" rIns="0" bIns="0" rtlCol="0" anchor="t"/>
          <a:lstStyle/>
          <a:p>
            <a:pPr marL="0" indent="0" algn="l">
              <a:lnSpc>
                <a:spcPct val="108000"/>
              </a:lnSpc>
              <a:buNone/>
            </a:pPr>
            <a:r>
              <a:rPr lang="en-US" sz="870" i="1" dirty="0">
                <a:solidFill>
                  <a:srgbClr val="3A362E"/>
                </a:solidFill>
                <a:latin typeface="Arial" pitchFamily="34" charset="0"/>
                <a:ea typeface="Arial" pitchFamily="34" charset="-122"/>
                <a:cs typeface="Arial" pitchFamily="34" charset="-120"/>
              </a:rPr>
              <a:t>Best for: everyday Q&amp;A, quick drafts, broad general use</a:t>
            </a:r>
            <a:endParaRPr lang="en-US" sz="870" dirty="0"/>
          </a:p>
        </p:txBody>
      </p:sp>
      <p:sp>
        <p:nvSpPr>
          <p:cNvPr id="19" name="Shape 17"/>
          <p:cNvSpPr/>
          <p:nvPr/>
        </p:nvSpPr>
        <p:spPr>
          <a:xfrm>
            <a:off x="4322978" y="2121408"/>
            <a:ext cx="3545738" cy="1993392"/>
          </a:xfrm>
          <a:prstGeom prst="roundRect">
            <a:avLst>
              <a:gd name="adj" fmla="val 2752"/>
            </a:avLst>
          </a:prstGeom>
          <a:solidFill>
            <a:srgbClr val="EDE9DE"/>
          </a:solidFill>
          <a:ln w="12700">
            <a:solidFill>
              <a:srgbClr val="D8D3C5"/>
            </a:solidFill>
            <a:prstDash val="solid"/>
          </a:ln>
        </p:spPr>
      </p:sp>
      <p:sp>
        <p:nvSpPr>
          <p:cNvPr id="20" name="Shape 18"/>
          <p:cNvSpPr/>
          <p:nvPr/>
        </p:nvSpPr>
        <p:spPr>
          <a:xfrm>
            <a:off x="4524146" y="2304288"/>
            <a:ext cx="402336" cy="402336"/>
          </a:xfrm>
          <a:prstGeom prst="roundRect">
            <a:avLst>
              <a:gd name="adj" fmla="val 22727"/>
            </a:avLst>
          </a:prstGeom>
          <a:solidFill>
            <a:srgbClr val="CC785C"/>
          </a:solidFill>
          <a:ln/>
        </p:spPr>
      </p:sp>
      <p:sp>
        <p:nvSpPr>
          <p:cNvPr id="21" name="Text 19"/>
          <p:cNvSpPr txBox="1"/>
          <p:nvPr/>
        </p:nvSpPr>
        <p:spPr>
          <a:xfrm>
            <a:off x="4524146" y="2304288"/>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C</a:t>
            </a:r>
            <a:endParaRPr lang="en-US" sz="1600" dirty="0"/>
          </a:p>
        </p:txBody>
      </p:sp>
      <p:sp>
        <p:nvSpPr>
          <p:cNvPr id="22" name="Text 20"/>
          <p:cNvSpPr txBox="1"/>
          <p:nvPr/>
        </p:nvSpPr>
        <p:spPr>
          <a:xfrm>
            <a:off x="5054498" y="2304288"/>
            <a:ext cx="2613050" cy="237744"/>
          </a:xfrm>
          <a:prstGeom prst="rect">
            <a:avLst/>
          </a:prstGeom>
          <a:noFill/>
          <a:ln/>
        </p:spPr>
        <p:txBody>
          <a:bodyPr wrap="square" lIns="0" tIns="0" rIns="0" bIns="0" rtlCol="0" anchor="t"/>
          <a:lstStyle/>
          <a:p>
            <a:pPr marL="0" indent="0" algn="l">
              <a:buNone/>
            </a:pPr>
            <a:r>
              <a:rPr lang="en-US" sz="1350" b="1" dirty="0">
                <a:solidFill>
                  <a:srgbClr val="1A1A1A"/>
                </a:solidFill>
                <a:latin typeface="Arial" pitchFamily="34" charset="0"/>
                <a:ea typeface="Arial" pitchFamily="34" charset="-122"/>
                <a:cs typeface="Arial" pitchFamily="34" charset="-120"/>
              </a:rPr>
              <a:t>Claude</a:t>
            </a:r>
            <a:endParaRPr lang="en-US" sz="1350" dirty="0"/>
          </a:p>
        </p:txBody>
      </p:sp>
      <p:sp>
        <p:nvSpPr>
          <p:cNvPr id="23" name="Text 21"/>
          <p:cNvSpPr txBox="1"/>
          <p:nvPr/>
        </p:nvSpPr>
        <p:spPr>
          <a:xfrm>
            <a:off x="5054498" y="2542032"/>
            <a:ext cx="2613050" cy="182880"/>
          </a:xfrm>
          <a:prstGeom prst="rect">
            <a:avLst/>
          </a:prstGeom>
          <a:noFill/>
          <a:ln/>
        </p:spPr>
        <p:txBody>
          <a:bodyPr wrap="square" lIns="0" tIns="0" rIns="0" bIns="0" rtlCol="0" anchor="t"/>
          <a:lstStyle/>
          <a:p>
            <a:pPr marL="0" indent="0" algn="l">
              <a:buNone/>
            </a:pPr>
            <a:r>
              <a:rPr lang="en-US" sz="850" b="1" kern="0" spc="50" dirty="0">
                <a:solidFill>
                  <a:srgbClr val="6E6A60"/>
                </a:solidFill>
                <a:latin typeface="Arial" pitchFamily="34" charset="0"/>
                <a:ea typeface="Arial" pitchFamily="34" charset="-122"/>
                <a:cs typeface="Arial" pitchFamily="34" charset="-120"/>
              </a:rPr>
              <a:t>ANTHROPIC</a:t>
            </a:r>
            <a:endParaRPr lang="en-US" sz="850" dirty="0"/>
          </a:p>
        </p:txBody>
      </p:sp>
      <p:sp>
        <p:nvSpPr>
          <p:cNvPr id="24" name="Text 22"/>
          <p:cNvSpPr txBox="1"/>
          <p:nvPr/>
        </p:nvSpPr>
        <p:spPr>
          <a:xfrm>
            <a:off x="4524146" y="2834640"/>
            <a:ext cx="3143402" cy="960120"/>
          </a:xfrm>
          <a:prstGeom prst="rect">
            <a:avLst/>
          </a:prstGeom>
          <a:noFill/>
          <a:ln/>
        </p:spPr>
        <p:txBody>
          <a:bodyPr wrap="square" lIns="0" tIns="0" rIns="0" bIns="0" rtlCol="0" anchor="t"/>
          <a:lstStyle/>
          <a:p>
            <a:pPr marL="0" indent="0" algn="l">
              <a:lnSpc>
                <a:spcPct val="118000"/>
              </a:lnSpc>
              <a:spcAft>
                <a:spcPts val="200"/>
              </a:spcAft>
              <a:buNone/>
            </a:pPr>
            <a:r>
              <a:rPr lang="en-US" sz="930" dirty="0">
                <a:solidFill>
                  <a:srgbClr val="262626"/>
                </a:solidFill>
                <a:latin typeface="Arial" pitchFamily="34" charset="0"/>
                <a:ea typeface="Arial" pitchFamily="34" charset="-122"/>
                <a:cs typeface="Arial" pitchFamily="34" charset="-120"/>
              </a:rPr>
              <a:t>•  Current Sonnet model + faster Haiku</a:t>
            </a:r>
            <a:endParaRPr lang="en-US" sz="930" dirty="0"/>
          </a:p>
          <a:p>
            <a:pPr marL="0" indent="0" algn="l">
              <a:lnSpc>
                <a:spcPct val="118000"/>
              </a:lnSpc>
              <a:spcAft>
                <a:spcPts val="200"/>
              </a:spcAft>
              <a:buNone/>
            </a:pPr>
            <a:r>
              <a:rPr lang="en-US" sz="930" dirty="0">
                <a:solidFill>
                  <a:srgbClr val="262626"/>
                </a:solidFill>
                <a:latin typeface="Arial" pitchFamily="34" charset="0"/>
                <a:ea typeface="Arial" pitchFamily="34" charset="-122"/>
                <a:cs typeface="Arial" pitchFamily="34" charset="-120"/>
              </a:rPr>
              <a:t>•  Web search, file creation, Projects</a:t>
            </a:r>
            <a:endParaRPr lang="en-US" sz="930" dirty="0"/>
          </a:p>
          <a:p>
            <a:pPr marL="0" indent="0" algn="l">
              <a:lnSpc>
                <a:spcPct val="118000"/>
              </a:lnSpc>
              <a:spcAft>
                <a:spcPts val="200"/>
              </a:spcAft>
              <a:buNone/>
            </a:pPr>
            <a:r>
              <a:rPr lang="en-US" sz="930" dirty="0">
                <a:solidFill>
                  <a:srgbClr val="262626"/>
                </a:solidFill>
                <a:latin typeface="Arial" pitchFamily="34" charset="0"/>
                <a:ea typeface="Arial" pitchFamily="34" charset="-122"/>
                <a:cs typeface="Arial" pitchFamily="34" charset="-120"/>
              </a:rPr>
              <a:t>•  Memory, connectors &amp; skills</a:t>
            </a:r>
            <a:endParaRPr lang="en-US" sz="930" dirty="0"/>
          </a:p>
        </p:txBody>
      </p:sp>
      <p:sp>
        <p:nvSpPr>
          <p:cNvPr id="25" name="Shape 23"/>
          <p:cNvSpPr/>
          <p:nvPr/>
        </p:nvSpPr>
        <p:spPr>
          <a:xfrm>
            <a:off x="4524146" y="3675888"/>
            <a:ext cx="3143402" cy="0"/>
          </a:xfrm>
          <a:prstGeom prst="line">
            <a:avLst/>
          </a:prstGeom>
          <a:noFill/>
          <a:ln w="9525">
            <a:solidFill>
              <a:srgbClr val="D8D3C5"/>
            </a:solidFill>
            <a:prstDash val="solid"/>
          </a:ln>
        </p:spPr>
      </p:sp>
      <p:sp>
        <p:nvSpPr>
          <p:cNvPr id="26" name="Text 24"/>
          <p:cNvSpPr txBox="1"/>
          <p:nvPr/>
        </p:nvSpPr>
        <p:spPr>
          <a:xfrm>
            <a:off x="4524146" y="3749040"/>
            <a:ext cx="3143402" cy="310896"/>
          </a:xfrm>
          <a:prstGeom prst="rect">
            <a:avLst/>
          </a:prstGeom>
          <a:noFill/>
          <a:ln/>
        </p:spPr>
        <p:txBody>
          <a:bodyPr wrap="square" lIns="0" tIns="0" rIns="0" bIns="0" rtlCol="0" anchor="t"/>
          <a:lstStyle/>
          <a:p>
            <a:pPr marL="0" indent="0" algn="l">
              <a:lnSpc>
                <a:spcPct val="108000"/>
              </a:lnSpc>
              <a:buNone/>
            </a:pPr>
            <a:r>
              <a:rPr lang="en-US" sz="870" i="1" dirty="0">
                <a:solidFill>
                  <a:srgbClr val="3A362E"/>
                </a:solidFill>
                <a:latin typeface="Arial" pitchFamily="34" charset="0"/>
                <a:ea typeface="Arial" pitchFamily="34" charset="-122"/>
                <a:cs typeface="Arial" pitchFamily="34" charset="-120"/>
              </a:rPr>
              <a:t>Best for: longer documents, careful writing, coding help</a:t>
            </a:r>
            <a:endParaRPr lang="en-US" sz="870" dirty="0"/>
          </a:p>
        </p:txBody>
      </p:sp>
      <p:sp>
        <p:nvSpPr>
          <p:cNvPr id="27" name="Shape 25"/>
          <p:cNvSpPr/>
          <p:nvPr/>
        </p:nvSpPr>
        <p:spPr>
          <a:xfrm>
            <a:off x="8143037" y="2121408"/>
            <a:ext cx="3545738" cy="1993392"/>
          </a:xfrm>
          <a:prstGeom prst="roundRect">
            <a:avLst>
              <a:gd name="adj" fmla="val 2752"/>
            </a:avLst>
          </a:prstGeom>
          <a:solidFill>
            <a:srgbClr val="EDE9DE"/>
          </a:solidFill>
          <a:ln w="12700">
            <a:solidFill>
              <a:srgbClr val="D8D3C5"/>
            </a:solidFill>
            <a:prstDash val="solid"/>
          </a:ln>
        </p:spPr>
      </p:sp>
      <p:sp>
        <p:nvSpPr>
          <p:cNvPr id="28" name="Shape 26"/>
          <p:cNvSpPr/>
          <p:nvPr/>
        </p:nvSpPr>
        <p:spPr>
          <a:xfrm>
            <a:off x="8344205" y="2304288"/>
            <a:ext cx="402336" cy="402336"/>
          </a:xfrm>
          <a:prstGeom prst="roundRect">
            <a:avLst>
              <a:gd name="adj" fmla="val 22727"/>
            </a:avLst>
          </a:prstGeom>
          <a:solidFill>
            <a:srgbClr val="1FB8CD"/>
          </a:solidFill>
          <a:ln/>
        </p:spPr>
      </p:sp>
      <p:sp>
        <p:nvSpPr>
          <p:cNvPr id="29" name="Text 27"/>
          <p:cNvSpPr txBox="1"/>
          <p:nvPr/>
        </p:nvSpPr>
        <p:spPr>
          <a:xfrm>
            <a:off x="8344205" y="2304288"/>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P</a:t>
            </a:r>
            <a:endParaRPr lang="en-US" sz="1600" dirty="0"/>
          </a:p>
        </p:txBody>
      </p:sp>
      <p:sp>
        <p:nvSpPr>
          <p:cNvPr id="30" name="Text 28"/>
          <p:cNvSpPr txBox="1"/>
          <p:nvPr/>
        </p:nvSpPr>
        <p:spPr>
          <a:xfrm>
            <a:off x="8874557" y="2304288"/>
            <a:ext cx="2613050" cy="237744"/>
          </a:xfrm>
          <a:prstGeom prst="rect">
            <a:avLst/>
          </a:prstGeom>
          <a:noFill/>
          <a:ln/>
        </p:spPr>
        <p:txBody>
          <a:bodyPr wrap="square" lIns="0" tIns="0" rIns="0" bIns="0" rtlCol="0" anchor="t"/>
          <a:lstStyle/>
          <a:p>
            <a:pPr marL="0" indent="0" algn="l">
              <a:buNone/>
            </a:pPr>
            <a:r>
              <a:rPr lang="en-US" sz="1350" b="1" dirty="0">
                <a:solidFill>
                  <a:srgbClr val="1A1A1A"/>
                </a:solidFill>
                <a:latin typeface="Arial" pitchFamily="34" charset="0"/>
                <a:ea typeface="Arial" pitchFamily="34" charset="-122"/>
                <a:cs typeface="Arial" pitchFamily="34" charset="-120"/>
              </a:rPr>
              <a:t>Perplexity</a:t>
            </a:r>
            <a:endParaRPr lang="en-US" sz="1350" dirty="0"/>
          </a:p>
        </p:txBody>
      </p:sp>
      <p:sp>
        <p:nvSpPr>
          <p:cNvPr id="31" name="Text 29"/>
          <p:cNvSpPr txBox="1"/>
          <p:nvPr/>
        </p:nvSpPr>
        <p:spPr>
          <a:xfrm>
            <a:off x="8874557" y="2542032"/>
            <a:ext cx="2613050" cy="182880"/>
          </a:xfrm>
          <a:prstGeom prst="rect">
            <a:avLst/>
          </a:prstGeom>
          <a:noFill/>
          <a:ln/>
        </p:spPr>
        <p:txBody>
          <a:bodyPr wrap="square" lIns="0" tIns="0" rIns="0" bIns="0" rtlCol="0" anchor="t"/>
          <a:lstStyle/>
          <a:p>
            <a:pPr marL="0" indent="0" algn="l">
              <a:buNone/>
            </a:pPr>
            <a:r>
              <a:rPr lang="en-US" sz="850" b="1" kern="0" spc="50" dirty="0">
                <a:solidFill>
                  <a:srgbClr val="6E6A60"/>
                </a:solidFill>
                <a:latin typeface="Arial" pitchFamily="34" charset="0"/>
                <a:ea typeface="Arial" pitchFamily="34" charset="-122"/>
                <a:cs typeface="Arial" pitchFamily="34" charset="-120"/>
              </a:rPr>
              <a:t>PERPLEXITY AI</a:t>
            </a:r>
            <a:endParaRPr lang="en-US" sz="850" dirty="0"/>
          </a:p>
        </p:txBody>
      </p:sp>
      <p:sp>
        <p:nvSpPr>
          <p:cNvPr id="32" name="Text 30"/>
          <p:cNvSpPr txBox="1"/>
          <p:nvPr/>
        </p:nvSpPr>
        <p:spPr>
          <a:xfrm>
            <a:off x="8344205" y="2834640"/>
            <a:ext cx="3143402" cy="960120"/>
          </a:xfrm>
          <a:prstGeom prst="rect">
            <a:avLst/>
          </a:prstGeom>
          <a:noFill/>
          <a:ln/>
        </p:spPr>
        <p:txBody>
          <a:bodyPr wrap="square" lIns="0" tIns="0" rIns="0" bIns="0" rtlCol="0" anchor="t"/>
          <a:lstStyle/>
          <a:p>
            <a:pPr marL="0" indent="0" algn="l">
              <a:lnSpc>
                <a:spcPct val="118000"/>
              </a:lnSpc>
              <a:spcAft>
                <a:spcPts val="200"/>
              </a:spcAft>
              <a:buNone/>
            </a:pPr>
            <a:r>
              <a:rPr lang="en-US" sz="930" dirty="0">
                <a:solidFill>
                  <a:srgbClr val="262626"/>
                </a:solidFill>
                <a:latin typeface="Arial" pitchFamily="34" charset="0"/>
                <a:ea typeface="Arial" pitchFamily="34" charset="-122"/>
                <a:cs typeface="Arial" pitchFamily="34" charset="-120"/>
              </a:rPr>
              <a:t>•  AI search with cited sources</a:t>
            </a:r>
            <a:endParaRPr lang="en-US" sz="930" dirty="0"/>
          </a:p>
          <a:p>
            <a:pPr marL="0" indent="0" algn="l">
              <a:lnSpc>
                <a:spcPct val="118000"/>
              </a:lnSpc>
              <a:spcAft>
                <a:spcPts val="200"/>
              </a:spcAft>
              <a:buNone/>
            </a:pPr>
            <a:r>
              <a:rPr lang="en-US" sz="930" dirty="0">
                <a:solidFill>
                  <a:srgbClr val="262626"/>
                </a:solidFill>
                <a:latin typeface="Arial" pitchFamily="34" charset="0"/>
                <a:ea typeface="Arial" pitchFamily="34" charset="-122"/>
                <a:cs typeface="Arial" pitchFamily="34" charset="-120"/>
              </a:rPr>
              <a:t>•  Comet browser, free on all platforms</a:t>
            </a:r>
            <a:endParaRPr lang="en-US" sz="930" dirty="0"/>
          </a:p>
          <a:p>
            <a:pPr marL="0" indent="0" algn="l">
              <a:lnSpc>
                <a:spcPct val="118000"/>
              </a:lnSpc>
              <a:spcAft>
                <a:spcPts val="200"/>
              </a:spcAft>
              <a:buNone/>
            </a:pPr>
            <a:r>
              <a:rPr lang="en-US" sz="930" dirty="0">
                <a:solidFill>
                  <a:srgbClr val="262626"/>
                </a:solidFill>
                <a:latin typeface="Arial" pitchFamily="34" charset="0"/>
                <a:ea typeface="Arial" pitchFamily="34" charset="-122"/>
                <a:cs typeface="Arial" pitchFamily="34" charset="-120"/>
              </a:rPr>
              <a:t>•  Limited Deep Research access</a:t>
            </a:r>
            <a:endParaRPr lang="en-US" sz="930" dirty="0"/>
          </a:p>
        </p:txBody>
      </p:sp>
      <p:sp>
        <p:nvSpPr>
          <p:cNvPr id="33" name="Shape 31"/>
          <p:cNvSpPr/>
          <p:nvPr/>
        </p:nvSpPr>
        <p:spPr>
          <a:xfrm>
            <a:off x="8344205" y="3675888"/>
            <a:ext cx="3143402" cy="0"/>
          </a:xfrm>
          <a:prstGeom prst="line">
            <a:avLst/>
          </a:prstGeom>
          <a:noFill/>
          <a:ln w="9525">
            <a:solidFill>
              <a:srgbClr val="D8D3C5"/>
            </a:solidFill>
            <a:prstDash val="solid"/>
          </a:ln>
        </p:spPr>
      </p:sp>
      <p:sp>
        <p:nvSpPr>
          <p:cNvPr id="34" name="Text 32"/>
          <p:cNvSpPr txBox="1"/>
          <p:nvPr/>
        </p:nvSpPr>
        <p:spPr>
          <a:xfrm>
            <a:off x="8344205" y="3749040"/>
            <a:ext cx="3143402" cy="310896"/>
          </a:xfrm>
          <a:prstGeom prst="rect">
            <a:avLst/>
          </a:prstGeom>
          <a:noFill/>
          <a:ln/>
        </p:spPr>
        <p:txBody>
          <a:bodyPr wrap="square" lIns="0" tIns="0" rIns="0" bIns="0" rtlCol="0" anchor="t"/>
          <a:lstStyle/>
          <a:p>
            <a:pPr marL="0" indent="0" algn="l">
              <a:lnSpc>
                <a:spcPct val="108000"/>
              </a:lnSpc>
              <a:buNone/>
            </a:pPr>
            <a:r>
              <a:rPr lang="en-US" sz="870" i="1" dirty="0">
                <a:solidFill>
                  <a:srgbClr val="3A362E"/>
                </a:solidFill>
                <a:latin typeface="Arial" pitchFamily="34" charset="0"/>
                <a:ea typeface="Arial" pitchFamily="34" charset="-122"/>
                <a:cs typeface="Arial" pitchFamily="34" charset="-120"/>
              </a:rPr>
              <a:t>Best for: research with sources you can verify</a:t>
            </a:r>
            <a:endParaRPr lang="en-US" sz="870" dirty="0"/>
          </a:p>
        </p:txBody>
      </p:sp>
      <p:sp>
        <p:nvSpPr>
          <p:cNvPr id="35" name="Shape 33"/>
          <p:cNvSpPr/>
          <p:nvPr/>
        </p:nvSpPr>
        <p:spPr>
          <a:xfrm>
            <a:off x="502920" y="4297680"/>
            <a:ext cx="3545738" cy="1993392"/>
          </a:xfrm>
          <a:prstGeom prst="roundRect">
            <a:avLst>
              <a:gd name="adj" fmla="val 2752"/>
            </a:avLst>
          </a:prstGeom>
          <a:solidFill>
            <a:srgbClr val="EDE9DE"/>
          </a:solidFill>
          <a:ln w="12700">
            <a:solidFill>
              <a:srgbClr val="D8D3C5"/>
            </a:solidFill>
            <a:prstDash val="solid"/>
          </a:ln>
        </p:spPr>
      </p:sp>
      <p:sp>
        <p:nvSpPr>
          <p:cNvPr id="36" name="Shape 34"/>
          <p:cNvSpPr/>
          <p:nvPr/>
        </p:nvSpPr>
        <p:spPr>
          <a:xfrm>
            <a:off x="704088" y="4480560"/>
            <a:ext cx="402336" cy="402336"/>
          </a:xfrm>
          <a:prstGeom prst="roundRect">
            <a:avLst>
              <a:gd name="adj" fmla="val 22727"/>
            </a:avLst>
          </a:prstGeom>
          <a:solidFill>
            <a:srgbClr val="5B5FEF"/>
          </a:solidFill>
          <a:ln/>
        </p:spPr>
      </p:sp>
      <p:sp>
        <p:nvSpPr>
          <p:cNvPr id="37" name="Text 35"/>
          <p:cNvSpPr txBox="1"/>
          <p:nvPr/>
        </p:nvSpPr>
        <p:spPr>
          <a:xfrm>
            <a:off x="704088" y="4480560"/>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M</a:t>
            </a:r>
            <a:endParaRPr lang="en-US" sz="1600" dirty="0"/>
          </a:p>
        </p:txBody>
      </p:sp>
      <p:sp>
        <p:nvSpPr>
          <p:cNvPr id="38" name="Text 36"/>
          <p:cNvSpPr txBox="1"/>
          <p:nvPr/>
        </p:nvSpPr>
        <p:spPr>
          <a:xfrm>
            <a:off x="1234440" y="4480560"/>
            <a:ext cx="2613050" cy="237744"/>
          </a:xfrm>
          <a:prstGeom prst="rect">
            <a:avLst/>
          </a:prstGeom>
          <a:noFill/>
          <a:ln/>
        </p:spPr>
        <p:txBody>
          <a:bodyPr wrap="square" lIns="0" tIns="0" rIns="0" bIns="0" rtlCol="0" anchor="t"/>
          <a:lstStyle/>
          <a:p>
            <a:pPr marL="0" indent="0" algn="l">
              <a:buNone/>
            </a:pPr>
            <a:r>
              <a:rPr lang="en-US" sz="1350" b="1" dirty="0">
                <a:solidFill>
                  <a:srgbClr val="1A1A1A"/>
                </a:solidFill>
                <a:latin typeface="Arial" pitchFamily="34" charset="0"/>
                <a:ea typeface="Arial" pitchFamily="34" charset="-122"/>
                <a:cs typeface="Arial" pitchFamily="34" charset="-120"/>
              </a:rPr>
              <a:t>Manus</a:t>
            </a:r>
            <a:endParaRPr lang="en-US" sz="1350" dirty="0"/>
          </a:p>
        </p:txBody>
      </p:sp>
      <p:sp>
        <p:nvSpPr>
          <p:cNvPr id="39" name="Text 37"/>
          <p:cNvSpPr txBox="1"/>
          <p:nvPr/>
        </p:nvSpPr>
        <p:spPr>
          <a:xfrm>
            <a:off x="1234440" y="4718304"/>
            <a:ext cx="2613050" cy="182880"/>
          </a:xfrm>
          <a:prstGeom prst="rect">
            <a:avLst/>
          </a:prstGeom>
          <a:noFill/>
          <a:ln/>
        </p:spPr>
        <p:txBody>
          <a:bodyPr wrap="square" lIns="0" tIns="0" rIns="0" bIns="0" rtlCol="0" anchor="t"/>
          <a:lstStyle/>
          <a:p>
            <a:pPr marL="0" indent="0" algn="l">
              <a:buNone/>
            </a:pPr>
            <a:r>
              <a:rPr lang="en-US" sz="850" b="1" kern="0" spc="50" dirty="0">
                <a:solidFill>
                  <a:srgbClr val="6E6A60"/>
                </a:solidFill>
                <a:latin typeface="Arial" pitchFamily="34" charset="0"/>
                <a:ea typeface="Arial" pitchFamily="34" charset="-122"/>
                <a:cs typeface="Arial" pitchFamily="34" charset="-120"/>
              </a:rPr>
              <a:t>MONICA</a:t>
            </a:r>
            <a:endParaRPr lang="en-US" sz="850" dirty="0"/>
          </a:p>
        </p:txBody>
      </p:sp>
      <p:sp>
        <p:nvSpPr>
          <p:cNvPr id="40" name="Text 38"/>
          <p:cNvSpPr txBox="1"/>
          <p:nvPr/>
        </p:nvSpPr>
        <p:spPr>
          <a:xfrm>
            <a:off x="704088" y="5010912"/>
            <a:ext cx="3143402" cy="960120"/>
          </a:xfrm>
          <a:prstGeom prst="rect">
            <a:avLst/>
          </a:prstGeom>
          <a:noFill/>
          <a:ln/>
        </p:spPr>
        <p:txBody>
          <a:bodyPr wrap="square" lIns="0" tIns="0" rIns="0" bIns="0" rtlCol="0" anchor="t"/>
          <a:lstStyle/>
          <a:p>
            <a:pPr marL="0" indent="0" algn="l">
              <a:lnSpc>
                <a:spcPct val="118000"/>
              </a:lnSpc>
              <a:spcAft>
                <a:spcPts val="200"/>
              </a:spcAft>
              <a:buNone/>
            </a:pPr>
            <a:r>
              <a:rPr lang="en-US" sz="930" dirty="0">
                <a:solidFill>
                  <a:srgbClr val="262626"/>
                </a:solidFill>
                <a:latin typeface="Arial" pitchFamily="34" charset="0"/>
                <a:ea typeface="Arial" pitchFamily="34" charset="-122"/>
                <a:cs typeface="Arial" pitchFamily="34" charset="-120"/>
              </a:rPr>
              <a:t>•  Small daily credit allowance</a:t>
            </a:r>
            <a:endParaRPr lang="en-US" sz="930" dirty="0"/>
          </a:p>
          <a:p>
            <a:pPr marL="0" indent="0" algn="l">
              <a:lnSpc>
                <a:spcPct val="118000"/>
              </a:lnSpc>
              <a:spcAft>
                <a:spcPts val="200"/>
              </a:spcAft>
              <a:buNone/>
            </a:pPr>
            <a:r>
              <a:rPr lang="en-US" sz="930" dirty="0">
                <a:solidFill>
                  <a:srgbClr val="262626"/>
                </a:solidFill>
                <a:latin typeface="Arial" pitchFamily="34" charset="0"/>
                <a:ea typeface="Arial" pitchFamily="34" charset="-122"/>
                <a:cs typeface="Arial" pitchFamily="34" charset="-120"/>
              </a:rPr>
              <a:t>•  Agent Mode: browsing, files, data</a:t>
            </a:r>
            <a:endParaRPr lang="en-US" sz="930" dirty="0"/>
          </a:p>
          <a:p>
            <a:pPr marL="0" indent="0" algn="l">
              <a:lnSpc>
                <a:spcPct val="118000"/>
              </a:lnSpc>
              <a:spcAft>
                <a:spcPts val="200"/>
              </a:spcAft>
              <a:buNone/>
            </a:pPr>
            <a:r>
              <a:rPr lang="en-US" sz="930" dirty="0">
                <a:solidFill>
                  <a:srgbClr val="262626"/>
                </a:solidFill>
                <a:latin typeface="Arial" pitchFamily="34" charset="0"/>
                <a:ea typeface="Arial" pitchFamily="34" charset="-122"/>
                <a:cs typeface="Arial" pitchFamily="34" charset="-120"/>
              </a:rPr>
              <a:t>•  One task at a time on free tier</a:t>
            </a:r>
            <a:endParaRPr lang="en-US" sz="930" dirty="0"/>
          </a:p>
        </p:txBody>
      </p:sp>
      <p:sp>
        <p:nvSpPr>
          <p:cNvPr id="41" name="Shape 39"/>
          <p:cNvSpPr/>
          <p:nvPr/>
        </p:nvSpPr>
        <p:spPr>
          <a:xfrm>
            <a:off x="704088" y="5852160"/>
            <a:ext cx="3143402" cy="0"/>
          </a:xfrm>
          <a:prstGeom prst="line">
            <a:avLst/>
          </a:prstGeom>
          <a:noFill/>
          <a:ln w="9525">
            <a:solidFill>
              <a:srgbClr val="D8D3C5"/>
            </a:solidFill>
            <a:prstDash val="solid"/>
          </a:ln>
        </p:spPr>
      </p:sp>
      <p:sp>
        <p:nvSpPr>
          <p:cNvPr id="42" name="Text 40"/>
          <p:cNvSpPr txBox="1"/>
          <p:nvPr/>
        </p:nvSpPr>
        <p:spPr>
          <a:xfrm>
            <a:off x="704088" y="5925312"/>
            <a:ext cx="3143402" cy="310896"/>
          </a:xfrm>
          <a:prstGeom prst="rect">
            <a:avLst/>
          </a:prstGeom>
          <a:noFill/>
          <a:ln/>
        </p:spPr>
        <p:txBody>
          <a:bodyPr wrap="square" lIns="0" tIns="0" rIns="0" bIns="0" rtlCol="0" anchor="t"/>
          <a:lstStyle/>
          <a:p>
            <a:pPr marL="0" indent="0" algn="l">
              <a:lnSpc>
                <a:spcPct val="108000"/>
              </a:lnSpc>
              <a:buNone/>
            </a:pPr>
            <a:r>
              <a:rPr lang="en-US" sz="870" i="1" dirty="0">
                <a:solidFill>
                  <a:srgbClr val="3A362E"/>
                </a:solidFill>
                <a:latin typeface="Arial" pitchFamily="34" charset="0"/>
                <a:ea typeface="Arial" pitchFamily="34" charset="-122"/>
                <a:cs typeface="Arial" pitchFamily="34" charset="-120"/>
              </a:rPr>
              <a:t>Best for: trying autonomous tasks in small doses</a:t>
            </a:r>
            <a:endParaRPr lang="en-US" sz="870" dirty="0"/>
          </a:p>
        </p:txBody>
      </p:sp>
      <p:sp>
        <p:nvSpPr>
          <p:cNvPr id="43" name="Shape 41"/>
          <p:cNvSpPr/>
          <p:nvPr/>
        </p:nvSpPr>
        <p:spPr>
          <a:xfrm>
            <a:off x="4322978" y="4297680"/>
            <a:ext cx="3545738" cy="1993392"/>
          </a:xfrm>
          <a:prstGeom prst="roundRect">
            <a:avLst>
              <a:gd name="adj" fmla="val 2752"/>
            </a:avLst>
          </a:prstGeom>
          <a:solidFill>
            <a:srgbClr val="EDE9DE"/>
          </a:solidFill>
          <a:ln w="12700">
            <a:solidFill>
              <a:srgbClr val="D8D3C5"/>
            </a:solidFill>
            <a:prstDash val="solid"/>
          </a:ln>
        </p:spPr>
      </p:sp>
      <p:sp>
        <p:nvSpPr>
          <p:cNvPr id="44" name="Shape 42"/>
          <p:cNvSpPr/>
          <p:nvPr/>
        </p:nvSpPr>
        <p:spPr>
          <a:xfrm>
            <a:off x="4524146" y="4480560"/>
            <a:ext cx="402336" cy="402336"/>
          </a:xfrm>
          <a:prstGeom prst="roundRect">
            <a:avLst>
              <a:gd name="adj" fmla="val 22727"/>
            </a:avLst>
          </a:prstGeom>
          <a:solidFill>
            <a:srgbClr val="8B3DFF"/>
          </a:solidFill>
          <a:ln/>
        </p:spPr>
      </p:sp>
      <p:sp>
        <p:nvSpPr>
          <p:cNvPr id="45" name="Text 43"/>
          <p:cNvSpPr txBox="1"/>
          <p:nvPr/>
        </p:nvSpPr>
        <p:spPr>
          <a:xfrm>
            <a:off x="4524146" y="4480560"/>
            <a:ext cx="402336" cy="402336"/>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Cv</a:t>
            </a:r>
            <a:endParaRPr lang="en-US" sz="1250" dirty="0"/>
          </a:p>
        </p:txBody>
      </p:sp>
      <p:sp>
        <p:nvSpPr>
          <p:cNvPr id="46" name="Text 44"/>
          <p:cNvSpPr txBox="1"/>
          <p:nvPr/>
        </p:nvSpPr>
        <p:spPr>
          <a:xfrm>
            <a:off x="5054498" y="4480560"/>
            <a:ext cx="2613050" cy="237744"/>
          </a:xfrm>
          <a:prstGeom prst="rect">
            <a:avLst/>
          </a:prstGeom>
          <a:noFill/>
          <a:ln/>
        </p:spPr>
        <p:txBody>
          <a:bodyPr wrap="square" lIns="0" tIns="0" rIns="0" bIns="0" rtlCol="0" anchor="t"/>
          <a:lstStyle/>
          <a:p>
            <a:pPr marL="0" indent="0" algn="l">
              <a:buNone/>
            </a:pPr>
            <a:r>
              <a:rPr lang="en-US" sz="1350" b="1" dirty="0">
                <a:solidFill>
                  <a:srgbClr val="1A1A1A"/>
                </a:solidFill>
                <a:latin typeface="Arial" pitchFamily="34" charset="0"/>
                <a:ea typeface="Arial" pitchFamily="34" charset="-122"/>
                <a:cs typeface="Arial" pitchFamily="34" charset="-120"/>
              </a:rPr>
              <a:t>Canva</a:t>
            </a:r>
            <a:endParaRPr lang="en-US" sz="1350" dirty="0"/>
          </a:p>
        </p:txBody>
      </p:sp>
      <p:sp>
        <p:nvSpPr>
          <p:cNvPr id="47" name="Text 45"/>
          <p:cNvSpPr txBox="1"/>
          <p:nvPr/>
        </p:nvSpPr>
        <p:spPr>
          <a:xfrm>
            <a:off x="5054498" y="4718304"/>
            <a:ext cx="2613050" cy="182880"/>
          </a:xfrm>
          <a:prstGeom prst="rect">
            <a:avLst/>
          </a:prstGeom>
          <a:noFill/>
          <a:ln/>
        </p:spPr>
        <p:txBody>
          <a:bodyPr wrap="square" lIns="0" tIns="0" rIns="0" bIns="0" rtlCol="0" anchor="t"/>
          <a:lstStyle/>
          <a:p>
            <a:pPr marL="0" indent="0" algn="l">
              <a:buNone/>
            </a:pPr>
            <a:r>
              <a:rPr lang="en-US" sz="850" b="1" kern="0" spc="50" dirty="0">
                <a:solidFill>
                  <a:srgbClr val="6E6A60"/>
                </a:solidFill>
                <a:latin typeface="Arial" pitchFamily="34" charset="0"/>
                <a:ea typeface="Arial" pitchFamily="34" charset="-122"/>
                <a:cs typeface="Arial" pitchFamily="34" charset="-120"/>
              </a:rPr>
              <a:t>CANVA</a:t>
            </a:r>
            <a:endParaRPr lang="en-US" sz="850" dirty="0"/>
          </a:p>
        </p:txBody>
      </p:sp>
      <p:sp>
        <p:nvSpPr>
          <p:cNvPr id="48" name="Text 46"/>
          <p:cNvSpPr txBox="1"/>
          <p:nvPr/>
        </p:nvSpPr>
        <p:spPr>
          <a:xfrm>
            <a:off x="4524146" y="5010912"/>
            <a:ext cx="3143402" cy="960120"/>
          </a:xfrm>
          <a:prstGeom prst="rect">
            <a:avLst/>
          </a:prstGeom>
          <a:noFill/>
          <a:ln/>
        </p:spPr>
        <p:txBody>
          <a:bodyPr wrap="square" lIns="0" tIns="0" rIns="0" bIns="0" rtlCol="0" anchor="t"/>
          <a:lstStyle/>
          <a:p>
            <a:pPr marL="0" indent="0" algn="l">
              <a:lnSpc>
                <a:spcPct val="118000"/>
              </a:lnSpc>
              <a:spcAft>
                <a:spcPts val="200"/>
              </a:spcAft>
              <a:buNone/>
            </a:pPr>
            <a:r>
              <a:rPr lang="en-US" sz="930" dirty="0">
                <a:solidFill>
                  <a:srgbClr val="262626"/>
                </a:solidFill>
                <a:latin typeface="Arial" pitchFamily="34" charset="0"/>
                <a:ea typeface="Arial" pitchFamily="34" charset="-122"/>
                <a:cs typeface="Arial" pitchFamily="34" charset="-120"/>
              </a:rPr>
              <a:t>•  ~50 AI credits/month (Magic Studio)</a:t>
            </a:r>
            <a:endParaRPr lang="en-US" sz="930" dirty="0"/>
          </a:p>
          <a:p>
            <a:pPr marL="0" indent="0" algn="l">
              <a:lnSpc>
                <a:spcPct val="118000"/>
              </a:lnSpc>
              <a:spcAft>
                <a:spcPts val="200"/>
              </a:spcAft>
              <a:buNone/>
            </a:pPr>
            <a:r>
              <a:rPr lang="en-US" sz="930" dirty="0">
                <a:solidFill>
                  <a:srgbClr val="262626"/>
                </a:solidFill>
                <a:latin typeface="Arial" pitchFamily="34" charset="0"/>
                <a:ea typeface="Arial" pitchFamily="34" charset="-122"/>
                <a:cs typeface="Arial" pitchFamily="34" charset="-120"/>
              </a:rPr>
              <a:t>•  250,000+ free templates, 5GB storage</a:t>
            </a:r>
            <a:endParaRPr lang="en-US" sz="930" dirty="0"/>
          </a:p>
          <a:p>
            <a:pPr marL="0" indent="0" algn="l">
              <a:lnSpc>
                <a:spcPct val="118000"/>
              </a:lnSpc>
              <a:spcAft>
                <a:spcPts val="200"/>
              </a:spcAft>
              <a:buNone/>
            </a:pPr>
            <a:r>
              <a:rPr lang="en-US" sz="930" dirty="0">
                <a:solidFill>
                  <a:srgbClr val="262626"/>
                </a:solidFill>
                <a:latin typeface="Arial" pitchFamily="34" charset="0"/>
                <a:ea typeface="Arial" pitchFamily="34" charset="-122"/>
                <a:cs typeface="Arial" pitchFamily="34" charset="-120"/>
              </a:rPr>
              <a:t>•  Basic background remover &amp; editing</a:t>
            </a:r>
            <a:endParaRPr lang="en-US" sz="930" dirty="0"/>
          </a:p>
        </p:txBody>
      </p:sp>
      <p:sp>
        <p:nvSpPr>
          <p:cNvPr id="49" name="Shape 47"/>
          <p:cNvSpPr/>
          <p:nvPr/>
        </p:nvSpPr>
        <p:spPr>
          <a:xfrm>
            <a:off x="4524146" y="5852160"/>
            <a:ext cx="3143402" cy="0"/>
          </a:xfrm>
          <a:prstGeom prst="line">
            <a:avLst/>
          </a:prstGeom>
          <a:noFill/>
          <a:ln w="9525">
            <a:solidFill>
              <a:srgbClr val="D8D3C5"/>
            </a:solidFill>
            <a:prstDash val="solid"/>
          </a:ln>
        </p:spPr>
      </p:sp>
      <p:sp>
        <p:nvSpPr>
          <p:cNvPr id="50" name="Text 48"/>
          <p:cNvSpPr txBox="1"/>
          <p:nvPr/>
        </p:nvSpPr>
        <p:spPr>
          <a:xfrm>
            <a:off x="4524146" y="5925312"/>
            <a:ext cx="3143402" cy="310896"/>
          </a:xfrm>
          <a:prstGeom prst="rect">
            <a:avLst/>
          </a:prstGeom>
          <a:noFill/>
          <a:ln/>
        </p:spPr>
        <p:txBody>
          <a:bodyPr wrap="square" lIns="0" tIns="0" rIns="0" bIns="0" rtlCol="0" anchor="t"/>
          <a:lstStyle/>
          <a:p>
            <a:pPr marL="0" indent="0" algn="l">
              <a:lnSpc>
                <a:spcPct val="108000"/>
              </a:lnSpc>
              <a:buNone/>
            </a:pPr>
            <a:r>
              <a:rPr lang="en-US" sz="870" i="1" dirty="0">
                <a:solidFill>
                  <a:srgbClr val="3A362E"/>
                </a:solidFill>
                <a:latin typeface="Arial" pitchFamily="34" charset="0"/>
                <a:ea typeface="Arial" pitchFamily="34" charset="-122"/>
                <a:cs typeface="Arial" pitchFamily="34" charset="-120"/>
              </a:rPr>
              <a:t>Best for: quick social posts, decks, simple video</a:t>
            </a:r>
            <a:endParaRPr lang="en-US" sz="87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6E6A60"/>
                </a:solidFill>
                <a:latin typeface="Arial" pitchFamily="34" charset="0"/>
                <a:ea typeface="Arial" pitchFamily="34" charset="-122"/>
                <a:cs typeface="Arial" pitchFamily="34" charset="-120"/>
              </a:rPr>
              <a:t>CLASS 1 · AI AS A BUSINESS TOOL</a:t>
            </a:r>
            <a:endParaRPr lang="en-US" sz="1050" dirty="0"/>
          </a:p>
        </p:txBody>
      </p:sp>
      <p:sp>
        <p:nvSpPr>
          <p:cNvPr id="3" name="Shape 1"/>
          <p:cNvSpPr/>
          <p:nvPr/>
        </p:nvSpPr>
        <p:spPr>
          <a:xfrm>
            <a:off x="10561320" y="256032"/>
            <a:ext cx="1170432" cy="384048"/>
          </a:xfrm>
          <a:prstGeom prst="roundRect">
            <a:avLst>
              <a:gd name="adj" fmla="val 19048"/>
            </a:avLst>
          </a:prstGeom>
          <a:solidFill>
            <a:srgbClr val="1E4FFF"/>
          </a:solidFill>
          <a:ln/>
        </p:spPr>
      </p:sp>
      <p:sp>
        <p:nvSpPr>
          <p:cNvPr id="4" name="Text 2"/>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30–40</a:t>
            </a:r>
            <a:endParaRPr lang="en-US" sz="1300" dirty="0"/>
          </a:p>
        </p:txBody>
      </p:sp>
      <p:sp>
        <p:nvSpPr>
          <p:cNvPr id="5" name="Shape 3"/>
          <p:cNvSpPr/>
          <p:nvPr/>
        </p:nvSpPr>
        <p:spPr>
          <a:xfrm>
            <a:off x="502920" y="6446520"/>
            <a:ext cx="11183112" cy="0"/>
          </a:xfrm>
          <a:prstGeom prst="line">
            <a:avLst/>
          </a:prstGeom>
          <a:noFill/>
          <a:ln w="9525">
            <a:solidFill>
              <a:srgbClr val="D8D3C5"/>
            </a:solidFill>
            <a:prstDash val="solid"/>
          </a:ln>
        </p:spPr>
      </p:sp>
      <p:sp>
        <p:nvSpPr>
          <p:cNvPr id="7" name="Text 5"/>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09</a:t>
            </a:r>
            <a:endParaRPr lang="en-US" sz="900" dirty="0"/>
          </a:p>
        </p:txBody>
      </p:sp>
      <p:sp>
        <p:nvSpPr>
          <p:cNvPr id="8" name="Text 6"/>
          <p:cNvSpPr txBox="1"/>
          <p:nvPr/>
        </p:nvSpPr>
        <p:spPr>
          <a:xfrm>
            <a:off x="502920" y="713232"/>
            <a:ext cx="10607040" cy="868680"/>
          </a:xfrm>
          <a:prstGeom prst="rect">
            <a:avLst/>
          </a:prstGeom>
          <a:noFill/>
          <a:ln/>
        </p:spPr>
        <p:txBody>
          <a:bodyPr wrap="square" lIns="0" tIns="0" rIns="0" bIns="0" rtlCol="0" anchor="ctr"/>
          <a:lstStyle/>
          <a:p>
            <a:pPr marL="0" indent="0">
              <a:lnSpc>
                <a:spcPct val="102000"/>
              </a:lnSpc>
              <a:buNone/>
            </a:pPr>
            <a:r>
              <a:rPr lang="en-US" sz="3400" b="1" dirty="0">
                <a:solidFill>
                  <a:srgbClr val="1A1A1A"/>
                </a:solidFill>
                <a:latin typeface="Arial" pitchFamily="34" charset="0"/>
                <a:ea typeface="Arial" pitchFamily="34" charset="-122"/>
                <a:cs typeface="Arial" pitchFamily="34" charset="-120"/>
              </a:rPr>
              <a:t>One Idea Visits Four Tools</a:t>
            </a:r>
            <a:endParaRPr lang="en-US" sz="3400" dirty="0"/>
          </a:p>
        </p:txBody>
      </p:sp>
      <p:sp>
        <p:nvSpPr>
          <p:cNvPr id="9" name="Text 7"/>
          <p:cNvSpPr txBox="1"/>
          <p:nvPr/>
        </p:nvSpPr>
        <p:spPr>
          <a:xfrm>
            <a:off x="502920" y="1536192"/>
            <a:ext cx="10515600" cy="320040"/>
          </a:xfrm>
          <a:prstGeom prst="rect">
            <a:avLst/>
          </a:prstGeom>
          <a:noFill/>
          <a:ln/>
        </p:spPr>
        <p:txBody>
          <a:bodyPr wrap="square" lIns="0" tIns="0" rIns="0" bIns="0" rtlCol="0" anchor="ctr"/>
          <a:lstStyle/>
          <a:p>
            <a:pPr marL="0" indent="0">
              <a:buNone/>
            </a:pPr>
            <a:r>
              <a:rPr lang="en-US" sz="1300" i="1" dirty="0">
                <a:solidFill>
                  <a:srgbClr val="6E6A60"/>
                </a:solidFill>
                <a:latin typeface="Arial" pitchFamily="34" charset="0"/>
                <a:ea typeface="Arial" pitchFamily="34" charset="-122"/>
                <a:cs typeface="Arial" pitchFamily="34" charset="-120"/>
              </a:rPr>
              <a:t>Fictional case: a campus lunch preorder concept — a hypothesis, not a proven demand.</a:t>
            </a:r>
            <a:endParaRPr lang="en-US" sz="1300" dirty="0"/>
          </a:p>
        </p:txBody>
      </p:sp>
      <p:sp>
        <p:nvSpPr>
          <p:cNvPr id="10" name="Shape 8"/>
          <p:cNvSpPr/>
          <p:nvPr/>
        </p:nvSpPr>
        <p:spPr>
          <a:xfrm>
            <a:off x="502920" y="2788920"/>
            <a:ext cx="1699260" cy="2468880"/>
          </a:xfrm>
          <a:prstGeom prst="roundRect">
            <a:avLst>
              <a:gd name="adj" fmla="val 3767"/>
            </a:avLst>
          </a:prstGeom>
          <a:solidFill>
            <a:srgbClr val="EDE9DE"/>
          </a:solidFill>
          <a:ln/>
        </p:spPr>
      </p:sp>
      <p:sp>
        <p:nvSpPr>
          <p:cNvPr id="11" name="Text 9"/>
          <p:cNvSpPr txBox="1"/>
          <p:nvPr/>
        </p:nvSpPr>
        <p:spPr>
          <a:xfrm>
            <a:off x="612648" y="2898648"/>
            <a:ext cx="548640" cy="365760"/>
          </a:xfrm>
          <a:prstGeom prst="rect">
            <a:avLst/>
          </a:prstGeom>
          <a:noFill/>
          <a:ln/>
        </p:spPr>
        <p:txBody>
          <a:bodyPr wrap="square" lIns="0" tIns="0" rIns="0" bIns="0" rtlCol="0" anchor="ctr"/>
          <a:lstStyle/>
          <a:p>
            <a:pPr marL="0" indent="0">
              <a:buNone/>
            </a:pPr>
            <a:r>
              <a:rPr lang="en-US" sz="1500" b="1" dirty="0">
                <a:solidFill>
                  <a:srgbClr val="1E4FFF"/>
                </a:solidFill>
                <a:latin typeface="Arial" pitchFamily="34" charset="0"/>
                <a:ea typeface="Arial" pitchFamily="34" charset="-122"/>
                <a:cs typeface="Arial" pitchFamily="34" charset="-120"/>
              </a:rPr>
              <a:t>1</a:t>
            </a:r>
            <a:endParaRPr lang="en-US" sz="1500" dirty="0"/>
          </a:p>
        </p:txBody>
      </p:sp>
      <p:sp>
        <p:nvSpPr>
          <p:cNvPr id="12" name="Text 10"/>
          <p:cNvSpPr txBox="1"/>
          <p:nvPr/>
        </p:nvSpPr>
        <p:spPr>
          <a:xfrm>
            <a:off x="612648" y="3337560"/>
            <a:ext cx="1479804" cy="411480"/>
          </a:xfrm>
          <a:prstGeom prst="rect">
            <a:avLst/>
          </a:prstGeom>
          <a:noFill/>
          <a:ln/>
        </p:spPr>
        <p:txBody>
          <a:bodyPr wrap="square" lIns="0" tIns="0" rIns="0" bIns="0" rtlCol="0" anchor="ctr"/>
          <a:lstStyle/>
          <a:p>
            <a:pPr marL="0" indent="0">
              <a:buNone/>
            </a:pPr>
            <a:r>
              <a:rPr lang="en-US" sz="1450" b="1" dirty="0">
                <a:solidFill>
                  <a:srgbClr val="1A1A1A"/>
                </a:solidFill>
                <a:latin typeface="Arial" pitchFamily="34" charset="0"/>
                <a:ea typeface="Arial" pitchFamily="34" charset="-122"/>
                <a:cs typeface="Arial" pitchFamily="34" charset="-120"/>
              </a:rPr>
              <a:t>Research</a:t>
            </a:r>
            <a:endParaRPr lang="en-US" sz="1450" dirty="0"/>
          </a:p>
        </p:txBody>
      </p:sp>
      <p:sp>
        <p:nvSpPr>
          <p:cNvPr id="13" name="Text 11"/>
          <p:cNvSpPr txBox="1"/>
          <p:nvPr/>
        </p:nvSpPr>
        <p:spPr>
          <a:xfrm>
            <a:off x="612648" y="3794760"/>
            <a:ext cx="1479804" cy="1371600"/>
          </a:xfrm>
          <a:prstGeom prst="rect">
            <a:avLst/>
          </a:prstGeom>
          <a:noFill/>
          <a:ln/>
        </p:spPr>
        <p:txBody>
          <a:bodyPr wrap="square" lIns="0" tIns="0" rIns="0" bIns="0" rtlCol="0" anchor="t"/>
          <a:lstStyle/>
          <a:p>
            <a:pPr marL="0" indent="0">
              <a:buNone/>
            </a:pPr>
            <a:r>
              <a:rPr lang="en-US" sz="1050" dirty="0">
                <a:solidFill>
                  <a:srgbClr val="3E3B34"/>
                </a:solidFill>
                <a:latin typeface="Arial" pitchFamily="34" charset="0"/>
                <a:ea typeface="Arial" pitchFamily="34" charset="-122"/>
                <a:cs typeface="Arial" pitchFamily="34" charset="-120"/>
              </a:rPr>
              <a:t>Find an official source; note claim &amp; gaps</a:t>
            </a:r>
            <a:endParaRPr lang="en-US" sz="1050" dirty="0"/>
          </a:p>
        </p:txBody>
      </p:sp>
      <p:sp>
        <p:nvSpPr>
          <p:cNvPr id="14" name="Shape 12"/>
          <p:cNvSpPr/>
          <p:nvPr/>
        </p:nvSpPr>
        <p:spPr>
          <a:xfrm rot="5400000">
            <a:off x="2220468" y="3941064"/>
            <a:ext cx="164592" cy="164592"/>
          </a:xfrm>
          <a:prstGeom prst="triangle">
            <a:avLst/>
          </a:prstGeom>
          <a:solidFill>
            <a:srgbClr val="A9A59A"/>
          </a:solidFill>
          <a:ln/>
        </p:spPr>
      </p:sp>
      <p:sp>
        <p:nvSpPr>
          <p:cNvPr id="15" name="Shape 13"/>
          <p:cNvSpPr/>
          <p:nvPr/>
        </p:nvSpPr>
        <p:spPr>
          <a:xfrm>
            <a:off x="2403348" y="2788920"/>
            <a:ext cx="1699260" cy="2468880"/>
          </a:xfrm>
          <a:prstGeom prst="roundRect">
            <a:avLst>
              <a:gd name="adj" fmla="val 3767"/>
            </a:avLst>
          </a:prstGeom>
          <a:solidFill>
            <a:srgbClr val="1A1A1A"/>
          </a:solidFill>
          <a:ln/>
        </p:spPr>
      </p:sp>
      <p:sp>
        <p:nvSpPr>
          <p:cNvPr id="16" name="Text 14"/>
          <p:cNvSpPr txBox="1"/>
          <p:nvPr/>
        </p:nvSpPr>
        <p:spPr>
          <a:xfrm>
            <a:off x="2513076" y="2898648"/>
            <a:ext cx="548640" cy="365760"/>
          </a:xfrm>
          <a:prstGeom prst="rect">
            <a:avLst/>
          </a:prstGeom>
          <a:noFill/>
          <a:ln/>
        </p:spPr>
        <p:txBody>
          <a:bodyPr wrap="square" lIns="0" tIns="0" rIns="0" bIns="0" rtlCol="0" anchor="ctr"/>
          <a:lstStyle/>
          <a:p>
            <a:pPr marL="0" indent="0">
              <a:buNone/>
            </a:pPr>
            <a:r>
              <a:rPr lang="en-US" sz="1500" b="1" dirty="0">
                <a:solidFill>
                  <a:srgbClr val="1E4FFF"/>
                </a:solidFill>
                <a:latin typeface="Arial" pitchFamily="34" charset="0"/>
                <a:ea typeface="Arial" pitchFamily="34" charset="-122"/>
                <a:cs typeface="Arial" pitchFamily="34" charset="-120"/>
              </a:rPr>
              <a:t>2</a:t>
            </a:r>
            <a:endParaRPr lang="en-US" sz="1500" dirty="0"/>
          </a:p>
        </p:txBody>
      </p:sp>
      <p:sp>
        <p:nvSpPr>
          <p:cNvPr id="17" name="Text 15"/>
          <p:cNvSpPr txBox="1"/>
          <p:nvPr/>
        </p:nvSpPr>
        <p:spPr>
          <a:xfrm>
            <a:off x="2513076" y="3337560"/>
            <a:ext cx="1479804" cy="41148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Brief</a:t>
            </a:r>
            <a:endParaRPr lang="en-US" sz="1450" dirty="0"/>
          </a:p>
        </p:txBody>
      </p:sp>
      <p:sp>
        <p:nvSpPr>
          <p:cNvPr id="18" name="Text 16"/>
          <p:cNvSpPr txBox="1"/>
          <p:nvPr/>
        </p:nvSpPr>
        <p:spPr>
          <a:xfrm>
            <a:off x="2513076" y="3794760"/>
            <a:ext cx="1479804" cy="1371600"/>
          </a:xfrm>
          <a:prstGeom prst="rect">
            <a:avLst/>
          </a:prstGeom>
          <a:noFill/>
          <a:ln/>
        </p:spPr>
        <p:txBody>
          <a:bodyPr wrap="square" lIns="0" tIns="0" rIns="0" bIns="0" rtlCol="0" anchor="t"/>
          <a:lstStyle/>
          <a:p>
            <a:pPr marL="0" indent="0">
              <a:buNone/>
            </a:pPr>
            <a:r>
              <a:rPr lang="en-US" sz="1050" dirty="0">
                <a:solidFill>
                  <a:srgbClr val="D8D4C8"/>
                </a:solidFill>
                <a:latin typeface="Arial" pitchFamily="34" charset="0"/>
                <a:ea typeface="Arial" pitchFamily="34" charset="-122"/>
                <a:cs typeface="Arial" pitchFamily="34" charset="-120"/>
              </a:rPr>
              <a:t>Separate facts, verified info, assumptions</a:t>
            </a:r>
            <a:endParaRPr lang="en-US" sz="1050" dirty="0"/>
          </a:p>
        </p:txBody>
      </p:sp>
      <p:sp>
        <p:nvSpPr>
          <p:cNvPr id="19" name="Shape 17"/>
          <p:cNvSpPr/>
          <p:nvPr/>
        </p:nvSpPr>
        <p:spPr>
          <a:xfrm rot="5400000">
            <a:off x="4120896" y="3941064"/>
            <a:ext cx="164592" cy="164592"/>
          </a:xfrm>
          <a:prstGeom prst="triangle">
            <a:avLst/>
          </a:prstGeom>
          <a:solidFill>
            <a:srgbClr val="A9A59A"/>
          </a:solidFill>
          <a:ln/>
        </p:spPr>
      </p:sp>
      <p:sp>
        <p:nvSpPr>
          <p:cNvPr id="20" name="Shape 18"/>
          <p:cNvSpPr/>
          <p:nvPr/>
        </p:nvSpPr>
        <p:spPr>
          <a:xfrm>
            <a:off x="4303776" y="2788920"/>
            <a:ext cx="1699260" cy="2468880"/>
          </a:xfrm>
          <a:prstGeom prst="roundRect">
            <a:avLst>
              <a:gd name="adj" fmla="val 3767"/>
            </a:avLst>
          </a:prstGeom>
          <a:solidFill>
            <a:srgbClr val="EDE9DE"/>
          </a:solidFill>
          <a:ln/>
        </p:spPr>
      </p:sp>
      <p:sp>
        <p:nvSpPr>
          <p:cNvPr id="21" name="Text 19"/>
          <p:cNvSpPr txBox="1"/>
          <p:nvPr/>
        </p:nvSpPr>
        <p:spPr>
          <a:xfrm>
            <a:off x="4413504" y="2898648"/>
            <a:ext cx="548640" cy="365760"/>
          </a:xfrm>
          <a:prstGeom prst="rect">
            <a:avLst/>
          </a:prstGeom>
          <a:noFill/>
          <a:ln/>
        </p:spPr>
        <p:txBody>
          <a:bodyPr wrap="square" lIns="0" tIns="0" rIns="0" bIns="0" rtlCol="0" anchor="ctr"/>
          <a:lstStyle/>
          <a:p>
            <a:pPr marL="0" indent="0">
              <a:buNone/>
            </a:pPr>
            <a:r>
              <a:rPr lang="en-US" sz="1500" b="1" dirty="0">
                <a:solidFill>
                  <a:srgbClr val="1E4FFF"/>
                </a:solidFill>
                <a:latin typeface="Arial" pitchFamily="34" charset="0"/>
                <a:ea typeface="Arial" pitchFamily="34" charset="-122"/>
                <a:cs typeface="Arial" pitchFamily="34" charset="-120"/>
              </a:rPr>
              <a:t>3</a:t>
            </a:r>
            <a:endParaRPr lang="en-US" sz="1500" dirty="0"/>
          </a:p>
        </p:txBody>
      </p:sp>
      <p:sp>
        <p:nvSpPr>
          <p:cNvPr id="22" name="Text 20"/>
          <p:cNvSpPr txBox="1"/>
          <p:nvPr/>
        </p:nvSpPr>
        <p:spPr>
          <a:xfrm>
            <a:off x="4413504" y="3337560"/>
            <a:ext cx="1479804" cy="411480"/>
          </a:xfrm>
          <a:prstGeom prst="rect">
            <a:avLst/>
          </a:prstGeom>
          <a:noFill/>
          <a:ln/>
        </p:spPr>
        <p:txBody>
          <a:bodyPr wrap="square" lIns="0" tIns="0" rIns="0" bIns="0" rtlCol="0" anchor="ctr"/>
          <a:lstStyle/>
          <a:p>
            <a:pPr marL="0" indent="0">
              <a:buNone/>
            </a:pPr>
            <a:r>
              <a:rPr lang="en-US" sz="1450" b="1" dirty="0">
                <a:solidFill>
                  <a:srgbClr val="1A1A1A"/>
                </a:solidFill>
                <a:latin typeface="Arial" pitchFamily="34" charset="0"/>
                <a:ea typeface="Arial" pitchFamily="34" charset="-122"/>
                <a:cs typeface="Arial" pitchFamily="34" charset="-120"/>
              </a:rPr>
              <a:t>Draft</a:t>
            </a:r>
            <a:endParaRPr lang="en-US" sz="1450" dirty="0"/>
          </a:p>
        </p:txBody>
      </p:sp>
      <p:sp>
        <p:nvSpPr>
          <p:cNvPr id="23" name="Text 21"/>
          <p:cNvSpPr txBox="1"/>
          <p:nvPr/>
        </p:nvSpPr>
        <p:spPr>
          <a:xfrm>
            <a:off x="4413504" y="3794760"/>
            <a:ext cx="1479804" cy="1371600"/>
          </a:xfrm>
          <a:prstGeom prst="rect">
            <a:avLst/>
          </a:prstGeom>
          <a:noFill/>
          <a:ln/>
        </p:spPr>
        <p:txBody>
          <a:bodyPr wrap="square" lIns="0" tIns="0" rIns="0" bIns="0" rtlCol="0" anchor="t"/>
          <a:lstStyle/>
          <a:p>
            <a:pPr marL="0" indent="0">
              <a:buNone/>
            </a:pPr>
            <a:r>
              <a:rPr lang="en-US" sz="1050" dirty="0">
                <a:solidFill>
                  <a:srgbClr val="3E3B34"/>
                </a:solidFill>
                <a:latin typeface="Arial" pitchFamily="34" charset="0"/>
                <a:ea typeface="Arial" pitchFamily="34" charset="-122"/>
                <a:cs typeface="Arial" pitchFamily="34" charset="-120"/>
              </a:rPr>
              <a:t>Concise concept, under 180 words</a:t>
            </a:r>
            <a:endParaRPr lang="en-US" sz="1050" dirty="0"/>
          </a:p>
        </p:txBody>
      </p:sp>
      <p:sp>
        <p:nvSpPr>
          <p:cNvPr id="24" name="Shape 22"/>
          <p:cNvSpPr/>
          <p:nvPr/>
        </p:nvSpPr>
        <p:spPr>
          <a:xfrm rot="5400000">
            <a:off x="6021324" y="3941064"/>
            <a:ext cx="164592" cy="164592"/>
          </a:xfrm>
          <a:prstGeom prst="triangle">
            <a:avLst/>
          </a:prstGeom>
          <a:solidFill>
            <a:srgbClr val="A9A59A"/>
          </a:solidFill>
          <a:ln/>
        </p:spPr>
      </p:sp>
      <p:sp>
        <p:nvSpPr>
          <p:cNvPr id="25" name="Shape 23"/>
          <p:cNvSpPr/>
          <p:nvPr/>
        </p:nvSpPr>
        <p:spPr>
          <a:xfrm>
            <a:off x="6204204" y="2788920"/>
            <a:ext cx="1699260" cy="2468880"/>
          </a:xfrm>
          <a:prstGeom prst="roundRect">
            <a:avLst>
              <a:gd name="adj" fmla="val 3767"/>
            </a:avLst>
          </a:prstGeom>
          <a:solidFill>
            <a:srgbClr val="1A1A1A"/>
          </a:solidFill>
          <a:ln/>
        </p:spPr>
      </p:sp>
      <p:sp>
        <p:nvSpPr>
          <p:cNvPr id="26" name="Text 24"/>
          <p:cNvSpPr txBox="1"/>
          <p:nvPr/>
        </p:nvSpPr>
        <p:spPr>
          <a:xfrm>
            <a:off x="6313932" y="2898648"/>
            <a:ext cx="548640" cy="365760"/>
          </a:xfrm>
          <a:prstGeom prst="rect">
            <a:avLst/>
          </a:prstGeom>
          <a:noFill/>
          <a:ln/>
        </p:spPr>
        <p:txBody>
          <a:bodyPr wrap="square" lIns="0" tIns="0" rIns="0" bIns="0" rtlCol="0" anchor="ctr"/>
          <a:lstStyle/>
          <a:p>
            <a:pPr marL="0" indent="0">
              <a:buNone/>
            </a:pPr>
            <a:r>
              <a:rPr lang="en-US" sz="1500" b="1" dirty="0">
                <a:solidFill>
                  <a:srgbClr val="1E4FFF"/>
                </a:solidFill>
                <a:latin typeface="Arial" pitchFamily="34" charset="0"/>
                <a:ea typeface="Arial" pitchFamily="34" charset="-122"/>
                <a:cs typeface="Arial" pitchFamily="34" charset="-120"/>
              </a:rPr>
              <a:t>4</a:t>
            </a:r>
            <a:endParaRPr lang="en-US" sz="1500" dirty="0"/>
          </a:p>
        </p:txBody>
      </p:sp>
      <p:sp>
        <p:nvSpPr>
          <p:cNvPr id="27" name="Text 25"/>
          <p:cNvSpPr txBox="1"/>
          <p:nvPr/>
        </p:nvSpPr>
        <p:spPr>
          <a:xfrm>
            <a:off x="6313932" y="3337560"/>
            <a:ext cx="1479804" cy="41148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Critique</a:t>
            </a:r>
            <a:endParaRPr lang="en-US" sz="1450" dirty="0"/>
          </a:p>
        </p:txBody>
      </p:sp>
      <p:sp>
        <p:nvSpPr>
          <p:cNvPr id="28" name="Text 26"/>
          <p:cNvSpPr txBox="1"/>
          <p:nvPr/>
        </p:nvSpPr>
        <p:spPr>
          <a:xfrm>
            <a:off x="6313932" y="3794760"/>
            <a:ext cx="1479804" cy="1371600"/>
          </a:xfrm>
          <a:prstGeom prst="rect">
            <a:avLst/>
          </a:prstGeom>
          <a:noFill/>
          <a:ln/>
        </p:spPr>
        <p:txBody>
          <a:bodyPr wrap="square" lIns="0" tIns="0" rIns="0" bIns="0" rtlCol="0" anchor="t"/>
          <a:lstStyle/>
          <a:p>
            <a:pPr marL="0" indent="0">
              <a:buNone/>
            </a:pPr>
            <a:r>
              <a:rPr lang="en-US" sz="1050" dirty="0">
                <a:solidFill>
                  <a:srgbClr val="D8D4C8"/>
                </a:solidFill>
                <a:latin typeface="Arial" pitchFamily="34" charset="0"/>
                <a:ea typeface="Arial" pitchFamily="34" charset="-122"/>
                <a:cs typeface="Arial" pitchFamily="34" charset="-120"/>
              </a:rPr>
              <a:t>Check against brief; no new facts added</a:t>
            </a:r>
            <a:endParaRPr lang="en-US" sz="1050" dirty="0"/>
          </a:p>
        </p:txBody>
      </p:sp>
      <p:sp>
        <p:nvSpPr>
          <p:cNvPr id="29" name="Shape 27"/>
          <p:cNvSpPr/>
          <p:nvPr/>
        </p:nvSpPr>
        <p:spPr>
          <a:xfrm rot="5400000">
            <a:off x="7921752" y="3941064"/>
            <a:ext cx="164592" cy="164592"/>
          </a:xfrm>
          <a:prstGeom prst="triangle">
            <a:avLst/>
          </a:prstGeom>
          <a:solidFill>
            <a:srgbClr val="A9A59A"/>
          </a:solidFill>
          <a:ln/>
        </p:spPr>
      </p:sp>
      <p:sp>
        <p:nvSpPr>
          <p:cNvPr id="30" name="Shape 28"/>
          <p:cNvSpPr/>
          <p:nvPr/>
        </p:nvSpPr>
        <p:spPr>
          <a:xfrm>
            <a:off x="8104632" y="2788920"/>
            <a:ext cx="1699260" cy="2468880"/>
          </a:xfrm>
          <a:prstGeom prst="roundRect">
            <a:avLst>
              <a:gd name="adj" fmla="val 3767"/>
            </a:avLst>
          </a:prstGeom>
          <a:solidFill>
            <a:srgbClr val="EDE9DE"/>
          </a:solidFill>
          <a:ln/>
        </p:spPr>
      </p:sp>
      <p:sp>
        <p:nvSpPr>
          <p:cNvPr id="31" name="Text 29"/>
          <p:cNvSpPr txBox="1"/>
          <p:nvPr/>
        </p:nvSpPr>
        <p:spPr>
          <a:xfrm>
            <a:off x="8214360" y="2898648"/>
            <a:ext cx="548640" cy="365760"/>
          </a:xfrm>
          <a:prstGeom prst="rect">
            <a:avLst/>
          </a:prstGeom>
          <a:noFill/>
          <a:ln/>
        </p:spPr>
        <p:txBody>
          <a:bodyPr wrap="square" lIns="0" tIns="0" rIns="0" bIns="0" rtlCol="0" anchor="ctr"/>
          <a:lstStyle/>
          <a:p>
            <a:pPr marL="0" indent="0">
              <a:buNone/>
            </a:pPr>
            <a:r>
              <a:rPr lang="en-US" sz="1500" b="1" dirty="0">
                <a:solidFill>
                  <a:srgbClr val="1E4FFF"/>
                </a:solidFill>
                <a:latin typeface="Arial" pitchFamily="34" charset="0"/>
                <a:ea typeface="Arial" pitchFamily="34" charset="-122"/>
                <a:cs typeface="Arial" pitchFamily="34" charset="-120"/>
              </a:rPr>
              <a:t>5</a:t>
            </a:r>
            <a:endParaRPr lang="en-US" sz="1500" dirty="0"/>
          </a:p>
        </p:txBody>
      </p:sp>
      <p:sp>
        <p:nvSpPr>
          <p:cNvPr id="32" name="Text 30"/>
          <p:cNvSpPr txBox="1"/>
          <p:nvPr/>
        </p:nvSpPr>
        <p:spPr>
          <a:xfrm>
            <a:off x="8214360" y="3337560"/>
            <a:ext cx="1479804" cy="411480"/>
          </a:xfrm>
          <a:prstGeom prst="rect">
            <a:avLst/>
          </a:prstGeom>
          <a:noFill/>
          <a:ln/>
        </p:spPr>
        <p:txBody>
          <a:bodyPr wrap="square" lIns="0" tIns="0" rIns="0" bIns="0" rtlCol="0" anchor="ctr"/>
          <a:lstStyle/>
          <a:p>
            <a:pPr marL="0" indent="0">
              <a:buNone/>
            </a:pPr>
            <a:r>
              <a:rPr lang="en-US" sz="1450" b="1" dirty="0">
                <a:solidFill>
                  <a:srgbClr val="1A1A1A"/>
                </a:solidFill>
                <a:latin typeface="Arial" pitchFamily="34" charset="0"/>
                <a:ea typeface="Arial" pitchFamily="34" charset="-122"/>
                <a:cs typeface="Arial" pitchFamily="34" charset="-120"/>
              </a:rPr>
              <a:t>Slides</a:t>
            </a:r>
            <a:endParaRPr lang="en-US" sz="1450" dirty="0"/>
          </a:p>
        </p:txBody>
      </p:sp>
      <p:sp>
        <p:nvSpPr>
          <p:cNvPr id="33" name="Text 31"/>
          <p:cNvSpPr txBox="1"/>
          <p:nvPr/>
        </p:nvSpPr>
        <p:spPr>
          <a:xfrm>
            <a:off x="8214360" y="3794760"/>
            <a:ext cx="1479804" cy="1371600"/>
          </a:xfrm>
          <a:prstGeom prst="rect">
            <a:avLst/>
          </a:prstGeom>
          <a:noFill/>
          <a:ln/>
        </p:spPr>
        <p:txBody>
          <a:bodyPr wrap="square" lIns="0" tIns="0" rIns="0" bIns="0" rtlCol="0" anchor="t"/>
          <a:lstStyle/>
          <a:p>
            <a:pPr marL="0" indent="0">
              <a:buNone/>
            </a:pPr>
            <a:r>
              <a:rPr lang="en-US" sz="1050" dirty="0">
                <a:solidFill>
                  <a:srgbClr val="3E3B34"/>
                </a:solidFill>
                <a:latin typeface="Arial" pitchFamily="34" charset="0"/>
                <a:ea typeface="Arial" pitchFamily="34" charset="-122"/>
                <a:cs typeface="Arial" pitchFamily="34" charset="-120"/>
              </a:rPr>
              <a:t>5-slide outline; assumptions preserved</a:t>
            </a:r>
            <a:endParaRPr lang="en-US" sz="1050" dirty="0"/>
          </a:p>
        </p:txBody>
      </p:sp>
      <p:sp>
        <p:nvSpPr>
          <p:cNvPr id="34" name="Shape 32"/>
          <p:cNvSpPr/>
          <p:nvPr/>
        </p:nvSpPr>
        <p:spPr>
          <a:xfrm rot="5400000">
            <a:off x="9822180" y="3941064"/>
            <a:ext cx="164592" cy="164592"/>
          </a:xfrm>
          <a:prstGeom prst="triangle">
            <a:avLst/>
          </a:prstGeom>
          <a:solidFill>
            <a:srgbClr val="A9A59A"/>
          </a:solidFill>
          <a:ln/>
        </p:spPr>
      </p:sp>
      <p:sp>
        <p:nvSpPr>
          <p:cNvPr id="35" name="Shape 33"/>
          <p:cNvSpPr/>
          <p:nvPr/>
        </p:nvSpPr>
        <p:spPr>
          <a:xfrm>
            <a:off x="10005060" y="2788920"/>
            <a:ext cx="1699260" cy="2468880"/>
          </a:xfrm>
          <a:prstGeom prst="roundRect">
            <a:avLst>
              <a:gd name="adj" fmla="val 3767"/>
            </a:avLst>
          </a:prstGeom>
          <a:solidFill>
            <a:srgbClr val="1A1A1A"/>
          </a:solidFill>
          <a:ln/>
        </p:spPr>
      </p:sp>
      <p:sp>
        <p:nvSpPr>
          <p:cNvPr id="36" name="Text 34"/>
          <p:cNvSpPr txBox="1"/>
          <p:nvPr/>
        </p:nvSpPr>
        <p:spPr>
          <a:xfrm>
            <a:off x="10114788" y="2898648"/>
            <a:ext cx="548640" cy="365760"/>
          </a:xfrm>
          <a:prstGeom prst="rect">
            <a:avLst/>
          </a:prstGeom>
          <a:noFill/>
          <a:ln/>
        </p:spPr>
        <p:txBody>
          <a:bodyPr wrap="square" lIns="0" tIns="0" rIns="0" bIns="0" rtlCol="0" anchor="ctr"/>
          <a:lstStyle/>
          <a:p>
            <a:pPr marL="0" indent="0">
              <a:buNone/>
            </a:pPr>
            <a:r>
              <a:rPr lang="en-US" sz="1500" b="1" dirty="0">
                <a:solidFill>
                  <a:srgbClr val="1E4FFF"/>
                </a:solidFill>
                <a:latin typeface="Arial" pitchFamily="34" charset="0"/>
                <a:ea typeface="Arial" pitchFamily="34" charset="-122"/>
                <a:cs typeface="Arial" pitchFamily="34" charset="-120"/>
              </a:rPr>
              <a:t>6</a:t>
            </a:r>
            <a:endParaRPr lang="en-US" sz="1500" dirty="0"/>
          </a:p>
        </p:txBody>
      </p:sp>
      <p:sp>
        <p:nvSpPr>
          <p:cNvPr id="37" name="Text 35"/>
          <p:cNvSpPr txBox="1"/>
          <p:nvPr/>
        </p:nvSpPr>
        <p:spPr>
          <a:xfrm>
            <a:off x="10114788" y="3337560"/>
            <a:ext cx="1479804" cy="41148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Check</a:t>
            </a:r>
            <a:endParaRPr lang="en-US" sz="1450" dirty="0"/>
          </a:p>
        </p:txBody>
      </p:sp>
      <p:sp>
        <p:nvSpPr>
          <p:cNvPr id="38" name="Text 36"/>
          <p:cNvSpPr txBox="1"/>
          <p:nvPr/>
        </p:nvSpPr>
        <p:spPr>
          <a:xfrm>
            <a:off x="10114788" y="3794760"/>
            <a:ext cx="1479804" cy="1371600"/>
          </a:xfrm>
          <a:prstGeom prst="rect">
            <a:avLst/>
          </a:prstGeom>
          <a:noFill/>
          <a:ln/>
        </p:spPr>
        <p:txBody>
          <a:bodyPr wrap="square" lIns="0" tIns="0" rIns="0" bIns="0" rtlCol="0" anchor="t"/>
          <a:lstStyle/>
          <a:p>
            <a:pPr marL="0" indent="0">
              <a:buNone/>
            </a:pPr>
            <a:r>
              <a:rPr lang="en-US" sz="1050" dirty="0">
                <a:solidFill>
                  <a:srgbClr val="D8D4C8"/>
                </a:solidFill>
                <a:latin typeface="Arial" pitchFamily="34" charset="0"/>
                <a:ea typeface="Arial" pitchFamily="34" charset="-122"/>
                <a:cs typeface="Arial" pitchFamily="34" charset="-120"/>
              </a:rPr>
              <a:t>Label what's evidence, what's hypothesis</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6">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548640" y="6035040"/>
            <a:ext cx="41148" cy="41148"/>
          </a:xfrm>
          <a:prstGeom prst="ellipse">
            <a:avLst/>
          </a:prstGeom>
          <a:solidFill>
            <a:srgbClr val="2E2E2E"/>
          </a:solidFill>
          <a:ln/>
        </p:spPr>
      </p:sp>
      <p:sp>
        <p:nvSpPr>
          <p:cNvPr id="3" name="Shape 1"/>
          <p:cNvSpPr/>
          <p:nvPr/>
        </p:nvSpPr>
        <p:spPr>
          <a:xfrm>
            <a:off x="722376" y="6035040"/>
            <a:ext cx="41148" cy="41148"/>
          </a:xfrm>
          <a:prstGeom prst="ellipse">
            <a:avLst/>
          </a:prstGeom>
          <a:solidFill>
            <a:srgbClr val="2E2E2E"/>
          </a:solidFill>
          <a:ln/>
        </p:spPr>
      </p:sp>
      <p:sp>
        <p:nvSpPr>
          <p:cNvPr id="4" name="Shape 2"/>
          <p:cNvSpPr/>
          <p:nvPr/>
        </p:nvSpPr>
        <p:spPr>
          <a:xfrm>
            <a:off x="896112" y="6035040"/>
            <a:ext cx="41148" cy="41148"/>
          </a:xfrm>
          <a:prstGeom prst="ellipse">
            <a:avLst/>
          </a:prstGeom>
          <a:solidFill>
            <a:srgbClr val="2E2E2E"/>
          </a:solidFill>
          <a:ln/>
        </p:spPr>
      </p:sp>
      <p:sp>
        <p:nvSpPr>
          <p:cNvPr id="5" name="Shape 3"/>
          <p:cNvSpPr/>
          <p:nvPr/>
        </p:nvSpPr>
        <p:spPr>
          <a:xfrm>
            <a:off x="1069848" y="6035040"/>
            <a:ext cx="41148" cy="41148"/>
          </a:xfrm>
          <a:prstGeom prst="ellipse">
            <a:avLst/>
          </a:prstGeom>
          <a:solidFill>
            <a:srgbClr val="2E2E2E"/>
          </a:solidFill>
          <a:ln/>
        </p:spPr>
      </p:sp>
      <p:sp>
        <p:nvSpPr>
          <p:cNvPr id="6" name="Shape 4"/>
          <p:cNvSpPr/>
          <p:nvPr/>
        </p:nvSpPr>
        <p:spPr>
          <a:xfrm>
            <a:off x="1243584" y="6035040"/>
            <a:ext cx="41148" cy="41148"/>
          </a:xfrm>
          <a:prstGeom prst="ellipse">
            <a:avLst/>
          </a:prstGeom>
          <a:solidFill>
            <a:srgbClr val="2E2E2E"/>
          </a:solidFill>
          <a:ln/>
        </p:spPr>
      </p:sp>
      <p:sp>
        <p:nvSpPr>
          <p:cNvPr id="7" name="Shape 5"/>
          <p:cNvSpPr/>
          <p:nvPr/>
        </p:nvSpPr>
        <p:spPr>
          <a:xfrm>
            <a:off x="1417320" y="6035040"/>
            <a:ext cx="41148" cy="41148"/>
          </a:xfrm>
          <a:prstGeom prst="ellipse">
            <a:avLst/>
          </a:prstGeom>
          <a:solidFill>
            <a:srgbClr val="2E2E2E"/>
          </a:solidFill>
          <a:ln/>
        </p:spPr>
      </p:sp>
      <p:sp>
        <p:nvSpPr>
          <p:cNvPr id="8" name="Shape 6"/>
          <p:cNvSpPr/>
          <p:nvPr/>
        </p:nvSpPr>
        <p:spPr>
          <a:xfrm>
            <a:off x="1591056" y="6035040"/>
            <a:ext cx="41148" cy="41148"/>
          </a:xfrm>
          <a:prstGeom prst="ellipse">
            <a:avLst/>
          </a:prstGeom>
          <a:solidFill>
            <a:srgbClr val="2E2E2E"/>
          </a:solidFill>
          <a:ln/>
        </p:spPr>
      </p:sp>
      <p:sp>
        <p:nvSpPr>
          <p:cNvPr id="9" name="Shape 7"/>
          <p:cNvSpPr/>
          <p:nvPr/>
        </p:nvSpPr>
        <p:spPr>
          <a:xfrm>
            <a:off x="1764792" y="6035040"/>
            <a:ext cx="41148" cy="41148"/>
          </a:xfrm>
          <a:prstGeom prst="ellipse">
            <a:avLst/>
          </a:prstGeom>
          <a:solidFill>
            <a:srgbClr val="2E2E2E"/>
          </a:solidFill>
          <a:ln/>
        </p:spPr>
      </p:sp>
      <p:sp>
        <p:nvSpPr>
          <p:cNvPr id="10" name="Shape 8"/>
          <p:cNvSpPr/>
          <p:nvPr/>
        </p:nvSpPr>
        <p:spPr>
          <a:xfrm>
            <a:off x="1938528" y="6035040"/>
            <a:ext cx="41148" cy="41148"/>
          </a:xfrm>
          <a:prstGeom prst="ellipse">
            <a:avLst/>
          </a:prstGeom>
          <a:solidFill>
            <a:srgbClr val="2E2E2E"/>
          </a:solidFill>
          <a:ln/>
        </p:spPr>
      </p:sp>
      <p:sp>
        <p:nvSpPr>
          <p:cNvPr id="11" name="Shape 9"/>
          <p:cNvSpPr/>
          <p:nvPr/>
        </p:nvSpPr>
        <p:spPr>
          <a:xfrm>
            <a:off x="2112264" y="6035040"/>
            <a:ext cx="41148" cy="41148"/>
          </a:xfrm>
          <a:prstGeom prst="ellipse">
            <a:avLst/>
          </a:prstGeom>
          <a:solidFill>
            <a:srgbClr val="2E2E2E"/>
          </a:solidFill>
          <a:ln/>
        </p:spPr>
      </p:sp>
      <p:sp>
        <p:nvSpPr>
          <p:cNvPr id="12" name="Shape 10"/>
          <p:cNvSpPr/>
          <p:nvPr/>
        </p:nvSpPr>
        <p:spPr>
          <a:xfrm>
            <a:off x="548640" y="6208776"/>
            <a:ext cx="41148" cy="41148"/>
          </a:xfrm>
          <a:prstGeom prst="ellipse">
            <a:avLst/>
          </a:prstGeom>
          <a:solidFill>
            <a:srgbClr val="2E2E2E"/>
          </a:solidFill>
          <a:ln/>
        </p:spPr>
      </p:sp>
      <p:sp>
        <p:nvSpPr>
          <p:cNvPr id="13" name="Shape 11"/>
          <p:cNvSpPr/>
          <p:nvPr/>
        </p:nvSpPr>
        <p:spPr>
          <a:xfrm>
            <a:off x="722376" y="6208776"/>
            <a:ext cx="41148" cy="41148"/>
          </a:xfrm>
          <a:prstGeom prst="ellipse">
            <a:avLst/>
          </a:prstGeom>
          <a:solidFill>
            <a:srgbClr val="2E2E2E"/>
          </a:solidFill>
          <a:ln/>
        </p:spPr>
      </p:sp>
      <p:sp>
        <p:nvSpPr>
          <p:cNvPr id="14" name="Shape 12"/>
          <p:cNvSpPr/>
          <p:nvPr/>
        </p:nvSpPr>
        <p:spPr>
          <a:xfrm>
            <a:off x="896112" y="6208776"/>
            <a:ext cx="41148" cy="41148"/>
          </a:xfrm>
          <a:prstGeom prst="ellipse">
            <a:avLst/>
          </a:prstGeom>
          <a:solidFill>
            <a:srgbClr val="2E2E2E"/>
          </a:solidFill>
          <a:ln/>
        </p:spPr>
      </p:sp>
      <p:sp>
        <p:nvSpPr>
          <p:cNvPr id="15" name="Shape 13"/>
          <p:cNvSpPr/>
          <p:nvPr/>
        </p:nvSpPr>
        <p:spPr>
          <a:xfrm>
            <a:off x="1069848" y="6208776"/>
            <a:ext cx="41148" cy="41148"/>
          </a:xfrm>
          <a:prstGeom prst="ellipse">
            <a:avLst/>
          </a:prstGeom>
          <a:solidFill>
            <a:srgbClr val="2E2E2E"/>
          </a:solidFill>
          <a:ln/>
        </p:spPr>
      </p:sp>
      <p:sp>
        <p:nvSpPr>
          <p:cNvPr id="16" name="Shape 14"/>
          <p:cNvSpPr/>
          <p:nvPr/>
        </p:nvSpPr>
        <p:spPr>
          <a:xfrm>
            <a:off x="1243584" y="6208776"/>
            <a:ext cx="41148" cy="41148"/>
          </a:xfrm>
          <a:prstGeom prst="ellipse">
            <a:avLst/>
          </a:prstGeom>
          <a:solidFill>
            <a:srgbClr val="2E2E2E"/>
          </a:solidFill>
          <a:ln/>
        </p:spPr>
      </p:sp>
      <p:sp>
        <p:nvSpPr>
          <p:cNvPr id="17" name="Shape 15"/>
          <p:cNvSpPr/>
          <p:nvPr/>
        </p:nvSpPr>
        <p:spPr>
          <a:xfrm>
            <a:off x="1417320" y="6208776"/>
            <a:ext cx="41148" cy="41148"/>
          </a:xfrm>
          <a:prstGeom prst="ellipse">
            <a:avLst/>
          </a:prstGeom>
          <a:solidFill>
            <a:srgbClr val="2E2E2E"/>
          </a:solidFill>
          <a:ln/>
        </p:spPr>
      </p:sp>
      <p:sp>
        <p:nvSpPr>
          <p:cNvPr id="18" name="Shape 16"/>
          <p:cNvSpPr/>
          <p:nvPr/>
        </p:nvSpPr>
        <p:spPr>
          <a:xfrm>
            <a:off x="1591056" y="6208776"/>
            <a:ext cx="41148" cy="41148"/>
          </a:xfrm>
          <a:prstGeom prst="ellipse">
            <a:avLst/>
          </a:prstGeom>
          <a:solidFill>
            <a:srgbClr val="2E2E2E"/>
          </a:solidFill>
          <a:ln/>
        </p:spPr>
      </p:sp>
      <p:sp>
        <p:nvSpPr>
          <p:cNvPr id="19" name="Shape 17"/>
          <p:cNvSpPr/>
          <p:nvPr/>
        </p:nvSpPr>
        <p:spPr>
          <a:xfrm>
            <a:off x="1764792" y="6208776"/>
            <a:ext cx="41148" cy="41148"/>
          </a:xfrm>
          <a:prstGeom prst="ellipse">
            <a:avLst/>
          </a:prstGeom>
          <a:solidFill>
            <a:srgbClr val="2E2E2E"/>
          </a:solidFill>
          <a:ln/>
        </p:spPr>
      </p:sp>
      <p:sp>
        <p:nvSpPr>
          <p:cNvPr id="20" name="Shape 18"/>
          <p:cNvSpPr/>
          <p:nvPr/>
        </p:nvSpPr>
        <p:spPr>
          <a:xfrm>
            <a:off x="1938528" y="6208776"/>
            <a:ext cx="41148" cy="41148"/>
          </a:xfrm>
          <a:prstGeom prst="ellipse">
            <a:avLst/>
          </a:prstGeom>
          <a:solidFill>
            <a:srgbClr val="2E2E2E"/>
          </a:solidFill>
          <a:ln/>
        </p:spPr>
      </p:sp>
      <p:sp>
        <p:nvSpPr>
          <p:cNvPr id="21" name="Shape 19"/>
          <p:cNvSpPr/>
          <p:nvPr/>
        </p:nvSpPr>
        <p:spPr>
          <a:xfrm>
            <a:off x="2112264" y="6208776"/>
            <a:ext cx="41148" cy="41148"/>
          </a:xfrm>
          <a:prstGeom prst="ellipse">
            <a:avLst/>
          </a:prstGeom>
          <a:solidFill>
            <a:srgbClr val="2E2E2E"/>
          </a:solidFill>
          <a:ln/>
        </p:spPr>
      </p:sp>
      <p:sp>
        <p:nvSpPr>
          <p:cNvPr id="22" name="Shape 20"/>
          <p:cNvSpPr/>
          <p:nvPr/>
        </p:nvSpPr>
        <p:spPr>
          <a:xfrm>
            <a:off x="548640" y="6382512"/>
            <a:ext cx="41148" cy="41148"/>
          </a:xfrm>
          <a:prstGeom prst="ellipse">
            <a:avLst/>
          </a:prstGeom>
          <a:solidFill>
            <a:srgbClr val="2E2E2E"/>
          </a:solidFill>
          <a:ln/>
        </p:spPr>
      </p:sp>
      <p:sp>
        <p:nvSpPr>
          <p:cNvPr id="23" name="Shape 21"/>
          <p:cNvSpPr/>
          <p:nvPr/>
        </p:nvSpPr>
        <p:spPr>
          <a:xfrm>
            <a:off x="722376" y="6382512"/>
            <a:ext cx="41148" cy="41148"/>
          </a:xfrm>
          <a:prstGeom prst="ellipse">
            <a:avLst/>
          </a:prstGeom>
          <a:solidFill>
            <a:srgbClr val="2E2E2E"/>
          </a:solidFill>
          <a:ln/>
        </p:spPr>
      </p:sp>
      <p:sp>
        <p:nvSpPr>
          <p:cNvPr id="24" name="Shape 22"/>
          <p:cNvSpPr/>
          <p:nvPr/>
        </p:nvSpPr>
        <p:spPr>
          <a:xfrm>
            <a:off x="896112" y="6382512"/>
            <a:ext cx="41148" cy="41148"/>
          </a:xfrm>
          <a:prstGeom prst="ellipse">
            <a:avLst/>
          </a:prstGeom>
          <a:solidFill>
            <a:srgbClr val="2E2E2E"/>
          </a:solidFill>
          <a:ln/>
        </p:spPr>
      </p:sp>
      <p:sp>
        <p:nvSpPr>
          <p:cNvPr id="25" name="Shape 23"/>
          <p:cNvSpPr/>
          <p:nvPr/>
        </p:nvSpPr>
        <p:spPr>
          <a:xfrm>
            <a:off x="1069848" y="6382512"/>
            <a:ext cx="41148" cy="41148"/>
          </a:xfrm>
          <a:prstGeom prst="ellipse">
            <a:avLst/>
          </a:prstGeom>
          <a:solidFill>
            <a:srgbClr val="2E2E2E"/>
          </a:solidFill>
          <a:ln/>
        </p:spPr>
      </p:sp>
      <p:sp>
        <p:nvSpPr>
          <p:cNvPr id="26" name="Shape 24"/>
          <p:cNvSpPr/>
          <p:nvPr/>
        </p:nvSpPr>
        <p:spPr>
          <a:xfrm>
            <a:off x="1243584" y="6382512"/>
            <a:ext cx="41148" cy="41148"/>
          </a:xfrm>
          <a:prstGeom prst="ellipse">
            <a:avLst/>
          </a:prstGeom>
          <a:solidFill>
            <a:srgbClr val="2E2E2E"/>
          </a:solidFill>
          <a:ln/>
        </p:spPr>
      </p:sp>
      <p:sp>
        <p:nvSpPr>
          <p:cNvPr id="27" name="Shape 25"/>
          <p:cNvSpPr/>
          <p:nvPr/>
        </p:nvSpPr>
        <p:spPr>
          <a:xfrm>
            <a:off x="1417320" y="6382512"/>
            <a:ext cx="41148" cy="41148"/>
          </a:xfrm>
          <a:prstGeom prst="ellipse">
            <a:avLst/>
          </a:prstGeom>
          <a:solidFill>
            <a:srgbClr val="2E2E2E"/>
          </a:solidFill>
          <a:ln/>
        </p:spPr>
      </p:sp>
      <p:sp>
        <p:nvSpPr>
          <p:cNvPr id="28" name="Shape 26"/>
          <p:cNvSpPr/>
          <p:nvPr/>
        </p:nvSpPr>
        <p:spPr>
          <a:xfrm>
            <a:off x="1591056" y="6382512"/>
            <a:ext cx="41148" cy="41148"/>
          </a:xfrm>
          <a:prstGeom prst="ellipse">
            <a:avLst/>
          </a:prstGeom>
          <a:solidFill>
            <a:srgbClr val="2E2E2E"/>
          </a:solidFill>
          <a:ln/>
        </p:spPr>
      </p:sp>
      <p:sp>
        <p:nvSpPr>
          <p:cNvPr id="29" name="Shape 27"/>
          <p:cNvSpPr/>
          <p:nvPr/>
        </p:nvSpPr>
        <p:spPr>
          <a:xfrm>
            <a:off x="1764792" y="6382512"/>
            <a:ext cx="41148" cy="41148"/>
          </a:xfrm>
          <a:prstGeom prst="ellipse">
            <a:avLst/>
          </a:prstGeom>
          <a:solidFill>
            <a:srgbClr val="2E2E2E"/>
          </a:solidFill>
          <a:ln/>
        </p:spPr>
      </p:sp>
      <p:sp>
        <p:nvSpPr>
          <p:cNvPr id="30" name="Shape 28"/>
          <p:cNvSpPr/>
          <p:nvPr/>
        </p:nvSpPr>
        <p:spPr>
          <a:xfrm>
            <a:off x="1938528" y="6382512"/>
            <a:ext cx="41148" cy="41148"/>
          </a:xfrm>
          <a:prstGeom prst="ellipse">
            <a:avLst/>
          </a:prstGeom>
          <a:solidFill>
            <a:srgbClr val="2E2E2E"/>
          </a:solidFill>
          <a:ln/>
        </p:spPr>
      </p:sp>
      <p:sp>
        <p:nvSpPr>
          <p:cNvPr id="31" name="Shape 29"/>
          <p:cNvSpPr/>
          <p:nvPr/>
        </p:nvSpPr>
        <p:spPr>
          <a:xfrm>
            <a:off x="2112264" y="6382512"/>
            <a:ext cx="41148" cy="41148"/>
          </a:xfrm>
          <a:prstGeom prst="ellipse">
            <a:avLst/>
          </a:prstGeom>
          <a:solidFill>
            <a:srgbClr val="2E2E2E"/>
          </a:solidFill>
          <a:ln/>
        </p:spPr>
      </p:sp>
      <p:sp>
        <p:nvSpPr>
          <p:cNvPr id="32" name="Text 30"/>
          <p:cNvSpPr txBox="1"/>
          <p:nvPr/>
        </p:nvSpPr>
        <p:spPr>
          <a:xfrm>
            <a:off x="640080" y="594360"/>
            <a:ext cx="2743200" cy="320040"/>
          </a:xfrm>
          <a:prstGeom prst="rect">
            <a:avLst/>
          </a:prstGeom>
          <a:noFill/>
          <a:ln/>
        </p:spPr>
        <p:txBody>
          <a:bodyPr wrap="square" lIns="0" tIns="0" rIns="0" bIns="0" rtlCol="0" anchor="ctr"/>
          <a:lstStyle/>
          <a:p>
            <a:pPr marL="0" indent="0">
              <a:buNone/>
            </a:pPr>
            <a:r>
              <a:rPr lang="en-US" sz="1300" b="1" kern="0" spc="200" dirty="0">
                <a:solidFill>
                  <a:srgbClr val="5C82FF"/>
                </a:solidFill>
                <a:latin typeface="Arial" pitchFamily="34" charset="0"/>
                <a:ea typeface="Arial" pitchFamily="34" charset="-122"/>
                <a:cs typeface="Arial" pitchFamily="34" charset="-120"/>
              </a:rPr>
              <a:t>80–90</a:t>
            </a:r>
            <a:endParaRPr lang="en-US" sz="1300" dirty="0"/>
          </a:p>
        </p:txBody>
      </p:sp>
      <p:sp>
        <p:nvSpPr>
          <p:cNvPr id="33" name="Text 31"/>
          <p:cNvSpPr txBox="1"/>
          <p:nvPr/>
        </p:nvSpPr>
        <p:spPr>
          <a:xfrm>
            <a:off x="594360" y="2011680"/>
            <a:ext cx="10972800" cy="1280160"/>
          </a:xfrm>
          <a:prstGeom prst="rect">
            <a:avLst/>
          </a:prstGeom>
          <a:noFill/>
          <a:ln/>
        </p:spPr>
        <p:txBody>
          <a:bodyPr wrap="square" lIns="0" tIns="0" rIns="0" bIns="0" rtlCol="0" anchor="ctr"/>
          <a:lstStyle/>
          <a:p>
            <a:pPr marL="0" indent="0">
              <a:buNone/>
            </a:pPr>
            <a:r>
              <a:rPr lang="en-US" sz="6200" b="1" dirty="0">
                <a:solidFill>
                  <a:srgbClr val="FFFFFF"/>
                </a:solidFill>
                <a:latin typeface="Arial" pitchFamily="34" charset="0"/>
                <a:ea typeface="Arial" pitchFamily="34" charset="-122"/>
                <a:cs typeface="Arial" pitchFamily="34" charset="-120"/>
              </a:rPr>
              <a:t>Human Recharge</a:t>
            </a:r>
            <a:endParaRPr lang="en-US" sz="6200" dirty="0"/>
          </a:p>
        </p:txBody>
      </p:sp>
      <p:sp>
        <p:nvSpPr>
          <p:cNvPr id="34" name="Text 32"/>
          <p:cNvSpPr txBox="1"/>
          <p:nvPr/>
        </p:nvSpPr>
        <p:spPr>
          <a:xfrm>
            <a:off x="640080" y="3337560"/>
            <a:ext cx="7315200" cy="548640"/>
          </a:xfrm>
          <a:prstGeom prst="rect">
            <a:avLst/>
          </a:prstGeom>
          <a:noFill/>
          <a:ln/>
        </p:spPr>
        <p:txBody>
          <a:bodyPr wrap="square" lIns="0" tIns="0" rIns="0" bIns="0" rtlCol="0" anchor="ctr"/>
          <a:lstStyle/>
          <a:p>
            <a:pPr marL="0" indent="0">
              <a:buNone/>
            </a:pPr>
            <a:r>
              <a:rPr lang="en-US" sz="2000" b="1" kern="0" spc="300" dirty="0">
                <a:solidFill>
                  <a:srgbClr val="5C82FF"/>
                </a:solidFill>
                <a:latin typeface="Arial" pitchFamily="34" charset="0"/>
                <a:ea typeface="Arial" pitchFamily="34" charset="-122"/>
                <a:cs typeface="Arial" pitchFamily="34" charset="-120"/>
              </a:rPr>
              <a:t>10-MINUTE BREAK</a:t>
            </a:r>
            <a:endParaRPr lang="en-US" sz="2000" dirty="0"/>
          </a:p>
        </p:txBody>
      </p:sp>
      <p:sp>
        <p:nvSpPr>
          <p:cNvPr id="35" name="Shape 33"/>
          <p:cNvSpPr/>
          <p:nvPr/>
        </p:nvSpPr>
        <p:spPr>
          <a:xfrm>
            <a:off x="640080" y="4114800"/>
            <a:ext cx="3840480" cy="1097280"/>
          </a:xfrm>
          <a:prstGeom prst="roundRect">
            <a:avLst>
              <a:gd name="adj" fmla="val 6667"/>
            </a:avLst>
          </a:prstGeom>
          <a:solidFill>
            <a:srgbClr val="2B2B2B"/>
          </a:solidFill>
          <a:ln/>
        </p:spPr>
      </p:sp>
      <p:sp>
        <p:nvSpPr>
          <p:cNvPr id="36" name="Text 34"/>
          <p:cNvSpPr txBox="1"/>
          <p:nvPr/>
        </p:nvSpPr>
        <p:spPr>
          <a:xfrm>
            <a:off x="868680" y="4251960"/>
            <a:ext cx="3383280" cy="274320"/>
          </a:xfrm>
          <a:prstGeom prst="rect">
            <a:avLst/>
          </a:prstGeom>
          <a:noFill/>
          <a:ln/>
        </p:spPr>
        <p:txBody>
          <a:bodyPr wrap="square" lIns="0" tIns="0" rIns="0" bIns="0" rtlCol="0" anchor="ctr"/>
          <a:lstStyle/>
          <a:p>
            <a:pPr marL="0" indent="0">
              <a:buNone/>
            </a:pPr>
            <a:r>
              <a:rPr lang="en-US" sz="1100" kern="0" spc="150" dirty="0">
                <a:solidFill>
                  <a:srgbClr val="A9A59A"/>
                </a:solidFill>
                <a:latin typeface="Arial" pitchFamily="34" charset="0"/>
                <a:ea typeface="Arial" pitchFamily="34" charset="-122"/>
                <a:cs typeface="Arial" pitchFamily="34" charset="-120"/>
              </a:rPr>
              <a:t>RETURN AT</a:t>
            </a:r>
            <a:endParaRPr lang="en-US" sz="1100" dirty="0"/>
          </a:p>
        </p:txBody>
      </p:sp>
      <p:sp>
        <p:nvSpPr>
          <p:cNvPr id="37" name="Text 35"/>
          <p:cNvSpPr txBox="1"/>
          <p:nvPr/>
        </p:nvSpPr>
        <p:spPr>
          <a:xfrm>
            <a:off x="868680" y="4480560"/>
            <a:ext cx="3383280" cy="59436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____:____</a:t>
            </a:r>
            <a:endParaRPr lang="en-US" sz="3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7">
    <p:bg>
      <p:bgPr>
        <a:solidFill>
          <a:srgbClr val="F7F4EC"/>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6E6A60"/>
                </a:solidFill>
                <a:latin typeface="Arial" pitchFamily="34" charset="0"/>
                <a:ea typeface="Arial" pitchFamily="34" charset="-122"/>
                <a:cs typeface="Arial" pitchFamily="34" charset="-120"/>
              </a:rPr>
              <a:t>CLASS 1 · AI AS A BUSINESS TOOL</a:t>
            </a:r>
            <a:endParaRPr lang="en-US" sz="1050" dirty="0"/>
          </a:p>
        </p:txBody>
      </p:sp>
      <p:sp>
        <p:nvSpPr>
          <p:cNvPr id="3" name="Shape 1"/>
          <p:cNvSpPr/>
          <p:nvPr/>
        </p:nvSpPr>
        <p:spPr>
          <a:xfrm>
            <a:off x="10561320" y="256032"/>
            <a:ext cx="1170432" cy="384048"/>
          </a:xfrm>
          <a:prstGeom prst="roundRect">
            <a:avLst>
              <a:gd name="adj" fmla="val 19048"/>
            </a:avLst>
          </a:prstGeom>
          <a:solidFill>
            <a:srgbClr val="1E4FFF"/>
          </a:solidFill>
          <a:ln/>
        </p:spPr>
      </p:sp>
      <p:sp>
        <p:nvSpPr>
          <p:cNvPr id="4" name="Text 2"/>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90–105</a:t>
            </a:r>
            <a:endParaRPr lang="en-US" sz="1300" dirty="0"/>
          </a:p>
        </p:txBody>
      </p:sp>
      <p:sp>
        <p:nvSpPr>
          <p:cNvPr id="5" name="Shape 3"/>
          <p:cNvSpPr/>
          <p:nvPr/>
        </p:nvSpPr>
        <p:spPr>
          <a:xfrm>
            <a:off x="502920" y="6446520"/>
            <a:ext cx="11183112" cy="0"/>
          </a:xfrm>
          <a:prstGeom prst="line">
            <a:avLst/>
          </a:prstGeom>
          <a:noFill/>
          <a:ln w="9525">
            <a:solidFill>
              <a:srgbClr val="D8D3C5"/>
            </a:solidFill>
            <a:prstDash val="solid"/>
          </a:ln>
        </p:spPr>
      </p:sp>
      <p:sp>
        <p:nvSpPr>
          <p:cNvPr id="6" name="Text 4"/>
          <p:cNvSpPr txBox="1"/>
          <p:nvPr/>
        </p:nvSpPr>
        <p:spPr>
          <a:xfrm>
            <a:off x="502920" y="6492240"/>
            <a:ext cx="7315200" cy="274320"/>
          </a:xfrm>
          <a:prstGeom prst="rect">
            <a:avLst/>
          </a:prstGeom>
          <a:noFill/>
          <a:ln/>
        </p:spPr>
        <p:txBody>
          <a:bodyPr wrap="square" lIns="0" tIns="0" rIns="0" bIns="0" rtlCol="0" anchor="ctr"/>
          <a:lstStyle/>
          <a:p>
            <a:pPr marL="0" indent="0">
              <a:buNone/>
            </a:pPr>
            <a:r>
              <a:rPr lang="en-US" sz="900" kern="0" spc="100" dirty="0">
                <a:solidFill>
                  <a:srgbClr val="6E6A60"/>
                </a:solidFill>
                <a:latin typeface="Arial" pitchFamily="34" charset="0"/>
                <a:ea typeface="Arial" pitchFamily="34" charset="-122"/>
                <a:cs typeface="Arial" pitchFamily="34" charset="-120"/>
              </a:rPr>
              <a:t>MEGHNA OFFICE SUPPLIES WORKSHOP  ·  IUT DHAKA</a:t>
            </a:r>
            <a:endParaRPr lang="en-US" sz="900" dirty="0"/>
          </a:p>
        </p:txBody>
      </p:sp>
      <p:sp>
        <p:nvSpPr>
          <p:cNvPr id="7" name="Text 5"/>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17</a:t>
            </a:r>
            <a:endParaRPr lang="en-US" sz="900" dirty="0"/>
          </a:p>
        </p:txBody>
      </p:sp>
      <p:sp>
        <p:nvSpPr>
          <p:cNvPr id="8" name="Text 6"/>
          <p:cNvSpPr txBox="1"/>
          <p:nvPr/>
        </p:nvSpPr>
        <p:spPr>
          <a:xfrm>
            <a:off x="502920" y="713232"/>
            <a:ext cx="10607040" cy="868680"/>
          </a:xfrm>
          <a:prstGeom prst="rect">
            <a:avLst/>
          </a:prstGeom>
          <a:noFill/>
          <a:ln/>
        </p:spPr>
        <p:txBody>
          <a:bodyPr wrap="square" lIns="0" tIns="0" rIns="0" bIns="0" rtlCol="0" anchor="ctr"/>
          <a:lstStyle/>
          <a:p>
            <a:pPr marL="0" indent="0">
              <a:lnSpc>
                <a:spcPct val="102000"/>
              </a:lnSpc>
              <a:buNone/>
            </a:pPr>
            <a:r>
              <a:rPr lang="en-US" sz="3400" b="1" dirty="0">
                <a:solidFill>
                  <a:srgbClr val="1A1A1A"/>
                </a:solidFill>
                <a:latin typeface="Arial" pitchFamily="34" charset="0"/>
                <a:ea typeface="Arial" pitchFamily="34" charset="-122"/>
                <a:cs typeface="Arial" pitchFamily="34" charset="-120"/>
              </a:rPr>
              <a:t>Your First Business Concept</a:t>
            </a:r>
            <a:endParaRPr lang="en-US" sz="3400" dirty="0"/>
          </a:p>
        </p:txBody>
      </p:sp>
      <p:sp>
        <p:nvSpPr>
          <p:cNvPr id="9" name="Shape 7"/>
          <p:cNvSpPr/>
          <p:nvPr/>
        </p:nvSpPr>
        <p:spPr>
          <a:xfrm>
            <a:off x="502920" y="1627632"/>
            <a:ext cx="2475738" cy="384048"/>
          </a:xfrm>
          <a:prstGeom prst="roundRect">
            <a:avLst>
              <a:gd name="adj" fmla="val 50000"/>
            </a:avLst>
          </a:prstGeom>
          <a:ln w="15875">
            <a:solidFill>
              <a:srgbClr val="1E4FFF"/>
            </a:solidFill>
            <a:prstDash val="solid"/>
          </a:ln>
        </p:spPr>
      </p:sp>
      <p:sp>
        <p:nvSpPr>
          <p:cNvPr id="10" name="Text 8"/>
          <p:cNvSpPr txBox="1"/>
          <p:nvPr/>
        </p:nvSpPr>
        <p:spPr>
          <a:xfrm>
            <a:off x="548640" y="1627632"/>
            <a:ext cx="2384298" cy="384048"/>
          </a:xfrm>
          <a:prstGeom prst="rect">
            <a:avLst/>
          </a:prstGeom>
          <a:noFill/>
          <a:ln/>
        </p:spPr>
        <p:txBody>
          <a:bodyPr wrap="square" lIns="0" tIns="0" rIns="0" bIns="0" rtlCol="0" anchor="ctr"/>
          <a:lstStyle/>
          <a:p>
            <a:pPr marL="0" indent="0" algn="ctr">
              <a:buNone/>
            </a:pPr>
            <a:r>
              <a:rPr lang="en-US" sz="980" b="1" dirty="0">
                <a:solidFill>
                  <a:srgbClr val="1E4FFF"/>
                </a:solidFill>
                <a:latin typeface="Arial" pitchFamily="34" charset="0"/>
                <a:ea typeface="Arial" pitchFamily="34" charset="-122"/>
                <a:cs typeface="Arial" pitchFamily="34" charset="-120"/>
              </a:rPr>
              <a:t>FACT  </a:t>
            </a:r>
            <a:r>
              <a:rPr lang="en-US" sz="760" i="1" dirty="0">
                <a:solidFill>
                  <a:srgbClr val="6E6A60"/>
                </a:solidFill>
                <a:latin typeface="Arial" pitchFamily="34" charset="0"/>
                <a:ea typeface="Arial" pitchFamily="34" charset="-122"/>
                <a:cs typeface="Arial" pitchFamily="34" charset="-120"/>
              </a:rPr>
              <a:t>from your own input</a:t>
            </a:r>
            <a:endParaRPr lang="en-US" sz="980" dirty="0"/>
          </a:p>
        </p:txBody>
      </p:sp>
      <p:sp>
        <p:nvSpPr>
          <p:cNvPr id="11" name="Shape 9"/>
          <p:cNvSpPr/>
          <p:nvPr/>
        </p:nvSpPr>
        <p:spPr>
          <a:xfrm>
            <a:off x="3088386" y="1627632"/>
            <a:ext cx="2475738" cy="384048"/>
          </a:xfrm>
          <a:prstGeom prst="roundRect">
            <a:avLst>
              <a:gd name="adj" fmla="val 50000"/>
            </a:avLst>
          </a:prstGeom>
          <a:ln w="15875">
            <a:solidFill>
              <a:srgbClr val="1E4FFF"/>
            </a:solidFill>
            <a:prstDash val="solid"/>
          </a:ln>
        </p:spPr>
      </p:sp>
      <p:sp>
        <p:nvSpPr>
          <p:cNvPr id="12" name="Text 10"/>
          <p:cNvSpPr txBox="1"/>
          <p:nvPr/>
        </p:nvSpPr>
        <p:spPr>
          <a:xfrm>
            <a:off x="3134106" y="1627632"/>
            <a:ext cx="2384298" cy="384048"/>
          </a:xfrm>
          <a:prstGeom prst="rect">
            <a:avLst/>
          </a:prstGeom>
          <a:noFill/>
          <a:ln/>
        </p:spPr>
        <p:txBody>
          <a:bodyPr wrap="square" lIns="0" tIns="0" rIns="0" bIns="0" rtlCol="0" anchor="ctr"/>
          <a:lstStyle/>
          <a:p>
            <a:pPr marL="0" indent="0" algn="ctr">
              <a:buNone/>
            </a:pPr>
            <a:r>
              <a:rPr lang="en-US" sz="980" b="1" dirty="0">
                <a:solidFill>
                  <a:srgbClr val="1E4FFF"/>
                </a:solidFill>
                <a:latin typeface="Arial" pitchFamily="34" charset="0"/>
                <a:ea typeface="Arial" pitchFamily="34" charset="-122"/>
                <a:cs typeface="Arial" pitchFamily="34" charset="-120"/>
              </a:rPr>
              <a:t>ASSUMPTION  </a:t>
            </a:r>
            <a:r>
              <a:rPr lang="en-US" sz="760" i="1" dirty="0">
                <a:solidFill>
                  <a:srgbClr val="6E6A60"/>
                </a:solidFill>
                <a:latin typeface="Arial" pitchFamily="34" charset="0"/>
                <a:ea typeface="Arial" pitchFamily="34" charset="-122"/>
                <a:cs typeface="Arial" pitchFamily="34" charset="-120"/>
              </a:rPr>
              <a:t>unverified, could be wrong</a:t>
            </a:r>
            <a:endParaRPr lang="en-US" sz="980" dirty="0"/>
          </a:p>
        </p:txBody>
      </p:sp>
      <p:sp>
        <p:nvSpPr>
          <p:cNvPr id="13" name="Shape 11"/>
          <p:cNvSpPr/>
          <p:nvPr/>
        </p:nvSpPr>
        <p:spPr>
          <a:xfrm>
            <a:off x="5673852" y="1627632"/>
            <a:ext cx="2475738" cy="384048"/>
          </a:xfrm>
          <a:prstGeom prst="roundRect">
            <a:avLst>
              <a:gd name="adj" fmla="val 50000"/>
            </a:avLst>
          </a:prstGeom>
          <a:ln w="15875">
            <a:solidFill>
              <a:srgbClr val="1E4FFF"/>
            </a:solidFill>
            <a:prstDash val="solid"/>
          </a:ln>
        </p:spPr>
      </p:sp>
      <p:sp>
        <p:nvSpPr>
          <p:cNvPr id="14" name="Text 12"/>
          <p:cNvSpPr txBox="1"/>
          <p:nvPr/>
        </p:nvSpPr>
        <p:spPr>
          <a:xfrm>
            <a:off x="5719572" y="1627632"/>
            <a:ext cx="2384298" cy="384048"/>
          </a:xfrm>
          <a:prstGeom prst="rect">
            <a:avLst/>
          </a:prstGeom>
          <a:noFill/>
          <a:ln/>
        </p:spPr>
        <p:txBody>
          <a:bodyPr wrap="square" lIns="0" tIns="0" rIns="0" bIns="0" rtlCol="0" anchor="ctr"/>
          <a:lstStyle/>
          <a:p>
            <a:pPr marL="0" indent="0" algn="ctr">
              <a:buNone/>
            </a:pPr>
            <a:r>
              <a:rPr lang="en-US" sz="980" b="1" dirty="0">
                <a:solidFill>
                  <a:srgbClr val="1E4FFF"/>
                </a:solidFill>
                <a:latin typeface="Arial" pitchFamily="34" charset="0"/>
                <a:ea typeface="Arial" pitchFamily="34" charset="-122"/>
                <a:cs typeface="Arial" pitchFamily="34" charset="-120"/>
              </a:rPr>
              <a:t>ESTIMATE  </a:t>
            </a:r>
            <a:r>
              <a:rPr lang="en-US" sz="760" i="1" dirty="0">
                <a:solidFill>
                  <a:srgbClr val="6E6A60"/>
                </a:solidFill>
                <a:latin typeface="Arial" pitchFamily="34" charset="0"/>
                <a:ea typeface="Arial" pitchFamily="34" charset="-122"/>
                <a:cs typeface="Arial" pitchFamily="34" charset="-120"/>
              </a:rPr>
              <a:t>illustrative, not measured</a:t>
            </a:r>
            <a:endParaRPr lang="en-US" sz="980" dirty="0"/>
          </a:p>
        </p:txBody>
      </p:sp>
      <p:sp>
        <p:nvSpPr>
          <p:cNvPr id="15" name="Shape 13"/>
          <p:cNvSpPr/>
          <p:nvPr/>
        </p:nvSpPr>
        <p:spPr>
          <a:xfrm>
            <a:off x="8259318" y="1627632"/>
            <a:ext cx="2475738" cy="384048"/>
          </a:xfrm>
          <a:prstGeom prst="roundRect">
            <a:avLst>
              <a:gd name="adj" fmla="val 50000"/>
            </a:avLst>
          </a:prstGeom>
          <a:ln w="15875">
            <a:solidFill>
              <a:srgbClr val="1E4FFF"/>
            </a:solidFill>
            <a:prstDash val="solid"/>
          </a:ln>
        </p:spPr>
      </p:sp>
      <p:sp>
        <p:nvSpPr>
          <p:cNvPr id="16" name="Text 14"/>
          <p:cNvSpPr txBox="1"/>
          <p:nvPr/>
        </p:nvSpPr>
        <p:spPr>
          <a:xfrm>
            <a:off x="8305038" y="1627632"/>
            <a:ext cx="2384298" cy="384048"/>
          </a:xfrm>
          <a:prstGeom prst="rect">
            <a:avLst/>
          </a:prstGeom>
          <a:noFill/>
          <a:ln/>
        </p:spPr>
        <p:txBody>
          <a:bodyPr wrap="square" lIns="0" tIns="0" rIns="0" bIns="0" rtlCol="0" anchor="ctr"/>
          <a:lstStyle/>
          <a:p>
            <a:pPr marL="0" indent="0" algn="ctr">
              <a:buNone/>
            </a:pPr>
            <a:r>
              <a:rPr lang="en-US" sz="980" b="1" dirty="0">
                <a:solidFill>
                  <a:srgbClr val="1E4FFF"/>
                </a:solidFill>
                <a:latin typeface="Arial" pitchFamily="34" charset="0"/>
                <a:ea typeface="Arial" pitchFamily="34" charset="-122"/>
                <a:cs typeface="Arial" pitchFamily="34" charset="-120"/>
              </a:rPr>
              <a:t>RECOMMENDATION  </a:t>
            </a:r>
            <a:r>
              <a:rPr lang="en-US" sz="760" i="1" dirty="0">
                <a:solidFill>
                  <a:srgbClr val="6E6A60"/>
                </a:solidFill>
                <a:latin typeface="Arial" pitchFamily="34" charset="0"/>
                <a:ea typeface="Arial" pitchFamily="34" charset="-122"/>
                <a:cs typeface="Arial" pitchFamily="34" charset="-120"/>
              </a:rPr>
              <a:t>a suggestion, not proof</a:t>
            </a:r>
            <a:endParaRPr lang="en-US" sz="980" dirty="0"/>
          </a:p>
        </p:txBody>
      </p:sp>
      <p:sp>
        <p:nvSpPr>
          <p:cNvPr id="17" name="Shape 15"/>
          <p:cNvSpPr/>
          <p:nvPr/>
        </p:nvSpPr>
        <p:spPr>
          <a:xfrm>
            <a:off x="502920" y="2121408"/>
            <a:ext cx="2029968" cy="731520"/>
          </a:xfrm>
          <a:prstGeom prst="roundRect">
            <a:avLst>
              <a:gd name="adj" fmla="val 7500"/>
            </a:avLst>
          </a:prstGeom>
          <a:solidFill>
            <a:srgbClr val="EDE9DE"/>
          </a:solidFill>
          <a:ln/>
        </p:spPr>
      </p:sp>
      <p:sp>
        <p:nvSpPr>
          <p:cNvPr id="18" name="Text 16"/>
          <p:cNvSpPr txBox="1"/>
          <p:nvPr/>
        </p:nvSpPr>
        <p:spPr>
          <a:xfrm>
            <a:off x="612648" y="2121408"/>
            <a:ext cx="1810512" cy="731520"/>
          </a:xfrm>
          <a:prstGeom prst="rect">
            <a:avLst/>
          </a:prstGeom>
          <a:noFill/>
          <a:ln/>
        </p:spPr>
        <p:txBody>
          <a:bodyPr wrap="square" lIns="0" tIns="0" rIns="0" bIns="0" rtlCol="0" anchor="ctr"/>
          <a:lstStyle/>
          <a:p>
            <a:pPr marL="0" indent="0">
              <a:buNone/>
            </a:pPr>
            <a:r>
              <a:rPr lang="en-US" sz="1100" b="1" dirty="0">
                <a:solidFill>
                  <a:srgbClr val="1A1A1A"/>
                </a:solidFill>
                <a:latin typeface="Arial" pitchFamily="34" charset="0"/>
                <a:ea typeface="Arial" pitchFamily="34" charset="-122"/>
                <a:cs typeface="Arial" pitchFamily="34" charset="-120"/>
              </a:rPr>
              <a:t>Concept</a:t>
            </a:r>
            <a:endParaRPr lang="en-US" sz="1100" dirty="0"/>
          </a:p>
        </p:txBody>
      </p:sp>
      <p:sp>
        <p:nvSpPr>
          <p:cNvPr id="19" name="Shape 17"/>
          <p:cNvSpPr/>
          <p:nvPr/>
        </p:nvSpPr>
        <p:spPr>
          <a:xfrm>
            <a:off x="2624328" y="2121408"/>
            <a:ext cx="2029968" cy="731520"/>
          </a:xfrm>
          <a:prstGeom prst="roundRect">
            <a:avLst>
              <a:gd name="adj" fmla="val 7500"/>
            </a:avLst>
          </a:prstGeom>
          <a:solidFill>
            <a:srgbClr val="EDE9DE"/>
          </a:solidFill>
          <a:ln/>
        </p:spPr>
      </p:sp>
      <p:sp>
        <p:nvSpPr>
          <p:cNvPr id="20" name="Text 18"/>
          <p:cNvSpPr txBox="1"/>
          <p:nvPr/>
        </p:nvSpPr>
        <p:spPr>
          <a:xfrm>
            <a:off x="2734056" y="2121408"/>
            <a:ext cx="1810512" cy="731520"/>
          </a:xfrm>
          <a:prstGeom prst="rect">
            <a:avLst/>
          </a:prstGeom>
          <a:noFill/>
          <a:ln/>
        </p:spPr>
        <p:txBody>
          <a:bodyPr wrap="square" lIns="0" tIns="0" rIns="0" bIns="0" rtlCol="0" anchor="ctr"/>
          <a:lstStyle/>
          <a:p>
            <a:pPr marL="0" indent="0">
              <a:buNone/>
            </a:pPr>
            <a:r>
              <a:rPr lang="en-US" sz="1100" b="1" dirty="0">
                <a:solidFill>
                  <a:srgbClr val="1A1A1A"/>
                </a:solidFill>
                <a:latin typeface="Arial" pitchFamily="34" charset="0"/>
                <a:ea typeface="Arial" pitchFamily="34" charset="-122"/>
                <a:cs typeface="Arial" pitchFamily="34" charset="-120"/>
              </a:rPr>
              <a:t>Target customer</a:t>
            </a:r>
            <a:endParaRPr lang="en-US" sz="1100" dirty="0"/>
          </a:p>
        </p:txBody>
      </p:sp>
      <p:sp>
        <p:nvSpPr>
          <p:cNvPr id="21" name="Shape 19"/>
          <p:cNvSpPr/>
          <p:nvPr/>
        </p:nvSpPr>
        <p:spPr>
          <a:xfrm>
            <a:off x="4745736" y="2121408"/>
            <a:ext cx="2029968" cy="731520"/>
          </a:xfrm>
          <a:prstGeom prst="roundRect">
            <a:avLst>
              <a:gd name="adj" fmla="val 7500"/>
            </a:avLst>
          </a:prstGeom>
          <a:solidFill>
            <a:srgbClr val="EDE9DE"/>
          </a:solidFill>
          <a:ln/>
        </p:spPr>
      </p:sp>
      <p:sp>
        <p:nvSpPr>
          <p:cNvPr id="22" name="Text 20"/>
          <p:cNvSpPr txBox="1"/>
          <p:nvPr/>
        </p:nvSpPr>
        <p:spPr>
          <a:xfrm>
            <a:off x="4855464" y="2121408"/>
            <a:ext cx="1810512" cy="731520"/>
          </a:xfrm>
          <a:prstGeom prst="rect">
            <a:avLst/>
          </a:prstGeom>
          <a:noFill/>
          <a:ln/>
        </p:spPr>
        <p:txBody>
          <a:bodyPr wrap="square" lIns="0" tIns="0" rIns="0" bIns="0" rtlCol="0" anchor="ctr"/>
          <a:lstStyle/>
          <a:p>
            <a:pPr marL="0" indent="0">
              <a:buNone/>
            </a:pPr>
            <a:r>
              <a:rPr lang="en-US" sz="1100" b="1" dirty="0">
                <a:solidFill>
                  <a:srgbClr val="1A1A1A"/>
                </a:solidFill>
                <a:latin typeface="Arial" pitchFamily="34" charset="0"/>
                <a:ea typeface="Arial" pitchFamily="34" charset="-122"/>
                <a:cs typeface="Arial" pitchFamily="34" charset="-120"/>
              </a:rPr>
              <a:t>Problem &amp; proposed solution</a:t>
            </a:r>
            <a:endParaRPr lang="en-US" sz="1100" dirty="0"/>
          </a:p>
        </p:txBody>
      </p:sp>
      <p:sp>
        <p:nvSpPr>
          <p:cNvPr id="23" name="Shape 21"/>
          <p:cNvSpPr/>
          <p:nvPr/>
        </p:nvSpPr>
        <p:spPr>
          <a:xfrm>
            <a:off x="6867144" y="2121408"/>
            <a:ext cx="2029968" cy="731520"/>
          </a:xfrm>
          <a:prstGeom prst="roundRect">
            <a:avLst>
              <a:gd name="adj" fmla="val 7500"/>
            </a:avLst>
          </a:prstGeom>
          <a:solidFill>
            <a:srgbClr val="EDE9DE"/>
          </a:solidFill>
          <a:ln/>
        </p:spPr>
      </p:sp>
      <p:sp>
        <p:nvSpPr>
          <p:cNvPr id="24" name="Text 22"/>
          <p:cNvSpPr txBox="1"/>
          <p:nvPr/>
        </p:nvSpPr>
        <p:spPr>
          <a:xfrm>
            <a:off x="6976872" y="2121408"/>
            <a:ext cx="1810512" cy="731520"/>
          </a:xfrm>
          <a:prstGeom prst="rect">
            <a:avLst/>
          </a:prstGeom>
          <a:noFill/>
          <a:ln/>
        </p:spPr>
        <p:txBody>
          <a:bodyPr wrap="square" lIns="0" tIns="0" rIns="0" bIns="0" rtlCol="0" anchor="ctr"/>
          <a:lstStyle/>
          <a:p>
            <a:pPr marL="0" indent="0">
              <a:buNone/>
            </a:pPr>
            <a:r>
              <a:rPr lang="en-US" sz="1100" b="1" dirty="0">
                <a:solidFill>
                  <a:srgbClr val="1A1A1A"/>
                </a:solidFill>
                <a:latin typeface="Arial" pitchFamily="34" charset="0"/>
                <a:ea typeface="Arial" pitchFamily="34" charset="-122"/>
                <a:cs typeface="Arial" pitchFamily="34" charset="-120"/>
              </a:rPr>
              <a:t>Value proposition</a:t>
            </a:r>
            <a:endParaRPr lang="en-US" sz="1100" dirty="0"/>
          </a:p>
        </p:txBody>
      </p:sp>
      <p:sp>
        <p:nvSpPr>
          <p:cNvPr id="25" name="Shape 23"/>
          <p:cNvSpPr/>
          <p:nvPr/>
        </p:nvSpPr>
        <p:spPr>
          <a:xfrm>
            <a:off x="8988552" y="2121408"/>
            <a:ext cx="2029968" cy="731520"/>
          </a:xfrm>
          <a:prstGeom prst="roundRect">
            <a:avLst>
              <a:gd name="adj" fmla="val 7500"/>
            </a:avLst>
          </a:prstGeom>
          <a:solidFill>
            <a:srgbClr val="EDE9DE"/>
          </a:solidFill>
          <a:ln/>
        </p:spPr>
      </p:sp>
      <p:sp>
        <p:nvSpPr>
          <p:cNvPr id="26" name="Text 24"/>
          <p:cNvSpPr txBox="1"/>
          <p:nvPr/>
        </p:nvSpPr>
        <p:spPr>
          <a:xfrm>
            <a:off x="9098280" y="2121408"/>
            <a:ext cx="1810512" cy="731520"/>
          </a:xfrm>
          <a:prstGeom prst="rect">
            <a:avLst/>
          </a:prstGeom>
          <a:noFill/>
          <a:ln/>
        </p:spPr>
        <p:txBody>
          <a:bodyPr wrap="square" lIns="0" tIns="0" rIns="0" bIns="0" rtlCol="0" anchor="ctr"/>
          <a:lstStyle/>
          <a:p>
            <a:pPr marL="0" indent="0">
              <a:buNone/>
            </a:pPr>
            <a:r>
              <a:rPr lang="en-US" sz="1100" b="1" dirty="0">
                <a:solidFill>
                  <a:srgbClr val="1A1A1A"/>
                </a:solidFill>
                <a:latin typeface="Arial" pitchFamily="34" charset="0"/>
                <a:ea typeface="Arial" pitchFamily="34" charset="-122"/>
                <a:cs typeface="Arial" pitchFamily="34" charset="-120"/>
              </a:rPr>
              <a:t>Revenue model</a:t>
            </a:r>
            <a:endParaRPr lang="en-US" sz="1100" dirty="0"/>
          </a:p>
        </p:txBody>
      </p:sp>
      <p:sp>
        <p:nvSpPr>
          <p:cNvPr id="27" name="Shape 25"/>
          <p:cNvSpPr/>
          <p:nvPr/>
        </p:nvSpPr>
        <p:spPr>
          <a:xfrm>
            <a:off x="502920" y="2944368"/>
            <a:ext cx="2029968" cy="731520"/>
          </a:xfrm>
          <a:prstGeom prst="roundRect">
            <a:avLst>
              <a:gd name="adj" fmla="val 7500"/>
            </a:avLst>
          </a:prstGeom>
          <a:solidFill>
            <a:srgbClr val="EDE9DE"/>
          </a:solidFill>
          <a:ln/>
        </p:spPr>
      </p:sp>
      <p:sp>
        <p:nvSpPr>
          <p:cNvPr id="28" name="Text 26"/>
          <p:cNvSpPr txBox="1"/>
          <p:nvPr/>
        </p:nvSpPr>
        <p:spPr>
          <a:xfrm>
            <a:off x="612648" y="2944368"/>
            <a:ext cx="1810512" cy="731520"/>
          </a:xfrm>
          <a:prstGeom prst="rect">
            <a:avLst/>
          </a:prstGeom>
          <a:noFill/>
          <a:ln/>
        </p:spPr>
        <p:txBody>
          <a:bodyPr wrap="square" lIns="0" tIns="0" rIns="0" bIns="0" rtlCol="0" anchor="ctr"/>
          <a:lstStyle/>
          <a:p>
            <a:pPr marL="0" indent="0">
              <a:buNone/>
            </a:pPr>
            <a:r>
              <a:rPr lang="en-US" sz="1100" b="1" dirty="0">
                <a:solidFill>
                  <a:srgbClr val="1A1A1A"/>
                </a:solidFill>
                <a:latin typeface="Arial" pitchFamily="34" charset="0"/>
                <a:ea typeface="Arial" pitchFamily="34" charset="-122"/>
                <a:cs typeface="Arial" pitchFamily="34" charset="-120"/>
              </a:rPr>
              <a:t>Costs / resources</a:t>
            </a:r>
            <a:endParaRPr lang="en-US" sz="1100" dirty="0"/>
          </a:p>
        </p:txBody>
      </p:sp>
      <p:sp>
        <p:nvSpPr>
          <p:cNvPr id="29" name="Shape 27"/>
          <p:cNvSpPr/>
          <p:nvPr/>
        </p:nvSpPr>
        <p:spPr>
          <a:xfrm>
            <a:off x="2624328" y="2944368"/>
            <a:ext cx="2029968" cy="731520"/>
          </a:xfrm>
          <a:prstGeom prst="roundRect">
            <a:avLst>
              <a:gd name="adj" fmla="val 7500"/>
            </a:avLst>
          </a:prstGeom>
          <a:solidFill>
            <a:srgbClr val="EDE9DE"/>
          </a:solidFill>
          <a:ln/>
        </p:spPr>
      </p:sp>
      <p:sp>
        <p:nvSpPr>
          <p:cNvPr id="30" name="Text 28"/>
          <p:cNvSpPr txBox="1"/>
          <p:nvPr/>
        </p:nvSpPr>
        <p:spPr>
          <a:xfrm>
            <a:off x="2734056" y="2944368"/>
            <a:ext cx="1810512" cy="731520"/>
          </a:xfrm>
          <a:prstGeom prst="rect">
            <a:avLst/>
          </a:prstGeom>
          <a:noFill/>
          <a:ln/>
        </p:spPr>
        <p:txBody>
          <a:bodyPr wrap="square" lIns="0" tIns="0" rIns="0" bIns="0" rtlCol="0" anchor="ctr"/>
          <a:lstStyle/>
          <a:p>
            <a:pPr marL="0" indent="0">
              <a:buNone/>
            </a:pPr>
            <a:r>
              <a:rPr lang="en-US" sz="1100" b="1" dirty="0">
                <a:solidFill>
                  <a:srgbClr val="1A1A1A"/>
                </a:solidFill>
                <a:latin typeface="Arial" pitchFamily="34" charset="0"/>
                <a:ea typeface="Arial" pitchFamily="34" charset="-122"/>
                <a:cs typeface="Arial" pitchFamily="34" charset="-120"/>
              </a:rPr>
              <a:t>Marketing channel</a:t>
            </a:r>
            <a:endParaRPr lang="en-US" sz="1100" dirty="0"/>
          </a:p>
        </p:txBody>
      </p:sp>
      <p:sp>
        <p:nvSpPr>
          <p:cNvPr id="31" name="Shape 29"/>
          <p:cNvSpPr/>
          <p:nvPr/>
        </p:nvSpPr>
        <p:spPr>
          <a:xfrm>
            <a:off x="4745736" y="2944368"/>
            <a:ext cx="2029968" cy="731520"/>
          </a:xfrm>
          <a:prstGeom prst="roundRect">
            <a:avLst>
              <a:gd name="adj" fmla="val 7500"/>
            </a:avLst>
          </a:prstGeom>
          <a:solidFill>
            <a:srgbClr val="1E4FFF"/>
          </a:solidFill>
          <a:ln/>
        </p:spPr>
      </p:sp>
      <p:sp>
        <p:nvSpPr>
          <p:cNvPr id="32" name="Text 30"/>
          <p:cNvSpPr txBox="1"/>
          <p:nvPr/>
        </p:nvSpPr>
        <p:spPr>
          <a:xfrm>
            <a:off x="4855464" y="2944368"/>
            <a:ext cx="1810512" cy="7315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2 assumptions or risks</a:t>
            </a:r>
            <a:endParaRPr lang="en-US" sz="1100" dirty="0"/>
          </a:p>
        </p:txBody>
      </p:sp>
      <p:sp>
        <p:nvSpPr>
          <p:cNvPr id="33" name="Shape 31"/>
          <p:cNvSpPr/>
          <p:nvPr/>
        </p:nvSpPr>
        <p:spPr>
          <a:xfrm>
            <a:off x="6867144" y="2944368"/>
            <a:ext cx="2029968" cy="731520"/>
          </a:xfrm>
          <a:prstGeom prst="roundRect">
            <a:avLst>
              <a:gd name="adj" fmla="val 7500"/>
            </a:avLst>
          </a:prstGeom>
          <a:solidFill>
            <a:srgbClr val="1E4FFF"/>
          </a:solidFill>
          <a:ln/>
        </p:spPr>
      </p:sp>
      <p:sp>
        <p:nvSpPr>
          <p:cNvPr id="34" name="Text 32"/>
          <p:cNvSpPr txBox="1"/>
          <p:nvPr/>
        </p:nvSpPr>
        <p:spPr>
          <a:xfrm>
            <a:off x="6976872" y="2944368"/>
            <a:ext cx="1810512" cy="7315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1 low-cost test</a:t>
            </a:r>
            <a:endParaRPr lang="en-US" sz="1100" dirty="0"/>
          </a:p>
        </p:txBody>
      </p:sp>
      <p:sp>
        <p:nvSpPr>
          <p:cNvPr id="35" name="Shape 33"/>
          <p:cNvSpPr/>
          <p:nvPr/>
        </p:nvSpPr>
        <p:spPr>
          <a:xfrm>
            <a:off x="8988552" y="2944368"/>
            <a:ext cx="2029968" cy="731520"/>
          </a:xfrm>
          <a:prstGeom prst="roundRect">
            <a:avLst>
              <a:gd name="adj" fmla="val 7500"/>
            </a:avLst>
          </a:prstGeom>
          <a:solidFill>
            <a:srgbClr val="1E4FFF"/>
          </a:solidFill>
          <a:ln/>
        </p:spPr>
      </p:sp>
      <p:sp>
        <p:nvSpPr>
          <p:cNvPr id="36" name="Text 34"/>
          <p:cNvSpPr txBox="1"/>
          <p:nvPr/>
        </p:nvSpPr>
        <p:spPr>
          <a:xfrm>
            <a:off x="9098280" y="2944368"/>
            <a:ext cx="1810512" cy="7315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3 questions only you can answer</a:t>
            </a:r>
            <a:endParaRPr lang="en-US" sz="1100" dirty="0"/>
          </a:p>
        </p:txBody>
      </p:sp>
      <p:sp>
        <p:nvSpPr>
          <p:cNvPr id="37" name="Shape 35"/>
          <p:cNvSpPr/>
          <p:nvPr/>
        </p:nvSpPr>
        <p:spPr>
          <a:xfrm>
            <a:off x="502920" y="3794760"/>
            <a:ext cx="5074920" cy="1234440"/>
          </a:xfrm>
          <a:prstGeom prst="roundRect">
            <a:avLst>
              <a:gd name="adj" fmla="val 5926"/>
            </a:avLst>
          </a:prstGeom>
          <a:solidFill>
            <a:srgbClr val="1A1A1A"/>
          </a:solidFill>
          <a:ln/>
        </p:spPr>
      </p:sp>
      <p:sp>
        <p:nvSpPr>
          <p:cNvPr id="38" name="Text 36"/>
          <p:cNvSpPr txBox="1"/>
          <p:nvPr/>
        </p:nvSpPr>
        <p:spPr>
          <a:xfrm>
            <a:off x="731520" y="3794760"/>
            <a:ext cx="4617720" cy="1234440"/>
          </a:xfrm>
          <a:prstGeom prst="rect">
            <a:avLst/>
          </a:prstGeom>
          <a:noFill/>
          <a:ln/>
        </p:spPr>
        <p:txBody>
          <a:bodyPr wrap="square" lIns="0" tIns="0" rIns="0" bIns="0" rtlCol="0" anchor="ctr"/>
          <a:lstStyle/>
          <a:p>
            <a:pPr marL="0" indent="0">
              <a:buNone/>
            </a:pPr>
            <a:r>
              <a:rPr lang="en-US" sz="1200" dirty="0">
                <a:solidFill>
                  <a:srgbClr val="E6E3D8"/>
                </a:solidFill>
                <a:latin typeface="Arial" pitchFamily="34" charset="0"/>
                <a:ea typeface="Arial" pitchFamily="34" charset="-122"/>
                <a:cs typeface="Arial" pitchFamily="34" charset="-120"/>
              </a:rPr>
              <a:t>Tag every claim with one of the four labels above. Never present an assumption as a fact. No invented statistics, prices, or profits — illustrative numbers are labeled as estimates.</a:t>
            </a:r>
            <a:endParaRPr lang="en-US" sz="1200" dirty="0"/>
          </a:p>
        </p:txBody>
      </p:sp>
      <p:sp>
        <p:nvSpPr>
          <p:cNvPr id="39" name="Shape 37"/>
          <p:cNvSpPr/>
          <p:nvPr/>
        </p:nvSpPr>
        <p:spPr>
          <a:xfrm>
            <a:off x="5715000" y="3794760"/>
            <a:ext cx="5074920" cy="1234440"/>
          </a:xfrm>
          <a:prstGeom prst="roundRect">
            <a:avLst>
              <a:gd name="adj" fmla="val 5926"/>
            </a:avLst>
          </a:prstGeom>
          <a:solidFill>
            <a:srgbClr val="EDE9DE"/>
          </a:solidFill>
          <a:ln/>
        </p:spPr>
      </p:sp>
      <p:sp>
        <p:nvSpPr>
          <p:cNvPr id="40" name="Text 38"/>
          <p:cNvSpPr txBox="1"/>
          <p:nvPr/>
        </p:nvSpPr>
        <p:spPr>
          <a:xfrm>
            <a:off x="5943600" y="3913632"/>
            <a:ext cx="4572000" cy="320040"/>
          </a:xfrm>
          <a:prstGeom prst="rect">
            <a:avLst/>
          </a:prstGeom>
          <a:noFill/>
          <a:ln/>
        </p:spPr>
        <p:txBody>
          <a:bodyPr wrap="square" lIns="0" tIns="0" rIns="0" bIns="0" rtlCol="0" anchor="ctr"/>
          <a:lstStyle/>
          <a:p>
            <a:pPr marL="0" indent="0">
              <a:buNone/>
            </a:pPr>
            <a:r>
              <a:rPr lang="en-US" sz="1250" b="1" dirty="0">
                <a:solidFill>
                  <a:srgbClr val="1A1A1A"/>
                </a:solidFill>
                <a:latin typeface="Arial" pitchFamily="34" charset="0"/>
                <a:ea typeface="Arial" pitchFamily="34" charset="-122"/>
                <a:cs typeface="Arial" pitchFamily="34" charset="-120"/>
              </a:rPr>
              <a:t>Peer review: your partner asks</a:t>
            </a:r>
            <a:endParaRPr lang="en-US" sz="1250" dirty="0"/>
          </a:p>
        </p:txBody>
      </p:sp>
      <p:sp>
        <p:nvSpPr>
          <p:cNvPr id="41" name="Text 39"/>
          <p:cNvSpPr txBox="1"/>
          <p:nvPr/>
        </p:nvSpPr>
        <p:spPr>
          <a:xfrm>
            <a:off x="5943600" y="4224528"/>
            <a:ext cx="4572000" cy="914400"/>
          </a:xfrm>
          <a:prstGeom prst="rect">
            <a:avLst/>
          </a:prstGeom>
          <a:noFill/>
          <a:ln/>
        </p:spPr>
        <p:txBody>
          <a:bodyPr wrap="square" lIns="0" tIns="0" rIns="0" bIns="0" rtlCol="0" anchor="t"/>
          <a:lstStyle/>
          <a:p>
            <a:pPr marL="228600" indent="-228600">
              <a:spcAft>
                <a:spcPts val="600"/>
              </a:spcAft>
              <a:buSzPct val="100000"/>
              <a:buChar char="•"/>
            </a:pPr>
            <a:r>
              <a:rPr lang="en-US" sz="1150" dirty="0">
                <a:solidFill>
                  <a:srgbClr val="1A1A1A"/>
                </a:solidFill>
                <a:latin typeface="Arial" pitchFamily="34" charset="0"/>
                <a:ea typeface="Arial" pitchFamily="34" charset="-122"/>
                <a:cs typeface="Arial" pitchFamily="34" charset="-120"/>
              </a:rPr>
              <a:t>Which claim sounds factual but lacks evidence?</a:t>
            </a:r>
            <a:endParaRPr lang="en-US" sz="1150" dirty="0"/>
          </a:p>
          <a:p>
            <a:pPr marL="228600" indent="-228600">
              <a:spcAft>
                <a:spcPts val="600"/>
              </a:spcAft>
              <a:buSzPct val="100000"/>
              <a:buChar char="•"/>
            </a:pPr>
            <a:r>
              <a:rPr lang="en-US" sz="1150" dirty="0">
                <a:solidFill>
                  <a:srgbClr val="1A1A1A"/>
                </a:solidFill>
                <a:latin typeface="Arial" pitchFamily="34" charset="0"/>
                <a:ea typeface="Arial" pitchFamily="34" charset="-122"/>
                <a:cs typeface="Arial" pitchFamily="34" charset="-120"/>
              </a:rPr>
              <a:t>Is the test cheaper and safer than launching?</a:t>
            </a:r>
            <a:endParaRPr lang="en-US" sz="1150" dirty="0"/>
          </a:p>
        </p:txBody>
      </p:sp>
      <p:sp>
        <p:nvSpPr>
          <p:cNvPr id="42" name="Text 40"/>
          <p:cNvSpPr txBox="1"/>
          <p:nvPr/>
        </p:nvSpPr>
        <p:spPr>
          <a:xfrm>
            <a:off x="502920" y="5138928"/>
            <a:ext cx="10058400" cy="320040"/>
          </a:xfrm>
          <a:prstGeom prst="rect">
            <a:avLst/>
          </a:prstGeom>
          <a:noFill/>
          <a:ln/>
        </p:spPr>
        <p:txBody>
          <a:bodyPr wrap="square" lIns="0" tIns="0" rIns="0" bIns="0" rtlCol="0" anchor="ctr"/>
          <a:lstStyle/>
          <a:p>
            <a:pPr marL="0" indent="0">
              <a:buNone/>
            </a:pPr>
            <a:r>
              <a:rPr lang="en-US" sz="1200" i="1" dirty="0">
                <a:solidFill>
                  <a:srgbClr val="6E6A60"/>
                </a:solidFill>
                <a:latin typeface="Arial" pitchFamily="34" charset="0"/>
                <a:ea typeface="Arial" pitchFamily="34" charset="-122"/>
                <a:cs typeface="Arial" pitchFamily="34" charset="-120"/>
              </a:rPr>
              <a:t>~350 words  ·  keep your own revised version after peer review</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8">
    <p:bg>
      <p:bgPr>
        <a:solidFill>
          <a:srgbClr val="F7F4EC"/>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6E6A60"/>
                </a:solidFill>
                <a:latin typeface="Arial" pitchFamily="34" charset="0"/>
                <a:ea typeface="Arial" pitchFamily="34" charset="-122"/>
                <a:cs typeface="Arial" pitchFamily="34" charset="-120"/>
              </a:rPr>
              <a:t>CLASS 1 · AI AS A BUSINESS TOOL</a:t>
            </a:r>
            <a:endParaRPr lang="en-US" sz="1050" dirty="0"/>
          </a:p>
        </p:txBody>
      </p:sp>
      <p:sp>
        <p:nvSpPr>
          <p:cNvPr id="3" name="Shape 1"/>
          <p:cNvSpPr/>
          <p:nvPr/>
        </p:nvSpPr>
        <p:spPr>
          <a:xfrm>
            <a:off x="10561320" y="256032"/>
            <a:ext cx="1170432" cy="384048"/>
          </a:xfrm>
          <a:prstGeom prst="roundRect">
            <a:avLst>
              <a:gd name="adj" fmla="val 19048"/>
            </a:avLst>
          </a:prstGeom>
          <a:solidFill>
            <a:srgbClr val="1E4FFF"/>
          </a:solidFill>
          <a:ln/>
        </p:spPr>
      </p:sp>
      <p:sp>
        <p:nvSpPr>
          <p:cNvPr id="4" name="Text 2"/>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105–120</a:t>
            </a:r>
            <a:endParaRPr lang="en-US" sz="1300" dirty="0"/>
          </a:p>
        </p:txBody>
      </p:sp>
      <p:sp>
        <p:nvSpPr>
          <p:cNvPr id="5" name="Shape 3"/>
          <p:cNvSpPr/>
          <p:nvPr/>
        </p:nvSpPr>
        <p:spPr>
          <a:xfrm>
            <a:off x="502920" y="6446520"/>
            <a:ext cx="11183112" cy="0"/>
          </a:xfrm>
          <a:prstGeom prst="line">
            <a:avLst/>
          </a:prstGeom>
          <a:noFill/>
          <a:ln w="9525">
            <a:solidFill>
              <a:srgbClr val="D8D3C5"/>
            </a:solidFill>
            <a:prstDash val="solid"/>
          </a:ln>
        </p:spPr>
      </p:sp>
      <p:sp>
        <p:nvSpPr>
          <p:cNvPr id="6" name="Text 4"/>
          <p:cNvSpPr txBox="1"/>
          <p:nvPr/>
        </p:nvSpPr>
        <p:spPr>
          <a:xfrm>
            <a:off x="502920" y="6492240"/>
            <a:ext cx="7315200" cy="274320"/>
          </a:xfrm>
          <a:prstGeom prst="rect">
            <a:avLst/>
          </a:prstGeom>
          <a:noFill/>
          <a:ln/>
        </p:spPr>
        <p:txBody>
          <a:bodyPr wrap="square" lIns="0" tIns="0" rIns="0" bIns="0" rtlCol="0" anchor="ctr"/>
          <a:lstStyle/>
          <a:p>
            <a:pPr marL="0" indent="0">
              <a:buNone/>
            </a:pPr>
            <a:r>
              <a:rPr lang="en-US" sz="900" kern="0" spc="100" dirty="0">
                <a:solidFill>
                  <a:srgbClr val="6E6A60"/>
                </a:solidFill>
                <a:latin typeface="Arial" pitchFamily="34" charset="0"/>
                <a:ea typeface="Arial" pitchFamily="34" charset="-122"/>
                <a:cs typeface="Arial" pitchFamily="34" charset="-120"/>
              </a:rPr>
              <a:t>·  IUT DHAKA</a:t>
            </a:r>
            <a:endParaRPr lang="en-US" sz="900" dirty="0"/>
          </a:p>
        </p:txBody>
      </p:sp>
      <p:sp>
        <p:nvSpPr>
          <p:cNvPr id="7" name="Text 5"/>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18</a:t>
            </a:r>
            <a:endParaRPr lang="en-US" sz="900" dirty="0"/>
          </a:p>
        </p:txBody>
      </p:sp>
      <p:sp>
        <p:nvSpPr>
          <p:cNvPr id="8" name="Text 6"/>
          <p:cNvSpPr txBox="1"/>
          <p:nvPr/>
        </p:nvSpPr>
        <p:spPr>
          <a:xfrm>
            <a:off x="502920" y="713232"/>
            <a:ext cx="10607040" cy="868680"/>
          </a:xfrm>
          <a:prstGeom prst="rect">
            <a:avLst/>
          </a:prstGeom>
          <a:noFill/>
          <a:ln/>
        </p:spPr>
        <p:txBody>
          <a:bodyPr wrap="square" lIns="0" tIns="0" rIns="0" bIns="0" rtlCol="0" anchor="ctr"/>
          <a:lstStyle/>
          <a:p>
            <a:pPr marL="0" indent="0">
              <a:lnSpc>
                <a:spcPct val="102000"/>
              </a:lnSpc>
              <a:buNone/>
            </a:pPr>
            <a:r>
              <a:rPr lang="en-US" sz="3400" b="1" dirty="0">
                <a:solidFill>
                  <a:srgbClr val="1A1A1A"/>
                </a:solidFill>
                <a:latin typeface="Arial" pitchFamily="34" charset="0"/>
                <a:ea typeface="Arial" pitchFamily="34" charset="-122"/>
                <a:cs typeface="Arial" pitchFamily="34" charset="-120"/>
              </a:rPr>
              <a:t>The THREADS Have a Job</a:t>
            </a:r>
            <a:endParaRPr lang="en-US" sz="3400" dirty="0"/>
          </a:p>
        </p:txBody>
      </p:sp>
      <p:sp>
        <p:nvSpPr>
          <p:cNvPr id="10" name="Shape 8"/>
          <p:cNvSpPr/>
          <p:nvPr/>
        </p:nvSpPr>
        <p:spPr>
          <a:xfrm>
            <a:off x="502920" y="2103120"/>
            <a:ext cx="1993392" cy="1417320"/>
          </a:xfrm>
          <a:prstGeom prst="roundRect">
            <a:avLst>
              <a:gd name="adj" fmla="val 4516"/>
            </a:avLst>
          </a:prstGeom>
          <a:solidFill>
            <a:srgbClr val="EDE9DE"/>
          </a:solidFill>
          <a:ln/>
        </p:spPr>
      </p:sp>
      <p:sp>
        <p:nvSpPr>
          <p:cNvPr id="11" name="Text 9"/>
          <p:cNvSpPr txBox="1"/>
          <p:nvPr/>
        </p:nvSpPr>
        <p:spPr>
          <a:xfrm>
            <a:off x="630936" y="2231136"/>
            <a:ext cx="1737360" cy="502920"/>
          </a:xfrm>
          <a:prstGeom prst="rect">
            <a:avLst/>
          </a:prstGeom>
          <a:noFill/>
          <a:ln/>
        </p:spPr>
        <p:txBody>
          <a:bodyPr wrap="square" lIns="0" tIns="0" rIns="0" bIns="0" rtlCol="0" anchor="ctr"/>
          <a:lstStyle/>
          <a:p>
            <a:pPr marL="0" indent="0">
              <a:buNone/>
            </a:pPr>
            <a:r>
              <a:rPr lang="en-US" sz="1150" b="1" dirty="0">
                <a:solidFill>
                  <a:srgbClr val="1A1A1A"/>
                </a:solidFill>
                <a:latin typeface="Arial" pitchFamily="34" charset="0"/>
                <a:cs typeface="Arial" pitchFamily="34" charset="-120"/>
              </a:rPr>
              <a:t>CEO</a:t>
            </a:r>
            <a:endParaRPr lang="en-US" sz="1150" dirty="0"/>
          </a:p>
        </p:txBody>
      </p:sp>
      <p:sp>
        <p:nvSpPr>
          <p:cNvPr id="12" name="Shape 10"/>
          <p:cNvSpPr/>
          <p:nvPr/>
        </p:nvSpPr>
        <p:spPr>
          <a:xfrm>
            <a:off x="630936" y="3154680"/>
            <a:ext cx="1737360" cy="0"/>
          </a:xfrm>
          <a:prstGeom prst="line">
            <a:avLst/>
          </a:prstGeom>
          <a:noFill/>
          <a:ln w="19050">
            <a:solidFill>
              <a:srgbClr val="1E4FFF"/>
            </a:solidFill>
            <a:prstDash val="dash"/>
          </a:ln>
        </p:spPr>
      </p:sp>
      <p:sp>
        <p:nvSpPr>
          <p:cNvPr id="13" name="Text 11"/>
          <p:cNvSpPr txBox="1"/>
          <p:nvPr/>
        </p:nvSpPr>
        <p:spPr>
          <a:xfrm>
            <a:off x="630936" y="3200400"/>
            <a:ext cx="1737360" cy="274320"/>
          </a:xfrm>
          <a:prstGeom prst="rect">
            <a:avLst/>
          </a:prstGeom>
          <a:noFill/>
          <a:ln/>
        </p:spPr>
        <p:txBody>
          <a:bodyPr wrap="square" lIns="0" tIns="0" rIns="0" bIns="0" rtlCol="0" anchor="ctr"/>
          <a:lstStyle/>
          <a:p>
            <a:pPr marL="0" indent="0">
              <a:buNone/>
            </a:pPr>
            <a:r>
              <a:rPr lang="en-US" sz="1600" b="1" dirty="0">
                <a:solidFill>
                  <a:srgbClr val="1E4FFF"/>
                </a:solidFill>
                <a:latin typeface="Arial" pitchFamily="34" charset="0"/>
                <a:ea typeface="Arial" pitchFamily="34" charset="-122"/>
                <a:cs typeface="Arial" pitchFamily="34" charset="-120"/>
              </a:rPr>
              <a:t>?</a:t>
            </a:r>
            <a:endParaRPr lang="en-US" sz="1600" dirty="0"/>
          </a:p>
        </p:txBody>
      </p:sp>
      <p:sp>
        <p:nvSpPr>
          <p:cNvPr id="14" name="Shape 12"/>
          <p:cNvSpPr/>
          <p:nvPr/>
        </p:nvSpPr>
        <p:spPr>
          <a:xfrm>
            <a:off x="2624328" y="2103120"/>
            <a:ext cx="1993392" cy="1417320"/>
          </a:xfrm>
          <a:prstGeom prst="roundRect">
            <a:avLst>
              <a:gd name="adj" fmla="val 4516"/>
            </a:avLst>
          </a:prstGeom>
          <a:solidFill>
            <a:srgbClr val="EDE9DE"/>
          </a:solidFill>
          <a:ln/>
        </p:spPr>
      </p:sp>
      <p:sp>
        <p:nvSpPr>
          <p:cNvPr id="15" name="Text 13"/>
          <p:cNvSpPr txBox="1"/>
          <p:nvPr/>
        </p:nvSpPr>
        <p:spPr>
          <a:xfrm>
            <a:off x="2752344" y="2231136"/>
            <a:ext cx="1737360" cy="502920"/>
          </a:xfrm>
          <a:prstGeom prst="rect">
            <a:avLst/>
          </a:prstGeom>
          <a:noFill/>
          <a:ln/>
        </p:spPr>
        <p:txBody>
          <a:bodyPr wrap="square" lIns="0" tIns="0" rIns="0" bIns="0" rtlCol="0" anchor="ctr"/>
          <a:lstStyle/>
          <a:p>
            <a:pPr marL="0" indent="0">
              <a:buNone/>
            </a:pPr>
            <a:r>
              <a:rPr lang="en-US" sz="1150" b="1" dirty="0">
                <a:solidFill>
                  <a:srgbClr val="1A1A1A"/>
                </a:solidFill>
                <a:latin typeface="Arial" pitchFamily="34" charset="0"/>
                <a:cs typeface="Arial" pitchFamily="34" charset="-120"/>
              </a:rPr>
              <a:t>CBO</a:t>
            </a:r>
            <a:endParaRPr lang="en-US" sz="1150" dirty="0"/>
          </a:p>
        </p:txBody>
      </p:sp>
      <p:sp>
        <p:nvSpPr>
          <p:cNvPr id="16" name="Shape 14"/>
          <p:cNvSpPr/>
          <p:nvPr/>
        </p:nvSpPr>
        <p:spPr>
          <a:xfrm>
            <a:off x="2752344" y="3154680"/>
            <a:ext cx="1737360" cy="0"/>
          </a:xfrm>
          <a:prstGeom prst="line">
            <a:avLst/>
          </a:prstGeom>
          <a:noFill/>
          <a:ln w="19050">
            <a:solidFill>
              <a:srgbClr val="1E4FFF"/>
            </a:solidFill>
            <a:prstDash val="dash"/>
          </a:ln>
        </p:spPr>
      </p:sp>
      <p:sp>
        <p:nvSpPr>
          <p:cNvPr id="17" name="Text 15"/>
          <p:cNvSpPr txBox="1"/>
          <p:nvPr/>
        </p:nvSpPr>
        <p:spPr>
          <a:xfrm>
            <a:off x="2752344" y="3200400"/>
            <a:ext cx="1737360" cy="274320"/>
          </a:xfrm>
          <a:prstGeom prst="rect">
            <a:avLst/>
          </a:prstGeom>
          <a:noFill/>
          <a:ln/>
        </p:spPr>
        <p:txBody>
          <a:bodyPr wrap="square" lIns="0" tIns="0" rIns="0" bIns="0" rtlCol="0" anchor="ctr"/>
          <a:lstStyle/>
          <a:p>
            <a:pPr marL="0" indent="0">
              <a:buNone/>
            </a:pPr>
            <a:r>
              <a:rPr lang="en-US" sz="1600" b="1" dirty="0">
                <a:solidFill>
                  <a:srgbClr val="1E4FFF"/>
                </a:solidFill>
                <a:latin typeface="Arial" pitchFamily="34" charset="0"/>
                <a:ea typeface="Arial" pitchFamily="34" charset="-122"/>
                <a:cs typeface="Arial" pitchFamily="34" charset="-120"/>
              </a:rPr>
              <a:t>?</a:t>
            </a:r>
            <a:endParaRPr lang="en-US" sz="1600" dirty="0"/>
          </a:p>
        </p:txBody>
      </p:sp>
      <p:sp>
        <p:nvSpPr>
          <p:cNvPr id="18" name="Shape 16"/>
          <p:cNvSpPr/>
          <p:nvPr/>
        </p:nvSpPr>
        <p:spPr>
          <a:xfrm>
            <a:off x="4745736" y="2103120"/>
            <a:ext cx="1993392" cy="1417320"/>
          </a:xfrm>
          <a:prstGeom prst="roundRect">
            <a:avLst>
              <a:gd name="adj" fmla="val 4516"/>
            </a:avLst>
          </a:prstGeom>
          <a:solidFill>
            <a:srgbClr val="EDE9DE"/>
          </a:solidFill>
          <a:ln/>
        </p:spPr>
      </p:sp>
      <p:sp>
        <p:nvSpPr>
          <p:cNvPr id="19" name="Text 17"/>
          <p:cNvSpPr txBox="1"/>
          <p:nvPr/>
        </p:nvSpPr>
        <p:spPr>
          <a:xfrm>
            <a:off x="4873752" y="2231136"/>
            <a:ext cx="1737360" cy="502920"/>
          </a:xfrm>
          <a:prstGeom prst="rect">
            <a:avLst/>
          </a:prstGeom>
          <a:noFill/>
          <a:ln/>
        </p:spPr>
        <p:txBody>
          <a:bodyPr wrap="square" lIns="0" tIns="0" rIns="0" bIns="0" rtlCol="0" anchor="ctr"/>
          <a:lstStyle/>
          <a:p>
            <a:pPr marL="0" indent="0">
              <a:buNone/>
            </a:pPr>
            <a:r>
              <a:rPr lang="en-US" sz="1150" b="1" dirty="0">
                <a:solidFill>
                  <a:srgbClr val="1A1A1A"/>
                </a:solidFill>
                <a:latin typeface="Arial" pitchFamily="34" charset="0"/>
                <a:cs typeface="Arial" pitchFamily="34" charset="-120"/>
              </a:rPr>
              <a:t>CFO</a:t>
            </a:r>
            <a:endParaRPr lang="en-US" sz="1150" dirty="0"/>
          </a:p>
        </p:txBody>
      </p:sp>
      <p:sp>
        <p:nvSpPr>
          <p:cNvPr id="20" name="Shape 18"/>
          <p:cNvSpPr/>
          <p:nvPr/>
        </p:nvSpPr>
        <p:spPr>
          <a:xfrm>
            <a:off x="4873752" y="3154680"/>
            <a:ext cx="1737360" cy="0"/>
          </a:xfrm>
          <a:prstGeom prst="line">
            <a:avLst/>
          </a:prstGeom>
          <a:noFill/>
          <a:ln w="19050">
            <a:solidFill>
              <a:srgbClr val="1E4FFF"/>
            </a:solidFill>
            <a:prstDash val="dash"/>
          </a:ln>
        </p:spPr>
      </p:sp>
      <p:sp>
        <p:nvSpPr>
          <p:cNvPr id="21" name="Text 19"/>
          <p:cNvSpPr txBox="1"/>
          <p:nvPr/>
        </p:nvSpPr>
        <p:spPr>
          <a:xfrm>
            <a:off x="4873752" y="3200400"/>
            <a:ext cx="1737360" cy="274320"/>
          </a:xfrm>
          <a:prstGeom prst="rect">
            <a:avLst/>
          </a:prstGeom>
          <a:noFill/>
          <a:ln/>
        </p:spPr>
        <p:txBody>
          <a:bodyPr wrap="square" lIns="0" tIns="0" rIns="0" bIns="0" rtlCol="0" anchor="ctr"/>
          <a:lstStyle/>
          <a:p>
            <a:pPr marL="0" indent="0">
              <a:buNone/>
            </a:pPr>
            <a:r>
              <a:rPr lang="en-US" sz="1600" b="1" dirty="0">
                <a:solidFill>
                  <a:srgbClr val="1E4FFF"/>
                </a:solidFill>
                <a:latin typeface="Arial" pitchFamily="34" charset="0"/>
                <a:ea typeface="Arial" pitchFamily="34" charset="-122"/>
                <a:cs typeface="Arial" pitchFamily="34" charset="-120"/>
              </a:rPr>
              <a:t>?</a:t>
            </a:r>
            <a:endParaRPr lang="en-US" sz="1600" dirty="0"/>
          </a:p>
        </p:txBody>
      </p:sp>
      <p:sp>
        <p:nvSpPr>
          <p:cNvPr id="22" name="Shape 20"/>
          <p:cNvSpPr/>
          <p:nvPr/>
        </p:nvSpPr>
        <p:spPr>
          <a:xfrm>
            <a:off x="6867144" y="2103120"/>
            <a:ext cx="1993392" cy="1417320"/>
          </a:xfrm>
          <a:prstGeom prst="roundRect">
            <a:avLst>
              <a:gd name="adj" fmla="val 4516"/>
            </a:avLst>
          </a:prstGeom>
          <a:solidFill>
            <a:srgbClr val="EDE9DE"/>
          </a:solidFill>
          <a:ln/>
        </p:spPr>
      </p:sp>
      <p:sp>
        <p:nvSpPr>
          <p:cNvPr id="23" name="Text 21"/>
          <p:cNvSpPr txBox="1"/>
          <p:nvPr/>
        </p:nvSpPr>
        <p:spPr>
          <a:xfrm>
            <a:off x="6995160" y="2231136"/>
            <a:ext cx="1737360" cy="502920"/>
          </a:xfrm>
          <a:prstGeom prst="rect">
            <a:avLst/>
          </a:prstGeom>
          <a:noFill/>
          <a:ln/>
        </p:spPr>
        <p:txBody>
          <a:bodyPr wrap="square" lIns="0" tIns="0" rIns="0" bIns="0" rtlCol="0" anchor="ctr"/>
          <a:lstStyle/>
          <a:p>
            <a:pPr marL="0" indent="0">
              <a:buNone/>
            </a:pPr>
            <a:r>
              <a:rPr lang="en-US" sz="1150" b="1" dirty="0"/>
              <a:t>Remaining Organization</a:t>
            </a:r>
          </a:p>
        </p:txBody>
      </p:sp>
      <p:sp>
        <p:nvSpPr>
          <p:cNvPr id="24" name="Shape 22"/>
          <p:cNvSpPr/>
          <p:nvPr/>
        </p:nvSpPr>
        <p:spPr>
          <a:xfrm>
            <a:off x="6995160" y="3154680"/>
            <a:ext cx="1737360" cy="0"/>
          </a:xfrm>
          <a:prstGeom prst="line">
            <a:avLst/>
          </a:prstGeom>
          <a:noFill/>
          <a:ln w="19050">
            <a:solidFill>
              <a:srgbClr val="1E4FFF"/>
            </a:solidFill>
            <a:prstDash val="dash"/>
          </a:ln>
        </p:spPr>
      </p:sp>
      <p:sp>
        <p:nvSpPr>
          <p:cNvPr id="25" name="Text 23"/>
          <p:cNvSpPr txBox="1"/>
          <p:nvPr/>
        </p:nvSpPr>
        <p:spPr>
          <a:xfrm>
            <a:off x="6995160" y="3200400"/>
            <a:ext cx="1737360" cy="274320"/>
          </a:xfrm>
          <a:prstGeom prst="rect">
            <a:avLst/>
          </a:prstGeom>
          <a:noFill/>
          <a:ln/>
        </p:spPr>
        <p:txBody>
          <a:bodyPr wrap="square" lIns="0" tIns="0" rIns="0" bIns="0" rtlCol="0" anchor="ctr"/>
          <a:lstStyle/>
          <a:p>
            <a:pPr marL="0" indent="0">
              <a:buNone/>
            </a:pPr>
            <a:r>
              <a:rPr lang="en-US" sz="1600" b="1" dirty="0">
                <a:solidFill>
                  <a:srgbClr val="1E4FFF"/>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8988552" y="2103120"/>
            <a:ext cx="1993392" cy="1417320"/>
          </a:xfrm>
          <a:prstGeom prst="roundRect">
            <a:avLst>
              <a:gd name="adj" fmla="val 4516"/>
            </a:avLst>
          </a:prstGeom>
          <a:solidFill>
            <a:srgbClr val="EDE9DE"/>
          </a:solidFill>
          <a:ln/>
        </p:spPr>
      </p:sp>
      <p:sp>
        <p:nvSpPr>
          <p:cNvPr id="27" name="Text 25"/>
          <p:cNvSpPr txBox="1"/>
          <p:nvPr/>
        </p:nvSpPr>
        <p:spPr>
          <a:xfrm>
            <a:off x="9116568" y="2231136"/>
            <a:ext cx="1737360" cy="502920"/>
          </a:xfrm>
          <a:prstGeom prst="rect">
            <a:avLst/>
          </a:prstGeom>
          <a:noFill/>
          <a:ln/>
        </p:spPr>
        <p:txBody>
          <a:bodyPr wrap="square" lIns="0" tIns="0" rIns="0" bIns="0" rtlCol="0" anchor="ctr"/>
          <a:lstStyle/>
          <a:p>
            <a:pPr marL="0" indent="0">
              <a:buNone/>
            </a:pPr>
            <a:r>
              <a:rPr lang="en-US" sz="1150" b="1" dirty="0">
                <a:solidFill>
                  <a:srgbClr val="1A1A1A"/>
                </a:solidFill>
                <a:latin typeface="Arial" pitchFamily="34" charset="0"/>
                <a:ea typeface="Arial" pitchFamily="34" charset="-122"/>
                <a:cs typeface="Arial" pitchFamily="34" charset="-120"/>
              </a:rPr>
              <a:t>Remaining Organization</a:t>
            </a:r>
            <a:endParaRPr lang="en-US" sz="1150" dirty="0"/>
          </a:p>
        </p:txBody>
      </p:sp>
      <p:sp>
        <p:nvSpPr>
          <p:cNvPr id="28" name="Shape 26"/>
          <p:cNvSpPr/>
          <p:nvPr/>
        </p:nvSpPr>
        <p:spPr>
          <a:xfrm>
            <a:off x="9116568" y="3154680"/>
            <a:ext cx="1737360" cy="0"/>
          </a:xfrm>
          <a:prstGeom prst="line">
            <a:avLst/>
          </a:prstGeom>
          <a:noFill/>
          <a:ln w="19050">
            <a:solidFill>
              <a:srgbClr val="1E4FFF"/>
            </a:solidFill>
            <a:prstDash val="dash"/>
          </a:ln>
        </p:spPr>
      </p:sp>
      <p:sp>
        <p:nvSpPr>
          <p:cNvPr id="29" name="Text 27"/>
          <p:cNvSpPr txBox="1"/>
          <p:nvPr/>
        </p:nvSpPr>
        <p:spPr>
          <a:xfrm>
            <a:off x="9116568" y="3200400"/>
            <a:ext cx="1737360" cy="274320"/>
          </a:xfrm>
          <a:prstGeom prst="rect">
            <a:avLst/>
          </a:prstGeom>
          <a:noFill/>
          <a:ln/>
        </p:spPr>
        <p:txBody>
          <a:bodyPr wrap="square" lIns="0" tIns="0" rIns="0" bIns="0" rtlCol="0" anchor="ctr"/>
          <a:lstStyle/>
          <a:p>
            <a:pPr marL="0" indent="0">
              <a:buNone/>
            </a:pPr>
            <a:r>
              <a:rPr lang="en-US" sz="1600" b="1" dirty="0">
                <a:solidFill>
                  <a:srgbClr val="1E4FFF"/>
                </a:solidFill>
                <a:latin typeface="Arial" pitchFamily="34" charset="0"/>
                <a:ea typeface="Arial" pitchFamily="34" charset="-122"/>
                <a:cs typeface="Arial" pitchFamily="34" charset="-120"/>
              </a:rPr>
              <a:t>?</a:t>
            </a:r>
            <a:endParaRPr lang="en-US" sz="1600" dirty="0"/>
          </a:p>
        </p:txBody>
      </p:sp>
      <p:sp>
        <p:nvSpPr>
          <p:cNvPr id="30" name="Shape 28"/>
          <p:cNvSpPr/>
          <p:nvPr/>
        </p:nvSpPr>
        <p:spPr>
          <a:xfrm>
            <a:off x="502920" y="3794760"/>
            <a:ext cx="10287000" cy="960120"/>
          </a:xfrm>
          <a:prstGeom prst="roundRect">
            <a:avLst>
              <a:gd name="adj" fmla="val 7619"/>
            </a:avLst>
          </a:prstGeom>
          <a:solidFill>
            <a:srgbClr val="1A1A1A"/>
          </a:solidFill>
          <a:ln/>
        </p:spPr>
      </p:sp>
      <p:sp>
        <p:nvSpPr>
          <p:cNvPr id="31" name="Text 29"/>
          <p:cNvSpPr txBox="1"/>
          <p:nvPr/>
        </p:nvSpPr>
        <p:spPr>
          <a:xfrm>
            <a:off x="731520" y="3794760"/>
            <a:ext cx="9738360" cy="960120"/>
          </a:xfrm>
          <a:prstGeom prst="rect">
            <a:avLst/>
          </a:prstGeom>
          <a:noFill/>
          <a:ln/>
        </p:spPr>
        <p:txBody>
          <a:bodyPr wrap="square" lIns="0" tIns="0" rIns="0" bIns="0" rtlCol="0" anchor="ctr"/>
          <a:lstStyle/>
          <a:p>
            <a:pPr marL="0" indent="0">
              <a:lnSpc>
                <a:spcPct val="125000"/>
              </a:lnSpc>
              <a:buNone/>
            </a:pPr>
            <a:r>
              <a:rPr lang="en-US" sz="1300" b="1" dirty="0">
                <a:solidFill>
                  <a:srgbClr val="FFFFFF"/>
                </a:solidFill>
                <a:latin typeface="Arial" pitchFamily="34" charset="0"/>
                <a:cs typeface="Arial" pitchFamily="34" charset="-120"/>
              </a:rPr>
              <a:t>Make your Agents. Put your Idea into reality. </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9">
    <p:bg>
      <p:bgPr>
        <a:solidFill>
          <a:srgbClr val="1A1A1A"/>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A9A59A"/>
                </a:solidFill>
                <a:latin typeface="Arial" pitchFamily="34" charset="0"/>
                <a:ea typeface="Arial" pitchFamily="34" charset="-122"/>
                <a:cs typeface="Arial" pitchFamily="34" charset="-120"/>
              </a:rPr>
              <a:t>CLASS 1 · AI AS A BUSINESS TOOL</a:t>
            </a:r>
            <a:endParaRPr lang="en-US" sz="1050" dirty="0"/>
          </a:p>
        </p:txBody>
      </p:sp>
      <p:sp>
        <p:nvSpPr>
          <p:cNvPr id="3" name="Shape 1"/>
          <p:cNvSpPr/>
          <p:nvPr/>
        </p:nvSpPr>
        <p:spPr>
          <a:xfrm>
            <a:off x="10561320" y="256032"/>
            <a:ext cx="1170432" cy="384048"/>
          </a:xfrm>
          <a:prstGeom prst="roundRect">
            <a:avLst>
              <a:gd name="adj" fmla="val 19048"/>
            </a:avLst>
          </a:prstGeom>
          <a:solidFill>
            <a:srgbClr val="1E4FFF"/>
          </a:solidFill>
          <a:ln/>
        </p:spPr>
      </p:sp>
      <p:sp>
        <p:nvSpPr>
          <p:cNvPr id="4" name="Text 2"/>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120–125</a:t>
            </a:r>
            <a:endParaRPr lang="en-US" sz="1300" dirty="0"/>
          </a:p>
        </p:txBody>
      </p:sp>
      <p:sp>
        <p:nvSpPr>
          <p:cNvPr id="5" name="Shape 3"/>
          <p:cNvSpPr/>
          <p:nvPr/>
        </p:nvSpPr>
        <p:spPr>
          <a:xfrm>
            <a:off x="502920" y="6446520"/>
            <a:ext cx="11183112" cy="0"/>
          </a:xfrm>
          <a:prstGeom prst="line">
            <a:avLst/>
          </a:prstGeom>
          <a:noFill/>
          <a:ln w="9525">
            <a:solidFill>
              <a:srgbClr val="3A3A3A"/>
            </a:solidFill>
            <a:prstDash val="solid"/>
          </a:ln>
        </p:spPr>
      </p:sp>
      <p:sp>
        <p:nvSpPr>
          <p:cNvPr id="6" name="Text 4"/>
          <p:cNvSpPr txBox="1"/>
          <p:nvPr/>
        </p:nvSpPr>
        <p:spPr>
          <a:xfrm>
            <a:off x="502920" y="6492240"/>
            <a:ext cx="7315200" cy="274320"/>
          </a:xfrm>
          <a:prstGeom prst="rect">
            <a:avLst/>
          </a:prstGeom>
          <a:noFill/>
          <a:ln/>
        </p:spPr>
        <p:txBody>
          <a:bodyPr wrap="square" lIns="0" tIns="0" rIns="0" bIns="0" rtlCol="0" anchor="ctr"/>
          <a:lstStyle/>
          <a:p>
            <a:pPr marL="0" indent="0">
              <a:buNone/>
            </a:pPr>
            <a:r>
              <a:rPr lang="en-US" sz="900" kern="0" spc="100" dirty="0">
                <a:solidFill>
                  <a:srgbClr val="A9A59A"/>
                </a:solidFill>
                <a:latin typeface="Arial" pitchFamily="34" charset="0"/>
                <a:ea typeface="Arial" pitchFamily="34" charset="-122"/>
                <a:cs typeface="Arial" pitchFamily="34" charset="-120"/>
              </a:rPr>
              <a:t>·  IUT DHAKA</a:t>
            </a:r>
            <a:endParaRPr lang="en-US" sz="900" dirty="0"/>
          </a:p>
        </p:txBody>
      </p:sp>
      <p:sp>
        <p:nvSpPr>
          <p:cNvPr id="7" name="Text 5"/>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A9A59A"/>
                </a:solidFill>
                <a:latin typeface="Arial" pitchFamily="34" charset="0"/>
                <a:ea typeface="Arial" pitchFamily="34" charset="-122"/>
                <a:cs typeface="Arial" pitchFamily="34" charset="-120"/>
              </a:rPr>
              <a:t>19</a:t>
            </a:r>
            <a:endParaRPr lang="en-US" sz="900" dirty="0"/>
          </a:p>
        </p:txBody>
      </p:sp>
      <p:sp>
        <p:nvSpPr>
          <p:cNvPr id="8" name="Text 6"/>
          <p:cNvSpPr txBox="1"/>
          <p:nvPr/>
        </p:nvSpPr>
        <p:spPr>
          <a:xfrm>
            <a:off x="502920" y="713232"/>
            <a:ext cx="10607040" cy="868680"/>
          </a:xfrm>
          <a:prstGeom prst="rect">
            <a:avLst/>
          </a:prstGeom>
          <a:noFill/>
          <a:ln/>
        </p:spPr>
        <p:txBody>
          <a:bodyPr wrap="square" lIns="0" tIns="0" rIns="0" bIns="0" rtlCol="0" anchor="ctr"/>
          <a:lstStyle/>
          <a:p>
            <a:pPr marL="0" indent="0">
              <a:lnSpc>
                <a:spcPct val="102000"/>
              </a:lnSpc>
              <a:buNone/>
            </a:pPr>
            <a:r>
              <a:rPr lang="en-US" sz="3400" b="1" dirty="0">
                <a:solidFill>
                  <a:srgbClr val="FFFFFF"/>
                </a:solidFill>
                <a:latin typeface="Arial" pitchFamily="34" charset="0"/>
                <a:ea typeface="Arial" pitchFamily="34" charset="-122"/>
                <a:cs typeface="Arial" pitchFamily="34" charset="-120"/>
              </a:rPr>
              <a:t>Confidently Wrong</a:t>
            </a:r>
            <a:endParaRPr lang="en-US" sz="3400" dirty="0"/>
          </a:p>
        </p:txBody>
      </p:sp>
      <p:sp>
        <p:nvSpPr>
          <p:cNvPr id="9" name="Shape 7"/>
          <p:cNvSpPr/>
          <p:nvPr/>
        </p:nvSpPr>
        <p:spPr>
          <a:xfrm>
            <a:off x="502920" y="1691640"/>
            <a:ext cx="10287000" cy="1691640"/>
          </a:xfrm>
          <a:prstGeom prst="roundRect">
            <a:avLst>
              <a:gd name="adj" fmla="val 4324"/>
            </a:avLst>
          </a:prstGeom>
          <a:solidFill>
            <a:srgbClr val="2B2B2B"/>
          </a:solidFill>
          <a:ln/>
        </p:spPr>
      </p:sp>
      <p:sp>
        <p:nvSpPr>
          <p:cNvPr id="10" name="Text 8"/>
          <p:cNvSpPr txBox="1"/>
          <p:nvPr/>
        </p:nvSpPr>
        <p:spPr>
          <a:xfrm>
            <a:off x="777240" y="1691640"/>
            <a:ext cx="9738360" cy="1691640"/>
          </a:xfrm>
          <a:prstGeom prst="rect">
            <a:avLst/>
          </a:prstGeom>
          <a:noFill/>
          <a:ln/>
        </p:spPr>
        <p:txBody>
          <a:bodyPr wrap="square" lIns="0" tIns="0" rIns="0" bIns="0" rtlCol="0" anchor="ctr"/>
          <a:lstStyle/>
          <a:p>
            <a:pPr marL="0" indent="0">
              <a:buNone/>
            </a:pPr>
            <a:r>
              <a:rPr lang="en-US" sz="1500" i="1" dirty="0">
                <a:solidFill>
                  <a:srgbClr val="E6E3D8"/>
                </a:solidFill>
                <a:latin typeface="Arial" pitchFamily="34" charset="0"/>
                <a:ea typeface="Arial" pitchFamily="34" charset="-122"/>
                <a:cs typeface="Arial" pitchFamily="34" charset="-120"/>
              </a:rPr>
              <a:t>“Making the CEO do the CFO’s job and making the CFO do the designers job doesn’t make sense. Treat it like a real world program.” </a:t>
            </a:r>
            <a:endParaRPr lang="en-US" sz="1500" dirty="0"/>
          </a:p>
        </p:txBody>
      </p:sp>
      <p:sp>
        <p:nvSpPr>
          <p:cNvPr id="11" name="Shape 9"/>
          <p:cNvSpPr/>
          <p:nvPr/>
        </p:nvSpPr>
        <p:spPr>
          <a:xfrm>
            <a:off x="502920" y="3657600"/>
            <a:ext cx="1947672" cy="502920"/>
          </a:xfrm>
          <a:prstGeom prst="roundRect">
            <a:avLst>
              <a:gd name="adj" fmla="val 50909"/>
            </a:avLst>
          </a:prstGeom>
          <a:ln w="22225">
            <a:solidFill>
              <a:srgbClr val="5C82FF"/>
            </a:solidFill>
            <a:prstDash val="solid"/>
          </a:ln>
        </p:spPr>
      </p:sp>
      <p:sp>
        <p:nvSpPr>
          <p:cNvPr id="12" name="Text 10"/>
          <p:cNvSpPr txBox="1"/>
          <p:nvPr/>
        </p:nvSpPr>
        <p:spPr>
          <a:xfrm>
            <a:off x="502920" y="3657600"/>
            <a:ext cx="1947672" cy="502920"/>
          </a:xfrm>
          <a:prstGeom prst="rect">
            <a:avLst/>
          </a:prstGeom>
          <a:noFill/>
          <a:ln/>
        </p:spPr>
        <p:txBody>
          <a:bodyPr wrap="square" lIns="0" tIns="0" rIns="0" bIns="0" rtlCol="0" anchor="ctr"/>
          <a:lstStyle/>
          <a:p>
            <a:pPr marL="0" indent="0" algn="ctr">
              <a:buNone/>
            </a:pPr>
            <a:r>
              <a:rPr lang="en-US" sz="1050" b="1" dirty="0">
                <a:solidFill>
                  <a:srgbClr val="5C82FF"/>
                </a:solidFill>
                <a:latin typeface="Arial" pitchFamily="34" charset="0"/>
                <a:ea typeface="Arial" pitchFamily="34" charset="-122"/>
                <a:cs typeface="Arial" pitchFamily="34" charset="-120"/>
              </a:rPr>
              <a:t>School</a:t>
            </a:r>
            <a:endParaRPr lang="en-US" sz="1050" dirty="0"/>
          </a:p>
        </p:txBody>
      </p:sp>
      <p:sp>
        <p:nvSpPr>
          <p:cNvPr id="13" name="Shape 11"/>
          <p:cNvSpPr/>
          <p:nvPr/>
        </p:nvSpPr>
        <p:spPr>
          <a:xfrm>
            <a:off x="2583180" y="3657600"/>
            <a:ext cx="1947672" cy="502920"/>
          </a:xfrm>
          <a:prstGeom prst="roundRect">
            <a:avLst>
              <a:gd name="adj" fmla="val 50909"/>
            </a:avLst>
          </a:prstGeom>
          <a:ln w="22225">
            <a:solidFill>
              <a:srgbClr val="FF6B6B"/>
            </a:solidFill>
            <a:prstDash val="solid"/>
          </a:ln>
        </p:spPr>
      </p:sp>
      <p:sp>
        <p:nvSpPr>
          <p:cNvPr id="14" name="Text 12"/>
          <p:cNvSpPr txBox="1"/>
          <p:nvPr/>
        </p:nvSpPr>
        <p:spPr>
          <a:xfrm>
            <a:off x="2583180" y="3657600"/>
            <a:ext cx="1947672" cy="502920"/>
          </a:xfrm>
          <a:prstGeom prst="rect">
            <a:avLst/>
          </a:prstGeom>
          <a:noFill/>
          <a:ln/>
        </p:spPr>
        <p:txBody>
          <a:bodyPr wrap="square" lIns="0" tIns="0" rIns="0" bIns="0" rtlCol="0" anchor="ctr"/>
          <a:lstStyle/>
          <a:p>
            <a:pPr marL="0" indent="0" algn="ctr">
              <a:buNone/>
            </a:pPr>
            <a:r>
              <a:rPr lang="en-US" sz="1050" b="1" dirty="0">
                <a:solidFill>
                  <a:srgbClr val="FF6B6B"/>
                </a:solidFill>
                <a:latin typeface="Arial" pitchFamily="34" charset="0"/>
                <a:ea typeface="Arial" pitchFamily="34" charset="-122"/>
                <a:cs typeface="Arial" pitchFamily="34" charset="-120"/>
              </a:rPr>
              <a:t>Business</a:t>
            </a:r>
            <a:endParaRPr lang="en-US" sz="1050" dirty="0"/>
          </a:p>
        </p:txBody>
      </p:sp>
      <p:sp>
        <p:nvSpPr>
          <p:cNvPr id="15" name="Shape 13"/>
          <p:cNvSpPr/>
          <p:nvPr/>
        </p:nvSpPr>
        <p:spPr>
          <a:xfrm>
            <a:off x="4663440" y="3657600"/>
            <a:ext cx="1947672" cy="502920"/>
          </a:xfrm>
          <a:prstGeom prst="roundRect">
            <a:avLst>
              <a:gd name="adj" fmla="val 50909"/>
            </a:avLst>
          </a:prstGeom>
          <a:ln w="22225">
            <a:solidFill>
              <a:srgbClr val="FFD166"/>
            </a:solidFill>
            <a:prstDash val="solid"/>
          </a:ln>
        </p:spPr>
      </p:sp>
      <p:sp>
        <p:nvSpPr>
          <p:cNvPr id="16" name="Text 14"/>
          <p:cNvSpPr txBox="1"/>
          <p:nvPr/>
        </p:nvSpPr>
        <p:spPr>
          <a:xfrm>
            <a:off x="4663440" y="3657600"/>
            <a:ext cx="1947672" cy="502920"/>
          </a:xfrm>
          <a:prstGeom prst="rect">
            <a:avLst/>
          </a:prstGeom>
          <a:noFill/>
          <a:ln/>
        </p:spPr>
        <p:txBody>
          <a:bodyPr wrap="square" lIns="0" tIns="0" rIns="0" bIns="0" rtlCol="0" anchor="ctr"/>
          <a:lstStyle/>
          <a:p>
            <a:pPr marL="0" indent="0" algn="ctr">
              <a:buNone/>
            </a:pPr>
            <a:r>
              <a:rPr lang="en-US" sz="1050" b="1" dirty="0">
                <a:solidFill>
                  <a:srgbClr val="FFD166"/>
                </a:solidFill>
                <a:latin typeface="Arial" pitchFamily="34" charset="0"/>
                <a:cs typeface="Arial" pitchFamily="34" charset="-120"/>
              </a:rPr>
              <a:t>Social Good</a:t>
            </a:r>
            <a:endParaRPr lang="en-US" sz="1050" dirty="0"/>
          </a:p>
        </p:txBody>
      </p:sp>
      <p:sp>
        <p:nvSpPr>
          <p:cNvPr id="17" name="Shape 15"/>
          <p:cNvSpPr/>
          <p:nvPr/>
        </p:nvSpPr>
        <p:spPr>
          <a:xfrm>
            <a:off x="6743700" y="3657600"/>
            <a:ext cx="1947672" cy="502920"/>
          </a:xfrm>
          <a:prstGeom prst="roundRect">
            <a:avLst>
              <a:gd name="adj" fmla="val 50909"/>
            </a:avLst>
          </a:prstGeom>
          <a:ln w="22225">
            <a:solidFill>
              <a:srgbClr val="8ADBB3"/>
            </a:solidFill>
            <a:prstDash val="solid"/>
          </a:ln>
        </p:spPr>
      </p:sp>
      <p:sp>
        <p:nvSpPr>
          <p:cNvPr id="18" name="Text 16"/>
          <p:cNvSpPr txBox="1"/>
          <p:nvPr/>
        </p:nvSpPr>
        <p:spPr>
          <a:xfrm>
            <a:off x="6743700" y="3657600"/>
            <a:ext cx="1947672" cy="502920"/>
          </a:xfrm>
          <a:prstGeom prst="rect">
            <a:avLst/>
          </a:prstGeom>
          <a:noFill/>
          <a:ln/>
        </p:spPr>
        <p:txBody>
          <a:bodyPr wrap="square" lIns="0" tIns="0" rIns="0" bIns="0" rtlCol="0" anchor="ctr"/>
          <a:lstStyle/>
          <a:p>
            <a:pPr marL="0" indent="0" algn="ctr">
              <a:buNone/>
            </a:pPr>
            <a:r>
              <a:rPr lang="en-US" sz="1050" b="1" dirty="0">
                <a:solidFill>
                  <a:srgbClr val="8ADBB3"/>
                </a:solidFill>
                <a:latin typeface="Arial" pitchFamily="34" charset="0"/>
                <a:ea typeface="Arial" pitchFamily="34" charset="-122"/>
                <a:cs typeface="Arial" pitchFamily="34" charset="-120"/>
              </a:rPr>
              <a:t>NGO</a:t>
            </a:r>
            <a:endParaRPr lang="en-US" sz="1050" dirty="0"/>
          </a:p>
        </p:txBody>
      </p:sp>
      <p:sp>
        <p:nvSpPr>
          <p:cNvPr id="19" name="Shape 17"/>
          <p:cNvSpPr/>
          <p:nvPr/>
        </p:nvSpPr>
        <p:spPr>
          <a:xfrm>
            <a:off x="8823960" y="3657600"/>
            <a:ext cx="1947672" cy="502920"/>
          </a:xfrm>
          <a:prstGeom prst="roundRect">
            <a:avLst>
              <a:gd name="adj" fmla="val 50909"/>
            </a:avLst>
          </a:prstGeom>
          <a:ln w="22225">
            <a:solidFill>
              <a:srgbClr val="FFA94D"/>
            </a:solidFill>
            <a:prstDash val="solid"/>
          </a:ln>
        </p:spPr>
      </p:sp>
      <p:sp>
        <p:nvSpPr>
          <p:cNvPr id="20" name="Text 18"/>
          <p:cNvSpPr txBox="1"/>
          <p:nvPr/>
        </p:nvSpPr>
        <p:spPr>
          <a:xfrm>
            <a:off x="8823960" y="3657600"/>
            <a:ext cx="1947672" cy="502920"/>
          </a:xfrm>
          <a:prstGeom prst="rect">
            <a:avLst/>
          </a:prstGeom>
          <a:noFill/>
          <a:ln/>
        </p:spPr>
        <p:txBody>
          <a:bodyPr wrap="square" lIns="0" tIns="0" rIns="0" bIns="0" rtlCol="0" anchor="ctr"/>
          <a:lstStyle/>
          <a:p>
            <a:pPr marL="0" indent="0" algn="ctr">
              <a:buNone/>
            </a:pPr>
            <a:r>
              <a:rPr lang="en-US" sz="1050" b="1" dirty="0">
                <a:solidFill>
                  <a:srgbClr val="FFA94D"/>
                </a:solidFill>
                <a:latin typeface="Arial" pitchFamily="34" charset="0"/>
                <a:ea typeface="Arial" pitchFamily="34" charset="-122"/>
                <a:cs typeface="Arial" pitchFamily="34" charset="-120"/>
              </a:rPr>
              <a:t>Government</a:t>
            </a:r>
            <a:endParaRPr lang="en-US" sz="1050" dirty="0"/>
          </a:p>
        </p:txBody>
      </p:sp>
      <p:sp>
        <p:nvSpPr>
          <p:cNvPr id="21" name="Text 19"/>
          <p:cNvSpPr txBox="1"/>
          <p:nvPr/>
        </p:nvSpPr>
        <p:spPr>
          <a:xfrm>
            <a:off x="502920" y="4434840"/>
            <a:ext cx="10058400" cy="365760"/>
          </a:xfrm>
          <a:prstGeom prst="rect">
            <a:avLst/>
          </a:prstGeom>
          <a:noFill/>
          <a:ln/>
        </p:spPr>
        <p:txBody>
          <a:bodyPr wrap="square" lIns="0" tIns="0" rIns="0" bIns="0" rtlCol="0" anchor="ctr"/>
          <a:lstStyle/>
          <a:p>
            <a:pPr marL="0" indent="0">
              <a:buNone/>
            </a:pPr>
            <a:r>
              <a:rPr lang="en-US" sz="1350" dirty="0">
                <a:solidFill>
                  <a:srgbClr val="D8D4C8"/>
                </a:solidFill>
                <a:latin typeface="Arial" pitchFamily="34" charset="0"/>
                <a:ea typeface="Arial" pitchFamily="34" charset="-122"/>
                <a:cs typeface="Arial" pitchFamily="34" charset="-120"/>
              </a:rPr>
              <a:t>For each claim: classify it, explain the evidence (or its absence), then correct it. Feel free to change the roles according to your wish but ask the instructor first. </a:t>
            </a:r>
            <a:endParaRPr lang="en-US" sz="1350" dirty="0"/>
          </a:p>
        </p:txBody>
      </p:sp>
      <p:sp>
        <p:nvSpPr>
          <p:cNvPr id="22" name="Shape 20"/>
          <p:cNvSpPr/>
          <p:nvPr/>
        </p:nvSpPr>
        <p:spPr>
          <a:xfrm>
            <a:off x="502920" y="4937760"/>
            <a:ext cx="10287000" cy="868680"/>
          </a:xfrm>
          <a:prstGeom prst="roundRect">
            <a:avLst>
              <a:gd name="adj" fmla="val 7368"/>
            </a:avLst>
          </a:prstGeom>
          <a:solidFill>
            <a:srgbClr val="1E4FFF"/>
          </a:solidFill>
          <a:ln/>
        </p:spPr>
      </p:sp>
      <p:sp>
        <p:nvSpPr>
          <p:cNvPr id="23" name="Text 21"/>
          <p:cNvSpPr txBox="1"/>
          <p:nvPr/>
        </p:nvSpPr>
        <p:spPr>
          <a:xfrm>
            <a:off x="731520" y="4937760"/>
            <a:ext cx="9784080" cy="868680"/>
          </a:xfrm>
          <a:prstGeom prst="rect">
            <a:avLst/>
          </a:prstGeom>
          <a:noFill/>
          <a:ln/>
        </p:spPr>
        <p:txBody>
          <a:bodyPr wrap="square" lIns="0" tIns="0" rIns="0" bIns="0" rtlCol="0" anchor="ctr"/>
          <a:lstStyle/>
          <a:p>
            <a:pPr marL="0" indent="0">
              <a:buNone/>
            </a:pPr>
            <a:r>
              <a:rPr lang="en-US" sz="1250" i="1" dirty="0">
                <a:solidFill>
                  <a:srgbClr val="FFFFFF"/>
                </a:solidFill>
                <a:latin typeface="Arial" pitchFamily="34" charset="0"/>
                <a:ea typeface="Arial" pitchFamily="34" charset="-122"/>
                <a:cs typeface="Arial" pitchFamily="34" charset="-120"/>
              </a:rPr>
              <a:t>“Fluent language can combine a correct fact, a wrong calculation, an invented explanation, and an unsupported recommendation in one convincing paragraph.”</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a:extLst>
            <a:ext uri="{FF2B5EF4-FFF2-40B4-BE49-F238E27FC236}">
              <a16:creationId xmlns:a16="http://schemas.microsoft.com/office/drawing/2014/main" id="{B573B60D-1AB4-B6E5-E7DF-2829F0A84D9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67F4260-0D84-DF63-B759-417D765D83D8}"/>
              </a:ext>
            </a:extLst>
          </p:cNvPr>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A9A59A"/>
                </a:solidFill>
                <a:latin typeface="Arial" pitchFamily="34" charset="0"/>
                <a:ea typeface="Arial" pitchFamily="34" charset="-122"/>
                <a:cs typeface="Arial" pitchFamily="34" charset="-120"/>
              </a:rPr>
              <a:t>CLASS 1 · AI AS A BUSINESS TOOL</a:t>
            </a:r>
            <a:endParaRPr lang="en-US" sz="1050" dirty="0"/>
          </a:p>
        </p:txBody>
      </p:sp>
      <p:sp>
        <p:nvSpPr>
          <p:cNvPr id="3" name="Shape 1">
            <a:extLst>
              <a:ext uri="{FF2B5EF4-FFF2-40B4-BE49-F238E27FC236}">
                <a16:creationId xmlns:a16="http://schemas.microsoft.com/office/drawing/2014/main" id="{E670E607-0FDF-D3A5-950E-81F4E148A920}"/>
              </a:ext>
            </a:extLst>
          </p:cNvPr>
          <p:cNvSpPr/>
          <p:nvPr/>
        </p:nvSpPr>
        <p:spPr>
          <a:xfrm>
            <a:off x="10561320" y="256032"/>
            <a:ext cx="1170432" cy="384048"/>
          </a:xfrm>
          <a:prstGeom prst="roundRect">
            <a:avLst>
              <a:gd name="adj" fmla="val 19048"/>
            </a:avLst>
          </a:prstGeom>
          <a:solidFill>
            <a:srgbClr val="1E4FFF"/>
          </a:solidFill>
          <a:ln/>
        </p:spPr>
      </p:sp>
      <p:sp>
        <p:nvSpPr>
          <p:cNvPr id="4" name="Text 2">
            <a:extLst>
              <a:ext uri="{FF2B5EF4-FFF2-40B4-BE49-F238E27FC236}">
                <a16:creationId xmlns:a16="http://schemas.microsoft.com/office/drawing/2014/main" id="{D6573F3F-D116-4515-79FB-E86B5A722937}"/>
              </a:ext>
            </a:extLst>
          </p:cNvPr>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120–125</a:t>
            </a:r>
            <a:endParaRPr lang="en-US" sz="1300" dirty="0"/>
          </a:p>
        </p:txBody>
      </p:sp>
      <p:sp>
        <p:nvSpPr>
          <p:cNvPr id="5" name="Shape 3">
            <a:extLst>
              <a:ext uri="{FF2B5EF4-FFF2-40B4-BE49-F238E27FC236}">
                <a16:creationId xmlns:a16="http://schemas.microsoft.com/office/drawing/2014/main" id="{012AC761-2CA3-E476-3D48-B2205984F194}"/>
              </a:ext>
            </a:extLst>
          </p:cNvPr>
          <p:cNvSpPr/>
          <p:nvPr/>
        </p:nvSpPr>
        <p:spPr>
          <a:xfrm>
            <a:off x="502920" y="6446520"/>
            <a:ext cx="11183112" cy="0"/>
          </a:xfrm>
          <a:prstGeom prst="line">
            <a:avLst/>
          </a:prstGeom>
          <a:noFill/>
          <a:ln w="9525">
            <a:solidFill>
              <a:srgbClr val="3A3A3A"/>
            </a:solidFill>
            <a:prstDash val="solid"/>
          </a:ln>
        </p:spPr>
      </p:sp>
      <p:sp>
        <p:nvSpPr>
          <p:cNvPr id="6" name="Text 4">
            <a:extLst>
              <a:ext uri="{FF2B5EF4-FFF2-40B4-BE49-F238E27FC236}">
                <a16:creationId xmlns:a16="http://schemas.microsoft.com/office/drawing/2014/main" id="{2475AEBE-DF4A-A5D5-4E4B-152CB99BCB2D}"/>
              </a:ext>
            </a:extLst>
          </p:cNvPr>
          <p:cNvSpPr txBox="1"/>
          <p:nvPr/>
        </p:nvSpPr>
        <p:spPr>
          <a:xfrm>
            <a:off x="502920" y="6492240"/>
            <a:ext cx="7315200" cy="274320"/>
          </a:xfrm>
          <a:prstGeom prst="rect">
            <a:avLst/>
          </a:prstGeom>
          <a:noFill/>
          <a:ln/>
        </p:spPr>
        <p:txBody>
          <a:bodyPr wrap="square" lIns="0" tIns="0" rIns="0" bIns="0" rtlCol="0" anchor="ctr"/>
          <a:lstStyle/>
          <a:p>
            <a:pPr marL="0" indent="0">
              <a:buNone/>
            </a:pPr>
            <a:r>
              <a:rPr lang="en-US" sz="900" kern="0" spc="100" dirty="0">
                <a:solidFill>
                  <a:srgbClr val="A9A59A"/>
                </a:solidFill>
                <a:latin typeface="Arial" pitchFamily="34" charset="0"/>
                <a:ea typeface="Arial" pitchFamily="34" charset="-122"/>
                <a:cs typeface="Arial" pitchFamily="34" charset="-120"/>
              </a:rPr>
              <a:t>·  IUT DHAKA</a:t>
            </a:r>
            <a:endParaRPr lang="en-US" sz="900" dirty="0"/>
          </a:p>
        </p:txBody>
      </p:sp>
      <p:sp>
        <p:nvSpPr>
          <p:cNvPr id="7" name="Text 5">
            <a:extLst>
              <a:ext uri="{FF2B5EF4-FFF2-40B4-BE49-F238E27FC236}">
                <a16:creationId xmlns:a16="http://schemas.microsoft.com/office/drawing/2014/main" id="{C5B318F1-DED1-4E9E-A040-83EFE4927718}"/>
              </a:ext>
            </a:extLst>
          </p:cNvPr>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A9A59A"/>
                </a:solidFill>
                <a:latin typeface="Arial" pitchFamily="34" charset="0"/>
                <a:ea typeface="Arial" pitchFamily="34" charset="-122"/>
                <a:cs typeface="Arial" pitchFamily="34" charset="-120"/>
              </a:rPr>
              <a:t>19</a:t>
            </a:r>
            <a:endParaRPr lang="en-US" sz="900" dirty="0"/>
          </a:p>
        </p:txBody>
      </p:sp>
      <p:sp>
        <p:nvSpPr>
          <p:cNvPr id="8" name="Text 6">
            <a:extLst>
              <a:ext uri="{FF2B5EF4-FFF2-40B4-BE49-F238E27FC236}">
                <a16:creationId xmlns:a16="http://schemas.microsoft.com/office/drawing/2014/main" id="{2A1389BE-EABA-3A8F-2387-8B1E0229CA3D}"/>
              </a:ext>
            </a:extLst>
          </p:cNvPr>
          <p:cNvSpPr txBox="1"/>
          <p:nvPr/>
        </p:nvSpPr>
        <p:spPr>
          <a:xfrm>
            <a:off x="502920" y="713232"/>
            <a:ext cx="10607040" cy="868680"/>
          </a:xfrm>
          <a:prstGeom prst="rect">
            <a:avLst/>
          </a:prstGeom>
          <a:noFill/>
          <a:ln/>
        </p:spPr>
        <p:txBody>
          <a:bodyPr wrap="square" lIns="0" tIns="0" rIns="0" bIns="0" rtlCol="0" anchor="ctr"/>
          <a:lstStyle/>
          <a:p>
            <a:pPr marL="0" indent="0">
              <a:lnSpc>
                <a:spcPct val="102000"/>
              </a:lnSpc>
              <a:buNone/>
            </a:pPr>
            <a:r>
              <a:rPr lang="en-US" sz="3400" b="1" dirty="0">
                <a:solidFill>
                  <a:srgbClr val="FFFFFF"/>
                </a:solidFill>
                <a:latin typeface="Arial" pitchFamily="34" charset="0"/>
                <a:cs typeface="Arial" pitchFamily="34" charset="-120"/>
              </a:rPr>
              <a:t>Everything is about Algorithm</a:t>
            </a:r>
            <a:endParaRPr lang="en-US" sz="3400" dirty="0"/>
          </a:p>
        </p:txBody>
      </p:sp>
      <p:sp>
        <p:nvSpPr>
          <p:cNvPr id="9" name="Shape 7">
            <a:extLst>
              <a:ext uri="{FF2B5EF4-FFF2-40B4-BE49-F238E27FC236}">
                <a16:creationId xmlns:a16="http://schemas.microsoft.com/office/drawing/2014/main" id="{52B93F01-6831-F0DE-7C3C-D0136C0A51E4}"/>
              </a:ext>
            </a:extLst>
          </p:cNvPr>
          <p:cNvSpPr/>
          <p:nvPr/>
        </p:nvSpPr>
        <p:spPr>
          <a:xfrm>
            <a:off x="502920" y="1691640"/>
            <a:ext cx="10287000" cy="1691640"/>
          </a:xfrm>
          <a:prstGeom prst="roundRect">
            <a:avLst>
              <a:gd name="adj" fmla="val 4324"/>
            </a:avLst>
          </a:prstGeom>
          <a:solidFill>
            <a:srgbClr val="2B2B2B"/>
          </a:solidFill>
          <a:ln/>
        </p:spPr>
      </p:sp>
      <p:sp>
        <p:nvSpPr>
          <p:cNvPr id="10" name="Text 8">
            <a:extLst>
              <a:ext uri="{FF2B5EF4-FFF2-40B4-BE49-F238E27FC236}">
                <a16:creationId xmlns:a16="http://schemas.microsoft.com/office/drawing/2014/main" id="{2C91D01C-B7EF-04ED-27C7-044E2B4F57A3}"/>
              </a:ext>
            </a:extLst>
          </p:cNvPr>
          <p:cNvSpPr txBox="1"/>
          <p:nvPr/>
        </p:nvSpPr>
        <p:spPr>
          <a:xfrm>
            <a:off x="777240" y="1691640"/>
            <a:ext cx="9738360" cy="1691640"/>
          </a:xfrm>
          <a:prstGeom prst="rect">
            <a:avLst/>
          </a:prstGeom>
          <a:noFill/>
          <a:ln/>
        </p:spPr>
        <p:txBody>
          <a:bodyPr wrap="square" lIns="0" tIns="0" rIns="0" bIns="0" rtlCol="0" anchor="ctr"/>
          <a:lstStyle/>
          <a:p>
            <a:pPr marL="0" indent="0">
              <a:buNone/>
            </a:pPr>
            <a:r>
              <a:rPr lang="en-US" sz="1500" i="1" dirty="0">
                <a:solidFill>
                  <a:srgbClr val="E6E3D8"/>
                </a:solidFill>
                <a:latin typeface="Arial" pitchFamily="34" charset="0"/>
                <a:ea typeface="Arial" pitchFamily="34" charset="-122"/>
                <a:cs typeface="Arial" pitchFamily="34" charset="-120"/>
              </a:rPr>
              <a:t>“Combine all the Human Parts.” </a:t>
            </a:r>
            <a:endParaRPr lang="en-US" sz="1500" dirty="0"/>
          </a:p>
        </p:txBody>
      </p:sp>
      <p:sp>
        <p:nvSpPr>
          <p:cNvPr id="11" name="Shape 9">
            <a:extLst>
              <a:ext uri="{FF2B5EF4-FFF2-40B4-BE49-F238E27FC236}">
                <a16:creationId xmlns:a16="http://schemas.microsoft.com/office/drawing/2014/main" id="{25C72C46-7B3E-F175-5F56-7B18E4C07E2E}"/>
              </a:ext>
            </a:extLst>
          </p:cNvPr>
          <p:cNvSpPr/>
          <p:nvPr/>
        </p:nvSpPr>
        <p:spPr>
          <a:xfrm>
            <a:off x="502920" y="3657600"/>
            <a:ext cx="1947672" cy="502920"/>
          </a:xfrm>
          <a:prstGeom prst="roundRect">
            <a:avLst>
              <a:gd name="adj" fmla="val 50909"/>
            </a:avLst>
          </a:prstGeom>
          <a:ln w="22225">
            <a:solidFill>
              <a:srgbClr val="5C82FF"/>
            </a:solidFill>
            <a:prstDash val="solid"/>
          </a:ln>
        </p:spPr>
      </p:sp>
      <p:sp>
        <p:nvSpPr>
          <p:cNvPr id="12" name="Text 10">
            <a:extLst>
              <a:ext uri="{FF2B5EF4-FFF2-40B4-BE49-F238E27FC236}">
                <a16:creationId xmlns:a16="http://schemas.microsoft.com/office/drawing/2014/main" id="{95CE6373-DA11-69AD-4D55-456A19E449E9}"/>
              </a:ext>
            </a:extLst>
          </p:cNvPr>
          <p:cNvSpPr txBox="1"/>
          <p:nvPr/>
        </p:nvSpPr>
        <p:spPr>
          <a:xfrm>
            <a:off x="502920" y="3657600"/>
            <a:ext cx="1947672" cy="502920"/>
          </a:xfrm>
          <a:prstGeom prst="rect">
            <a:avLst/>
          </a:prstGeom>
          <a:noFill/>
          <a:ln/>
        </p:spPr>
        <p:txBody>
          <a:bodyPr wrap="square" lIns="0" tIns="0" rIns="0" bIns="0" rtlCol="0" anchor="ctr"/>
          <a:lstStyle/>
          <a:p>
            <a:pPr marL="0" indent="0" algn="ctr">
              <a:buNone/>
            </a:pPr>
            <a:r>
              <a:rPr lang="en-US" sz="1050" b="1" dirty="0">
                <a:solidFill>
                  <a:srgbClr val="5C82FF"/>
                </a:solidFill>
                <a:latin typeface="Arial" pitchFamily="34" charset="0"/>
                <a:ea typeface="Arial" pitchFamily="34" charset="-122"/>
                <a:cs typeface="Arial" pitchFamily="34" charset="-120"/>
              </a:rPr>
              <a:t>Know what you Want</a:t>
            </a:r>
            <a:endParaRPr lang="en-US" sz="1050" dirty="0"/>
          </a:p>
        </p:txBody>
      </p:sp>
      <p:sp>
        <p:nvSpPr>
          <p:cNvPr id="13" name="Shape 11">
            <a:extLst>
              <a:ext uri="{FF2B5EF4-FFF2-40B4-BE49-F238E27FC236}">
                <a16:creationId xmlns:a16="http://schemas.microsoft.com/office/drawing/2014/main" id="{2A0BED66-AF08-A6F8-AD14-D2C13CD1ABA0}"/>
              </a:ext>
            </a:extLst>
          </p:cNvPr>
          <p:cNvSpPr/>
          <p:nvPr/>
        </p:nvSpPr>
        <p:spPr>
          <a:xfrm>
            <a:off x="2583180" y="3657600"/>
            <a:ext cx="1947672" cy="502920"/>
          </a:xfrm>
          <a:prstGeom prst="roundRect">
            <a:avLst>
              <a:gd name="adj" fmla="val 50909"/>
            </a:avLst>
          </a:prstGeom>
          <a:ln w="22225">
            <a:solidFill>
              <a:srgbClr val="FF6B6B"/>
            </a:solidFill>
            <a:prstDash val="solid"/>
          </a:ln>
        </p:spPr>
      </p:sp>
      <p:sp>
        <p:nvSpPr>
          <p:cNvPr id="14" name="Text 12">
            <a:extLst>
              <a:ext uri="{FF2B5EF4-FFF2-40B4-BE49-F238E27FC236}">
                <a16:creationId xmlns:a16="http://schemas.microsoft.com/office/drawing/2014/main" id="{329AF03E-6CC2-5DFB-C6FE-6A5BA2BC4887}"/>
              </a:ext>
            </a:extLst>
          </p:cNvPr>
          <p:cNvSpPr txBox="1"/>
          <p:nvPr/>
        </p:nvSpPr>
        <p:spPr>
          <a:xfrm>
            <a:off x="2583180" y="3657599"/>
            <a:ext cx="1947672" cy="548639"/>
          </a:xfrm>
          <a:prstGeom prst="rect">
            <a:avLst/>
          </a:prstGeom>
          <a:noFill/>
          <a:ln/>
        </p:spPr>
        <p:txBody>
          <a:bodyPr wrap="square" lIns="0" tIns="0" rIns="0" bIns="0" rtlCol="0" anchor="ctr"/>
          <a:lstStyle/>
          <a:p>
            <a:pPr marL="0" indent="0" algn="ctr">
              <a:buNone/>
            </a:pPr>
            <a:r>
              <a:rPr lang="en-US" sz="1050" b="1" dirty="0">
                <a:solidFill>
                  <a:srgbClr val="FF6B6B"/>
                </a:solidFill>
                <a:latin typeface="Arial" pitchFamily="34" charset="0"/>
                <a:ea typeface="Arial" pitchFamily="34" charset="-122"/>
                <a:cs typeface="Arial" pitchFamily="34" charset="-120"/>
              </a:rPr>
              <a:t>Think about what you need to train on and Generate the Prompt</a:t>
            </a:r>
            <a:endParaRPr lang="en-US" sz="1050" dirty="0"/>
          </a:p>
        </p:txBody>
      </p:sp>
      <p:sp>
        <p:nvSpPr>
          <p:cNvPr id="15" name="Shape 13">
            <a:extLst>
              <a:ext uri="{FF2B5EF4-FFF2-40B4-BE49-F238E27FC236}">
                <a16:creationId xmlns:a16="http://schemas.microsoft.com/office/drawing/2014/main" id="{76CCAC24-FAA2-CF16-1FD3-C65A175D4DD9}"/>
              </a:ext>
            </a:extLst>
          </p:cNvPr>
          <p:cNvSpPr/>
          <p:nvPr/>
        </p:nvSpPr>
        <p:spPr>
          <a:xfrm>
            <a:off x="4663440" y="3657600"/>
            <a:ext cx="1947672" cy="502920"/>
          </a:xfrm>
          <a:prstGeom prst="roundRect">
            <a:avLst>
              <a:gd name="adj" fmla="val 50909"/>
            </a:avLst>
          </a:prstGeom>
          <a:ln w="22225">
            <a:solidFill>
              <a:srgbClr val="FFD166"/>
            </a:solidFill>
            <a:prstDash val="solid"/>
          </a:ln>
        </p:spPr>
      </p:sp>
      <p:sp>
        <p:nvSpPr>
          <p:cNvPr id="16" name="Text 14">
            <a:extLst>
              <a:ext uri="{FF2B5EF4-FFF2-40B4-BE49-F238E27FC236}">
                <a16:creationId xmlns:a16="http://schemas.microsoft.com/office/drawing/2014/main" id="{A323D6E7-518C-FF86-9461-5F18393123F9}"/>
              </a:ext>
            </a:extLst>
          </p:cNvPr>
          <p:cNvSpPr txBox="1"/>
          <p:nvPr/>
        </p:nvSpPr>
        <p:spPr>
          <a:xfrm>
            <a:off x="4663440" y="3657600"/>
            <a:ext cx="1947672" cy="502920"/>
          </a:xfrm>
          <a:prstGeom prst="rect">
            <a:avLst/>
          </a:prstGeom>
          <a:noFill/>
          <a:ln/>
        </p:spPr>
        <p:txBody>
          <a:bodyPr wrap="square" lIns="0" tIns="0" rIns="0" bIns="0" rtlCol="0" anchor="ctr"/>
          <a:lstStyle/>
          <a:p>
            <a:pPr marL="0" indent="0" algn="ctr">
              <a:buNone/>
            </a:pPr>
            <a:r>
              <a:rPr lang="en-US" sz="1050" b="1" dirty="0">
                <a:solidFill>
                  <a:srgbClr val="FFD166"/>
                </a:solidFill>
                <a:latin typeface="Arial" pitchFamily="34" charset="0"/>
                <a:cs typeface="Arial" pitchFamily="34" charset="-120"/>
              </a:rPr>
              <a:t>Choose the Right Platform to Place it </a:t>
            </a:r>
            <a:endParaRPr lang="en-US" sz="1050" dirty="0"/>
          </a:p>
        </p:txBody>
      </p:sp>
      <p:sp>
        <p:nvSpPr>
          <p:cNvPr id="17" name="Shape 15">
            <a:extLst>
              <a:ext uri="{FF2B5EF4-FFF2-40B4-BE49-F238E27FC236}">
                <a16:creationId xmlns:a16="http://schemas.microsoft.com/office/drawing/2014/main" id="{27052092-5384-838E-1345-6A869194C5C1}"/>
              </a:ext>
            </a:extLst>
          </p:cNvPr>
          <p:cNvSpPr/>
          <p:nvPr/>
        </p:nvSpPr>
        <p:spPr>
          <a:xfrm>
            <a:off x="6743700" y="3657600"/>
            <a:ext cx="1947672" cy="502920"/>
          </a:xfrm>
          <a:prstGeom prst="roundRect">
            <a:avLst>
              <a:gd name="adj" fmla="val 50909"/>
            </a:avLst>
          </a:prstGeom>
          <a:ln w="22225">
            <a:solidFill>
              <a:srgbClr val="8ADBB3"/>
            </a:solidFill>
            <a:prstDash val="solid"/>
          </a:ln>
        </p:spPr>
      </p:sp>
      <p:sp>
        <p:nvSpPr>
          <p:cNvPr id="18" name="Text 16">
            <a:extLst>
              <a:ext uri="{FF2B5EF4-FFF2-40B4-BE49-F238E27FC236}">
                <a16:creationId xmlns:a16="http://schemas.microsoft.com/office/drawing/2014/main" id="{6B85CC94-5D49-6BF9-4C93-02C3632AE0A3}"/>
              </a:ext>
            </a:extLst>
          </p:cNvPr>
          <p:cNvSpPr txBox="1"/>
          <p:nvPr/>
        </p:nvSpPr>
        <p:spPr>
          <a:xfrm>
            <a:off x="6743700" y="3657600"/>
            <a:ext cx="1947672" cy="502920"/>
          </a:xfrm>
          <a:prstGeom prst="rect">
            <a:avLst/>
          </a:prstGeom>
          <a:noFill/>
          <a:ln/>
        </p:spPr>
        <p:txBody>
          <a:bodyPr wrap="square" lIns="0" tIns="0" rIns="0" bIns="0" rtlCol="0" anchor="ctr"/>
          <a:lstStyle/>
          <a:p>
            <a:pPr marL="0" indent="0" algn="ctr">
              <a:buNone/>
            </a:pPr>
            <a:r>
              <a:rPr lang="en-US" sz="1050" b="1" dirty="0">
                <a:solidFill>
                  <a:srgbClr val="8ADBB3"/>
                </a:solidFill>
                <a:latin typeface="Arial" pitchFamily="34" charset="0"/>
                <a:ea typeface="Arial" pitchFamily="34" charset="-122"/>
                <a:cs typeface="Arial" pitchFamily="34" charset="-120"/>
              </a:rPr>
              <a:t>Train and Retrain your Model based on your Requirement</a:t>
            </a:r>
            <a:endParaRPr lang="en-US" sz="1050" dirty="0"/>
          </a:p>
        </p:txBody>
      </p:sp>
      <p:sp>
        <p:nvSpPr>
          <p:cNvPr id="19" name="Shape 17">
            <a:extLst>
              <a:ext uri="{FF2B5EF4-FFF2-40B4-BE49-F238E27FC236}">
                <a16:creationId xmlns:a16="http://schemas.microsoft.com/office/drawing/2014/main" id="{A5449F39-3C62-70D3-563A-7B9F5DFE00A5}"/>
              </a:ext>
            </a:extLst>
          </p:cNvPr>
          <p:cNvSpPr/>
          <p:nvPr/>
        </p:nvSpPr>
        <p:spPr>
          <a:xfrm>
            <a:off x="8823960" y="3657600"/>
            <a:ext cx="1947672" cy="502920"/>
          </a:xfrm>
          <a:prstGeom prst="roundRect">
            <a:avLst>
              <a:gd name="adj" fmla="val 50909"/>
            </a:avLst>
          </a:prstGeom>
          <a:ln w="22225">
            <a:solidFill>
              <a:srgbClr val="FFA94D"/>
            </a:solidFill>
            <a:prstDash val="solid"/>
          </a:ln>
        </p:spPr>
      </p:sp>
      <p:sp>
        <p:nvSpPr>
          <p:cNvPr id="20" name="Text 18">
            <a:extLst>
              <a:ext uri="{FF2B5EF4-FFF2-40B4-BE49-F238E27FC236}">
                <a16:creationId xmlns:a16="http://schemas.microsoft.com/office/drawing/2014/main" id="{8950CAA4-66CB-6A3E-125A-AD1A7A30E6D1}"/>
              </a:ext>
            </a:extLst>
          </p:cNvPr>
          <p:cNvSpPr txBox="1"/>
          <p:nvPr/>
        </p:nvSpPr>
        <p:spPr>
          <a:xfrm>
            <a:off x="8823960" y="3657600"/>
            <a:ext cx="1947672" cy="502920"/>
          </a:xfrm>
          <a:prstGeom prst="rect">
            <a:avLst/>
          </a:prstGeom>
          <a:noFill/>
          <a:ln/>
        </p:spPr>
        <p:txBody>
          <a:bodyPr wrap="square" lIns="0" tIns="0" rIns="0" bIns="0" rtlCol="0" anchor="ctr"/>
          <a:lstStyle/>
          <a:p>
            <a:pPr marL="0" indent="0" algn="ctr">
              <a:buNone/>
            </a:pPr>
            <a:r>
              <a:rPr lang="en-US" sz="1050" b="1" dirty="0">
                <a:solidFill>
                  <a:srgbClr val="FFA94D"/>
                </a:solidFill>
                <a:latin typeface="Arial" pitchFamily="34" charset="0"/>
                <a:ea typeface="Arial" pitchFamily="34" charset="-122"/>
                <a:cs typeface="Arial" pitchFamily="34" charset="-120"/>
              </a:rPr>
              <a:t>Prompt and Execute</a:t>
            </a:r>
            <a:endParaRPr lang="en-US" sz="1050" dirty="0"/>
          </a:p>
        </p:txBody>
      </p:sp>
      <p:sp>
        <p:nvSpPr>
          <p:cNvPr id="21" name="Text 19">
            <a:extLst>
              <a:ext uri="{FF2B5EF4-FFF2-40B4-BE49-F238E27FC236}">
                <a16:creationId xmlns:a16="http://schemas.microsoft.com/office/drawing/2014/main" id="{CD072229-C999-BB23-1AEE-D18146C81B1B}"/>
              </a:ext>
            </a:extLst>
          </p:cNvPr>
          <p:cNvSpPr txBox="1"/>
          <p:nvPr/>
        </p:nvSpPr>
        <p:spPr>
          <a:xfrm>
            <a:off x="502920" y="4434840"/>
            <a:ext cx="10058400" cy="365760"/>
          </a:xfrm>
          <a:prstGeom prst="rect">
            <a:avLst/>
          </a:prstGeom>
          <a:noFill/>
          <a:ln/>
        </p:spPr>
        <p:txBody>
          <a:bodyPr wrap="square" lIns="0" tIns="0" rIns="0" bIns="0" rtlCol="0" anchor="ctr"/>
          <a:lstStyle/>
          <a:p>
            <a:pPr marL="0" indent="0">
              <a:buNone/>
            </a:pPr>
            <a:endParaRPr lang="en-US" sz="1350" dirty="0"/>
          </a:p>
        </p:txBody>
      </p:sp>
      <p:sp>
        <p:nvSpPr>
          <p:cNvPr id="22" name="Shape 20">
            <a:extLst>
              <a:ext uri="{FF2B5EF4-FFF2-40B4-BE49-F238E27FC236}">
                <a16:creationId xmlns:a16="http://schemas.microsoft.com/office/drawing/2014/main" id="{0F4FA7F0-1703-D874-C0FC-E2A69D4AA01E}"/>
              </a:ext>
            </a:extLst>
          </p:cNvPr>
          <p:cNvSpPr/>
          <p:nvPr/>
        </p:nvSpPr>
        <p:spPr>
          <a:xfrm>
            <a:off x="502920" y="4937760"/>
            <a:ext cx="10287000" cy="868680"/>
          </a:xfrm>
          <a:prstGeom prst="roundRect">
            <a:avLst>
              <a:gd name="adj" fmla="val 7368"/>
            </a:avLst>
          </a:prstGeom>
          <a:solidFill>
            <a:srgbClr val="1E4FFF"/>
          </a:solidFill>
          <a:ln/>
        </p:spPr>
      </p:sp>
      <p:sp>
        <p:nvSpPr>
          <p:cNvPr id="23" name="Text 21">
            <a:extLst>
              <a:ext uri="{FF2B5EF4-FFF2-40B4-BE49-F238E27FC236}">
                <a16:creationId xmlns:a16="http://schemas.microsoft.com/office/drawing/2014/main" id="{2D3B1F3D-8399-DA1C-D9C0-19A7EF791EC3}"/>
              </a:ext>
            </a:extLst>
          </p:cNvPr>
          <p:cNvSpPr txBox="1"/>
          <p:nvPr/>
        </p:nvSpPr>
        <p:spPr>
          <a:xfrm>
            <a:off x="731520" y="4937760"/>
            <a:ext cx="9784080" cy="868680"/>
          </a:xfrm>
          <a:prstGeom prst="rect">
            <a:avLst/>
          </a:prstGeom>
          <a:noFill/>
          <a:ln/>
        </p:spPr>
        <p:txBody>
          <a:bodyPr wrap="square" lIns="0" tIns="0" rIns="0" bIns="0" rtlCol="0" anchor="ctr"/>
          <a:lstStyle/>
          <a:p>
            <a:pPr marL="0" indent="0">
              <a:buNone/>
            </a:pPr>
            <a:r>
              <a:rPr lang="en-US" sz="1250" i="1" dirty="0">
                <a:solidFill>
                  <a:srgbClr val="FFFFFF"/>
                </a:solidFill>
                <a:latin typeface="Arial" pitchFamily="34" charset="0"/>
                <a:ea typeface="Arial" pitchFamily="34" charset="-122"/>
                <a:cs typeface="Arial" pitchFamily="34" charset="-120"/>
              </a:rPr>
              <a:t>“Fluent language can combine a correct fact, a wrong calculation, an invented explanation, and an unsupported recommendation in one convincing paragraph.”</a:t>
            </a:r>
            <a:endParaRPr lang="en-US" sz="1250" dirty="0"/>
          </a:p>
        </p:txBody>
      </p:sp>
    </p:spTree>
    <p:extLst>
      <p:ext uri="{BB962C8B-B14F-4D97-AF65-F5344CB8AC3E}">
        <p14:creationId xmlns:p14="http://schemas.microsoft.com/office/powerpoint/2010/main" val="9691276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0">
    <p:bg>
      <p:bgPr>
        <a:solidFill>
          <a:srgbClr val="F7F4EC"/>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6E6A60"/>
                </a:solidFill>
                <a:latin typeface="Arial" pitchFamily="34" charset="0"/>
                <a:ea typeface="Arial" pitchFamily="34" charset="-122"/>
                <a:cs typeface="Arial" pitchFamily="34" charset="-120"/>
              </a:rPr>
              <a:t>CLASS 1 · AI AS A BUSINESS TOOL</a:t>
            </a:r>
            <a:endParaRPr lang="en-US" sz="1050" dirty="0"/>
          </a:p>
        </p:txBody>
      </p:sp>
      <p:sp>
        <p:nvSpPr>
          <p:cNvPr id="3" name="Shape 1"/>
          <p:cNvSpPr/>
          <p:nvPr/>
        </p:nvSpPr>
        <p:spPr>
          <a:xfrm>
            <a:off x="10561320" y="256032"/>
            <a:ext cx="1170432" cy="384048"/>
          </a:xfrm>
          <a:prstGeom prst="roundRect">
            <a:avLst>
              <a:gd name="adj" fmla="val 19048"/>
            </a:avLst>
          </a:prstGeom>
          <a:solidFill>
            <a:srgbClr val="1E4FFF"/>
          </a:solidFill>
          <a:ln/>
        </p:spPr>
      </p:sp>
      <p:sp>
        <p:nvSpPr>
          <p:cNvPr id="4" name="Text 2"/>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125–130</a:t>
            </a:r>
            <a:endParaRPr lang="en-US" sz="1300" dirty="0"/>
          </a:p>
        </p:txBody>
      </p:sp>
      <p:sp>
        <p:nvSpPr>
          <p:cNvPr id="5" name="Shape 3"/>
          <p:cNvSpPr/>
          <p:nvPr/>
        </p:nvSpPr>
        <p:spPr>
          <a:xfrm>
            <a:off x="502920" y="6446520"/>
            <a:ext cx="11183112" cy="0"/>
          </a:xfrm>
          <a:prstGeom prst="line">
            <a:avLst/>
          </a:prstGeom>
          <a:noFill/>
          <a:ln w="9525">
            <a:solidFill>
              <a:srgbClr val="D8D3C5"/>
            </a:solidFill>
            <a:prstDash val="solid"/>
          </a:ln>
        </p:spPr>
      </p:sp>
      <p:sp>
        <p:nvSpPr>
          <p:cNvPr id="6" name="Text 4"/>
          <p:cNvSpPr txBox="1"/>
          <p:nvPr/>
        </p:nvSpPr>
        <p:spPr>
          <a:xfrm>
            <a:off x="502920" y="6492240"/>
            <a:ext cx="7315200" cy="274320"/>
          </a:xfrm>
          <a:prstGeom prst="rect">
            <a:avLst/>
          </a:prstGeom>
          <a:noFill/>
          <a:ln/>
        </p:spPr>
        <p:txBody>
          <a:bodyPr wrap="square" lIns="0" tIns="0" rIns="0" bIns="0" rtlCol="0" anchor="ctr"/>
          <a:lstStyle/>
          <a:p>
            <a:pPr marL="0" indent="0">
              <a:buNone/>
            </a:pPr>
            <a:r>
              <a:rPr lang="en-US" sz="900" kern="0" spc="100" dirty="0">
                <a:solidFill>
                  <a:srgbClr val="6E6A60"/>
                </a:solidFill>
                <a:latin typeface="Arial" pitchFamily="34" charset="0"/>
                <a:ea typeface="Arial" pitchFamily="34" charset="-122"/>
                <a:cs typeface="Arial" pitchFamily="34" charset="-120"/>
              </a:rPr>
              <a:t>MEGHNA OFFICE SUPPLIES WORKSHOP  ·  IUT DHAKA</a:t>
            </a:r>
            <a:endParaRPr lang="en-US" sz="900" dirty="0"/>
          </a:p>
        </p:txBody>
      </p:sp>
      <p:sp>
        <p:nvSpPr>
          <p:cNvPr id="7" name="Text 5"/>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20</a:t>
            </a:r>
            <a:endParaRPr lang="en-US" sz="900" dirty="0"/>
          </a:p>
        </p:txBody>
      </p:sp>
      <p:sp>
        <p:nvSpPr>
          <p:cNvPr id="8" name="Text 6"/>
          <p:cNvSpPr txBox="1"/>
          <p:nvPr/>
        </p:nvSpPr>
        <p:spPr>
          <a:xfrm>
            <a:off x="502920" y="713232"/>
            <a:ext cx="10607040" cy="868680"/>
          </a:xfrm>
          <a:prstGeom prst="rect">
            <a:avLst/>
          </a:prstGeom>
          <a:noFill/>
          <a:ln/>
        </p:spPr>
        <p:txBody>
          <a:bodyPr wrap="square" lIns="0" tIns="0" rIns="0" bIns="0" rtlCol="0" anchor="ctr"/>
          <a:lstStyle/>
          <a:p>
            <a:pPr marL="0" indent="0">
              <a:lnSpc>
                <a:spcPct val="102000"/>
              </a:lnSpc>
              <a:buNone/>
            </a:pPr>
            <a:r>
              <a:rPr lang="en-US" sz="3400" b="1" dirty="0">
                <a:solidFill>
                  <a:srgbClr val="1A1A1A"/>
                </a:solidFill>
                <a:latin typeface="Arial" pitchFamily="34" charset="0"/>
                <a:ea typeface="Arial" pitchFamily="34" charset="-122"/>
                <a:cs typeface="Arial" pitchFamily="34" charset="-120"/>
              </a:rPr>
              <a:t>Your Idea Gets a Reality Check</a:t>
            </a:r>
            <a:endParaRPr lang="en-US" sz="3400" dirty="0"/>
          </a:p>
        </p:txBody>
      </p:sp>
      <p:sp>
        <p:nvSpPr>
          <p:cNvPr id="9" name="Text 7"/>
          <p:cNvSpPr txBox="1"/>
          <p:nvPr/>
        </p:nvSpPr>
        <p:spPr>
          <a:xfrm>
            <a:off x="502920" y="1536192"/>
            <a:ext cx="9144000" cy="320040"/>
          </a:xfrm>
          <a:prstGeom prst="rect">
            <a:avLst/>
          </a:prstGeom>
          <a:noFill/>
          <a:ln/>
        </p:spPr>
        <p:txBody>
          <a:bodyPr wrap="square" lIns="0" tIns="0" rIns="0" bIns="0" rtlCol="0" anchor="ctr"/>
          <a:lstStyle/>
          <a:p>
            <a:pPr marL="0" indent="0">
              <a:buNone/>
            </a:pPr>
            <a:r>
              <a:rPr lang="en-US" sz="1350" i="1" dirty="0">
                <a:solidFill>
                  <a:srgbClr val="6E6A60"/>
                </a:solidFill>
                <a:latin typeface="Arial" pitchFamily="34" charset="0"/>
                <a:ea typeface="Arial" pitchFamily="34" charset="-122"/>
                <a:cs typeface="Arial" pitchFamily="34" charset="-120"/>
              </a:rPr>
              <a:t>Apply the same audit habit to your own business concept.</a:t>
            </a:r>
            <a:endParaRPr lang="en-US" sz="1350" dirty="0"/>
          </a:p>
        </p:txBody>
      </p:sp>
      <p:sp>
        <p:nvSpPr>
          <p:cNvPr id="10" name="Shape 8"/>
          <p:cNvSpPr/>
          <p:nvPr/>
        </p:nvSpPr>
        <p:spPr>
          <a:xfrm>
            <a:off x="502920" y="2057400"/>
            <a:ext cx="5074920" cy="3200400"/>
          </a:xfrm>
          <a:prstGeom prst="roundRect">
            <a:avLst>
              <a:gd name="adj" fmla="val 2286"/>
            </a:avLst>
          </a:prstGeom>
          <a:solidFill>
            <a:srgbClr val="EDE9DE"/>
          </a:solidFill>
          <a:ln/>
        </p:spPr>
      </p:sp>
      <p:sp>
        <p:nvSpPr>
          <p:cNvPr id="11" name="Text 9"/>
          <p:cNvSpPr txBox="1"/>
          <p:nvPr/>
        </p:nvSpPr>
        <p:spPr>
          <a:xfrm>
            <a:off x="731520" y="2240280"/>
            <a:ext cx="4572000" cy="365760"/>
          </a:xfrm>
          <a:prstGeom prst="rect">
            <a:avLst/>
          </a:prstGeom>
          <a:noFill/>
          <a:ln/>
        </p:spPr>
        <p:txBody>
          <a:bodyPr wrap="square" lIns="0" tIns="0" rIns="0" bIns="0" rtlCol="0" anchor="ctr"/>
          <a:lstStyle/>
          <a:p>
            <a:pPr marL="0" indent="0">
              <a:buNone/>
            </a:pPr>
            <a:r>
              <a:rPr lang="en-US" sz="1550" b="1" dirty="0">
                <a:solidFill>
                  <a:srgbClr val="1A1A1A"/>
                </a:solidFill>
                <a:latin typeface="Arial" pitchFamily="34" charset="0"/>
                <a:ea typeface="Arial" pitchFamily="34" charset="-122"/>
                <a:cs typeface="Arial" pitchFamily="34" charset="-120"/>
              </a:rPr>
              <a:t>What do we know?</a:t>
            </a:r>
            <a:endParaRPr lang="en-US" sz="1550" dirty="0"/>
          </a:p>
        </p:txBody>
      </p:sp>
      <p:sp>
        <p:nvSpPr>
          <p:cNvPr id="12" name="Text 10"/>
          <p:cNvSpPr txBox="1"/>
          <p:nvPr/>
        </p:nvSpPr>
        <p:spPr>
          <a:xfrm>
            <a:off x="731520" y="2697480"/>
            <a:ext cx="4572000" cy="2377440"/>
          </a:xfrm>
          <a:prstGeom prst="rect">
            <a:avLst/>
          </a:prstGeom>
          <a:noFill/>
          <a:ln/>
        </p:spPr>
        <p:txBody>
          <a:bodyPr wrap="square" lIns="0" tIns="0" rIns="0" bIns="0" rtlCol="0" anchor="t"/>
          <a:lstStyle/>
          <a:p>
            <a:pPr marL="228600" indent="-228600">
              <a:spcAft>
                <a:spcPts val="1200"/>
              </a:spcAft>
              <a:buSzPct val="100000"/>
              <a:buChar char="•"/>
            </a:pPr>
            <a:r>
              <a:rPr lang="en-US" sz="1300" dirty="0">
                <a:solidFill>
                  <a:srgbClr val="1A1A1A"/>
                </a:solidFill>
                <a:latin typeface="Arial" pitchFamily="34" charset="0"/>
                <a:ea typeface="Arial" pitchFamily="34" charset="-122"/>
                <a:cs typeface="Arial" pitchFamily="34" charset="-120"/>
              </a:rPr>
              <a:t>Which claims came from my own input?</a:t>
            </a:r>
            <a:endParaRPr lang="en-US" sz="1300" dirty="0"/>
          </a:p>
          <a:p>
            <a:pPr marL="228600" indent="-228600">
              <a:spcAft>
                <a:spcPts val="1200"/>
              </a:spcAft>
              <a:buSzPct val="100000"/>
              <a:buChar char="•"/>
            </a:pPr>
            <a:r>
              <a:rPr lang="en-US" sz="1300" dirty="0">
                <a:solidFill>
                  <a:srgbClr val="1A1A1A"/>
                </a:solidFill>
                <a:latin typeface="Arial" pitchFamily="34" charset="0"/>
                <a:ea typeface="Arial" pitchFamily="34" charset="-122"/>
                <a:cs typeface="Arial" pitchFamily="34" charset="-120"/>
              </a:rPr>
              <a:t>Which claims did AI introduce?</a:t>
            </a:r>
            <a:endParaRPr lang="en-US" sz="1300" dirty="0"/>
          </a:p>
          <a:p>
            <a:pPr marL="228600" indent="-228600">
              <a:spcAft>
                <a:spcPts val="1200"/>
              </a:spcAft>
              <a:buSzPct val="100000"/>
              <a:buChar char="•"/>
            </a:pPr>
            <a:r>
              <a:rPr lang="en-US" sz="1300" dirty="0">
                <a:solidFill>
                  <a:srgbClr val="1A1A1A"/>
                </a:solidFill>
                <a:latin typeface="Arial" pitchFamily="34" charset="0"/>
                <a:ea typeface="Arial" pitchFamily="34" charset="-122"/>
                <a:cs typeface="Arial" pitchFamily="34" charset="-120"/>
              </a:rPr>
              <a:t>Which numbers are estimates, not facts?</a:t>
            </a:r>
            <a:endParaRPr lang="en-US" sz="1300" dirty="0"/>
          </a:p>
        </p:txBody>
      </p:sp>
      <p:sp>
        <p:nvSpPr>
          <p:cNvPr id="13" name="Shape 11"/>
          <p:cNvSpPr/>
          <p:nvPr/>
        </p:nvSpPr>
        <p:spPr>
          <a:xfrm>
            <a:off x="5715000" y="2057400"/>
            <a:ext cx="5074920" cy="3200400"/>
          </a:xfrm>
          <a:prstGeom prst="roundRect">
            <a:avLst>
              <a:gd name="adj" fmla="val 2286"/>
            </a:avLst>
          </a:prstGeom>
          <a:solidFill>
            <a:srgbClr val="1A1A1A"/>
          </a:solidFill>
          <a:ln/>
        </p:spPr>
      </p:sp>
      <p:sp>
        <p:nvSpPr>
          <p:cNvPr id="14" name="Text 12"/>
          <p:cNvSpPr txBox="1"/>
          <p:nvPr/>
        </p:nvSpPr>
        <p:spPr>
          <a:xfrm>
            <a:off x="5943600" y="2240280"/>
            <a:ext cx="4572000" cy="365760"/>
          </a:xfrm>
          <a:prstGeom prst="rect">
            <a:avLst/>
          </a:prstGeom>
          <a:noFill/>
          <a:ln/>
        </p:spPr>
        <p:txBody>
          <a:bodyPr wrap="square" lIns="0" tIns="0" rIns="0" bIns="0" rtlCol="0" anchor="ctr"/>
          <a:lstStyle/>
          <a:p>
            <a:pPr marL="0" indent="0">
              <a:buNone/>
            </a:pPr>
            <a:r>
              <a:rPr lang="en-US" sz="1550" b="1" dirty="0">
                <a:solidFill>
                  <a:srgbClr val="FFFFFF"/>
                </a:solidFill>
                <a:latin typeface="Arial" pitchFamily="34" charset="0"/>
                <a:ea typeface="Arial" pitchFamily="34" charset="-122"/>
                <a:cs typeface="Arial" pitchFamily="34" charset="-120"/>
              </a:rPr>
              <a:t>What are we assuming?</a:t>
            </a:r>
            <a:endParaRPr lang="en-US" sz="1550" dirty="0"/>
          </a:p>
        </p:txBody>
      </p:sp>
      <p:sp>
        <p:nvSpPr>
          <p:cNvPr id="15" name="Text 13"/>
          <p:cNvSpPr txBox="1"/>
          <p:nvPr/>
        </p:nvSpPr>
        <p:spPr>
          <a:xfrm>
            <a:off x="5943600" y="2697480"/>
            <a:ext cx="4572000" cy="2377440"/>
          </a:xfrm>
          <a:prstGeom prst="rect">
            <a:avLst/>
          </a:prstGeom>
          <a:noFill/>
          <a:ln/>
        </p:spPr>
        <p:txBody>
          <a:bodyPr wrap="square" lIns="0" tIns="0" rIns="0" bIns="0" rtlCol="0" anchor="t"/>
          <a:lstStyle/>
          <a:p>
            <a:pPr marL="228600" indent="-228600">
              <a:spcAft>
                <a:spcPts val="1200"/>
              </a:spcAft>
              <a:buSzPct val="100000"/>
              <a:buChar char="•"/>
            </a:pPr>
            <a:r>
              <a:rPr lang="en-US" sz="1300" dirty="0">
                <a:solidFill>
                  <a:srgbClr val="E6E3D8"/>
                </a:solidFill>
                <a:latin typeface="Arial" pitchFamily="34" charset="0"/>
                <a:ea typeface="Arial" pitchFamily="34" charset="-122"/>
                <a:cs typeface="Arial" pitchFamily="34" charset="-120"/>
              </a:rPr>
              <a:t>Which claims need external research?</a:t>
            </a:r>
            <a:endParaRPr lang="en-US" sz="1300" dirty="0"/>
          </a:p>
          <a:p>
            <a:pPr marL="228600" indent="-228600">
              <a:spcAft>
                <a:spcPts val="1200"/>
              </a:spcAft>
              <a:buSzPct val="100000"/>
              <a:buChar char="•"/>
            </a:pPr>
            <a:r>
              <a:rPr lang="en-US" sz="1300" dirty="0">
                <a:solidFill>
                  <a:srgbClr val="E6E3D8"/>
                </a:solidFill>
                <a:latin typeface="Arial" pitchFamily="34" charset="0"/>
                <a:ea typeface="Arial" pitchFamily="34" charset="-122"/>
                <a:cs typeface="Arial" pitchFamily="34" charset="-120"/>
              </a:rPr>
              <a:t>Which assumptions could invalidate the idea?</a:t>
            </a:r>
            <a:endParaRPr lang="en-US" sz="1300" dirty="0"/>
          </a:p>
          <a:p>
            <a:pPr marL="228600" indent="-228600">
              <a:spcAft>
                <a:spcPts val="1200"/>
              </a:spcAft>
              <a:buSzPct val="100000"/>
              <a:buChar char="•"/>
            </a:pPr>
            <a:r>
              <a:rPr lang="en-US" sz="1300" dirty="0">
                <a:solidFill>
                  <a:srgbClr val="E6E3D8"/>
                </a:solidFill>
                <a:latin typeface="Arial" pitchFamily="34" charset="0"/>
                <a:ea typeface="Arial" pitchFamily="34" charset="-122"/>
                <a:cs typeface="Arial" pitchFamily="34" charset="-120"/>
              </a:rPr>
              <a:t>What should I test before spending money?</a:t>
            </a:r>
            <a:endParaRPr lang="en-US" sz="1300" dirty="0"/>
          </a:p>
        </p:txBody>
      </p:sp>
      <p:sp>
        <p:nvSpPr>
          <p:cNvPr id="16" name="Shape 14"/>
          <p:cNvSpPr/>
          <p:nvPr/>
        </p:nvSpPr>
        <p:spPr>
          <a:xfrm>
            <a:off x="502920" y="5440680"/>
            <a:ext cx="10287000" cy="685800"/>
          </a:xfrm>
          <a:prstGeom prst="roundRect">
            <a:avLst>
              <a:gd name="adj" fmla="val 9333"/>
            </a:avLst>
          </a:prstGeom>
          <a:solidFill>
            <a:srgbClr val="1E4FFF"/>
          </a:solidFill>
          <a:ln/>
        </p:spPr>
      </p:sp>
      <p:sp>
        <p:nvSpPr>
          <p:cNvPr id="17" name="Text 15"/>
          <p:cNvSpPr txBox="1"/>
          <p:nvPr/>
        </p:nvSpPr>
        <p:spPr>
          <a:xfrm>
            <a:off x="731520" y="5440680"/>
            <a:ext cx="9784080" cy="68580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Required: 2 labeled assumptions · 1 claim removed or qualified · 1 low-cost test</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1">
    <p:bg>
      <p:bgPr>
        <a:solidFill>
          <a:srgbClr val="F7F4EC"/>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6E6A60"/>
                </a:solidFill>
                <a:latin typeface="Arial" pitchFamily="34" charset="0"/>
                <a:ea typeface="Arial" pitchFamily="34" charset="-122"/>
                <a:cs typeface="Arial" pitchFamily="34" charset="-120"/>
              </a:rPr>
              <a:t>CLASS 1 · AI AS A BUSINESS TOOL</a:t>
            </a:r>
            <a:endParaRPr lang="en-US" sz="1050" dirty="0"/>
          </a:p>
        </p:txBody>
      </p:sp>
      <p:sp>
        <p:nvSpPr>
          <p:cNvPr id="3" name="Shape 1"/>
          <p:cNvSpPr/>
          <p:nvPr/>
        </p:nvSpPr>
        <p:spPr>
          <a:xfrm>
            <a:off x="10561320" y="256032"/>
            <a:ext cx="1170432" cy="384048"/>
          </a:xfrm>
          <a:prstGeom prst="roundRect">
            <a:avLst>
              <a:gd name="adj" fmla="val 19048"/>
            </a:avLst>
          </a:prstGeom>
          <a:solidFill>
            <a:srgbClr val="1E4FFF"/>
          </a:solidFill>
          <a:ln/>
        </p:spPr>
      </p:sp>
      <p:sp>
        <p:nvSpPr>
          <p:cNvPr id="4" name="Text 2"/>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130–140</a:t>
            </a:r>
            <a:endParaRPr lang="en-US" sz="1300" dirty="0"/>
          </a:p>
        </p:txBody>
      </p:sp>
      <p:sp>
        <p:nvSpPr>
          <p:cNvPr id="5" name="Shape 3"/>
          <p:cNvSpPr/>
          <p:nvPr/>
        </p:nvSpPr>
        <p:spPr>
          <a:xfrm>
            <a:off x="502920" y="6446520"/>
            <a:ext cx="11183112" cy="0"/>
          </a:xfrm>
          <a:prstGeom prst="line">
            <a:avLst/>
          </a:prstGeom>
          <a:noFill/>
          <a:ln w="9525">
            <a:solidFill>
              <a:srgbClr val="D8D3C5"/>
            </a:solidFill>
            <a:prstDash val="solid"/>
          </a:ln>
        </p:spPr>
      </p:sp>
      <p:sp>
        <p:nvSpPr>
          <p:cNvPr id="6" name="Text 4"/>
          <p:cNvSpPr txBox="1"/>
          <p:nvPr/>
        </p:nvSpPr>
        <p:spPr>
          <a:xfrm>
            <a:off x="502920" y="6492240"/>
            <a:ext cx="7315200" cy="274320"/>
          </a:xfrm>
          <a:prstGeom prst="rect">
            <a:avLst/>
          </a:prstGeom>
          <a:noFill/>
          <a:ln/>
        </p:spPr>
        <p:txBody>
          <a:bodyPr wrap="square" lIns="0" tIns="0" rIns="0" bIns="0" rtlCol="0" anchor="ctr"/>
          <a:lstStyle/>
          <a:p>
            <a:pPr marL="0" indent="0">
              <a:buNone/>
            </a:pPr>
            <a:r>
              <a:rPr lang="en-US" sz="900" kern="0" spc="100" dirty="0">
                <a:solidFill>
                  <a:srgbClr val="6E6A60"/>
                </a:solidFill>
                <a:latin typeface="Arial" pitchFamily="34" charset="0"/>
                <a:ea typeface="Arial" pitchFamily="34" charset="-122"/>
                <a:cs typeface="Arial" pitchFamily="34" charset="-120"/>
              </a:rPr>
              <a:t>MEGHNA OFFICE SUPPLIES WORKSHOP  ·  IUT DHAKA</a:t>
            </a:r>
            <a:endParaRPr lang="en-US" sz="900" dirty="0"/>
          </a:p>
        </p:txBody>
      </p:sp>
      <p:sp>
        <p:nvSpPr>
          <p:cNvPr id="7" name="Text 5"/>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21</a:t>
            </a:r>
            <a:endParaRPr lang="en-US" sz="900" dirty="0"/>
          </a:p>
        </p:txBody>
      </p:sp>
      <p:sp>
        <p:nvSpPr>
          <p:cNvPr id="8" name="Text 6"/>
          <p:cNvSpPr txBox="1"/>
          <p:nvPr/>
        </p:nvSpPr>
        <p:spPr>
          <a:xfrm>
            <a:off x="502920" y="713232"/>
            <a:ext cx="10607040" cy="868680"/>
          </a:xfrm>
          <a:prstGeom prst="rect">
            <a:avLst/>
          </a:prstGeom>
          <a:noFill/>
          <a:ln/>
        </p:spPr>
        <p:txBody>
          <a:bodyPr wrap="square" lIns="0" tIns="0" rIns="0" bIns="0" rtlCol="0" anchor="ctr"/>
          <a:lstStyle/>
          <a:p>
            <a:pPr marL="0" indent="0">
              <a:lnSpc>
                <a:spcPct val="102000"/>
              </a:lnSpc>
              <a:buNone/>
            </a:pPr>
            <a:r>
              <a:rPr lang="en-US" sz="3400" b="1" dirty="0">
                <a:solidFill>
                  <a:srgbClr val="1A1A1A"/>
                </a:solidFill>
                <a:latin typeface="Arial" pitchFamily="34" charset="0"/>
                <a:ea typeface="Arial" pitchFamily="34" charset="-122"/>
                <a:cs typeface="Arial" pitchFamily="34" charset="-120"/>
              </a:rPr>
              <a:t>Your Personal AI Work Stack</a:t>
            </a:r>
            <a:endParaRPr lang="en-US" sz="3400" dirty="0"/>
          </a:p>
        </p:txBody>
      </p:sp>
      <p:sp>
        <p:nvSpPr>
          <p:cNvPr id="9" name="Text 7"/>
          <p:cNvSpPr txBox="1"/>
          <p:nvPr/>
        </p:nvSpPr>
        <p:spPr>
          <a:xfrm>
            <a:off x="502920" y="1536192"/>
            <a:ext cx="10058400" cy="320040"/>
          </a:xfrm>
          <a:prstGeom prst="rect">
            <a:avLst/>
          </a:prstGeom>
          <a:noFill/>
          <a:ln/>
        </p:spPr>
        <p:txBody>
          <a:bodyPr wrap="square" lIns="0" tIns="0" rIns="0" bIns="0" rtlCol="0" anchor="ctr"/>
          <a:lstStyle/>
          <a:p>
            <a:pPr marL="0" indent="0">
              <a:buNone/>
            </a:pPr>
            <a:r>
              <a:rPr lang="en-US" sz="1350" i="1" dirty="0">
                <a:solidFill>
                  <a:srgbClr val="6E6A60"/>
                </a:solidFill>
                <a:latin typeface="Arial" pitchFamily="34" charset="0"/>
                <a:ea typeface="Arial" pitchFamily="34" charset="-122"/>
                <a:cs typeface="Arial" pitchFamily="34" charset="-120"/>
              </a:rPr>
              <a:t>Three repeatable tasks. Clear inputs and outputs. A human approval point.</a:t>
            </a:r>
            <a:endParaRPr lang="en-US" sz="1350" dirty="0"/>
          </a:p>
        </p:txBody>
      </p:sp>
      <p:sp>
        <p:nvSpPr>
          <p:cNvPr id="10" name="Shape 8"/>
          <p:cNvSpPr/>
          <p:nvPr/>
        </p:nvSpPr>
        <p:spPr>
          <a:xfrm>
            <a:off x="502920" y="2011680"/>
            <a:ext cx="10287000" cy="1371600"/>
          </a:xfrm>
          <a:prstGeom prst="roundRect">
            <a:avLst>
              <a:gd name="adj" fmla="val 5333"/>
            </a:avLst>
          </a:prstGeom>
          <a:solidFill>
            <a:srgbClr val="1A1A1A"/>
          </a:solidFill>
          <a:ln/>
        </p:spPr>
      </p:sp>
      <p:sp>
        <p:nvSpPr>
          <p:cNvPr id="11" name="Shape 9"/>
          <p:cNvSpPr/>
          <p:nvPr/>
        </p:nvSpPr>
        <p:spPr>
          <a:xfrm>
            <a:off x="731520" y="2194560"/>
            <a:ext cx="1371600" cy="329184"/>
          </a:xfrm>
          <a:prstGeom prst="roundRect">
            <a:avLst>
              <a:gd name="adj" fmla="val 50000"/>
            </a:avLst>
          </a:prstGeom>
          <a:solidFill>
            <a:srgbClr val="1E4FFF"/>
          </a:solidFill>
          <a:ln/>
        </p:spPr>
      </p:sp>
      <p:sp>
        <p:nvSpPr>
          <p:cNvPr id="12" name="Text 10"/>
          <p:cNvSpPr txBox="1"/>
          <p:nvPr/>
        </p:nvSpPr>
        <p:spPr>
          <a:xfrm>
            <a:off x="731520" y="2194560"/>
            <a:ext cx="137160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SAMPLE ROW</a:t>
            </a:r>
            <a:endParaRPr lang="en-US" sz="1100" dirty="0"/>
          </a:p>
        </p:txBody>
      </p:sp>
      <p:sp>
        <p:nvSpPr>
          <p:cNvPr id="13" name="Text 11"/>
          <p:cNvSpPr txBox="1"/>
          <p:nvPr/>
        </p:nvSpPr>
        <p:spPr>
          <a:xfrm>
            <a:off x="731520" y="2606040"/>
            <a:ext cx="2286000" cy="274320"/>
          </a:xfrm>
          <a:prstGeom prst="rect">
            <a:avLst/>
          </a:prstGeom>
          <a:noFill/>
          <a:ln/>
        </p:spPr>
        <p:txBody>
          <a:bodyPr wrap="square" lIns="0" tIns="0" rIns="0" bIns="0" rtlCol="0" anchor="ctr"/>
          <a:lstStyle/>
          <a:p>
            <a:pPr marL="0" indent="0">
              <a:buNone/>
            </a:pPr>
            <a:r>
              <a:rPr lang="en-US" sz="1050" b="1" dirty="0">
                <a:solidFill>
                  <a:srgbClr val="5C82FF"/>
                </a:solidFill>
                <a:latin typeface="Arial" pitchFamily="34" charset="0"/>
                <a:ea typeface="Arial" pitchFamily="34" charset="-122"/>
                <a:cs typeface="Arial" pitchFamily="34" charset="-120"/>
              </a:rPr>
              <a:t>Task</a:t>
            </a:r>
            <a:endParaRPr lang="en-US" sz="1050" dirty="0"/>
          </a:p>
        </p:txBody>
      </p:sp>
      <p:sp>
        <p:nvSpPr>
          <p:cNvPr id="14" name="Text 12"/>
          <p:cNvSpPr txBox="1"/>
          <p:nvPr/>
        </p:nvSpPr>
        <p:spPr>
          <a:xfrm>
            <a:off x="731520" y="2880360"/>
            <a:ext cx="2286000" cy="502920"/>
          </a:xfrm>
          <a:prstGeom prst="rect">
            <a:avLst/>
          </a:prstGeom>
          <a:noFill/>
          <a:ln/>
        </p:spPr>
        <p:txBody>
          <a:bodyPr wrap="square" lIns="0" tIns="0" rIns="0" bIns="0" rtlCol="0" anchor="ctr"/>
          <a:lstStyle/>
          <a:p>
            <a:pPr marL="0" indent="0">
              <a:buNone/>
            </a:pPr>
            <a:r>
              <a:rPr lang="en-US" sz="1200" dirty="0">
                <a:solidFill>
                  <a:srgbClr val="E6E3D8"/>
                </a:solidFill>
                <a:latin typeface="Arial" pitchFamily="34" charset="0"/>
                <a:cs typeface="Arial" pitchFamily="34" charset="-120"/>
              </a:rPr>
              <a:t>Any </a:t>
            </a:r>
            <a:r>
              <a:rPr lang="en-US" sz="1200" dirty="0" err="1">
                <a:solidFill>
                  <a:srgbClr val="E6E3D8"/>
                </a:solidFill>
                <a:latin typeface="Arial" pitchFamily="34" charset="0"/>
                <a:cs typeface="Arial" pitchFamily="34" charset="-120"/>
              </a:rPr>
              <a:t>Businesss</a:t>
            </a:r>
            <a:r>
              <a:rPr lang="en-US" sz="1200" dirty="0">
                <a:solidFill>
                  <a:srgbClr val="E6E3D8"/>
                </a:solidFill>
                <a:latin typeface="Arial" pitchFamily="34" charset="0"/>
                <a:cs typeface="Arial" pitchFamily="34" charset="-120"/>
              </a:rPr>
              <a:t> Task</a:t>
            </a:r>
            <a:endParaRPr lang="en-US" sz="1200" dirty="0"/>
          </a:p>
        </p:txBody>
      </p:sp>
      <p:sp>
        <p:nvSpPr>
          <p:cNvPr id="15" name="Text 13"/>
          <p:cNvSpPr txBox="1"/>
          <p:nvPr/>
        </p:nvSpPr>
        <p:spPr>
          <a:xfrm>
            <a:off x="3154680" y="2606040"/>
            <a:ext cx="2286000" cy="274320"/>
          </a:xfrm>
          <a:prstGeom prst="rect">
            <a:avLst/>
          </a:prstGeom>
          <a:noFill/>
          <a:ln/>
        </p:spPr>
        <p:txBody>
          <a:bodyPr wrap="square" lIns="0" tIns="0" rIns="0" bIns="0" rtlCol="0" anchor="ctr"/>
          <a:lstStyle/>
          <a:p>
            <a:pPr marL="0" indent="0">
              <a:buNone/>
            </a:pPr>
            <a:r>
              <a:rPr lang="en-US" sz="1050" b="1" dirty="0">
                <a:solidFill>
                  <a:srgbClr val="5C82FF"/>
                </a:solidFill>
                <a:latin typeface="Arial" pitchFamily="34" charset="0"/>
                <a:ea typeface="Arial" pitchFamily="34" charset="-122"/>
                <a:cs typeface="Arial" pitchFamily="34" charset="-120"/>
              </a:rPr>
              <a:t>Capability</a:t>
            </a:r>
            <a:endParaRPr lang="en-US" sz="1050" dirty="0"/>
          </a:p>
        </p:txBody>
      </p:sp>
      <p:sp>
        <p:nvSpPr>
          <p:cNvPr id="16" name="Text 14"/>
          <p:cNvSpPr txBox="1"/>
          <p:nvPr/>
        </p:nvSpPr>
        <p:spPr>
          <a:xfrm>
            <a:off x="3154680" y="2880360"/>
            <a:ext cx="2286000" cy="502920"/>
          </a:xfrm>
          <a:prstGeom prst="rect">
            <a:avLst/>
          </a:prstGeom>
          <a:noFill/>
          <a:ln/>
        </p:spPr>
        <p:txBody>
          <a:bodyPr wrap="square" lIns="0" tIns="0" rIns="0" bIns="0" rtlCol="0" anchor="ctr"/>
          <a:lstStyle/>
          <a:p>
            <a:pPr marL="0" indent="0">
              <a:buNone/>
            </a:pPr>
            <a:r>
              <a:rPr lang="en-US" sz="1200" dirty="0">
                <a:solidFill>
                  <a:srgbClr val="E6E3D8"/>
                </a:solidFill>
                <a:latin typeface="Arial" pitchFamily="34" charset="0"/>
                <a:ea typeface="Arial" pitchFamily="34" charset="-122"/>
                <a:cs typeface="Arial" pitchFamily="34" charset="-120"/>
              </a:rPr>
              <a:t>Analysis/ Research/ Draft/ Prepare/ GTM/ Launch</a:t>
            </a:r>
            <a:endParaRPr lang="en-US" sz="1200" dirty="0"/>
          </a:p>
        </p:txBody>
      </p:sp>
      <p:sp>
        <p:nvSpPr>
          <p:cNvPr id="17" name="Text 15"/>
          <p:cNvSpPr txBox="1"/>
          <p:nvPr/>
        </p:nvSpPr>
        <p:spPr>
          <a:xfrm>
            <a:off x="5577840" y="2606040"/>
            <a:ext cx="2286000" cy="274320"/>
          </a:xfrm>
          <a:prstGeom prst="rect">
            <a:avLst/>
          </a:prstGeom>
          <a:noFill/>
          <a:ln/>
        </p:spPr>
        <p:txBody>
          <a:bodyPr wrap="square" lIns="0" tIns="0" rIns="0" bIns="0" rtlCol="0" anchor="ctr"/>
          <a:lstStyle/>
          <a:p>
            <a:pPr marL="0" indent="0">
              <a:buNone/>
            </a:pPr>
            <a:r>
              <a:rPr lang="en-US" sz="1050" b="1" dirty="0">
                <a:solidFill>
                  <a:srgbClr val="5C82FF"/>
                </a:solidFill>
                <a:latin typeface="Arial" pitchFamily="34" charset="0"/>
                <a:ea typeface="Arial" pitchFamily="34" charset="-122"/>
                <a:cs typeface="Arial" pitchFamily="34" charset="-120"/>
              </a:rPr>
              <a:t>Output</a:t>
            </a:r>
            <a:endParaRPr lang="en-US" sz="1050" dirty="0"/>
          </a:p>
        </p:txBody>
      </p:sp>
      <p:sp>
        <p:nvSpPr>
          <p:cNvPr id="18" name="Text 16"/>
          <p:cNvSpPr txBox="1"/>
          <p:nvPr/>
        </p:nvSpPr>
        <p:spPr>
          <a:xfrm>
            <a:off x="5577840" y="2880360"/>
            <a:ext cx="2286000" cy="502920"/>
          </a:xfrm>
          <a:prstGeom prst="rect">
            <a:avLst/>
          </a:prstGeom>
          <a:noFill/>
          <a:ln/>
        </p:spPr>
        <p:txBody>
          <a:bodyPr wrap="square" lIns="0" tIns="0" rIns="0" bIns="0" rtlCol="0" anchor="ctr"/>
          <a:lstStyle/>
          <a:p>
            <a:pPr marL="0" indent="0">
              <a:buNone/>
            </a:pPr>
            <a:r>
              <a:rPr lang="en-US" sz="1200" dirty="0">
                <a:solidFill>
                  <a:srgbClr val="E6E3D8"/>
                </a:solidFill>
                <a:latin typeface="Arial" pitchFamily="34" charset="0"/>
                <a:ea typeface="Arial" pitchFamily="34" charset="-122"/>
                <a:cs typeface="Arial" pitchFamily="34" charset="-120"/>
              </a:rPr>
              <a:t>5 metrics + 100-word update</a:t>
            </a:r>
            <a:endParaRPr lang="en-US" sz="1200" dirty="0"/>
          </a:p>
        </p:txBody>
      </p:sp>
      <p:sp>
        <p:nvSpPr>
          <p:cNvPr id="19" name="Text 17"/>
          <p:cNvSpPr txBox="1"/>
          <p:nvPr/>
        </p:nvSpPr>
        <p:spPr>
          <a:xfrm>
            <a:off x="8001000" y="2606040"/>
            <a:ext cx="2286000" cy="274320"/>
          </a:xfrm>
          <a:prstGeom prst="rect">
            <a:avLst/>
          </a:prstGeom>
          <a:noFill/>
          <a:ln/>
        </p:spPr>
        <p:txBody>
          <a:bodyPr wrap="square" lIns="0" tIns="0" rIns="0" bIns="0" rtlCol="0" anchor="ctr"/>
          <a:lstStyle/>
          <a:p>
            <a:pPr marL="0" indent="0">
              <a:buNone/>
            </a:pPr>
            <a:r>
              <a:rPr lang="en-US" sz="1050" b="1" dirty="0">
                <a:solidFill>
                  <a:srgbClr val="5C82FF"/>
                </a:solidFill>
                <a:latin typeface="Arial" pitchFamily="34" charset="0"/>
                <a:ea typeface="Arial" pitchFamily="34" charset="-122"/>
                <a:cs typeface="Arial" pitchFamily="34" charset="-120"/>
              </a:rPr>
              <a:t>Approval</a:t>
            </a:r>
            <a:endParaRPr lang="en-US" sz="1050" dirty="0"/>
          </a:p>
        </p:txBody>
      </p:sp>
      <p:sp>
        <p:nvSpPr>
          <p:cNvPr id="20" name="Text 18"/>
          <p:cNvSpPr txBox="1"/>
          <p:nvPr/>
        </p:nvSpPr>
        <p:spPr>
          <a:xfrm>
            <a:off x="8001000" y="2880360"/>
            <a:ext cx="2286000" cy="502920"/>
          </a:xfrm>
          <a:prstGeom prst="rect">
            <a:avLst/>
          </a:prstGeom>
          <a:noFill/>
          <a:ln/>
        </p:spPr>
        <p:txBody>
          <a:bodyPr wrap="square" lIns="0" tIns="0" rIns="0" bIns="0" rtlCol="0" anchor="ctr"/>
          <a:lstStyle/>
          <a:p>
            <a:pPr marL="0" indent="0">
              <a:buNone/>
            </a:pPr>
            <a:r>
              <a:rPr lang="en-US" sz="1200" dirty="0">
                <a:solidFill>
                  <a:srgbClr val="E6E3D8"/>
                </a:solidFill>
                <a:latin typeface="Arial" pitchFamily="34" charset="0"/>
                <a:ea typeface="Arial" pitchFamily="34" charset="-122"/>
                <a:cs typeface="Arial" pitchFamily="34" charset="-120"/>
              </a:rPr>
              <a:t>Pair</a:t>
            </a:r>
            <a:endParaRPr lang="en-US" sz="1200" dirty="0"/>
          </a:p>
        </p:txBody>
      </p:sp>
      <p:sp>
        <p:nvSpPr>
          <p:cNvPr id="21" name="Text 19"/>
          <p:cNvSpPr txBox="1"/>
          <p:nvPr/>
        </p:nvSpPr>
        <p:spPr>
          <a:xfrm>
            <a:off x="502920" y="3611880"/>
            <a:ext cx="5486400" cy="320040"/>
          </a:xfrm>
          <a:prstGeom prst="rect">
            <a:avLst/>
          </a:prstGeom>
          <a:noFill/>
          <a:ln/>
        </p:spPr>
        <p:txBody>
          <a:bodyPr wrap="square" lIns="0" tIns="0" rIns="0" bIns="0" rtlCol="0" anchor="ctr"/>
          <a:lstStyle/>
          <a:p>
            <a:pPr marL="0" indent="0">
              <a:buNone/>
            </a:pPr>
            <a:r>
              <a:rPr lang="en-US" sz="1400" b="1" dirty="0">
                <a:solidFill>
                  <a:srgbClr val="1A1A1A"/>
                </a:solidFill>
                <a:latin typeface="Arial" pitchFamily="34" charset="0"/>
                <a:ea typeface="Arial" pitchFamily="34" charset="-122"/>
                <a:cs typeface="Arial" pitchFamily="34" charset="-120"/>
              </a:rPr>
              <a:t>Now build three of your own:</a:t>
            </a:r>
            <a:endParaRPr lang="en-US" sz="1400" dirty="0"/>
          </a:p>
        </p:txBody>
      </p:sp>
      <p:sp>
        <p:nvSpPr>
          <p:cNvPr id="22" name="Shape 20"/>
          <p:cNvSpPr/>
          <p:nvPr/>
        </p:nvSpPr>
        <p:spPr>
          <a:xfrm>
            <a:off x="502920" y="3913632"/>
            <a:ext cx="10287000" cy="530352"/>
          </a:xfrm>
          <a:prstGeom prst="roundRect">
            <a:avLst>
              <a:gd name="adj" fmla="val 10345"/>
            </a:avLst>
          </a:prstGeom>
          <a:solidFill>
            <a:srgbClr val="EDE9DE"/>
          </a:solidFill>
          <a:ln/>
        </p:spPr>
      </p:sp>
      <p:sp>
        <p:nvSpPr>
          <p:cNvPr id="23" name="Text 21"/>
          <p:cNvSpPr txBox="1"/>
          <p:nvPr/>
        </p:nvSpPr>
        <p:spPr>
          <a:xfrm>
            <a:off x="685800" y="3913632"/>
            <a:ext cx="365760" cy="530352"/>
          </a:xfrm>
          <a:prstGeom prst="rect">
            <a:avLst/>
          </a:prstGeom>
          <a:noFill/>
          <a:ln/>
        </p:spPr>
        <p:txBody>
          <a:bodyPr wrap="square" lIns="0" tIns="0" rIns="0" bIns="0" rtlCol="0" anchor="ctr"/>
          <a:lstStyle/>
          <a:p>
            <a:pPr marL="0" indent="0">
              <a:buNone/>
            </a:pPr>
            <a:r>
              <a:rPr lang="en-US" sz="1500" b="1" dirty="0">
                <a:solidFill>
                  <a:srgbClr val="1E4FFF"/>
                </a:solidFill>
                <a:latin typeface="Arial" pitchFamily="34" charset="0"/>
                <a:ea typeface="Arial" pitchFamily="34" charset="-122"/>
                <a:cs typeface="Arial" pitchFamily="34" charset="-120"/>
              </a:rPr>
              <a:t>1</a:t>
            </a:r>
            <a:endParaRPr lang="en-US" sz="1500" dirty="0"/>
          </a:p>
        </p:txBody>
      </p:sp>
      <p:sp>
        <p:nvSpPr>
          <p:cNvPr id="24" name="Text 22"/>
          <p:cNvSpPr txBox="1"/>
          <p:nvPr/>
        </p:nvSpPr>
        <p:spPr>
          <a:xfrm>
            <a:off x="1097280" y="3913632"/>
            <a:ext cx="9509760" cy="530352"/>
          </a:xfrm>
          <a:prstGeom prst="rect">
            <a:avLst/>
          </a:prstGeom>
          <a:noFill/>
          <a:ln/>
        </p:spPr>
        <p:txBody>
          <a:bodyPr wrap="square" lIns="0" tIns="0" rIns="0" bIns="0" rtlCol="0" anchor="ctr"/>
          <a:lstStyle/>
          <a:p>
            <a:pPr marL="0" indent="0">
              <a:buNone/>
            </a:pPr>
            <a:r>
              <a:rPr lang="en-US" sz="1150" dirty="0">
                <a:solidFill>
                  <a:srgbClr val="6E6A60"/>
                </a:solidFill>
                <a:latin typeface="Arial" pitchFamily="34" charset="0"/>
                <a:ea typeface="Arial" pitchFamily="34" charset="-122"/>
                <a:cs typeface="Arial" pitchFamily="34" charset="-120"/>
              </a:rPr>
              <a:t>Task  →  Input  →  Tool  →  Required output  →  How I'll check  →  Approval</a:t>
            </a:r>
            <a:endParaRPr lang="en-US" sz="1150" dirty="0"/>
          </a:p>
        </p:txBody>
      </p:sp>
      <p:sp>
        <p:nvSpPr>
          <p:cNvPr id="25" name="Shape 23"/>
          <p:cNvSpPr/>
          <p:nvPr/>
        </p:nvSpPr>
        <p:spPr>
          <a:xfrm>
            <a:off x="502920" y="4535424"/>
            <a:ext cx="10287000" cy="530352"/>
          </a:xfrm>
          <a:prstGeom prst="roundRect">
            <a:avLst>
              <a:gd name="adj" fmla="val 10345"/>
            </a:avLst>
          </a:prstGeom>
          <a:solidFill>
            <a:srgbClr val="EDE9DE"/>
          </a:solidFill>
          <a:ln/>
        </p:spPr>
      </p:sp>
      <p:sp>
        <p:nvSpPr>
          <p:cNvPr id="26" name="Text 24"/>
          <p:cNvSpPr txBox="1"/>
          <p:nvPr/>
        </p:nvSpPr>
        <p:spPr>
          <a:xfrm>
            <a:off x="685800" y="4535424"/>
            <a:ext cx="365760" cy="530352"/>
          </a:xfrm>
          <a:prstGeom prst="rect">
            <a:avLst/>
          </a:prstGeom>
          <a:noFill/>
          <a:ln/>
        </p:spPr>
        <p:txBody>
          <a:bodyPr wrap="square" lIns="0" tIns="0" rIns="0" bIns="0" rtlCol="0" anchor="ctr"/>
          <a:lstStyle/>
          <a:p>
            <a:pPr marL="0" indent="0">
              <a:buNone/>
            </a:pPr>
            <a:r>
              <a:rPr lang="en-US" sz="1500" b="1" dirty="0">
                <a:solidFill>
                  <a:srgbClr val="1E4FFF"/>
                </a:solidFill>
                <a:latin typeface="Arial" pitchFamily="34" charset="0"/>
                <a:ea typeface="Arial" pitchFamily="34" charset="-122"/>
                <a:cs typeface="Arial" pitchFamily="34" charset="-120"/>
              </a:rPr>
              <a:t>2</a:t>
            </a:r>
            <a:endParaRPr lang="en-US" sz="1500" dirty="0"/>
          </a:p>
        </p:txBody>
      </p:sp>
      <p:sp>
        <p:nvSpPr>
          <p:cNvPr id="27" name="Text 25"/>
          <p:cNvSpPr txBox="1"/>
          <p:nvPr/>
        </p:nvSpPr>
        <p:spPr>
          <a:xfrm>
            <a:off x="1097280" y="4535424"/>
            <a:ext cx="9509760" cy="530352"/>
          </a:xfrm>
          <a:prstGeom prst="rect">
            <a:avLst/>
          </a:prstGeom>
          <a:noFill/>
          <a:ln/>
        </p:spPr>
        <p:txBody>
          <a:bodyPr wrap="square" lIns="0" tIns="0" rIns="0" bIns="0" rtlCol="0" anchor="ctr"/>
          <a:lstStyle/>
          <a:p>
            <a:pPr marL="0" indent="0">
              <a:buNone/>
            </a:pPr>
            <a:r>
              <a:rPr lang="en-US" sz="1150" dirty="0">
                <a:solidFill>
                  <a:srgbClr val="6E6A60"/>
                </a:solidFill>
                <a:latin typeface="Arial" pitchFamily="34" charset="0"/>
                <a:ea typeface="Arial" pitchFamily="34" charset="-122"/>
                <a:cs typeface="Arial" pitchFamily="34" charset="-120"/>
              </a:rPr>
              <a:t>Task  →  Input  →  Tool  →  Required output  →  How I'll check  →  Approval</a:t>
            </a:r>
            <a:endParaRPr lang="en-US" sz="1150" dirty="0"/>
          </a:p>
        </p:txBody>
      </p:sp>
      <p:sp>
        <p:nvSpPr>
          <p:cNvPr id="28" name="Shape 26"/>
          <p:cNvSpPr/>
          <p:nvPr/>
        </p:nvSpPr>
        <p:spPr>
          <a:xfrm>
            <a:off x="502920" y="5157216"/>
            <a:ext cx="10287000" cy="530352"/>
          </a:xfrm>
          <a:prstGeom prst="roundRect">
            <a:avLst>
              <a:gd name="adj" fmla="val 10345"/>
            </a:avLst>
          </a:prstGeom>
          <a:solidFill>
            <a:srgbClr val="EDE9DE"/>
          </a:solidFill>
          <a:ln/>
        </p:spPr>
      </p:sp>
      <p:sp>
        <p:nvSpPr>
          <p:cNvPr id="29" name="Text 27"/>
          <p:cNvSpPr txBox="1"/>
          <p:nvPr/>
        </p:nvSpPr>
        <p:spPr>
          <a:xfrm>
            <a:off x="685800" y="5157216"/>
            <a:ext cx="365760" cy="530352"/>
          </a:xfrm>
          <a:prstGeom prst="rect">
            <a:avLst/>
          </a:prstGeom>
          <a:noFill/>
          <a:ln/>
        </p:spPr>
        <p:txBody>
          <a:bodyPr wrap="square" lIns="0" tIns="0" rIns="0" bIns="0" rtlCol="0" anchor="ctr"/>
          <a:lstStyle/>
          <a:p>
            <a:pPr marL="0" indent="0">
              <a:buNone/>
            </a:pPr>
            <a:r>
              <a:rPr lang="en-US" sz="1500" b="1" dirty="0">
                <a:solidFill>
                  <a:srgbClr val="1E4FFF"/>
                </a:solidFill>
                <a:latin typeface="Arial" pitchFamily="34" charset="0"/>
                <a:ea typeface="Arial" pitchFamily="34" charset="-122"/>
                <a:cs typeface="Arial" pitchFamily="34" charset="-120"/>
              </a:rPr>
              <a:t>3</a:t>
            </a:r>
            <a:endParaRPr lang="en-US" sz="1500" dirty="0"/>
          </a:p>
        </p:txBody>
      </p:sp>
      <p:sp>
        <p:nvSpPr>
          <p:cNvPr id="30" name="Text 28"/>
          <p:cNvSpPr txBox="1"/>
          <p:nvPr/>
        </p:nvSpPr>
        <p:spPr>
          <a:xfrm>
            <a:off x="1097280" y="5157216"/>
            <a:ext cx="9509760" cy="530352"/>
          </a:xfrm>
          <a:prstGeom prst="rect">
            <a:avLst/>
          </a:prstGeom>
          <a:noFill/>
          <a:ln/>
        </p:spPr>
        <p:txBody>
          <a:bodyPr wrap="square" lIns="0" tIns="0" rIns="0" bIns="0" rtlCol="0" anchor="ctr"/>
          <a:lstStyle/>
          <a:p>
            <a:pPr marL="0" indent="0">
              <a:buNone/>
            </a:pPr>
            <a:r>
              <a:rPr lang="en-US" sz="1150" dirty="0">
                <a:solidFill>
                  <a:srgbClr val="6E6A60"/>
                </a:solidFill>
                <a:latin typeface="Arial" pitchFamily="34" charset="0"/>
                <a:ea typeface="Arial" pitchFamily="34" charset="-122"/>
                <a:cs typeface="Arial" pitchFamily="34" charset="-120"/>
              </a:rPr>
              <a:t>Task  →  Input  →  Tool  →  Required output  →  How I'll check  →  Approval</a:t>
            </a:r>
            <a:endParaRPr lang="en-US" sz="1150" dirty="0"/>
          </a:p>
        </p:txBody>
      </p:sp>
      <p:sp>
        <p:nvSpPr>
          <p:cNvPr id="31" name="Text 29"/>
          <p:cNvSpPr txBox="1"/>
          <p:nvPr/>
        </p:nvSpPr>
        <p:spPr>
          <a:xfrm>
            <a:off x="502920" y="5870448"/>
            <a:ext cx="10241280" cy="320040"/>
          </a:xfrm>
          <a:prstGeom prst="rect">
            <a:avLst/>
          </a:prstGeom>
          <a:noFill/>
          <a:ln/>
        </p:spPr>
        <p:txBody>
          <a:bodyPr wrap="square" lIns="0" tIns="0" rIns="0" bIns="0" rtlCol="0" anchor="ctr"/>
          <a:lstStyle/>
          <a:p>
            <a:pPr marL="0" indent="0">
              <a:buNone/>
            </a:pPr>
            <a:r>
              <a:rPr lang="en-US" sz="1200" i="1" dirty="0">
                <a:solidFill>
                  <a:srgbClr val="6E6A60"/>
                </a:solidFill>
                <a:latin typeface="Arial" pitchFamily="34" charset="0"/>
                <a:ea typeface="Arial" pitchFamily="34" charset="-122"/>
                <a:cs typeface="Arial" pitchFamily="34" charset="-120"/>
              </a:rPr>
              <a:t>Peer-review test: can someone else tell exactly what goes in, what comes out, and who checks it?</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2">
    <p:bg>
      <p:bgPr>
        <a:solidFill>
          <a:srgbClr val="F7F4EC"/>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6E6A60"/>
                </a:solidFill>
                <a:latin typeface="Arial" pitchFamily="34" charset="0"/>
                <a:ea typeface="Arial" pitchFamily="34" charset="-122"/>
                <a:cs typeface="Arial" pitchFamily="34" charset="-120"/>
              </a:rPr>
              <a:t>CLASS 1 · AI AS A BUSINESS TOOL</a:t>
            </a:r>
            <a:endParaRPr lang="en-US" sz="1050" dirty="0"/>
          </a:p>
        </p:txBody>
      </p:sp>
      <p:sp>
        <p:nvSpPr>
          <p:cNvPr id="3" name="Shape 1"/>
          <p:cNvSpPr/>
          <p:nvPr/>
        </p:nvSpPr>
        <p:spPr>
          <a:xfrm>
            <a:off x="10561320" y="256032"/>
            <a:ext cx="1170432" cy="384048"/>
          </a:xfrm>
          <a:prstGeom prst="roundRect">
            <a:avLst>
              <a:gd name="adj" fmla="val 19048"/>
            </a:avLst>
          </a:prstGeom>
          <a:solidFill>
            <a:srgbClr val="1E4FFF"/>
          </a:solidFill>
          <a:ln/>
        </p:spPr>
      </p:sp>
      <p:sp>
        <p:nvSpPr>
          <p:cNvPr id="4" name="Text 2"/>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140–145</a:t>
            </a:r>
            <a:endParaRPr lang="en-US" sz="1300" dirty="0"/>
          </a:p>
        </p:txBody>
      </p:sp>
      <p:sp>
        <p:nvSpPr>
          <p:cNvPr id="5" name="Shape 3"/>
          <p:cNvSpPr/>
          <p:nvPr/>
        </p:nvSpPr>
        <p:spPr>
          <a:xfrm>
            <a:off x="502920" y="6446520"/>
            <a:ext cx="11183112" cy="0"/>
          </a:xfrm>
          <a:prstGeom prst="line">
            <a:avLst/>
          </a:prstGeom>
          <a:noFill/>
          <a:ln w="9525">
            <a:solidFill>
              <a:srgbClr val="D8D3C5"/>
            </a:solidFill>
            <a:prstDash val="solid"/>
          </a:ln>
        </p:spPr>
      </p:sp>
      <p:sp>
        <p:nvSpPr>
          <p:cNvPr id="6" name="Text 4"/>
          <p:cNvSpPr txBox="1"/>
          <p:nvPr/>
        </p:nvSpPr>
        <p:spPr>
          <a:xfrm>
            <a:off x="502920" y="6492240"/>
            <a:ext cx="7315200" cy="274320"/>
          </a:xfrm>
          <a:prstGeom prst="rect">
            <a:avLst/>
          </a:prstGeom>
          <a:noFill/>
          <a:ln/>
        </p:spPr>
        <p:txBody>
          <a:bodyPr wrap="square" lIns="0" tIns="0" rIns="0" bIns="0" rtlCol="0" anchor="ctr"/>
          <a:lstStyle/>
          <a:p>
            <a:pPr marL="0" indent="0">
              <a:buNone/>
            </a:pPr>
            <a:r>
              <a:rPr lang="en-US" sz="900" kern="0" spc="100" dirty="0">
                <a:solidFill>
                  <a:srgbClr val="6E6A60"/>
                </a:solidFill>
                <a:latin typeface="Arial" pitchFamily="34" charset="0"/>
                <a:ea typeface="Arial" pitchFamily="34" charset="-122"/>
                <a:cs typeface="Arial" pitchFamily="34" charset="-120"/>
              </a:rPr>
              <a:t>MEGHNA OFFICE SUPPLIES WORKSHOP  ·  IUT DHAKA</a:t>
            </a:r>
            <a:endParaRPr lang="en-US" sz="900" dirty="0"/>
          </a:p>
        </p:txBody>
      </p:sp>
      <p:sp>
        <p:nvSpPr>
          <p:cNvPr id="7" name="Text 5"/>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22</a:t>
            </a:r>
            <a:endParaRPr lang="en-US" sz="900" dirty="0"/>
          </a:p>
        </p:txBody>
      </p:sp>
      <p:sp>
        <p:nvSpPr>
          <p:cNvPr id="8" name="Text 6"/>
          <p:cNvSpPr txBox="1"/>
          <p:nvPr/>
        </p:nvSpPr>
        <p:spPr>
          <a:xfrm>
            <a:off x="502920" y="713232"/>
            <a:ext cx="10607040" cy="868680"/>
          </a:xfrm>
          <a:prstGeom prst="rect">
            <a:avLst/>
          </a:prstGeom>
          <a:noFill/>
          <a:ln/>
        </p:spPr>
        <p:txBody>
          <a:bodyPr wrap="square" lIns="0" tIns="0" rIns="0" bIns="0" rtlCol="0" anchor="ctr"/>
          <a:lstStyle/>
          <a:p>
            <a:pPr marL="0" indent="0">
              <a:lnSpc>
                <a:spcPct val="102000"/>
              </a:lnSpc>
              <a:buNone/>
            </a:pPr>
            <a:r>
              <a:rPr lang="en-US" sz="3400" b="1" dirty="0">
                <a:solidFill>
                  <a:srgbClr val="1A1A1A"/>
                </a:solidFill>
                <a:latin typeface="Arial" pitchFamily="34" charset="0"/>
                <a:ea typeface="Arial" pitchFamily="34" charset="-122"/>
                <a:cs typeface="Arial" pitchFamily="34" charset="-120"/>
              </a:rPr>
              <a:t>Homework: One Real Win</a:t>
            </a:r>
            <a:endParaRPr lang="en-US" sz="3400" dirty="0"/>
          </a:p>
        </p:txBody>
      </p:sp>
      <p:sp>
        <p:nvSpPr>
          <p:cNvPr id="9" name="Shape 7"/>
          <p:cNvSpPr/>
          <p:nvPr/>
        </p:nvSpPr>
        <p:spPr>
          <a:xfrm>
            <a:off x="502920" y="1691640"/>
            <a:ext cx="6309360" cy="2834640"/>
          </a:xfrm>
          <a:prstGeom prst="roundRect">
            <a:avLst>
              <a:gd name="adj" fmla="val 2581"/>
            </a:avLst>
          </a:prstGeom>
          <a:solidFill>
            <a:srgbClr val="EDE9DE"/>
          </a:solidFill>
          <a:ln/>
        </p:spPr>
      </p:sp>
      <p:sp>
        <p:nvSpPr>
          <p:cNvPr id="10" name="Text 8"/>
          <p:cNvSpPr txBox="1"/>
          <p:nvPr/>
        </p:nvSpPr>
        <p:spPr>
          <a:xfrm>
            <a:off x="731520" y="1847088"/>
            <a:ext cx="5760720" cy="365760"/>
          </a:xfrm>
          <a:prstGeom prst="rect">
            <a:avLst/>
          </a:prstGeom>
          <a:noFill/>
          <a:ln/>
        </p:spPr>
        <p:txBody>
          <a:bodyPr wrap="square" lIns="0" tIns="0" rIns="0" bIns="0" rtlCol="0" anchor="ctr"/>
          <a:lstStyle/>
          <a:p>
            <a:pPr marL="0" indent="0">
              <a:buNone/>
            </a:pPr>
            <a:r>
              <a:rPr lang="en-US" sz="1550" b="1" dirty="0">
                <a:solidFill>
                  <a:srgbClr val="1A1A1A"/>
                </a:solidFill>
                <a:latin typeface="Arial" pitchFamily="34" charset="0"/>
                <a:ea typeface="Arial" pitchFamily="34" charset="-122"/>
                <a:cs typeface="Arial" pitchFamily="34" charset="-120"/>
              </a:rPr>
              <a:t>Do it. Check it. Show what changed.</a:t>
            </a:r>
            <a:endParaRPr lang="en-US" sz="1550" dirty="0"/>
          </a:p>
        </p:txBody>
      </p:sp>
      <p:sp>
        <p:nvSpPr>
          <p:cNvPr id="11" name="Text 9"/>
          <p:cNvSpPr txBox="1"/>
          <p:nvPr/>
        </p:nvSpPr>
        <p:spPr>
          <a:xfrm>
            <a:off x="731520" y="2286000"/>
            <a:ext cx="5760720" cy="2103120"/>
          </a:xfrm>
          <a:prstGeom prst="rect">
            <a:avLst/>
          </a:prstGeom>
          <a:noFill/>
          <a:ln/>
        </p:spPr>
        <p:txBody>
          <a:bodyPr wrap="square" lIns="0" tIns="0" rIns="0" bIns="0" rtlCol="0" anchor="t"/>
          <a:lstStyle/>
          <a:p>
            <a:pPr marL="228600" indent="-228600">
              <a:spcAft>
                <a:spcPts val="900"/>
              </a:spcAft>
              <a:buSzPct val="100000"/>
              <a:buChar char="•"/>
            </a:pPr>
            <a:r>
              <a:rPr lang="en-US" sz="1250" dirty="0">
                <a:solidFill>
                  <a:srgbClr val="1A1A1A"/>
                </a:solidFill>
                <a:latin typeface="Arial" pitchFamily="34" charset="0"/>
                <a:ea typeface="Arial" pitchFamily="34" charset="-122"/>
                <a:cs typeface="Arial" pitchFamily="34" charset="-120"/>
              </a:rPr>
              <a:t>Choose a real task — public, fictional, or safely anonymized input only</a:t>
            </a:r>
            <a:endParaRPr lang="en-US" sz="1250" dirty="0"/>
          </a:p>
          <a:p>
            <a:pPr marL="228600" indent="-228600">
              <a:spcAft>
                <a:spcPts val="900"/>
              </a:spcAft>
              <a:buSzPct val="100000"/>
              <a:buChar char="•"/>
            </a:pPr>
            <a:r>
              <a:rPr lang="en-US" sz="1250" dirty="0">
                <a:solidFill>
                  <a:srgbClr val="1A1A1A"/>
                </a:solidFill>
                <a:latin typeface="Arial" pitchFamily="34" charset="0"/>
                <a:ea typeface="Arial" pitchFamily="34" charset="-122"/>
                <a:cs typeface="Arial" pitchFamily="34" charset="-120"/>
              </a:rPr>
              <a:t>Turn public study material into a checked summary</a:t>
            </a:r>
            <a:endParaRPr lang="en-US" sz="1250" dirty="0"/>
          </a:p>
          <a:p>
            <a:pPr marL="228600" indent="-228600">
              <a:spcAft>
                <a:spcPts val="900"/>
              </a:spcAft>
              <a:buSzPct val="100000"/>
              <a:buChar char="•"/>
            </a:pPr>
            <a:r>
              <a:rPr lang="en-US" sz="1250" dirty="0">
                <a:solidFill>
                  <a:srgbClr val="1A1A1A"/>
                </a:solidFill>
                <a:latin typeface="Arial" pitchFamily="34" charset="0"/>
                <a:ea typeface="Arial" pitchFamily="34" charset="-122"/>
                <a:cs typeface="Arial" pitchFamily="34" charset="-120"/>
              </a:rPr>
              <a:t>Compare official product specifications</a:t>
            </a:r>
            <a:endParaRPr lang="en-US" sz="1250" dirty="0"/>
          </a:p>
          <a:p>
            <a:pPr>
              <a:spcAft>
                <a:spcPts val="900"/>
              </a:spcAft>
              <a:buSzPct val="100000"/>
            </a:pPr>
            <a:r>
              <a:rPr lang="en-US" sz="1250" dirty="0">
                <a:solidFill>
                  <a:srgbClr val="1A1A1A"/>
                </a:solidFill>
                <a:latin typeface="Arial" pitchFamily="34" charset="0"/>
                <a:cs typeface="Arial" pitchFamily="34" charset="-120"/>
              </a:rPr>
              <a:t>*    Create a Routine </a:t>
            </a:r>
            <a:r>
              <a:rPr lang="en-US" sz="1250">
                <a:solidFill>
                  <a:srgbClr val="1A1A1A"/>
                </a:solidFill>
                <a:latin typeface="Arial" pitchFamily="34" charset="0"/>
                <a:cs typeface="Arial" pitchFamily="34" charset="-120"/>
              </a:rPr>
              <a:t>Automated System.</a:t>
            </a:r>
            <a:endParaRPr lang="en-US" sz="1250" dirty="0"/>
          </a:p>
          <a:p>
            <a:pPr marL="228600" indent="-228600">
              <a:spcAft>
                <a:spcPts val="900"/>
              </a:spcAft>
              <a:buSzPct val="100000"/>
              <a:buChar char="•"/>
            </a:pPr>
            <a:r>
              <a:rPr lang="en-US" sz="1250" dirty="0">
                <a:solidFill>
                  <a:srgbClr val="1A1A1A"/>
                </a:solidFill>
                <a:latin typeface="Arial" pitchFamily="34" charset="0"/>
                <a:ea typeface="Arial" pitchFamily="34" charset="-122"/>
                <a:cs typeface="Arial" pitchFamily="34" charset="-120"/>
              </a:rPr>
              <a:t>Refine a business idea and flag what needs testing</a:t>
            </a:r>
            <a:endParaRPr lang="en-US" sz="1250" dirty="0"/>
          </a:p>
        </p:txBody>
      </p:sp>
      <p:sp>
        <p:nvSpPr>
          <p:cNvPr id="12" name="Text 10"/>
          <p:cNvSpPr txBox="1"/>
          <p:nvPr/>
        </p:nvSpPr>
        <p:spPr>
          <a:xfrm>
            <a:off x="731520" y="4206240"/>
            <a:ext cx="5760720" cy="274320"/>
          </a:xfrm>
          <a:prstGeom prst="rect">
            <a:avLst/>
          </a:prstGeom>
          <a:noFill/>
          <a:ln/>
        </p:spPr>
        <p:txBody>
          <a:bodyPr wrap="square" lIns="0" tIns="0" rIns="0" bIns="0" rtlCol="0" anchor="ctr"/>
          <a:lstStyle/>
          <a:p>
            <a:pPr marL="0" indent="0">
              <a:buNone/>
            </a:pPr>
            <a:r>
              <a:rPr lang="en-US" sz="1050" i="1" dirty="0">
                <a:solidFill>
                  <a:srgbClr val="6E6A60"/>
                </a:solidFill>
                <a:latin typeface="Arial" pitchFamily="34" charset="0"/>
                <a:ea typeface="Arial" pitchFamily="34" charset="-122"/>
                <a:cs typeface="Arial" pitchFamily="34" charset="-120"/>
              </a:rPr>
              <a:t>~45–60 minutes, including verification  ·  confirm the actual deadline in class</a:t>
            </a:r>
            <a:endParaRPr lang="en-US" sz="1050" dirty="0"/>
          </a:p>
        </p:txBody>
      </p:sp>
      <p:sp>
        <p:nvSpPr>
          <p:cNvPr id="13" name="Shape 11"/>
          <p:cNvSpPr/>
          <p:nvPr/>
        </p:nvSpPr>
        <p:spPr>
          <a:xfrm>
            <a:off x="6995160" y="1691640"/>
            <a:ext cx="3794760" cy="2834640"/>
          </a:xfrm>
          <a:prstGeom prst="roundRect">
            <a:avLst>
              <a:gd name="adj" fmla="val 2581"/>
            </a:avLst>
          </a:prstGeom>
          <a:solidFill>
            <a:srgbClr val="1A1A1A"/>
          </a:solidFill>
          <a:ln/>
        </p:spPr>
      </p:sp>
      <p:sp>
        <p:nvSpPr>
          <p:cNvPr id="14" name="Text 12"/>
          <p:cNvSpPr txBox="1"/>
          <p:nvPr/>
        </p:nvSpPr>
        <p:spPr>
          <a:xfrm>
            <a:off x="7223760" y="1847088"/>
            <a:ext cx="3383280" cy="274320"/>
          </a:xfrm>
          <a:prstGeom prst="rect">
            <a:avLst/>
          </a:prstGeom>
          <a:noFill/>
          <a:ln/>
        </p:spPr>
        <p:txBody>
          <a:bodyPr wrap="square" lIns="0" tIns="0" rIns="0" bIns="0" rtlCol="0" anchor="ctr"/>
          <a:lstStyle/>
          <a:p>
            <a:pPr marL="0" indent="0">
              <a:buNone/>
            </a:pPr>
            <a:r>
              <a:rPr lang="en-US" sz="1100" b="1" kern="0" spc="150" dirty="0">
                <a:solidFill>
                  <a:srgbClr val="5C82FF"/>
                </a:solidFill>
                <a:latin typeface="Arial" pitchFamily="34" charset="0"/>
                <a:ea typeface="Arial" pitchFamily="34" charset="-122"/>
                <a:cs typeface="Arial" pitchFamily="34" charset="-120"/>
              </a:rPr>
              <a:t>10-POINT RUBRIC</a:t>
            </a:r>
            <a:endParaRPr lang="en-US" sz="1100" dirty="0"/>
          </a:p>
        </p:txBody>
      </p:sp>
      <p:sp>
        <p:nvSpPr>
          <p:cNvPr id="15" name="Text 13"/>
          <p:cNvSpPr txBox="1"/>
          <p:nvPr/>
        </p:nvSpPr>
        <p:spPr>
          <a:xfrm>
            <a:off x="7223760" y="2194560"/>
            <a:ext cx="2743200" cy="320040"/>
          </a:xfrm>
          <a:prstGeom prst="rect">
            <a:avLst/>
          </a:prstGeom>
          <a:noFill/>
          <a:ln/>
        </p:spPr>
        <p:txBody>
          <a:bodyPr wrap="square" lIns="0" tIns="0" rIns="0" bIns="0" rtlCol="0" anchor="ctr"/>
          <a:lstStyle/>
          <a:p>
            <a:pPr marL="0" indent="0">
              <a:buNone/>
            </a:pPr>
            <a:r>
              <a:rPr lang="en-US" sz="1150" dirty="0">
                <a:solidFill>
                  <a:srgbClr val="E6E3D8"/>
                </a:solidFill>
                <a:latin typeface="Arial" pitchFamily="34" charset="0"/>
                <a:cs typeface="Arial" pitchFamily="34" charset="-120"/>
              </a:rPr>
              <a:t>Make the Business</a:t>
            </a:r>
            <a:endParaRPr lang="en-US" sz="1150" dirty="0"/>
          </a:p>
        </p:txBody>
      </p:sp>
      <p:sp>
        <p:nvSpPr>
          <p:cNvPr id="16" name="Text 14"/>
          <p:cNvSpPr txBox="1"/>
          <p:nvPr/>
        </p:nvSpPr>
        <p:spPr>
          <a:xfrm>
            <a:off x="10012680" y="2194560"/>
            <a:ext cx="548640" cy="320040"/>
          </a:xfrm>
          <a:prstGeom prst="rect">
            <a:avLst/>
          </a:prstGeom>
          <a:noFill/>
          <a:ln/>
        </p:spPr>
        <p:txBody>
          <a:bodyPr wrap="square" lIns="0" tIns="0" rIns="0" bIns="0" rtlCol="0" anchor="ctr"/>
          <a:lstStyle/>
          <a:p>
            <a:pPr marL="0" indent="0" algn="r">
              <a:buNone/>
            </a:pPr>
            <a:r>
              <a:rPr lang="en-US" sz="1150" b="1" dirty="0">
                <a:solidFill>
                  <a:srgbClr val="5C82FF"/>
                </a:solidFill>
                <a:latin typeface="Arial" pitchFamily="34" charset="0"/>
                <a:ea typeface="Arial" pitchFamily="34" charset="-122"/>
                <a:cs typeface="Arial" pitchFamily="34" charset="-120"/>
              </a:rPr>
              <a:t>/2</a:t>
            </a:r>
            <a:endParaRPr lang="en-US" sz="1150" dirty="0"/>
          </a:p>
        </p:txBody>
      </p:sp>
      <p:sp>
        <p:nvSpPr>
          <p:cNvPr id="17" name="Text 15"/>
          <p:cNvSpPr txBox="1"/>
          <p:nvPr/>
        </p:nvSpPr>
        <p:spPr>
          <a:xfrm>
            <a:off x="7223760" y="2651760"/>
            <a:ext cx="2743200" cy="320040"/>
          </a:xfrm>
          <a:prstGeom prst="rect">
            <a:avLst/>
          </a:prstGeom>
          <a:noFill/>
          <a:ln/>
        </p:spPr>
        <p:txBody>
          <a:bodyPr wrap="square" lIns="0" tIns="0" rIns="0" bIns="0" rtlCol="0" anchor="ctr"/>
          <a:lstStyle/>
          <a:p>
            <a:pPr marL="0" indent="0">
              <a:buNone/>
            </a:pPr>
            <a:r>
              <a:rPr lang="en-US" sz="1150" dirty="0">
                <a:solidFill>
                  <a:srgbClr val="E6E3D8"/>
                </a:solidFill>
                <a:latin typeface="Arial" pitchFamily="34" charset="0"/>
                <a:ea typeface="Arial" pitchFamily="34" charset="-122"/>
                <a:cs typeface="Arial" pitchFamily="34" charset="-120"/>
              </a:rPr>
              <a:t>Useful input, clear output</a:t>
            </a:r>
            <a:endParaRPr lang="en-US" sz="1150" dirty="0"/>
          </a:p>
        </p:txBody>
      </p:sp>
      <p:sp>
        <p:nvSpPr>
          <p:cNvPr id="18" name="Text 16"/>
          <p:cNvSpPr txBox="1"/>
          <p:nvPr/>
        </p:nvSpPr>
        <p:spPr>
          <a:xfrm>
            <a:off x="10012680" y="2651760"/>
            <a:ext cx="548640" cy="320040"/>
          </a:xfrm>
          <a:prstGeom prst="rect">
            <a:avLst/>
          </a:prstGeom>
          <a:noFill/>
          <a:ln/>
        </p:spPr>
        <p:txBody>
          <a:bodyPr wrap="square" lIns="0" tIns="0" rIns="0" bIns="0" rtlCol="0" anchor="ctr"/>
          <a:lstStyle/>
          <a:p>
            <a:pPr marL="0" indent="0" algn="r">
              <a:buNone/>
            </a:pPr>
            <a:r>
              <a:rPr lang="en-US" sz="1150" b="1" dirty="0">
                <a:solidFill>
                  <a:srgbClr val="5C82FF"/>
                </a:solidFill>
                <a:latin typeface="Arial" pitchFamily="34" charset="0"/>
                <a:ea typeface="Arial" pitchFamily="34" charset="-122"/>
                <a:cs typeface="Arial" pitchFamily="34" charset="-120"/>
              </a:rPr>
              <a:t>/2</a:t>
            </a:r>
            <a:endParaRPr lang="en-US" sz="1150" dirty="0"/>
          </a:p>
        </p:txBody>
      </p:sp>
      <p:sp>
        <p:nvSpPr>
          <p:cNvPr id="19" name="Text 17"/>
          <p:cNvSpPr txBox="1"/>
          <p:nvPr/>
        </p:nvSpPr>
        <p:spPr>
          <a:xfrm>
            <a:off x="7223760" y="3108960"/>
            <a:ext cx="2743200" cy="320040"/>
          </a:xfrm>
          <a:prstGeom prst="rect">
            <a:avLst/>
          </a:prstGeom>
          <a:noFill/>
          <a:ln/>
        </p:spPr>
        <p:txBody>
          <a:bodyPr wrap="square" lIns="0" tIns="0" rIns="0" bIns="0" rtlCol="0" anchor="ctr"/>
          <a:lstStyle/>
          <a:p>
            <a:pPr marL="0" indent="0">
              <a:buNone/>
            </a:pPr>
            <a:r>
              <a:rPr lang="en-US" sz="1150" dirty="0">
                <a:solidFill>
                  <a:srgbClr val="E6E3D8"/>
                </a:solidFill>
                <a:latin typeface="Arial" pitchFamily="34" charset="0"/>
                <a:ea typeface="Arial" pitchFamily="34" charset="-122"/>
                <a:cs typeface="Arial" pitchFamily="34" charset="-120"/>
              </a:rPr>
              <a:t>Meaningful verification</a:t>
            </a:r>
            <a:endParaRPr lang="en-US" sz="1150" dirty="0"/>
          </a:p>
        </p:txBody>
      </p:sp>
      <p:sp>
        <p:nvSpPr>
          <p:cNvPr id="20" name="Text 18"/>
          <p:cNvSpPr txBox="1"/>
          <p:nvPr/>
        </p:nvSpPr>
        <p:spPr>
          <a:xfrm>
            <a:off x="10012680" y="3108960"/>
            <a:ext cx="548640" cy="320040"/>
          </a:xfrm>
          <a:prstGeom prst="rect">
            <a:avLst/>
          </a:prstGeom>
          <a:noFill/>
          <a:ln/>
        </p:spPr>
        <p:txBody>
          <a:bodyPr wrap="square" lIns="0" tIns="0" rIns="0" bIns="0" rtlCol="0" anchor="ctr"/>
          <a:lstStyle/>
          <a:p>
            <a:pPr marL="0" indent="0" algn="r">
              <a:buNone/>
            </a:pPr>
            <a:r>
              <a:rPr lang="en-US" sz="1150" b="1" dirty="0">
                <a:solidFill>
                  <a:srgbClr val="5C82FF"/>
                </a:solidFill>
                <a:latin typeface="Arial" pitchFamily="34" charset="0"/>
                <a:ea typeface="Arial" pitchFamily="34" charset="-122"/>
                <a:cs typeface="Arial" pitchFamily="34" charset="-120"/>
              </a:rPr>
              <a:t>/2</a:t>
            </a:r>
            <a:endParaRPr lang="en-US" sz="1150" dirty="0"/>
          </a:p>
        </p:txBody>
      </p:sp>
      <p:sp>
        <p:nvSpPr>
          <p:cNvPr id="21" name="Text 19"/>
          <p:cNvSpPr txBox="1"/>
          <p:nvPr/>
        </p:nvSpPr>
        <p:spPr>
          <a:xfrm>
            <a:off x="7223760" y="3566160"/>
            <a:ext cx="2743200" cy="320040"/>
          </a:xfrm>
          <a:prstGeom prst="rect">
            <a:avLst/>
          </a:prstGeom>
          <a:noFill/>
          <a:ln/>
        </p:spPr>
        <p:txBody>
          <a:bodyPr wrap="square" lIns="0" tIns="0" rIns="0" bIns="0" rtlCol="0" anchor="ctr"/>
          <a:lstStyle/>
          <a:p>
            <a:pPr marL="0" indent="0">
              <a:buNone/>
            </a:pPr>
            <a:r>
              <a:rPr lang="en-US" sz="1150" dirty="0">
                <a:solidFill>
                  <a:srgbClr val="E6E3D8"/>
                </a:solidFill>
                <a:latin typeface="Arial" pitchFamily="34" charset="0"/>
                <a:ea typeface="Arial" pitchFamily="34" charset="-122"/>
                <a:cs typeface="Arial" pitchFamily="34" charset="-120"/>
              </a:rPr>
              <a:t>Follow-up &amp; refinement</a:t>
            </a:r>
            <a:endParaRPr lang="en-US" sz="1150" dirty="0"/>
          </a:p>
        </p:txBody>
      </p:sp>
      <p:sp>
        <p:nvSpPr>
          <p:cNvPr id="22" name="Text 20"/>
          <p:cNvSpPr txBox="1"/>
          <p:nvPr/>
        </p:nvSpPr>
        <p:spPr>
          <a:xfrm>
            <a:off x="10012680" y="3566160"/>
            <a:ext cx="548640" cy="320040"/>
          </a:xfrm>
          <a:prstGeom prst="rect">
            <a:avLst/>
          </a:prstGeom>
          <a:noFill/>
          <a:ln/>
        </p:spPr>
        <p:txBody>
          <a:bodyPr wrap="square" lIns="0" tIns="0" rIns="0" bIns="0" rtlCol="0" anchor="ctr"/>
          <a:lstStyle/>
          <a:p>
            <a:pPr marL="0" indent="0" algn="r">
              <a:buNone/>
            </a:pPr>
            <a:r>
              <a:rPr lang="en-US" sz="1150" b="1" dirty="0">
                <a:solidFill>
                  <a:srgbClr val="5C82FF"/>
                </a:solidFill>
                <a:latin typeface="Arial" pitchFamily="34" charset="0"/>
                <a:ea typeface="Arial" pitchFamily="34" charset="-122"/>
                <a:cs typeface="Arial" pitchFamily="34" charset="-120"/>
              </a:rPr>
              <a:t>/2</a:t>
            </a:r>
            <a:endParaRPr lang="en-US" sz="1150" dirty="0"/>
          </a:p>
        </p:txBody>
      </p:sp>
      <p:sp>
        <p:nvSpPr>
          <p:cNvPr id="23" name="Text 21"/>
          <p:cNvSpPr txBox="1"/>
          <p:nvPr/>
        </p:nvSpPr>
        <p:spPr>
          <a:xfrm>
            <a:off x="7223760" y="4023360"/>
            <a:ext cx="2743200" cy="320040"/>
          </a:xfrm>
          <a:prstGeom prst="rect">
            <a:avLst/>
          </a:prstGeom>
          <a:noFill/>
          <a:ln/>
        </p:spPr>
        <p:txBody>
          <a:bodyPr wrap="square" lIns="0" tIns="0" rIns="0" bIns="0" rtlCol="0" anchor="ctr"/>
          <a:lstStyle/>
          <a:p>
            <a:pPr marL="0" indent="0">
              <a:buNone/>
            </a:pPr>
            <a:r>
              <a:rPr lang="en-US" sz="1150" dirty="0">
                <a:solidFill>
                  <a:srgbClr val="E6E3D8"/>
                </a:solidFill>
                <a:latin typeface="Arial" pitchFamily="34" charset="0"/>
                <a:ea typeface="Arial" pitchFamily="34" charset="-122"/>
                <a:cs typeface="Arial" pitchFamily="34" charset="-120"/>
              </a:rPr>
              <a:t>Reflection &amp; approval point</a:t>
            </a:r>
            <a:endParaRPr lang="en-US" sz="1150" dirty="0"/>
          </a:p>
        </p:txBody>
      </p:sp>
      <p:sp>
        <p:nvSpPr>
          <p:cNvPr id="24" name="Text 22"/>
          <p:cNvSpPr txBox="1"/>
          <p:nvPr/>
        </p:nvSpPr>
        <p:spPr>
          <a:xfrm>
            <a:off x="10012680" y="4023360"/>
            <a:ext cx="548640" cy="320040"/>
          </a:xfrm>
          <a:prstGeom prst="rect">
            <a:avLst/>
          </a:prstGeom>
          <a:noFill/>
          <a:ln/>
        </p:spPr>
        <p:txBody>
          <a:bodyPr wrap="square" lIns="0" tIns="0" rIns="0" bIns="0" rtlCol="0" anchor="ctr"/>
          <a:lstStyle/>
          <a:p>
            <a:pPr marL="0" indent="0" algn="r">
              <a:buNone/>
            </a:pPr>
            <a:r>
              <a:rPr lang="en-US" sz="1150" b="1" dirty="0">
                <a:solidFill>
                  <a:srgbClr val="5C82FF"/>
                </a:solidFill>
                <a:latin typeface="Arial" pitchFamily="34" charset="0"/>
                <a:ea typeface="Arial" pitchFamily="34" charset="-122"/>
                <a:cs typeface="Arial" pitchFamily="34" charset="-120"/>
              </a:rPr>
              <a:t>/2</a:t>
            </a:r>
            <a:endParaRPr lang="en-US" sz="1150" dirty="0"/>
          </a:p>
        </p:txBody>
      </p:sp>
      <p:sp>
        <p:nvSpPr>
          <p:cNvPr id="25" name="Text 23"/>
          <p:cNvSpPr txBox="1"/>
          <p:nvPr/>
        </p:nvSpPr>
        <p:spPr>
          <a:xfrm>
            <a:off x="502920" y="4754880"/>
            <a:ext cx="10287000" cy="502920"/>
          </a:xfrm>
          <a:prstGeom prst="rect">
            <a:avLst/>
          </a:prstGeom>
          <a:noFill/>
          <a:ln/>
        </p:spPr>
        <p:txBody>
          <a:bodyPr wrap="square" lIns="0" tIns="0" rIns="0" bIns="0" rtlCol="0" anchor="ctr"/>
          <a:lstStyle/>
          <a:p>
            <a:pPr marL="0" indent="0">
              <a:buNone/>
            </a:pPr>
            <a:r>
              <a:rPr lang="en-US" sz="1200" dirty="0">
                <a:solidFill>
                  <a:srgbClr val="6E6A60"/>
                </a:solidFill>
                <a:latin typeface="Arial" pitchFamily="34" charset="0"/>
                <a:ea typeface="Arial" pitchFamily="34" charset="-122"/>
                <a:cs typeface="Arial" pitchFamily="34" charset="-120"/>
              </a:rPr>
              <a:t>Submit: task &amp; outcome · tool &amp; why · prompts &amp; outputs · verification &amp; corrections · time spent · human approval point.</a:t>
            </a:r>
            <a:endParaRPr lang="en-US" sz="1200" dirty="0"/>
          </a:p>
        </p:txBody>
      </p:sp>
      <p:sp>
        <p:nvSpPr>
          <p:cNvPr id="26" name="Text 24"/>
          <p:cNvSpPr txBox="1"/>
          <p:nvPr/>
        </p:nvSpPr>
        <p:spPr>
          <a:xfrm>
            <a:off x="502920" y="5349240"/>
            <a:ext cx="10287000" cy="365760"/>
          </a:xfrm>
          <a:prstGeom prst="rect">
            <a:avLst/>
          </a:prstGeom>
          <a:noFill/>
          <a:ln/>
        </p:spPr>
        <p:txBody>
          <a:bodyPr wrap="square" lIns="0" tIns="0" rIns="0" bIns="0" rtlCol="0" anchor="ctr"/>
          <a:lstStyle/>
          <a:p>
            <a:pPr marL="0" indent="0">
              <a:buNone/>
            </a:pPr>
            <a:r>
              <a:rPr lang="en-US" sz="1250" i="1" dirty="0">
                <a:solidFill>
                  <a:srgbClr val="1E4FFF"/>
                </a:solidFill>
                <a:latin typeface="Arial" pitchFamily="34" charset="0"/>
                <a:ea typeface="Arial" pitchFamily="34" charset="-122"/>
                <a:cs typeface="Arial" pitchFamily="34" charset="-120"/>
              </a:rPr>
              <a:t>Do not claim time savings unless you have a reasonable comparison — actual elapsed time is enough.</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3">
    <p:bg>
      <p:bgPr>
        <a:solidFill>
          <a:srgbClr val="F7F4EC"/>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6858000" cy="274320"/>
          </a:xfrm>
          <a:prstGeom prst="rect">
            <a:avLst/>
          </a:prstGeom>
          <a:noFill/>
          <a:ln/>
        </p:spPr>
        <p:txBody>
          <a:bodyPr wrap="square" lIns="0" tIns="0" rIns="0" bIns="0" rtlCol="0" anchor="ctr"/>
          <a:lstStyle/>
          <a:p>
            <a:pPr marL="0" indent="0">
              <a:buNone/>
            </a:pPr>
            <a:r>
              <a:rPr lang="en-US" sz="1050" b="1" kern="0" spc="200" dirty="0">
                <a:solidFill>
                  <a:srgbClr val="6E6A60"/>
                </a:solidFill>
                <a:latin typeface="Arial" pitchFamily="34" charset="0"/>
                <a:ea typeface="Arial" pitchFamily="34" charset="-122"/>
                <a:cs typeface="Arial" pitchFamily="34" charset="-120"/>
              </a:rPr>
              <a:t>CLASS 1 · AI AS A BUSINESS TOOL</a:t>
            </a:r>
            <a:endParaRPr lang="en-US" sz="1050" dirty="0"/>
          </a:p>
        </p:txBody>
      </p:sp>
      <p:sp>
        <p:nvSpPr>
          <p:cNvPr id="3" name="Shape 1"/>
          <p:cNvSpPr/>
          <p:nvPr/>
        </p:nvSpPr>
        <p:spPr>
          <a:xfrm>
            <a:off x="10561320" y="256032"/>
            <a:ext cx="1170432" cy="384048"/>
          </a:xfrm>
          <a:prstGeom prst="roundRect">
            <a:avLst>
              <a:gd name="adj" fmla="val 19048"/>
            </a:avLst>
          </a:prstGeom>
          <a:solidFill>
            <a:srgbClr val="1E4FFF"/>
          </a:solidFill>
          <a:ln/>
        </p:spPr>
      </p:sp>
      <p:sp>
        <p:nvSpPr>
          <p:cNvPr id="4" name="Text 2"/>
          <p:cNvSpPr txBox="1"/>
          <p:nvPr/>
        </p:nvSpPr>
        <p:spPr>
          <a:xfrm>
            <a:off x="10561320" y="256032"/>
            <a:ext cx="1170432"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145–149</a:t>
            </a:r>
            <a:endParaRPr lang="en-US" sz="1300" dirty="0"/>
          </a:p>
        </p:txBody>
      </p:sp>
      <p:sp>
        <p:nvSpPr>
          <p:cNvPr id="5" name="Shape 3"/>
          <p:cNvSpPr/>
          <p:nvPr/>
        </p:nvSpPr>
        <p:spPr>
          <a:xfrm>
            <a:off x="502920" y="6446520"/>
            <a:ext cx="11183112" cy="0"/>
          </a:xfrm>
          <a:prstGeom prst="line">
            <a:avLst/>
          </a:prstGeom>
          <a:noFill/>
          <a:ln w="9525">
            <a:solidFill>
              <a:srgbClr val="D8D3C5"/>
            </a:solidFill>
            <a:prstDash val="solid"/>
          </a:ln>
        </p:spPr>
      </p:sp>
      <p:sp>
        <p:nvSpPr>
          <p:cNvPr id="6" name="Text 4"/>
          <p:cNvSpPr txBox="1"/>
          <p:nvPr/>
        </p:nvSpPr>
        <p:spPr>
          <a:xfrm>
            <a:off x="502920" y="6492240"/>
            <a:ext cx="7315200" cy="274320"/>
          </a:xfrm>
          <a:prstGeom prst="rect">
            <a:avLst/>
          </a:prstGeom>
          <a:noFill/>
          <a:ln/>
        </p:spPr>
        <p:txBody>
          <a:bodyPr wrap="square" lIns="0" tIns="0" rIns="0" bIns="0" rtlCol="0" anchor="ctr"/>
          <a:lstStyle/>
          <a:p>
            <a:pPr marL="0" indent="0">
              <a:buNone/>
            </a:pPr>
            <a:r>
              <a:rPr lang="en-US" sz="900" kern="0" spc="100" dirty="0">
                <a:solidFill>
                  <a:srgbClr val="6E6A60"/>
                </a:solidFill>
                <a:latin typeface="Arial" pitchFamily="34" charset="0"/>
                <a:ea typeface="Arial" pitchFamily="34" charset="-122"/>
                <a:cs typeface="Arial" pitchFamily="34" charset="-120"/>
              </a:rPr>
              <a:t>MEGHNA OFFICE SUPPLIES WORKSHOP  ·  IUT DHAKA</a:t>
            </a:r>
            <a:endParaRPr lang="en-US" sz="900" dirty="0"/>
          </a:p>
        </p:txBody>
      </p:sp>
      <p:sp>
        <p:nvSpPr>
          <p:cNvPr id="7" name="Text 5"/>
          <p:cNvSpPr txBox="1"/>
          <p:nvPr/>
        </p:nvSpPr>
        <p:spPr>
          <a:xfrm>
            <a:off x="10607040" y="6492240"/>
            <a:ext cx="1097280" cy="274320"/>
          </a:xfrm>
          <a:prstGeom prst="rect">
            <a:avLst/>
          </a:prstGeom>
          <a:noFill/>
          <a:ln/>
        </p:spPr>
        <p:txBody>
          <a:bodyPr wrap="square" lIns="0" tIns="0" rIns="0" bIns="0" rtlCol="0" anchor="ctr"/>
          <a:lstStyle/>
          <a:p>
            <a:pPr marL="0" indent="0" algn="r">
              <a:buNone/>
            </a:pPr>
            <a:r>
              <a:rPr lang="en-US" sz="900" dirty="0">
                <a:solidFill>
                  <a:srgbClr val="6E6A60"/>
                </a:solidFill>
                <a:latin typeface="Arial" pitchFamily="34" charset="0"/>
                <a:ea typeface="Arial" pitchFamily="34" charset="-122"/>
                <a:cs typeface="Arial" pitchFamily="34" charset="-120"/>
              </a:rPr>
              <a:t>23</a:t>
            </a:r>
            <a:endParaRPr lang="en-US" sz="900" dirty="0"/>
          </a:p>
        </p:txBody>
      </p:sp>
      <p:sp>
        <p:nvSpPr>
          <p:cNvPr id="8" name="Text 6"/>
          <p:cNvSpPr txBox="1"/>
          <p:nvPr/>
        </p:nvSpPr>
        <p:spPr>
          <a:xfrm>
            <a:off x="502920" y="713232"/>
            <a:ext cx="10607040" cy="868680"/>
          </a:xfrm>
          <a:prstGeom prst="rect">
            <a:avLst/>
          </a:prstGeom>
          <a:noFill/>
          <a:ln/>
        </p:spPr>
        <p:txBody>
          <a:bodyPr wrap="square" lIns="0" tIns="0" rIns="0" bIns="0" rtlCol="0" anchor="ctr"/>
          <a:lstStyle/>
          <a:p>
            <a:pPr marL="0" indent="0">
              <a:lnSpc>
                <a:spcPct val="102000"/>
              </a:lnSpc>
              <a:buNone/>
            </a:pPr>
            <a:r>
              <a:rPr lang="en-US" sz="3400" b="1" dirty="0">
                <a:solidFill>
                  <a:srgbClr val="1A1A1A"/>
                </a:solidFill>
                <a:latin typeface="Arial" pitchFamily="34" charset="0"/>
                <a:ea typeface="Arial" pitchFamily="34" charset="-122"/>
                <a:cs typeface="Arial" pitchFamily="34" charset="-120"/>
              </a:rPr>
              <a:t>Your Next Move</a:t>
            </a:r>
            <a:endParaRPr lang="en-US" sz="3400" dirty="0"/>
          </a:p>
        </p:txBody>
      </p:sp>
      <p:sp>
        <p:nvSpPr>
          <p:cNvPr id="9" name="Text 7"/>
          <p:cNvSpPr txBox="1"/>
          <p:nvPr/>
        </p:nvSpPr>
        <p:spPr>
          <a:xfrm>
            <a:off x="502920" y="1536192"/>
            <a:ext cx="7315200" cy="320040"/>
          </a:xfrm>
          <a:prstGeom prst="rect">
            <a:avLst/>
          </a:prstGeom>
          <a:noFill/>
          <a:ln/>
        </p:spPr>
        <p:txBody>
          <a:bodyPr wrap="square" lIns="0" tIns="0" rIns="0" bIns="0" rtlCol="0" anchor="ctr"/>
          <a:lstStyle/>
          <a:p>
            <a:pPr marL="0" indent="0">
              <a:buNone/>
            </a:pPr>
            <a:r>
              <a:rPr lang="en-US" sz="1350" i="1" dirty="0">
                <a:solidFill>
                  <a:srgbClr val="6E6A60"/>
                </a:solidFill>
                <a:latin typeface="Arial" pitchFamily="34" charset="0"/>
                <a:ea typeface="Arial" pitchFamily="34" charset="-122"/>
                <a:cs typeface="Arial" pitchFamily="34" charset="-120"/>
              </a:rPr>
              <a:t>Individual exit ticket — five short answers.</a:t>
            </a:r>
            <a:endParaRPr lang="en-US" sz="1350" dirty="0"/>
          </a:p>
        </p:txBody>
      </p:sp>
      <p:sp>
        <p:nvSpPr>
          <p:cNvPr id="10" name="Shape 8"/>
          <p:cNvSpPr/>
          <p:nvPr/>
        </p:nvSpPr>
        <p:spPr>
          <a:xfrm>
            <a:off x="502920" y="2057400"/>
            <a:ext cx="5074920" cy="1417320"/>
          </a:xfrm>
          <a:prstGeom prst="roundRect">
            <a:avLst>
              <a:gd name="adj" fmla="val 4516"/>
            </a:avLst>
          </a:prstGeom>
          <a:solidFill>
            <a:srgbClr val="EDE9DE"/>
          </a:solidFill>
          <a:ln/>
        </p:spPr>
      </p:sp>
      <p:sp>
        <p:nvSpPr>
          <p:cNvPr id="11" name="Text 9"/>
          <p:cNvSpPr txBox="1"/>
          <p:nvPr/>
        </p:nvSpPr>
        <p:spPr>
          <a:xfrm>
            <a:off x="667512" y="2194560"/>
            <a:ext cx="4745736" cy="274320"/>
          </a:xfrm>
          <a:prstGeom prst="rect">
            <a:avLst/>
          </a:prstGeom>
          <a:noFill/>
          <a:ln/>
        </p:spPr>
        <p:txBody>
          <a:bodyPr wrap="square" lIns="0" tIns="0" rIns="0" bIns="0" rtlCol="0" anchor="ctr"/>
          <a:lstStyle/>
          <a:p>
            <a:pPr marL="0" indent="0">
              <a:buNone/>
            </a:pPr>
            <a:r>
              <a:rPr lang="en-US" sz="1050" b="1" kern="0" spc="100" dirty="0">
                <a:solidFill>
                  <a:srgbClr val="1E4FFF"/>
                </a:solidFill>
                <a:latin typeface="Arial" pitchFamily="34" charset="0"/>
                <a:ea typeface="Arial" pitchFamily="34" charset="-122"/>
                <a:cs typeface="Arial" pitchFamily="34" charset="-120"/>
              </a:rPr>
              <a:t>TASK</a:t>
            </a:r>
            <a:endParaRPr lang="en-US" sz="1050" dirty="0"/>
          </a:p>
        </p:txBody>
      </p:sp>
      <p:sp>
        <p:nvSpPr>
          <p:cNvPr id="12" name="Text 10"/>
          <p:cNvSpPr txBox="1"/>
          <p:nvPr/>
        </p:nvSpPr>
        <p:spPr>
          <a:xfrm>
            <a:off x="667512" y="2514600"/>
            <a:ext cx="4745736" cy="640080"/>
          </a:xfrm>
          <a:prstGeom prst="rect">
            <a:avLst/>
          </a:prstGeom>
          <a:noFill/>
          <a:ln/>
        </p:spPr>
        <p:txBody>
          <a:bodyPr wrap="square" lIns="0" tIns="0" rIns="0" bIns="0" rtlCol="0" anchor="ctr"/>
          <a:lstStyle/>
          <a:p>
            <a:pPr marL="0" indent="0">
              <a:buNone/>
            </a:pPr>
            <a:r>
              <a:rPr lang="en-US" sz="1300" dirty="0">
                <a:solidFill>
                  <a:srgbClr val="1A1A1A"/>
                </a:solidFill>
                <a:latin typeface="Arial" pitchFamily="34" charset="0"/>
                <a:ea typeface="Arial" pitchFamily="34" charset="-122"/>
                <a:cs typeface="Arial" pitchFamily="34" charset="-120"/>
              </a:rPr>
              <a:t>What specific task will you try next?</a:t>
            </a:r>
            <a:endParaRPr lang="en-US" sz="1300" dirty="0"/>
          </a:p>
        </p:txBody>
      </p:sp>
      <p:sp>
        <p:nvSpPr>
          <p:cNvPr id="13" name="Shape 11"/>
          <p:cNvSpPr/>
          <p:nvPr/>
        </p:nvSpPr>
        <p:spPr>
          <a:xfrm>
            <a:off x="5705856" y="2057400"/>
            <a:ext cx="5074920" cy="1417320"/>
          </a:xfrm>
          <a:prstGeom prst="roundRect">
            <a:avLst>
              <a:gd name="adj" fmla="val 4516"/>
            </a:avLst>
          </a:prstGeom>
          <a:solidFill>
            <a:srgbClr val="EDE9DE"/>
          </a:solidFill>
          <a:ln/>
        </p:spPr>
      </p:sp>
      <p:sp>
        <p:nvSpPr>
          <p:cNvPr id="14" name="Text 12"/>
          <p:cNvSpPr txBox="1"/>
          <p:nvPr/>
        </p:nvSpPr>
        <p:spPr>
          <a:xfrm>
            <a:off x="5870448" y="2194560"/>
            <a:ext cx="4745736" cy="274320"/>
          </a:xfrm>
          <a:prstGeom prst="rect">
            <a:avLst/>
          </a:prstGeom>
          <a:noFill/>
          <a:ln/>
        </p:spPr>
        <p:txBody>
          <a:bodyPr wrap="square" lIns="0" tIns="0" rIns="0" bIns="0" rtlCol="0" anchor="ctr"/>
          <a:lstStyle/>
          <a:p>
            <a:pPr marL="0" indent="0">
              <a:buNone/>
            </a:pPr>
            <a:r>
              <a:rPr lang="en-US" sz="1050" b="1" kern="0" spc="100" dirty="0">
                <a:solidFill>
                  <a:srgbClr val="1E4FFF"/>
                </a:solidFill>
                <a:latin typeface="Arial" pitchFamily="34" charset="0"/>
                <a:ea typeface="Arial" pitchFamily="34" charset="-122"/>
                <a:cs typeface="Arial" pitchFamily="34" charset="-120"/>
              </a:rPr>
              <a:t>TOOL</a:t>
            </a:r>
            <a:endParaRPr lang="en-US" sz="1050" dirty="0"/>
          </a:p>
        </p:txBody>
      </p:sp>
      <p:sp>
        <p:nvSpPr>
          <p:cNvPr id="15" name="Text 13"/>
          <p:cNvSpPr txBox="1"/>
          <p:nvPr/>
        </p:nvSpPr>
        <p:spPr>
          <a:xfrm>
            <a:off x="5870448" y="2514600"/>
            <a:ext cx="4745736" cy="640080"/>
          </a:xfrm>
          <a:prstGeom prst="rect">
            <a:avLst/>
          </a:prstGeom>
          <a:noFill/>
          <a:ln/>
        </p:spPr>
        <p:txBody>
          <a:bodyPr wrap="square" lIns="0" tIns="0" rIns="0" bIns="0" rtlCol="0" anchor="ctr"/>
          <a:lstStyle/>
          <a:p>
            <a:pPr marL="0" indent="0">
              <a:buNone/>
            </a:pPr>
            <a:r>
              <a:rPr lang="en-US" sz="1300" dirty="0">
                <a:solidFill>
                  <a:srgbClr val="1A1A1A"/>
                </a:solidFill>
                <a:latin typeface="Arial" pitchFamily="34" charset="0"/>
                <a:ea typeface="Arial" pitchFamily="34" charset="-122"/>
                <a:cs typeface="Arial" pitchFamily="34" charset="-120"/>
              </a:rPr>
              <a:t>Which tool or category, and why?</a:t>
            </a:r>
            <a:endParaRPr lang="en-US" sz="1300" dirty="0"/>
          </a:p>
        </p:txBody>
      </p:sp>
      <p:sp>
        <p:nvSpPr>
          <p:cNvPr id="16" name="Shape 14"/>
          <p:cNvSpPr/>
          <p:nvPr/>
        </p:nvSpPr>
        <p:spPr>
          <a:xfrm>
            <a:off x="502920" y="3602736"/>
            <a:ext cx="5074920" cy="1417320"/>
          </a:xfrm>
          <a:prstGeom prst="roundRect">
            <a:avLst>
              <a:gd name="adj" fmla="val 4516"/>
            </a:avLst>
          </a:prstGeom>
          <a:solidFill>
            <a:srgbClr val="EDE9DE"/>
          </a:solidFill>
          <a:ln/>
        </p:spPr>
      </p:sp>
      <p:sp>
        <p:nvSpPr>
          <p:cNvPr id="17" name="Text 15"/>
          <p:cNvSpPr txBox="1"/>
          <p:nvPr/>
        </p:nvSpPr>
        <p:spPr>
          <a:xfrm>
            <a:off x="667512" y="3739896"/>
            <a:ext cx="4745736" cy="274320"/>
          </a:xfrm>
          <a:prstGeom prst="rect">
            <a:avLst/>
          </a:prstGeom>
          <a:noFill/>
          <a:ln/>
        </p:spPr>
        <p:txBody>
          <a:bodyPr wrap="square" lIns="0" tIns="0" rIns="0" bIns="0" rtlCol="0" anchor="ctr"/>
          <a:lstStyle/>
          <a:p>
            <a:pPr marL="0" indent="0">
              <a:buNone/>
            </a:pPr>
            <a:r>
              <a:rPr lang="en-US" sz="1050" b="1" kern="0" spc="100" dirty="0">
                <a:solidFill>
                  <a:srgbClr val="1E4FFF"/>
                </a:solidFill>
                <a:latin typeface="Arial" pitchFamily="34" charset="0"/>
                <a:ea typeface="Arial" pitchFamily="34" charset="-122"/>
                <a:cs typeface="Arial" pitchFamily="34" charset="-120"/>
              </a:rPr>
              <a:t>CHECK</a:t>
            </a:r>
            <a:endParaRPr lang="en-US" sz="1050" dirty="0"/>
          </a:p>
        </p:txBody>
      </p:sp>
      <p:sp>
        <p:nvSpPr>
          <p:cNvPr id="18" name="Text 16"/>
          <p:cNvSpPr txBox="1"/>
          <p:nvPr/>
        </p:nvSpPr>
        <p:spPr>
          <a:xfrm>
            <a:off x="667512" y="4059936"/>
            <a:ext cx="4745736" cy="640080"/>
          </a:xfrm>
          <a:prstGeom prst="rect">
            <a:avLst/>
          </a:prstGeom>
          <a:noFill/>
          <a:ln/>
        </p:spPr>
        <p:txBody>
          <a:bodyPr wrap="square" lIns="0" tIns="0" rIns="0" bIns="0" rtlCol="0" anchor="ctr"/>
          <a:lstStyle/>
          <a:p>
            <a:pPr marL="0" indent="0">
              <a:buNone/>
            </a:pPr>
            <a:r>
              <a:rPr lang="en-US" sz="1300" dirty="0">
                <a:solidFill>
                  <a:srgbClr val="1A1A1A"/>
                </a:solidFill>
                <a:latin typeface="Arial" pitchFamily="34" charset="0"/>
                <a:ea typeface="Arial" pitchFamily="34" charset="-122"/>
                <a:cs typeface="Arial" pitchFamily="34" charset="-120"/>
              </a:rPr>
              <a:t>What will you check before using the output?</a:t>
            </a:r>
            <a:endParaRPr lang="en-US" sz="1300" dirty="0"/>
          </a:p>
        </p:txBody>
      </p:sp>
      <p:sp>
        <p:nvSpPr>
          <p:cNvPr id="19" name="Shape 17"/>
          <p:cNvSpPr/>
          <p:nvPr/>
        </p:nvSpPr>
        <p:spPr>
          <a:xfrm>
            <a:off x="5705856" y="3602736"/>
            <a:ext cx="5074920" cy="1417320"/>
          </a:xfrm>
          <a:prstGeom prst="roundRect">
            <a:avLst>
              <a:gd name="adj" fmla="val 4516"/>
            </a:avLst>
          </a:prstGeom>
          <a:solidFill>
            <a:srgbClr val="EDE9DE"/>
          </a:solidFill>
          <a:ln/>
        </p:spPr>
      </p:sp>
      <p:sp>
        <p:nvSpPr>
          <p:cNvPr id="20" name="Text 18"/>
          <p:cNvSpPr txBox="1"/>
          <p:nvPr/>
        </p:nvSpPr>
        <p:spPr>
          <a:xfrm>
            <a:off x="5870448" y="3739896"/>
            <a:ext cx="4745736" cy="274320"/>
          </a:xfrm>
          <a:prstGeom prst="rect">
            <a:avLst/>
          </a:prstGeom>
          <a:noFill/>
          <a:ln/>
        </p:spPr>
        <p:txBody>
          <a:bodyPr wrap="square" lIns="0" tIns="0" rIns="0" bIns="0" rtlCol="0" anchor="ctr"/>
          <a:lstStyle/>
          <a:p>
            <a:pPr marL="0" indent="0">
              <a:buNone/>
            </a:pPr>
            <a:r>
              <a:rPr lang="en-US" sz="1050" b="1" kern="0" spc="100" dirty="0">
                <a:solidFill>
                  <a:srgbClr val="1E4FFF"/>
                </a:solidFill>
                <a:latin typeface="Arial" pitchFamily="34" charset="0"/>
                <a:ea typeface="Arial" pitchFamily="34" charset="-122"/>
                <a:cs typeface="Arial" pitchFamily="34" charset="-120"/>
              </a:rPr>
              <a:t>HUMAN DECISION</a:t>
            </a:r>
            <a:endParaRPr lang="en-US" sz="1050" dirty="0"/>
          </a:p>
        </p:txBody>
      </p:sp>
      <p:sp>
        <p:nvSpPr>
          <p:cNvPr id="21" name="Text 19"/>
          <p:cNvSpPr txBox="1"/>
          <p:nvPr/>
        </p:nvSpPr>
        <p:spPr>
          <a:xfrm>
            <a:off x="5870448" y="4059936"/>
            <a:ext cx="4745736" cy="640080"/>
          </a:xfrm>
          <a:prstGeom prst="rect">
            <a:avLst/>
          </a:prstGeom>
          <a:noFill/>
          <a:ln/>
        </p:spPr>
        <p:txBody>
          <a:bodyPr wrap="square" lIns="0" tIns="0" rIns="0" bIns="0" rtlCol="0" anchor="ctr"/>
          <a:lstStyle/>
          <a:p>
            <a:pPr marL="0" indent="0">
              <a:buNone/>
            </a:pPr>
            <a:r>
              <a:rPr lang="en-US" sz="1300" dirty="0">
                <a:solidFill>
                  <a:srgbClr val="1A1A1A"/>
                </a:solidFill>
                <a:latin typeface="Arial" pitchFamily="34" charset="0"/>
                <a:ea typeface="Arial" pitchFamily="34" charset="-122"/>
                <a:cs typeface="Arial" pitchFamily="34" charset="-120"/>
              </a:rPr>
              <a:t>Which decision stays yours?</a:t>
            </a:r>
            <a:endParaRPr lang="en-US" sz="1300" dirty="0"/>
          </a:p>
        </p:txBody>
      </p:sp>
      <p:sp>
        <p:nvSpPr>
          <p:cNvPr id="22" name="Text 20"/>
          <p:cNvSpPr txBox="1"/>
          <p:nvPr/>
        </p:nvSpPr>
        <p:spPr>
          <a:xfrm>
            <a:off x="502920" y="5257800"/>
            <a:ext cx="2286000" cy="365760"/>
          </a:xfrm>
          <a:prstGeom prst="rect">
            <a:avLst/>
          </a:prstGeom>
          <a:noFill/>
          <a:ln/>
        </p:spPr>
        <p:txBody>
          <a:bodyPr wrap="square" lIns="0" tIns="0" rIns="0" bIns="0" rtlCol="0" anchor="ctr"/>
          <a:lstStyle/>
          <a:p>
            <a:pPr marL="0" indent="0">
              <a:buNone/>
            </a:pPr>
            <a:r>
              <a:rPr lang="en-US" sz="1300" b="1" dirty="0">
                <a:solidFill>
                  <a:srgbClr val="6E6A60"/>
                </a:solidFill>
                <a:latin typeface="Arial" pitchFamily="34" charset="0"/>
                <a:ea typeface="Arial" pitchFamily="34" charset="-122"/>
                <a:cs typeface="Arial" pitchFamily="34" charset="-120"/>
              </a:rPr>
              <a:t>Confidence now, 1–5:</a:t>
            </a:r>
            <a:endParaRPr lang="en-US" sz="1300" dirty="0"/>
          </a:p>
        </p:txBody>
      </p:sp>
      <p:sp>
        <p:nvSpPr>
          <p:cNvPr id="23" name="Shape 21"/>
          <p:cNvSpPr/>
          <p:nvPr/>
        </p:nvSpPr>
        <p:spPr>
          <a:xfrm>
            <a:off x="2880360" y="5212080"/>
            <a:ext cx="438912" cy="438912"/>
          </a:xfrm>
          <a:prstGeom prst="ellipse">
            <a:avLst/>
          </a:prstGeom>
          <a:solidFill>
            <a:srgbClr val="F7F4EC"/>
          </a:solidFill>
          <a:ln w="19050">
            <a:solidFill>
              <a:srgbClr val="1E4FFF"/>
            </a:solidFill>
            <a:prstDash val="solid"/>
          </a:ln>
        </p:spPr>
      </p:sp>
      <p:sp>
        <p:nvSpPr>
          <p:cNvPr id="24" name="Text 22"/>
          <p:cNvSpPr txBox="1"/>
          <p:nvPr/>
        </p:nvSpPr>
        <p:spPr>
          <a:xfrm>
            <a:off x="2880360" y="5212080"/>
            <a:ext cx="438912" cy="438912"/>
          </a:xfrm>
          <a:prstGeom prst="rect">
            <a:avLst/>
          </a:prstGeom>
          <a:noFill/>
          <a:ln/>
        </p:spPr>
        <p:txBody>
          <a:bodyPr wrap="square" lIns="0" tIns="0" rIns="0" bIns="0" rtlCol="0" anchor="ctr"/>
          <a:lstStyle/>
          <a:p>
            <a:pPr marL="0" indent="0" algn="ctr">
              <a:buNone/>
            </a:pPr>
            <a:r>
              <a:rPr lang="en-US" sz="1300" b="1" dirty="0">
                <a:solidFill>
                  <a:srgbClr val="1E4FFF"/>
                </a:solidFill>
                <a:latin typeface="Arial" pitchFamily="34" charset="0"/>
                <a:ea typeface="Arial" pitchFamily="34" charset="-122"/>
                <a:cs typeface="Arial" pitchFamily="34" charset="-120"/>
              </a:rPr>
              <a:t>1</a:t>
            </a:r>
            <a:endParaRPr lang="en-US" sz="1300" dirty="0"/>
          </a:p>
        </p:txBody>
      </p:sp>
      <p:sp>
        <p:nvSpPr>
          <p:cNvPr id="25" name="Shape 23"/>
          <p:cNvSpPr/>
          <p:nvPr/>
        </p:nvSpPr>
        <p:spPr>
          <a:xfrm>
            <a:off x="3447288" y="5212080"/>
            <a:ext cx="438912" cy="438912"/>
          </a:xfrm>
          <a:prstGeom prst="ellipse">
            <a:avLst/>
          </a:prstGeom>
          <a:solidFill>
            <a:srgbClr val="F7F4EC"/>
          </a:solidFill>
          <a:ln w="19050">
            <a:solidFill>
              <a:srgbClr val="1E4FFF"/>
            </a:solidFill>
            <a:prstDash val="solid"/>
          </a:ln>
        </p:spPr>
      </p:sp>
      <p:sp>
        <p:nvSpPr>
          <p:cNvPr id="26" name="Text 24"/>
          <p:cNvSpPr txBox="1"/>
          <p:nvPr/>
        </p:nvSpPr>
        <p:spPr>
          <a:xfrm>
            <a:off x="3447288" y="5212080"/>
            <a:ext cx="438912" cy="438912"/>
          </a:xfrm>
          <a:prstGeom prst="rect">
            <a:avLst/>
          </a:prstGeom>
          <a:noFill/>
          <a:ln/>
        </p:spPr>
        <p:txBody>
          <a:bodyPr wrap="square" lIns="0" tIns="0" rIns="0" bIns="0" rtlCol="0" anchor="ctr"/>
          <a:lstStyle/>
          <a:p>
            <a:pPr marL="0" indent="0" algn="ctr">
              <a:buNone/>
            </a:pPr>
            <a:r>
              <a:rPr lang="en-US" sz="1300" b="1" dirty="0">
                <a:solidFill>
                  <a:srgbClr val="1E4FFF"/>
                </a:solidFill>
                <a:latin typeface="Arial" pitchFamily="34" charset="0"/>
                <a:ea typeface="Arial" pitchFamily="34" charset="-122"/>
                <a:cs typeface="Arial" pitchFamily="34" charset="-120"/>
              </a:rPr>
              <a:t>2</a:t>
            </a:r>
            <a:endParaRPr lang="en-US" sz="1300" dirty="0"/>
          </a:p>
        </p:txBody>
      </p:sp>
      <p:sp>
        <p:nvSpPr>
          <p:cNvPr id="27" name="Shape 25"/>
          <p:cNvSpPr/>
          <p:nvPr/>
        </p:nvSpPr>
        <p:spPr>
          <a:xfrm>
            <a:off x="4014216" y="5212080"/>
            <a:ext cx="438912" cy="438912"/>
          </a:xfrm>
          <a:prstGeom prst="ellipse">
            <a:avLst/>
          </a:prstGeom>
          <a:solidFill>
            <a:srgbClr val="F7F4EC"/>
          </a:solidFill>
          <a:ln w="19050">
            <a:solidFill>
              <a:srgbClr val="1E4FFF"/>
            </a:solidFill>
            <a:prstDash val="solid"/>
          </a:ln>
        </p:spPr>
      </p:sp>
      <p:sp>
        <p:nvSpPr>
          <p:cNvPr id="28" name="Text 26"/>
          <p:cNvSpPr txBox="1"/>
          <p:nvPr/>
        </p:nvSpPr>
        <p:spPr>
          <a:xfrm>
            <a:off x="4014216" y="5212080"/>
            <a:ext cx="438912" cy="438912"/>
          </a:xfrm>
          <a:prstGeom prst="rect">
            <a:avLst/>
          </a:prstGeom>
          <a:noFill/>
          <a:ln/>
        </p:spPr>
        <p:txBody>
          <a:bodyPr wrap="square" lIns="0" tIns="0" rIns="0" bIns="0" rtlCol="0" anchor="ctr"/>
          <a:lstStyle/>
          <a:p>
            <a:pPr marL="0" indent="0" algn="ctr">
              <a:buNone/>
            </a:pPr>
            <a:r>
              <a:rPr lang="en-US" sz="1300" b="1" dirty="0">
                <a:solidFill>
                  <a:srgbClr val="1E4FFF"/>
                </a:solidFill>
                <a:latin typeface="Arial" pitchFamily="34" charset="0"/>
                <a:ea typeface="Arial" pitchFamily="34" charset="-122"/>
                <a:cs typeface="Arial" pitchFamily="34" charset="-120"/>
              </a:rPr>
              <a:t>3</a:t>
            </a:r>
            <a:endParaRPr lang="en-US" sz="1300" dirty="0"/>
          </a:p>
        </p:txBody>
      </p:sp>
      <p:sp>
        <p:nvSpPr>
          <p:cNvPr id="29" name="Shape 27"/>
          <p:cNvSpPr/>
          <p:nvPr/>
        </p:nvSpPr>
        <p:spPr>
          <a:xfrm>
            <a:off x="4581144" y="5212080"/>
            <a:ext cx="438912" cy="438912"/>
          </a:xfrm>
          <a:prstGeom prst="ellipse">
            <a:avLst/>
          </a:prstGeom>
          <a:solidFill>
            <a:srgbClr val="F7F4EC"/>
          </a:solidFill>
          <a:ln w="19050">
            <a:solidFill>
              <a:srgbClr val="1E4FFF"/>
            </a:solidFill>
            <a:prstDash val="solid"/>
          </a:ln>
        </p:spPr>
      </p:sp>
      <p:sp>
        <p:nvSpPr>
          <p:cNvPr id="30" name="Text 28"/>
          <p:cNvSpPr txBox="1"/>
          <p:nvPr/>
        </p:nvSpPr>
        <p:spPr>
          <a:xfrm>
            <a:off x="4581144" y="5212080"/>
            <a:ext cx="438912" cy="438912"/>
          </a:xfrm>
          <a:prstGeom prst="rect">
            <a:avLst/>
          </a:prstGeom>
          <a:noFill/>
          <a:ln/>
        </p:spPr>
        <p:txBody>
          <a:bodyPr wrap="square" lIns="0" tIns="0" rIns="0" bIns="0" rtlCol="0" anchor="ctr"/>
          <a:lstStyle/>
          <a:p>
            <a:pPr marL="0" indent="0" algn="ctr">
              <a:buNone/>
            </a:pPr>
            <a:r>
              <a:rPr lang="en-US" sz="1300" b="1" dirty="0">
                <a:solidFill>
                  <a:srgbClr val="1E4FFF"/>
                </a:solidFill>
                <a:latin typeface="Arial" pitchFamily="34" charset="0"/>
                <a:ea typeface="Arial" pitchFamily="34" charset="-122"/>
                <a:cs typeface="Arial" pitchFamily="34" charset="-120"/>
              </a:rPr>
              <a:t>4</a:t>
            </a:r>
            <a:endParaRPr lang="en-US" sz="1300" dirty="0"/>
          </a:p>
        </p:txBody>
      </p:sp>
      <p:sp>
        <p:nvSpPr>
          <p:cNvPr id="31" name="Shape 29"/>
          <p:cNvSpPr/>
          <p:nvPr/>
        </p:nvSpPr>
        <p:spPr>
          <a:xfrm>
            <a:off x="5148072" y="5212080"/>
            <a:ext cx="438912" cy="438912"/>
          </a:xfrm>
          <a:prstGeom prst="ellipse">
            <a:avLst/>
          </a:prstGeom>
          <a:solidFill>
            <a:srgbClr val="F7F4EC"/>
          </a:solidFill>
          <a:ln w="19050">
            <a:solidFill>
              <a:srgbClr val="1E4FFF"/>
            </a:solidFill>
            <a:prstDash val="solid"/>
          </a:ln>
        </p:spPr>
      </p:sp>
      <p:sp>
        <p:nvSpPr>
          <p:cNvPr id="32" name="Text 30"/>
          <p:cNvSpPr txBox="1"/>
          <p:nvPr/>
        </p:nvSpPr>
        <p:spPr>
          <a:xfrm>
            <a:off x="5148072" y="5212080"/>
            <a:ext cx="438912" cy="438912"/>
          </a:xfrm>
          <a:prstGeom prst="rect">
            <a:avLst/>
          </a:prstGeom>
          <a:noFill/>
          <a:ln/>
        </p:spPr>
        <p:txBody>
          <a:bodyPr wrap="square" lIns="0" tIns="0" rIns="0" bIns="0" rtlCol="0" anchor="ctr"/>
          <a:lstStyle/>
          <a:p>
            <a:pPr marL="0" indent="0" algn="ctr">
              <a:buNone/>
            </a:pPr>
            <a:r>
              <a:rPr lang="en-US" sz="1300" b="1" dirty="0">
                <a:solidFill>
                  <a:srgbClr val="1E4FFF"/>
                </a:solidFill>
                <a:latin typeface="Arial" pitchFamily="34" charset="0"/>
                <a:ea typeface="Arial" pitchFamily="34" charset="-122"/>
                <a:cs typeface="Arial" pitchFamily="34" charset="-120"/>
              </a:rPr>
              <a:t>5</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4">
    <p:bg>
      <p:bgPr>
        <a:solidFill>
          <a:srgbClr val="1A1A1A"/>
        </a:solidFill>
        <a:effectLst/>
      </p:bgPr>
    </p:bg>
    <p:spTree>
      <p:nvGrpSpPr>
        <p:cNvPr id="1" name=""/>
        <p:cNvGrpSpPr/>
        <p:nvPr/>
      </p:nvGrpSpPr>
      <p:grpSpPr>
        <a:xfrm>
          <a:off x="0" y="0"/>
          <a:ext cx="0" cy="0"/>
          <a:chOff x="0" y="0"/>
          <a:chExt cx="0" cy="0"/>
        </a:xfrm>
      </p:grpSpPr>
      <p:sp>
        <p:nvSpPr>
          <p:cNvPr id="2" name="Shape 0"/>
          <p:cNvSpPr/>
          <p:nvPr/>
        </p:nvSpPr>
        <p:spPr>
          <a:xfrm>
            <a:off x="10881360" y="5806440"/>
            <a:ext cx="41148" cy="41148"/>
          </a:xfrm>
          <a:prstGeom prst="ellipse">
            <a:avLst/>
          </a:prstGeom>
          <a:solidFill>
            <a:srgbClr val="3A3A3A"/>
          </a:solidFill>
          <a:ln/>
        </p:spPr>
      </p:sp>
      <p:sp>
        <p:nvSpPr>
          <p:cNvPr id="3" name="Shape 1"/>
          <p:cNvSpPr/>
          <p:nvPr/>
        </p:nvSpPr>
        <p:spPr>
          <a:xfrm>
            <a:off x="11055096" y="5806440"/>
            <a:ext cx="41148" cy="41148"/>
          </a:xfrm>
          <a:prstGeom prst="ellipse">
            <a:avLst/>
          </a:prstGeom>
          <a:solidFill>
            <a:srgbClr val="3A3A3A"/>
          </a:solidFill>
          <a:ln/>
        </p:spPr>
      </p:sp>
      <p:sp>
        <p:nvSpPr>
          <p:cNvPr id="4" name="Shape 2"/>
          <p:cNvSpPr/>
          <p:nvPr/>
        </p:nvSpPr>
        <p:spPr>
          <a:xfrm>
            <a:off x="11228832" y="5806440"/>
            <a:ext cx="41148" cy="41148"/>
          </a:xfrm>
          <a:prstGeom prst="ellipse">
            <a:avLst/>
          </a:prstGeom>
          <a:solidFill>
            <a:srgbClr val="3A3A3A"/>
          </a:solidFill>
          <a:ln/>
        </p:spPr>
      </p:sp>
      <p:sp>
        <p:nvSpPr>
          <p:cNvPr id="5" name="Shape 3"/>
          <p:cNvSpPr/>
          <p:nvPr/>
        </p:nvSpPr>
        <p:spPr>
          <a:xfrm>
            <a:off x="11402568" y="5806440"/>
            <a:ext cx="41148" cy="41148"/>
          </a:xfrm>
          <a:prstGeom prst="ellipse">
            <a:avLst/>
          </a:prstGeom>
          <a:solidFill>
            <a:srgbClr val="3A3A3A"/>
          </a:solidFill>
          <a:ln/>
        </p:spPr>
      </p:sp>
      <p:sp>
        <p:nvSpPr>
          <p:cNvPr id="6" name="Shape 4"/>
          <p:cNvSpPr/>
          <p:nvPr/>
        </p:nvSpPr>
        <p:spPr>
          <a:xfrm>
            <a:off x="11576304" y="5806440"/>
            <a:ext cx="41148" cy="41148"/>
          </a:xfrm>
          <a:prstGeom prst="ellipse">
            <a:avLst/>
          </a:prstGeom>
          <a:solidFill>
            <a:srgbClr val="3A3A3A"/>
          </a:solidFill>
          <a:ln/>
        </p:spPr>
      </p:sp>
      <p:sp>
        <p:nvSpPr>
          <p:cNvPr id="7" name="Shape 5"/>
          <p:cNvSpPr/>
          <p:nvPr/>
        </p:nvSpPr>
        <p:spPr>
          <a:xfrm>
            <a:off x="11750040" y="5806440"/>
            <a:ext cx="41148" cy="41148"/>
          </a:xfrm>
          <a:prstGeom prst="ellipse">
            <a:avLst/>
          </a:prstGeom>
          <a:solidFill>
            <a:srgbClr val="3A3A3A"/>
          </a:solidFill>
          <a:ln/>
        </p:spPr>
      </p:sp>
      <p:sp>
        <p:nvSpPr>
          <p:cNvPr id="8" name="Shape 6"/>
          <p:cNvSpPr/>
          <p:nvPr/>
        </p:nvSpPr>
        <p:spPr>
          <a:xfrm>
            <a:off x="10881360" y="5980176"/>
            <a:ext cx="41148" cy="41148"/>
          </a:xfrm>
          <a:prstGeom prst="ellipse">
            <a:avLst/>
          </a:prstGeom>
          <a:solidFill>
            <a:srgbClr val="3A3A3A"/>
          </a:solidFill>
          <a:ln/>
        </p:spPr>
      </p:sp>
      <p:sp>
        <p:nvSpPr>
          <p:cNvPr id="9" name="Shape 7"/>
          <p:cNvSpPr/>
          <p:nvPr/>
        </p:nvSpPr>
        <p:spPr>
          <a:xfrm>
            <a:off x="11055096" y="5980176"/>
            <a:ext cx="41148" cy="41148"/>
          </a:xfrm>
          <a:prstGeom prst="ellipse">
            <a:avLst/>
          </a:prstGeom>
          <a:solidFill>
            <a:srgbClr val="3A3A3A"/>
          </a:solidFill>
          <a:ln/>
        </p:spPr>
      </p:sp>
      <p:sp>
        <p:nvSpPr>
          <p:cNvPr id="10" name="Shape 8"/>
          <p:cNvSpPr/>
          <p:nvPr/>
        </p:nvSpPr>
        <p:spPr>
          <a:xfrm>
            <a:off x="11228832" y="5980176"/>
            <a:ext cx="41148" cy="41148"/>
          </a:xfrm>
          <a:prstGeom prst="ellipse">
            <a:avLst/>
          </a:prstGeom>
          <a:solidFill>
            <a:srgbClr val="3A3A3A"/>
          </a:solidFill>
          <a:ln/>
        </p:spPr>
      </p:sp>
      <p:sp>
        <p:nvSpPr>
          <p:cNvPr id="11" name="Shape 9"/>
          <p:cNvSpPr/>
          <p:nvPr/>
        </p:nvSpPr>
        <p:spPr>
          <a:xfrm>
            <a:off x="11402568" y="5980176"/>
            <a:ext cx="41148" cy="41148"/>
          </a:xfrm>
          <a:prstGeom prst="ellipse">
            <a:avLst/>
          </a:prstGeom>
          <a:solidFill>
            <a:srgbClr val="3A3A3A"/>
          </a:solidFill>
          <a:ln/>
        </p:spPr>
      </p:sp>
      <p:sp>
        <p:nvSpPr>
          <p:cNvPr id="12" name="Shape 10"/>
          <p:cNvSpPr/>
          <p:nvPr/>
        </p:nvSpPr>
        <p:spPr>
          <a:xfrm>
            <a:off x="11576304" y="5980176"/>
            <a:ext cx="41148" cy="41148"/>
          </a:xfrm>
          <a:prstGeom prst="ellipse">
            <a:avLst/>
          </a:prstGeom>
          <a:solidFill>
            <a:srgbClr val="3A3A3A"/>
          </a:solidFill>
          <a:ln/>
        </p:spPr>
      </p:sp>
      <p:sp>
        <p:nvSpPr>
          <p:cNvPr id="13" name="Shape 11"/>
          <p:cNvSpPr/>
          <p:nvPr/>
        </p:nvSpPr>
        <p:spPr>
          <a:xfrm>
            <a:off x="11750040" y="5980176"/>
            <a:ext cx="41148" cy="41148"/>
          </a:xfrm>
          <a:prstGeom prst="ellipse">
            <a:avLst/>
          </a:prstGeom>
          <a:solidFill>
            <a:srgbClr val="3A3A3A"/>
          </a:solidFill>
          <a:ln/>
        </p:spPr>
      </p:sp>
      <p:sp>
        <p:nvSpPr>
          <p:cNvPr id="14" name="Shape 12"/>
          <p:cNvSpPr/>
          <p:nvPr/>
        </p:nvSpPr>
        <p:spPr>
          <a:xfrm>
            <a:off x="10881360" y="6153912"/>
            <a:ext cx="41148" cy="41148"/>
          </a:xfrm>
          <a:prstGeom prst="ellipse">
            <a:avLst/>
          </a:prstGeom>
          <a:solidFill>
            <a:srgbClr val="3A3A3A"/>
          </a:solidFill>
          <a:ln/>
        </p:spPr>
      </p:sp>
      <p:sp>
        <p:nvSpPr>
          <p:cNvPr id="15" name="Shape 13"/>
          <p:cNvSpPr/>
          <p:nvPr/>
        </p:nvSpPr>
        <p:spPr>
          <a:xfrm>
            <a:off x="11055096" y="6153912"/>
            <a:ext cx="41148" cy="41148"/>
          </a:xfrm>
          <a:prstGeom prst="ellipse">
            <a:avLst/>
          </a:prstGeom>
          <a:solidFill>
            <a:srgbClr val="3A3A3A"/>
          </a:solidFill>
          <a:ln/>
        </p:spPr>
      </p:sp>
      <p:sp>
        <p:nvSpPr>
          <p:cNvPr id="16" name="Shape 14"/>
          <p:cNvSpPr/>
          <p:nvPr/>
        </p:nvSpPr>
        <p:spPr>
          <a:xfrm>
            <a:off x="11228832" y="6153912"/>
            <a:ext cx="41148" cy="41148"/>
          </a:xfrm>
          <a:prstGeom prst="ellipse">
            <a:avLst/>
          </a:prstGeom>
          <a:solidFill>
            <a:srgbClr val="3A3A3A"/>
          </a:solidFill>
          <a:ln/>
        </p:spPr>
      </p:sp>
      <p:sp>
        <p:nvSpPr>
          <p:cNvPr id="17" name="Shape 15"/>
          <p:cNvSpPr/>
          <p:nvPr/>
        </p:nvSpPr>
        <p:spPr>
          <a:xfrm>
            <a:off x="11402568" y="6153912"/>
            <a:ext cx="41148" cy="41148"/>
          </a:xfrm>
          <a:prstGeom prst="ellipse">
            <a:avLst/>
          </a:prstGeom>
          <a:solidFill>
            <a:srgbClr val="3A3A3A"/>
          </a:solidFill>
          <a:ln/>
        </p:spPr>
      </p:sp>
      <p:sp>
        <p:nvSpPr>
          <p:cNvPr id="18" name="Shape 16"/>
          <p:cNvSpPr/>
          <p:nvPr/>
        </p:nvSpPr>
        <p:spPr>
          <a:xfrm>
            <a:off x="11576304" y="6153912"/>
            <a:ext cx="41148" cy="41148"/>
          </a:xfrm>
          <a:prstGeom prst="ellipse">
            <a:avLst/>
          </a:prstGeom>
          <a:solidFill>
            <a:srgbClr val="3A3A3A"/>
          </a:solidFill>
          <a:ln/>
        </p:spPr>
      </p:sp>
      <p:sp>
        <p:nvSpPr>
          <p:cNvPr id="19" name="Shape 17"/>
          <p:cNvSpPr/>
          <p:nvPr/>
        </p:nvSpPr>
        <p:spPr>
          <a:xfrm>
            <a:off x="11750040" y="6153912"/>
            <a:ext cx="41148" cy="41148"/>
          </a:xfrm>
          <a:prstGeom prst="ellipse">
            <a:avLst/>
          </a:prstGeom>
          <a:solidFill>
            <a:srgbClr val="3A3A3A"/>
          </a:solidFill>
          <a:ln/>
        </p:spPr>
      </p:sp>
      <p:sp>
        <p:nvSpPr>
          <p:cNvPr id="20" name="Shape 18"/>
          <p:cNvSpPr/>
          <p:nvPr/>
        </p:nvSpPr>
        <p:spPr>
          <a:xfrm>
            <a:off x="10881360" y="6327648"/>
            <a:ext cx="41148" cy="41148"/>
          </a:xfrm>
          <a:prstGeom prst="ellipse">
            <a:avLst/>
          </a:prstGeom>
          <a:solidFill>
            <a:srgbClr val="3A3A3A"/>
          </a:solidFill>
          <a:ln/>
        </p:spPr>
      </p:sp>
      <p:sp>
        <p:nvSpPr>
          <p:cNvPr id="21" name="Shape 19"/>
          <p:cNvSpPr/>
          <p:nvPr/>
        </p:nvSpPr>
        <p:spPr>
          <a:xfrm>
            <a:off x="11055096" y="6327648"/>
            <a:ext cx="41148" cy="41148"/>
          </a:xfrm>
          <a:prstGeom prst="ellipse">
            <a:avLst/>
          </a:prstGeom>
          <a:solidFill>
            <a:srgbClr val="3A3A3A"/>
          </a:solidFill>
          <a:ln/>
        </p:spPr>
      </p:sp>
      <p:sp>
        <p:nvSpPr>
          <p:cNvPr id="22" name="Shape 20"/>
          <p:cNvSpPr/>
          <p:nvPr/>
        </p:nvSpPr>
        <p:spPr>
          <a:xfrm>
            <a:off x="11228832" y="6327648"/>
            <a:ext cx="41148" cy="41148"/>
          </a:xfrm>
          <a:prstGeom prst="ellipse">
            <a:avLst/>
          </a:prstGeom>
          <a:solidFill>
            <a:srgbClr val="3A3A3A"/>
          </a:solidFill>
          <a:ln/>
        </p:spPr>
      </p:sp>
      <p:sp>
        <p:nvSpPr>
          <p:cNvPr id="23" name="Shape 21"/>
          <p:cNvSpPr/>
          <p:nvPr/>
        </p:nvSpPr>
        <p:spPr>
          <a:xfrm>
            <a:off x="11402568" y="6327648"/>
            <a:ext cx="41148" cy="41148"/>
          </a:xfrm>
          <a:prstGeom prst="ellipse">
            <a:avLst/>
          </a:prstGeom>
          <a:solidFill>
            <a:srgbClr val="3A3A3A"/>
          </a:solidFill>
          <a:ln/>
        </p:spPr>
      </p:sp>
      <p:sp>
        <p:nvSpPr>
          <p:cNvPr id="24" name="Shape 22"/>
          <p:cNvSpPr/>
          <p:nvPr/>
        </p:nvSpPr>
        <p:spPr>
          <a:xfrm>
            <a:off x="11576304" y="6327648"/>
            <a:ext cx="41148" cy="41148"/>
          </a:xfrm>
          <a:prstGeom prst="ellipse">
            <a:avLst/>
          </a:prstGeom>
          <a:solidFill>
            <a:srgbClr val="3A3A3A"/>
          </a:solidFill>
          <a:ln/>
        </p:spPr>
      </p:sp>
      <p:sp>
        <p:nvSpPr>
          <p:cNvPr id="25" name="Shape 23"/>
          <p:cNvSpPr/>
          <p:nvPr/>
        </p:nvSpPr>
        <p:spPr>
          <a:xfrm>
            <a:off x="11750040" y="6327648"/>
            <a:ext cx="41148" cy="41148"/>
          </a:xfrm>
          <a:prstGeom prst="ellipse">
            <a:avLst/>
          </a:prstGeom>
          <a:solidFill>
            <a:srgbClr val="3A3A3A"/>
          </a:solidFill>
          <a:ln/>
        </p:spPr>
      </p:sp>
      <p:sp>
        <p:nvSpPr>
          <p:cNvPr id="26" name="Text 24"/>
          <p:cNvSpPr txBox="1"/>
          <p:nvPr/>
        </p:nvSpPr>
        <p:spPr>
          <a:xfrm>
            <a:off x="640080" y="594360"/>
            <a:ext cx="2743200" cy="320040"/>
          </a:xfrm>
          <a:prstGeom prst="rect">
            <a:avLst/>
          </a:prstGeom>
          <a:noFill/>
          <a:ln/>
        </p:spPr>
        <p:txBody>
          <a:bodyPr wrap="square" lIns="0" tIns="0" rIns="0" bIns="0" rtlCol="0" anchor="ctr"/>
          <a:lstStyle/>
          <a:p>
            <a:pPr marL="0" indent="0">
              <a:buNone/>
            </a:pPr>
            <a:r>
              <a:rPr lang="en-US" sz="1200" b="1" kern="0" spc="200" dirty="0">
                <a:solidFill>
                  <a:srgbClr val="A9A59A"/>
                </a:solidFill>
                <a:latin typeface="Arial" pitchFamily="34" charset="0"/>
                <a:ea typeface="Arial" pitchFamily="34" charset="-122"/>
                <a:cs typeface="Arial" pitchFamily="34" charset="-120"/>
              </a:rPr>
              <a:t>149–150</a:t>
            </a:r>
            <a:endParaRPr lang="en-US" sz="1200" dirty="0"/>
          </a:p>
        </p:txBody>
      </p:sp>
      <p:sp>
        <p:nvSpPr>
          <p:cNvPr id="27" name="Text 25"/>
          <p:cNvSpPr txBox="1"/>
          <p:nvPr/>
        </p:nvSpPr>
        <p:spPr>
          <a:xfrm>
            <a:off x="621792" y="1828800"/>
            <a:ext cx="10607040" cy="2560320"/>
          </a:xfrm>
          <a:prstGeom prst="rect">
            <a:avLst/>
          </a:prstGeom>
          <a:noFill/>
          <a:ln/>
        </p:spPr>
        <p:txBody>
          <a:bodyPr wrap="square" lIns="0" tIns="0" rIns="0" bIns="0" rtlCol="0" anchor="ctr"/>
          <a:lstStyle/>
          <a:p>
            <a:pPr marL="0" indent="0">
              <a:lnSpc>
                <a:spcPct val="112000"/>
              </a:lnSpc>
              <a:buNone/>
            </a:pPr>
            <a:r>
              <a:rPr lang="en-US" sz="4200" b="1" dirty="0">
                <a:solidFill>
                  <a:srgbClr val="FFFFFF"/>
                </a:solidFill>
                <a:latin typeface="Arial" pitchFamily="34" charset="0"/>
                <a:ea typeface="Arial" pitchFamily="34" charset="-122"/>
                <a:cs typeface="Arial" pitchFamily="34" charset="-120"/>
              </a:rPr>
              <a:t>Choose well.</a:t>
            </a:r>
            <a:endParaRPr lang="en-US" sz="4200" dirty="0"/>
          </a:p>
          <a:p>
            <a:pPr marL="0" indent="0">
              <a:lnSpc>
                <a:spcPct val="112000"/>
              </a:lnSpc>
              <a:buNone/>
            </a:pPr>
            <a:r>
              <a:rPr lang="en-US" sz="4200" b="1" dirty="0">
                <a:solidFill>
                  <a:srgbClr val="FFFFFF"/>
                </a:solidFill>
                <a:latin typeface="Arial" pitchFamily="34" charset="0"/>
                <a:ea typeface="Arial" pitchFamily="34" charset="-122"/>
                <a:cs typeface="Arial" pitchFamily="34" charset="-120"/>
              </a:rPr>
              <a:t>Check carefully.</a:t>
            </a:r>
            <a:endParaRPr lang="en-US" sz="4200" dirty="0"/>
          </a:p>
          <a:p>
            <a:pPr marL="0" indent="0">
              <a:lnSpc>
                <a:spcPct val="112000"/>
              </a:lnSpc>
              <a:buNone/>
            </a:pPr>
            <a:r>
              <a:rPr lang="en-US" sz="4200" b="1" dirty="0">
                <a:solidFill>
                  <a:srgbClr val="FFFFFF"/>
                </a:solidFill>
                <a:latin typeface="Arial" pitchFamily="34" charset="0"/>
                <a:ea typeface="Arial" pitchFamily="34" charset="-122"/>
                <a:cs typeface="Arial" pitchFamily="34" charset="-120"/>
              </a:rPr>
              <a:t>Keep the decision human.</a:t>
            </a:r>
            <a:endParaRPr lang="en-US" sz="4200" dirty="0"/>
          </a:p>
        </p:txBody>
      </p:sp>
      <p:sp>
        <p:nvSpPr>
          <p:cNvPr id="28" name="Text 26"/>
          <p:cNvSpPr txBox="1"/>
          <p:nvPr/>
        </p:nvSpPr>
        <p:spPr>
          <a:xfrm>
            <a:off x="640080" y="4709160"/>
            <a:ext cx="7315200" cy="457200"/>
          </a:xfrm>
          <a:prstGeom prst="rect">
            <a:avLst/>
          </a:prstGeom>
          <a:noFill/>
          <a:ln/>
        </p:spPr>
        <p:txBody>
          <a:bodyPr wrap="square" lIns="0" tIns="0" rIns="0" bIns="0" rtlCol="0" anchor="ctr"/>
          <a:lstStyle/>
          <a:p>
            <a:pPr marL="0" indent="0">
              <a:buNone/>
            </a:pPr>
            <a:r>
              <a:rPr lang="en-US" sz="1600" dirty="0">
                <a:solidFill>
                  <a:srgbClr val="D8D4C8"/>
                </a:solidFill>
                <a:latin typeface="Arial" pitchFamily="34" charset="0"/>
                <a:ea typeface="Arial" pitchFamily="34" charset="-122"/>
                <a:cs typeface="Arial" pitchFamily="34" charset="-120"/>
              </a:rPr>
              <a:t>State one next action before you leave.</a:t>
            </a:r>
            <a:endParaRPr lang="en-US" sz="1600" dirty="0"/>
          </a:p>
        </p:txBody>
      </p:sp>
      <p:sp>
        <p:nvSpPr>
          <p:cNvPr id="29" name="Shape 27"/>
          <p:cNvSpPr/>
          <p:nvPr/>
        </p:nvSpPr>
        <p:spPr>
          <a:xfrm>
            <a:off x="640080" y="5577840"/>
            <a:ext cx="457200" cy="457200"/>
          </a:xfrm>
          <a:prstGeom prst="ellipse">
            <a:avLst/>
          </a:prstGeom>
          <a:solidFill>
            <a:srgbClr val="F7F4EC"/>
          </a:solidFill>
          <a:ln w="28575">
            <a:solidFill>
              <a:srgbClr val="4A4A4A"/>
            </a:solidFill>
            <a:prstDash val="solid"/>
          </a:ln>
        </p:spPr>
      </p:sp>
      <p:sp>
        <p:nvSpPr>
          <p:cNvPr id="30" name="Text 28"/>
          <p:cNvSpPr txBox="1"/>
          <p:nvPr/>
        </p:nvSpPr>
        <p:spPr>
          <a:xfrm>
            <a:off x="640080" y="5577840"/>
            <a:ext cx="457200" cy="457200"/>
          </a:xfrm>
          <a:prstGeom prst="rect">
            <a:avLst/>
          </a:prstGeom>
          <a:noFill/>
          <a:ln/>
        </p:spPr>
        <p:txBody>
          <a:bodyPr wrap="square" lIns="0" tIns="0" rIns="0" bIns="0" rtlCol="0" anchor="ctr"/>
          <a:lstStyle/>
          <a:p>
            <a:pPr marL="0" indent="0" algn="ctr">
              <a:buNone/>
            </a:pPr>
            <a:r>
              <a:rPr lang="en-US" sz="1350" b="1" dirty="0">
                <a:solidFill>
                  <a:srgbClr val="4A4A4A"/>
                </a:solidFill>
                <a:latin typeface="Arial" pitchFamily="34" charset="0"/>
                <a:ea typeface="Arial" pitchFamily="34" charset="-122"/>
                <a:cs typeface="Arial" pitchFamily="34" charset="-120"/>
              </a:rPr>
              <a:t>S</a:t>
            </a:r>
            <a:endParaRPr lang="en-US" sz="1350" dirty="0"/>
          </a:p>
        </p:txBody>
      </p:sp>
      <p:sp>
        <p:nvSpPr>
          <p:cNvPr id="31" name="Shape 29"/>
          <p:cNvSpPr/>
          <p:nvPr/>
        </p:nvSpPr>
        <p:spPr>
          <a:xfrm>
            <a:off x="1554480" y="5577840"/>
            <a:ext cx="457200" cy="457200"/>
          </a:xfrm>
          <a:prstGeom prst="ellipse">
            <a:avLst/>
          </a:prstGeom>
          <a:solidFill>
            <a:srgbClr val="F7F4EC"/>
          </a:solidFill>
          <a:ln w="28575">
            <a:solidFill>
              <a:srgbClr val="4A4A4A"/>
            </a:solidFill>
            <a:prstDash val="solid"/>
          </a:ln>
        </p:spPr>
      </p:sp>
      <p:sp>
        <p:nvSpPr>
          <p:cNvPr id="32" name="Text 30"/>
          <p:cNvSpPr txBox="1"/>
          <p:nvPr/>
        </p:nvSpPr>
        <p:spPr>
          <a:xfrm>
            <a:off x="1554480" y="5577840"/>
            <a:ext cx="457200" cy="457200"/>
          </a:xfrm>
          <a:prstGeom prst="rect">
            <a:avLst/>
          </a:prstGeom>
          <a:noFill/>
          <a:ln/>
        </p:spPr>
        <p:txBody>
          <a:bodyPr wrap="square" lIns="0" tIns="0" rIns="0" bIns="0" rtlCol="0" anchor="ctr"/>
          <a:lstStyle/>
          <a:p>
            <a:pPr marL="0" indent="0" algn="ctr">
              <a:buNone/>
            </a:pPr>
            <a:r>
              <a:rPr lang="en-US" sz="1350" b="1" dirty="0">
                <a:solidFill>
                  <a:srgbClr val="4A4A4A"/>
                </a:solidFill>
                <a:latin typeface="Arial" pitchFamily="34" charset="0"/>
                <a:ea typeface="Arial" pitchFamily="34" charset="-122"/>
                <a:cs typeface="Arial" pitchFamily="34" charset="-120"/>
              </a:rPr>
              <a:t>R</a:t>
            </a:r>
            <a:endParaRPr lang="en-US" sz="1350" dirty="0"/>
          </a:p>
        </p:txBody>
      </p:sp>
      <p:sp>
        <p:nvSpPr>
          <p:cNvPr id="33" name="Shape 31"/>
          <p:cNvSpPr/>
          <p:nvPr/>
        </p:nvSpPr>
        <p:spPr>
          <a:xfrm>
            <a:off x="2468880" y="5577840"/>
            <a:ext cx="457200" cy="457200"/>
          </a:xfrm>
          <a:prstGeom prst="ellipse">
            <a:avLst/>
          </a:prstGeom>
          <a:solidFill>
            <a:srgbClr val="F7F4EC"/>
          </a:solidFill>
          <a:ln w="28575">
            <a:solidFill>
              <a:srgbClr val="4A4A4A"/>
            </a:solidFill>
            <a:prstDash val="solid"/>
          </a:ln>
        </p:spPr>
      </p:sp>
      <p:sp>
        <p:nvSpPr>
          <p:cNvPr id="34" name="Text 32"/>
          <p:cNvSpPr txBox="1"/>
          <p:nvPr/>
        </p:nvSpPr>
        <p:spPr>
          <a:xfrm>
            <a:off x="2468880" y="5577840"/>
            <a:ext cx="457200" cy="457200"/>
          </a:xfrm>
          <a:prstGeom prst="rect">
            <a:avLst/>
          </a:prstGeom>
          <a:noFill/>
          <a:ln/>
        </p:spPr>
        <p:txBody>
          <a:bodyPr wrap="square" lIns="0" tIns="0" rIns="0" bIns="0" rtlCol="0" anchor="ctr"/>
          <a:lstStyle/>
          <a:p>
            <a:pPr marL="0" indent="0" algn="ctr">
              <a:buNone/>
            </a:pPr>
            <a:r>
              <a:rPr lang="en-US" sz="1350" b="1" dirty="0">
                <a:solidFill>
                  <a:srgbClr val="4A4A4A"/>
                </a:solidFill>
                <a:latin typeface="Arial" pitchFamily="34" charset="0"/>
                <a:ea typeface="Arial" pitchFamily="34" charset="-122"/>
                <a:cs typeface="Arial" pitchFamily="34" charset="-120"/>
              </a:rPr>
              <a:t>G</a:t>
            </a:r>
            <a:endParaRPr lang="en-US" sz="1350" dirty="0"/>
          </a:p>
        </p:txBody>
      </p:sp>
      <p:sp>
        <p:nvSpPr>
          <p:cNvPr id="35" name="Shape 33"/>
          <p:cNvSpPr/>
          <p:nvPr/>
        </p:nvSpPr>
        <p:spPr>
          <a:xfrm>
            <a:off x="3383280" y="5577840"/>
            <a:ext cx="457200" cy="457200"/>
          </a:xfrm>
          <a:prstGeom prst="ellipse">
            <a:avLst/>
          </a:prstGeom>
          <a:solidFill>
            <a:srgbClr val="F7F4EC"/>
          </a:solidFill>
          <a:ln w="28575">
            <a:solidFill>
              <a:srgbClr val="4A4A4A"/>
            </a:solidFill>
            <a:prstDash val="solid"/>
          </a:ln>
        </p:spPr>
      </p:sp>
      <p:sp>
        <p:nvSpPr>
          <p:cNvPr id="36" name="Text 34"/>
          <p:cNvSpPr txBox="1"/>
          <p:nvPr/>
        </p:nvSpPr>
        <p:spPr>
          <a:xfrm>
            <a:off x="3383280" y="5577840"/>
            <a:ext cx="457200" cy="457200"/>
          </a:xfrm>
          <a:prstGeom prst="rect">
            <a:avLst/>
          </a:prstGeom>
          <a:noFill/>
          <a:ln/>
        </p:spPr>
        <p:txBody>
          <a:bodyPr wrap="square" lIns="0" tIns="0" rIns="0" bIns="0" rtlCol="0" anchor="ctr"/>
          <a:lstStyle/>
          <a:p>
            <a:pPr marL="0" indent="0" algn="ctr">
              <a:buNone/>
            </a:pPr>
            <a:r>
              <a:rPr lang="en-US" sz="1350" b="1" dirty="0">
                <a:solidFill>
                  <a:srgbClr val="4A4A4A"/>
                </a:solidFill>
                <a:latin typeface="Arial" pitchFamily="34" charset="0"/>
                <a:ea typeface="Arial" pitchFamily="34" charset="-122"/>
                <a:cs typeface="Arial" pitchFamily="34" charset="-120"/>
              </a:rPr>
              <a:t>A</a:t>
            </a:r>
            <a:endParaRPr lang="en-US" sz="1350" dirty="0"/>
          </a:p>
        </p:txBody>
      </p:sp>
      <p:sp>
        <p:nvSpPr>
          <p:cNvPr id="37" name="Shape 35"/>
          <p:cNvSpPr/>
          <p:nvPr/>
        </p:nvSpPr>
        <p:spPr>
          <a:xfrm>
            <a:off x="4297680" y="5577840"/>
            <a:ext cx="457200" cy="457200"/>
          </a:xfrm>
          <a:prstGeom prst="ellipse">
            <a:avLst/>
          </a:prstGeom>
          <a:solidFill>
            <a:srgbClr val="F7F4EC"/>
          </a:solidFill>
          <a:ln w="28575">
            <a:solidFill>
              <a:srgbClr val="4A4A4A"/>
            </a:solidFill>
            <a:prstDash val="solid"/>
          </a:ln>
        </p:spPr>
      </p:sp>
      <p:sp>
        <p:nvSpPr>
          <p:cNvPr id="38" name="Text 36"/>
          <p:cNvSpPr txBox="1"/>
          <p:nvPr/>
        </p:nvSpPr>
        <p:spPr>
          <a:xfrm>
            <a:off x="4297680" y="5577840"/>
            <a:ext cx="457200" cy="457200"/>
          </a:xfrm>
          <a:prstGeom prst="rect">
            <a:avLst/>
          </a:prstGeom>
          <a:noFill/>
          <a:ln/>
        </p:spPr>
        <p:txBody>
          <a:bodyPr wrap="square" lIns="0" tIns="0" rIns="0" bIns="0" rtlCol="0" anchor="ctr"/>
          <a:lstStyle/>
          <a:p>
            <a:pPr marL="0" indent="0" algn="ctr">
              <a:buNone/>
            </a:pPr>
            <a:r>
              <a:rPr lang="en-US" sz="1350" b="1" dirty="0">
                <a:solidFill>
                  <a:srgbClr val="4A4A4A"/>
                </a:solidFill>
                <a:latin typeface="Arial" pitchFamily="34" charset="0"/>
                <a:ea typeface="Arial" pitchFamily="34" charset="-122"/>
                <a:cs typeface="Arial" pitchFamily="34" charset="-120"/>
              </a:rPr>
              <a:t>Au</a:t>
            </a:r>
            <a:endParaRPr lang="en-US" sz="1350" dirty="0"/>
          </a:p>
        </p:txBody>
      </p:sp>
      <p:pic>
        <p:nvPicPr>
          <p:cNvPr id="40" name="Picture 39">
            <a:extLst>
              <a:ext uri="{FF2B5EF4-FFF2-40B4-BE49-F238E27FC236}">
                <a16:creationId xmlns:a16="http://schemas.microsoft.com/office/drawing/2014/main" id="{5353EDAD-D7CD-3D9C-04AC-72EDCF0BF293}"/>
              </a:ext>
            </a:extLst>
          </p:cNvPr>
          <p:cNvPicPr>
            <a:picLocks noChangeAspect="1"/>
          </p:cNvPicPr>
          <p:nvPr/>
        </p:nvPicPr>
        <p:blipFill>
          <a:blip r:embed="rId3"/>
          <a:stretch>
            <a:fillRect/>
          </a:stretch>
        </p:blipFill>
        <p:spPr>
          <a:xfrm>
            <a:off x="7657719" y="1280160"/>
            <a:ext cx="3438525" cy="3429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327</TotalTime>
  <Words>9777</Words>
  <Application>Microsoft Office PowerPoint</Application>
  <PresentationFormat>Widescreen</PresentationFormat>
  <Paragraphs>758</Paragraphs>
  <Slides>39</Slides>
  <Notes>39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39</vt:i4>
      </vt:variant>
    </vt:vector>
  </HeadingPairs>
  <TitlesOfParts>
    <vt:vector size="41"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Dilara Khanam</cp:lastModifiedBy>
  <cp:revision>8</cp:revision>
  <dcterms:created xsi:type="dcterms:W3CDTF">2026-09-18T12:59:48Z</dcterms:created>
  <dcterms:modified xsi:type="dcterms:W3CDTF">2026-09-19T07:01:51Z</dcterms:modified>
</cp:coreProperties>
</file>